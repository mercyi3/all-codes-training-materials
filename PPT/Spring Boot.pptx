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64" r:id="rId6"/>
    <p:sldId id="265" r:id="rId7"/>
    <p:sldId id="266" r:id="rId8"/>
    <p:sldId id="259" r:id="rId9"/>
    <p:sldId id="261" r:id="rId10"/>
    <p:sldId id="267" r:id="rId11"/>
    <p:sldId id="268" r:id="rId12"/>
    <p:sldId id="293" r:id="rId13"/>
    <p:sldId id="291" r:id="rId14"/>
    <p:sldId id="294" r:id="rId15"/>
    <p:sldId id="295" r:id="rId16"/>
    <p:sldId id="292" r:id="rId17"/>
    <p:sldId id="276" r:id="rId18"/>
    <p:sldId id="296" r:id="rId19"/>
    <p:sldId id="270" r:id="rId20"/>
    <p:sldId id="271" r:id="rId21"/>
    <p:sldId id="275" r:id="rId22"/>
    <p:sldId id="284" r:id="rId23"/>
    <p:sldId id="279" r:id="rId24"/>
    <p:sldId id="280" r:id="rId25"/>
    <p:sldId id="299" r:id="rId26"/>
    <p:sldId id="283" r:id="rId27"/>
    <p:sldId id="289" r:id="rId28"/>
    <p:sldId id="29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70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06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27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94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7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8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22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39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2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42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9633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272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27726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74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00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4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5894E-1F3B-4EB6-AD0E-190F5F523AF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3BA8808-F233-4AB7-B432-615A9E4D5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35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922" y="2478425"/>
            <a:ext cx="6112933" cy="1539393"/>
          </a:xfrm>
        </p:spPr>
        <p:txBody>
          <a:bodyPr/>
          <a:lstStyle/>
          <a:p>
            <a:r>
              <a:rPr lang="en-US" sz="6000" b="1" dirty="0" smtClean="0"/>
              <a:t>Spring Boot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24859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7382"/>
          </a:xfrm>
        </p:spPr>
        <p:txBody>
          <a:bodyPr/>
          <a:lstStyle/>
          <a:p>
            <a:r>
              <a:rPr lang="en-US" b="1" dirty="0" smtClean="0"/>
              <a:t>Introduction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662" y="1607127"/>
            <a:ext cx="8475902" cy="4452707"/>
          </a:xfrm>
        </p:spPr>
        <p:txBody>
          <a:bodyPr>
            <a:normAutofit/>
          </a:bodyPr>
          <a:lstStyle/>
          <a:p>
            <a:r>
              <a:rPr lang="en-US" sz="2400" dirty="0"/>
              <a:t>Spring Boot is a </a:t>
            </a:r>
            <a:r>
              <a:rPr lang="en-US" sz="2400" b="1" dirty="0"/>
              <a:t>Spring module </a:t>
            </a:r>
            <a:r>
              <a:rPr lang="en-US" sz="2400" dirty="0"/>
              <a:t>that provides the </a:t>
            </a:r>
            <a:r>
              <a:rPr lang="en-US" sz="2400" b="1" dirty="0"/>
              <a:t>RAD (Rapid Application Development)</a:t>
            </a:r>
            <a:r>
              <a:rPr lang="en-US" sz="2400" dirty="0"/>
              <a:t> feature to the Spring </a:t>
            </a:r>
            <a:r>
              <a:rPr lang="en-US" sz="2400" dirty="0" smtClean="0"/>
              <a:t>framework.</a:t>
            </a:r>
          </a:p>
          <a:p>
            <a:r>
              <a:rPr lang="en-US" sz="2400" dirty="0" smtClean="0"/>
              <a:t>Spring </a:t>
            </a:r>
            <a:r>
              <a:rPr lang="en-US" sz="2400" dirty="0"/>
              <a:t>Boot is an open source </a:t>
            </a:r>
            <a:r>
              <a:rPr lang="en-US" sz="2400" b="1" dirty="0"/>
              <a:t>Java-based framework </a:t>
            </a:r>
            <a:r>
              <a:rPr lang="en-US" sz="2400" dirty="0"/>
              <a:t>used to create a micro Service.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is developed by </a:t>
            </a:r>
            <a:r>
              <a:rPr lang="en-US" sz="2400" b="1" dirty="0"/>
              <a:t>Pivotal </a:t>
            </a:r>
            <a:r>
              <a:rPr lang="en-US" sz="2400" b="1" dirty="0" smtClean="0"/>
              <a:t>Team.</a:t>
            </a:r>
          </a:p>
          <a:p>
            <a:r>
              <a:rPr lang="en-US" sz="2400" dirty="0" smtClean="0"/>
              <a:t>Spring Boot is the </a:t>
            </a:r>
            <a:r>
              <a:rPr lang="en-US" sz="2400" b="1" dirty="0" smtClean="0"/>
              <a:t>combination of </a:t>
            </a:r>
            <a:r>
              <a:rPr lang="en-US" sz="2400" dirty="0" smtClean="0"/>
              <a:t>Spring framework and Embedded Server (like Tomcat). </a:t>
            </a:r>
          </a:p>
          <a:p>
            <a:r>
              <a:rPr lang="en-US" sz="2400" dirty="0" smtClean="0"/>
              <a:t>In </a:t>
            </a:r>
            <a:r>
              <a:rPr lang="en-US" sz="2400" dirty="0"/>
              <a:t>early 2013, Spring Boot was made.</a:t>
            </a:r>
          </a:p>
        </p:txBody>
      </p:sp>
    </p:spTree>
    <p:extLst>
      <p:ext uri="{BB962C8B-B14F-4D97-AF65-F5344CB8AC3E}">
        <p14:creationId xmlns:p14="http://schemas.microsoft.com/office/powerpoint/2010/main" val="2893752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599" y="737326"/>
            <a:ext cx="8596668" cy="729673"/>
          </a:xfrm>
        </p:spPr>
        <p:txBody>
          <a:bodyPr/>
          <a:lstStyle/>
          <a:p>
            <a:r>
              <a:rPr lang="en-US" b="1" dirty="0"/>
              <a:t>Spring Boot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727" y="1737360"/>
            <a:ext cx="7981406" cy="4820194"/>
          </a:xfrm>
        </p:spPr>
        <p:txBody>
          <a:bodyPr>
            <a:normAutofit/>
          </a:bodyPr>
          <a:lstStyle/>
          <a:p>
            <a:r>
              <a:rPr lang="en-US" sz="2200" dirty="0"/>
              <a:t>Create stand-alone Spring applications</a:t>
            </a:r>
          </a:p>
          <a:p>
            <a:r>
              <a:rPr lang="en-US" sz="2200" dirty="0" smtClean="0"/>
              <a:t>Embedded Servers like Tomcat</a:t>
            </a:r>
            <a:r>
              <a:rPr lang="en-US" sz="2200" dirty="0"/>
              <a:t>, Jetty or Undertow directly (no need to deploy WAR files)</a:t>
            </a:r>
          </a:p>
          <a:p>
            <a:r>
              <a:rPr lang="en-US" sz="2200" dirty="0" smtClean="0"/>
              <a:t>Automatically </a:t>
            </a:r>
            <a:r>
              <a:rPr lang="en-US" sz="2200" dirty="0"/>
              <a:t>configure Spring and 3rd party libraries whenever </a:t>
            </a:r>
            <a:r>
              <a:rPr lang="en-US" sz="2200" dirty="0" smtClean="0"/>
              <a:t>possible.</a:t>
            </a:r>
            <a:endParaRPr lang="en-US" sz="2200" dirty="0"/>
          </a:p>
          <a:p>
            <a:r>
              <a:rPr lang="en-US" sz="2200" dirty="0"/>
              <a:t>Provide production-ready features such as metrics, health checks, and externalized configuration</a:t>
            </a:r>
          </a:p>
          <a:p>
            <a:r>
              <a:rPr lang="en-US" sz="2200" dirty="0"/>
              <a:t>Absolutely no code generation and </a:t>
            </a:r>
            <a:r>
              <a:rPr lang="en-US" sz="2200" b="1" dirty="0"/>
              <a:t>no requirement for XML </a:t>
            </a:r>
            <a:r>
              <a:rPr lang="en-US" sz="2200" b="1" dirty="0" smtClean="0"/>
              <a:t>configuration.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55648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0436"/>
          </a:xfrm>
        </p:spPr>
        <p:txBody>
          <a:bodyPr/>
          <a:lstStyle/>
          <a:p>
            <a:r>
              <a:rPr lang="en-US" b="1" dirty="0" smtClean="0"/>
              <a:t>Creating Spring Boot Project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2353" y="1597891"/>
            <a:ext cx="8116377" cy="4719782"/>
          </a:xfrm>
        </p:spPr>
        <p:txBody>
          <a:bodyPr>
            <a:normAutofit/>
          </a:bodyPr>
          <a:lstStyle/>
          <a:p>
            <a:r>
              <a:rPr lang="en-US" sz="2400" dirty="0"/>
              <a:t>Install Eclipse IDE for Enterprise Java and Web Developer</a:t>
            </a:r>
          </a:p>
          <a:p>
            <a:r>
              <a:rPr lang="en-US" sz="2400" dirty="0"/>
              <a:t>Create a Spring Boot Project in </a:t>
            </a:r>
            <a:r>
              <a:rPr lang="en-US" sz="2400" b="1" dirty="0"/>
              <a:t>Spring </a:t>
            </a:r>
            <a:r>
              <a:rPr lang="en-US" sz="2400" b="1" dirty="0" err="1" smtClean="0"/>
              <a:t>Initializr</a:t>
            </a:r>
            <a:r>
              <a:rPr lang="en-US" sz="2400" b="1" dirty="0" smtClean="0"/>
              <a:t>.</a:t>
            </a:r>
          </a:p>
          <a:p>
            <a:r>
              <a:rPr lang="en-US" sz="2400" dirty="0" smtClean="0"/>
              <a:t>Add Dependency : </a:t>
            </a:r>
            <a:r>
              <a:rPr lang="en-US" sz="2400" b="1" dirty="0" smtClean="0"/>
              <a:t>Spring Web</a:t>
            </a:r>
            <a:endParaRPr lang="en-US" sz="2400" b="1" dirty="0"/>
          </a:p>
          <a:p>
            <a:r>
              <a:rPr lang="en-US" sz="2400" dirty="0"/>
              <a:t>Import Spring Boot Project in Eclipse IDE</a:t>
            </a:r>
          </a:p>
          <a:p>
            <a:r>
              <a:rPr lang="en-US" sz="2400" dirty="0"/>
              <a:t>Search “maven” and choose Existing Maven Project</a:t>
            </a:r>
          </a:p>
          <a:p>
            <a:r>
              <a:rPr lang="en-US" sz="2400" dirty="0"/>
              <a:t>Choose </a:t>
            </a:r>
            <a:r>
              <a:rPr lang="en-US" sz="2400" dirty="0" smtClean="0"/>
              <a:t>Next Click </a:t>
            </a:r>
            <a:r>
              <a:rPr lang="en-US" sz="2400" dirty="0"/>
              <a:t>on the Browse button and select the extracted zip </a:t>
            </a:r>
          </a:p>
          <a:p>
            <a:r>
              <a:rPr lang="en-US" sz="2400" dirty="0"/>
              <a:t>Click on the Finish button and we are done creating the Spring Boot project</a:t>
            </a:r>
          </a:p>
        </p:txBody>
      </p:sp>
    </p:spTree>
    <p:extLst>
      <p:ext uri="{BB962C8B-B14F-4D97-AF65-F5344CB8AC3E}">
        <p14:creationId xmlns:p14="http://schemas.microsoft.com/office/powerpoint/2010/main" val="2822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842" y="683491"/>
            <a:ext cx="8596668" cy="729673"/>
          </a:xfrm>
        </p:spPr>
        <p:txBody>
          <a:bodyPr/>
          <a:lstStyle/>
          <a:p>
            <a:r>
              <a:rPr lang="en-US" b="1" dirty="0" smtClean="0"/>
              <a:t>Spring Core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2970" y="1634836"/>
            <a:ext cx="8383540" cy="4591253"/>
          </a:xfrm>
        </p:spPr>
        <p:txBody>
          <a:bodyPr>
            <a:noAutofit/>
          </a:bodyPr>
          <a:lstStyle/>
          <a:p>
            <a:r>
              <a:rPr lang="en-US" sz="2400" dirty="0"/>
              <a:t>Spring framework was initially written by </a:t>
            </a:r>
            <a:r>
              <a:rPr lang="en-US" sz="2400" b="1" dirty="0"/>
              <a:t>Rod Johnson </a:t>
            </a:r>
            <a:r>
              <a:rPr lang="en-US" sz="2400" dirty="0"/>
              <a:t>and was first released under the </a:t>
            </a:r>
            <a:r>
              <a:rPr lang="en-US" sz="2400" b="1" dirty="0"/>
              <a:t>Apache 2.0 license </a:t>
            </a:r>
            <a:r>
              <a:rPr lang="en-US" sz="2400" dirty="0"/>
              <a:t>in </a:t>
            </a:r>
            <a:r>
              <a:rPr lang="en-US" sz="2400" b="1" dirty="0"/>
              <a:t>June 2003</a:t>
            </a:r>
            <a:r>
              <a:rPr lang="en-US" sz="2400" dirty="0"/>
              <a:t>. </a:t>
            </a:r>
          </a:p>
          <a:p>
            <a:r>
              <a:rPr lang="en-US" sz="2400" dirty="0"/>
              <a:t>Spring framework is an </a:t>
            </a:r>
            <a:r>
              <a:rPr lang="en-US" sz="2400" b="1" dirty="0"/>
              <a:t>open source Java platform </a:t>
            </a:r>
            <a:r>
              <a:rPr lang="en-US" sz="2400" dirty="0"/>
              <a:t>that provides comprehensive infrastructure support for </a:t>
            </a:r>
            <a:r>
              <a:rPr lang="en-US" sz="2400" b="1" dirty="0"/>
              <a:t>developing robust Java applications very easily and very rapidly</a:t>
            </a:r>
            <a:r>
              <a:rPr lang="en-US" sz="2400" dirty="0"/>
              <a:t>.</a:t>
            </a:r>
          </a:p>
          <a:p>
            <a:r>
              <a:rPr lang="en-US" sz="2400" dirty="0"/>
              <a:t>It can be thought of as a </a:t>
            </a:r>
            <a:r>
              <a:rPr lang="en-US" sz="2400" b="1" dirty="0"/>
              <a:t>framework of frameworks </a:t>
            </a:r>
            <a:r>
              <a:rPr lang="en-US" sz="2400" dirty="0"/>
              <a:t>because it provides support to various frameworks such as Hibernate, Tapestry, EJB, JSF, etc. </a:t>
            </a:r>
          </a:p>
        </p:txBody>
      </p:sp>
    </p:spTree>
    <p:extLst>
      <p:ext uri="{BB962C8B-B14F-4D97-AF65-F5344CB8AC3E}">
        <p14:creationId xmlns:p14="http://schemas.microsoft.com/office/powerpoint/2010/main" val="3937237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9673"/>
          </a:xfrm>
        </p:spPr>
        <p:txBody>
          <a:bodyPr/>
          <a:lstStyle/>
          <a:p>
            <a:r>
              <a:rPr lang="en-US" b="1" dirty="0" err="1" smtClean="0"/>
              <a:t>Ioc</a:t>
            </a:r>
            <a:r>
              <a:rPr lang="en-US" b="1" dirty="0" smtClean="0"/>
              <a:t> Container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534" y="1533237"/>
            <a:ext cx="8596668" cy="4452707"/>
          </a:xfrm>
        </p:spPr>
        <p:txBody>
          <a:bodyPr>
            <a:noAutofit/>
          </a:bodyPr>
          <a:lstStyle/>
          <a:p>
            <a:r>
              <a:rPr lang="en-US" sz="2400" dirty="0"/>
              <a:t>The </a:t>
            </a:r>
            <a:r>
              <a:rPr lang="en-US" sz="2400" dirty="0" smtClean="0"/>
              <a:t>Spring </a:t>
            </a:r>
            <a:r>
              <a:rPr lang="en-US" sz="2400" b="1" dirty="0" smtClean="0"/>
              <a:t>Inversion of Control </a:t>
            </a:r>
            <a:r>
              <a:rPr lang="en-US" sz="2400" dirty="0"/>
              <a:t>container is at the </a:t>
            </a:r>
            <a:r>
              <a:rPr lang="en-US" sz="2400" b="1" dirty="0"/>
              <a:t>core of the Spring Framework</a:t>
            </a:r>
            <a:r>
              <a:rPr lang="en-US" sz="2400" dirty="0"/>
              <a:t>. </a:t>
            </a:r>
          </a:p>
          <a:p>
            <a:r>
              <a:rPr lang="en-US" sz="2400" dirty="0"/>
              <a:t>The container will create the objects, wire them together, configure them, and </a:t>
            </a:r>
            <a:r>
              <a:rPr lang="en-US" sz="2400" b="1" dirty="0"/>
              <a:t>manage their complete life cycle </a:t>
            </a:r>
            <a:r>
              <a:rPr lang="en-US" sz="2400" dirty="0"/>
              <a:t>from creation till destruction. </a:t>
            </a:r>
          </a:p>
          <a:p>
            <a:r>
              <a:rPr lang="en-US" sz="2400" dirty="0"/>
              <a:t>The Spring container </a:t>
            </a:r>
            <a:r>
              <a:rPr lang="en-US" sz="2400" b="1" dirty="0"/>
              <a:t>uses DI </a:t>
            </a:r>
            <a:r>
              <a:rPr lang="en-US" sz="2400" dirty="0"/>
              <a:t>to manage the components that make up an application. These </a:t>
            </a:r>
            <a:r>
              <a:rPr lang="en-US" sz="2400" b="1" dirty="0"/>
              <a:t>objects are called Spring Beans</a:t>
            </a:r>
            <a:r>
              <a:rPr lang="en-US" sz="2400" dirty="0"/>
              <a:t>.</a:t>
            </a:r>
          </a:p>
          <a:p>
            <a:r>
              <a:rPr lang="en-US" sz="2400" dirty="0"/>
              <a:t>The Spring </a:t>
            </a:r>
            <a:r>
              <a:rPr lang="en-US" sz="2400" dirty="0" err="1"/>
              <a:t>IoC</a:t>
            </a:r>
            <a:r>
              <a:rPr lang="en-US" sz="2400" dirty="0"/>
              <a:t> container makes use of </a:t>
            </a:r>
            <a:r>
              <a:rPr lang="en-US" sz="2400" b="1" dirty="0"/>
              <a:t>Java POJO classes </a:t>
            </a:r>
            <a:r>
              <a:rPr lang="en-US" sz="2400" dirty="0"/>
              <a:t>and configuration metadata to produce a fully configured and executable system or application.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7467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573" y="731520"/>
            <a:ext cx="8643872" cy="566004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Spring </a:t>
            </a:r>
            <a:r>
              <a:rPr lang="en-US" sz="3200" b="1" dirty="0" err="1">
                <a:solidFill>
                  <a:schemeClr val="accent1"/>
                </a:solidFill>
              </a:rPr>
              <a:t>BeanFactory</a:t>
            </a:r>
            <a:r>
              <a:rPr lang="en-US" sz="3200" b="1" dirty="0">
                <a:solidFill>
                  <a:schemeClr val="accent1"/>
                </a:solidFill>
              </a:rPr>
              <a:t> Container :</a:t>
            </a:r>
          </a:p>
          <a:p>
            <a:r>
              <a:rPr lang="en-US" dirty="0"/>
              <a:t>the </a:t>
            </a:r>
            <a:r>
              <a:rPr lang="en-US" b="1" dirty="0" err="1" smtClean="0"/>
              <a:t>BeanFactory</a:t>
            </a:r>
            <a:r>
              <a:rPr lang="en-US" b="1" dirty="0" smtClean="0"/>
              <a:t> is an interface </a:t>
            </a:r>
            <a:r>
              <a:rPr lang="en-US" dirty="0" smtClean="0"/>
              <a:t>that </a:t>
            </a:r>
            <a:r>
              <a:rPr lang="en-US" dirty="0"/>
              <a:t>provides basic functionality for </a:t>
            </a:r>
            <a:r>
              <a:rPr lang="en-US" b="1" dirty="0"/>
              <a:t>managing and manipulating </a:t>
            </a:r>
            <a:r>
              <a:rPr lang="en-US" b="1" dirty="0" smtClean="0"/>
              <a:t>beans</a:t>
            </a:r>
            <a:r>
              <a:rPr lang="en-US" dirty="0" smtClean="0"/>
              <a:t>.</a:t>
            </a:r>
          </a:p>
          <a:p>
            <a:r>
              <a:rPr lang="en-US" dirty="0"/>
              <a:t>These beans typically </a:t>
            </a:r>
            <a:r>
              <a:rPr lang="en-US" b="1" dirty="0"/>
              <a:t>collaborate with one another</a:t>
            </a:r>
            <a:r>
              <a:rPr lang="en-US" dirty="0"/>
              <a:t>, and thus have dependencies between </a:t>
            </a:r>
            <a:r>
              <a:rPr lang="en-US" dirty="0" smtClean="0"/>
              <a:t>themselves.</a:t>
            </a:r>
          </a:p>
          <a:p>
            <a:r>
              <a:rPr lang="en-US" dirty="0" err="1"/>
              <a:t>BeanFactory</a:t>
            </a:r>
            <a:r>
              <a:rPr lang="en-US" dirty="0"/>
              <a:t> is </a:t>
            </a:r>
            <a:r>
              <a:rPr lang="en-US" b="1" dirty="0"/>
              <a:t>the actual container </a:t>
            </a:r>
            <a:r>
              <a:rPr lang="en-US" dirty="0"/>
              <a:t>which instantiates, configures, and manages a number of beans.</a:t>
            </a:r>
            <a:endParaRPr lang="en-US" sz="2000" dirty="0"/>
          </a:p>
          <a:p>
            <a:pPr marL="0" indent="0">
              <a:buNone/>
            </a:pPr>
            <a:r>
              <a:rPr lang="en-US" sz="3200" b="1" dirty="0" smtClean="0">
                <a:solidFill>
                  <a:schemeClr val="accent1"/>
                </a:solidFill>
              </a:rPr>
              <a:t>Spring </a:t>
            </a:r>
            <a:r>
              <a:rPr lang="en-US" sz="3200" b="1" dirty="0" err="1">
                <a:solidFill>
                  <a:schemeClr val="accent1"/>
                </a:solidFill>
              </a:rPr>
              <a:t>ApplicationContext</a:t>
            </a:r>
            <a:r>
              <a:rPr lang="en-US" sz="3200" b="1" dirty="0">
                <a:solidFill>
                  <a:schemeClr val="accent1"/>
                </a:solidFill>
              </a:rPr>
              <a:t> Container :</a:t>
            </a:r>
          </a:p>
          <a:p>
            <a:r>
              <a:rPr lang="en-US" sz="2000" dirty="0"/>
              <a:t>This container adds more </a:t>
            </a:r>
            <a:r>
              <a:rPr lang="en-US" sz="2000" b="1" dirty="0"/>
              <a:t>enterprise-specific </a:t>
            </a:r>
            <a:r>
              <a:rPr lang="en-US" sz="2000" b="1" dirty="0" smtClean="0"/>
              <a:t>functionality. </a:t>
            </a:r>
          </a:p>
          <a:p>
            <a:r>
              <a:rPr lang="en-US" sz="2000" dirty="0"/>
              <a:t>S</a:t>
            </a:r>
            <a:r>
              <a:rPr lang="en-US" sz="2000" dirty="0" smtClean="0"/>
              <a:t>uch </a:t>
            </a:r>
            <a:r>
              <a:rPr lang="en-US" sz="2000" dirty="0"/>
              <a:t>as the </a:t>
            </a:r>
            <a:r>
              <a:rPr lang="en-US" sz="2000" b="1" dirty="0"/>
              <a:t>ability to resolve textual messages </a:t>
            </a:r>
            <a:r>
              <a:rPr lang="en-US" sz="2000" dirty="0"/>
              <a:t>from a properties </a:t>
            </a:r>
            <a:r>
              <a:rPr lang="en-US" sz="2000" dirty="0" smtClean="0"/>
              <a:t>file.</a:t>
            </a:r>
          </a:p>
          <a:p>
            <a:r>
              <a:rPr lang="en-US" sz="2000" dirty="0" smtClean="0"/>
              <a:t>the </a:t>
            </a:r>
            <a:r>
              <a:rPr lang="en-US" sz="2000" dirty="0"/>
              <a:t>ability to </a:t>
            </a:r>
            <a:r>
              <a:rPr lang="en-US" sz="2000" b="1" dirty="0"/>
              <a:t>publish application events </a:t>
            </a:r>
            <a:r>
              <a:rPr lang="en-US" sz="2000" dirty="0"/>
              <a:t>to interested event listeners. </a:t>
            </a:r>
          </a:p>
          <a:p>
            <a:r>
              <a:rPr lang="en-US" sz="2000" dirty="0"/>
              <a:t>This container is defined by the </a:t>
            </a:r>
            <a:r>
              <a:rPr lang="en-US" sz="2000" b="1" dirty="0" err="1"/>
              <a:t>org.springframework.context.ApplicationContext</a:t>
            </a:r>
            <a:r>
              <a:rPr lang="en-US" sz="2000" b="1" dirty="0"/>
              <a:t> interface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8710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0436"/>
          </a:xfrm>
        </p:spPr>
        <p:txBody>
          <a:bodyPr/>
          <a:lstStyle/>
          <a:p>
            <a:r>
              <a:rPr lang="en-US" b="1" dirty="0" smtClean="0"/>
              <a:t>Spring Boot Architecture</a:t>
            </a:r>
            <a:endParaRPr lang="en-US" b="1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834" y="1450110"/>
            <a:ext cx="8359602" cy="454573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40436" y="5487844"/>
            <a:ext cx="665019" cy="50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41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44285"/>
            <a:ext cx="8596668" cy="785091"/>
          </a:xfrm>
        </p:spPr>
        <p:txBody>
          <a:bodyPr/>
          <a:lstStyle/>
          <a:p>
            <a:r>
              <a:rPr lang="en-US" b="1" dirty="0"/>
              <a:t>Layers in Spring Boot: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1783" y="1329376"/>
            <a:ext cx="8189785" cy="4966920"/>
          </a:xfrm>
        </p:spPr>
        <p:txBody>
          <a:bodyPr>
            <a:noAutofit/>
          </a:bodyPr>
          <a:lstStyle/>
          <a:p>
            <a:r>
              <a:rPr lang="en-US" sz="2000" dirty="0" smtClean="0"/>
              <a:t>There </a:t>
            </a:r>
            <a:r>
              <a:rPr lang="en-US" sz="2000" dirty="0"/>
              <a:t>are four main layers in Spring Boot:</a:t>
            </a:r>
          </a:p>
          <a:p>
            <a:pPr marL="0" indent="0" fontAlgn="base">
              <a:buNone/>
            </a:pPr>
            <a:r>
              <a:rPr lang="en-US" sz="2200" b="1" dirty="0"/>
              <a:t>Presentation </a:t>
            </a:r>
            <a:r>
              <a:rPr lang="en-US" sz="2200" b="1" dirty="0" smtClean="0"/>
              <a:t>Layer</a:t>
            </a:r>
            <a:r>
              <a:rPr lang="en-US" sz="2000" dirty="0" smtClean="0"/>
              <a:t>:</a:t>
            </a:r>
          </a:p>
          <a:p>
            <a:pPr lvl="1" fontAlgn="base"/>
            <a:r>
              <a:rPr lang="en-US" sz="2000" dirty="0" smtClean="0"/>
              <a:t>Authentication </a:t>
            </a:r>
            <a:r>
              <a:rPr lang="en-US" sz="2000" dirty="0"/>
              <a:t>&amp; </a:t>
            </a:r>
            <a:r>
              <a:rPr lang="en-US" sz="2000" dirty="0" err="1"/>
              <a:t>Json</a:t>
            </a:r>
            <a:r>
              <a:rPr lang="en-US" sz="2000" dirty="0"/>
              <a:t> </a:t>
            </a:r>
            <a:r>
              <a:rPr lang="en-US" sz="2000" dirty="0" smtClean="0"/>
              <a:t>Translation. It </a:t>
            </a:r>
            <a:r>
              <a:rPr lang="en-US" sz="2000" dirty="0"/>
              <a:t>consists of Views.</a:t>
            </a:r>
          </a:p>
          <a:p>
            <a:pPr marL="0" indent="0" fontAlgn="base">
              <a:buNone/>
            </a:pPr>
            <a:r>
              <a:rPr lang="en-US" sz="2200" b="1" dirty="0"/>
              <a:t>Business </a:t>
            </a:r>
            <a:r>
              <a:rPr lang="en-US" sz="2200" b="1" dirty="0" smtClean="0"/>
              <a:t>Layer</a:t>
            </a:r>
            <a:r>
              <a:rPr lang="en-US" sz="2200" dirty="0" smtClean="0"/>
              <a:t>:</a:t>
            </a:r>
          </a:p>
          <a:p>
            <a:pPr lvl="1" fontAlgn="base"/>
            <a:r>
              <a:rPr lang="en-US" sz="2000" dirty="0" smtClean="0"/>
              <a:t>Business </a:t>
            </a:r>
            <a:r>
              <a:rPr lang="en-US" sz="2000" dirty="0"/>
              <a:t>Logic, Validation &amp; </a:t>
            </a:r>
            <a:r>
              <a:rPr lang="en-US" sz="2000" dirty="0" smtClean="0"/>
              <a:t>Authorization. </a:t>
            </a:r>
            <a:r>
              <a:rPr lang="en-US" sz="2000" dirty="0"/>
              <a:t>It consists of services classes.</a:t>
            </a:r>
          </a:p>
          <a:p>
            <a:pPr marL="0" indent="0" fontAlgn="base">
              <a:buNone/>
            </a:pPr>
            <a:r>
              <a:rPr lang="en-US" sz="2200" b="1" dirty="0" smtClean="0"/>
              <a:t>Persistence Layer</a:t>
            </a:r>
            <a:r>
              <a:rPr lang="en-US" sz="2200" dirty="0" smtClean="0"/>
              <a:t>:</a:t>
            </a:r>
          </a:p>
          <a:p>
            <a:pPr lvl="1" fontAlgn="base"/>
            <a:r>
              <a:rPr lang="en-US" sz="2000" dirty="0"/>
              <a:t>It is responsible for converting business objects to the database row and </a:t>
            </a:r>
            <a:r>
              <a:rPr lang="en-US" sz="2000" dirty="0" smtClean="0"/>
              <a:t>vice-versa (storage Logic).</a:t>
            </a:r>
            <a:endParaRPr lang="en-US" sz="2000" dirty="0"/>
          </a:p>
          <a:p>
            <a:pPr marL="0" indent="0" fontAlgn="base">
              <a:buNone/>
            </a:pPr>
            <a:r>
              <a:rPr lang="en-US" sz="2200" b="1" dirty="0"/>
              <a:t>Database </a:t>
            </a:r>
            <a:r>
              <a:rPr lang="en-US" sz="2200" b="1" dirty="0" smtClean="0"/>
              <a:t>Layer</a:t>
            </a:r>
            <a:r>
              <a:rPr lang="en-US" sz="2200" dirty="0" smtClean="0"/>
              <a:t>:</a:t>
            </a:r>
          </a:p>
          <a:p>
            <a:pPr lvl="1" fontAlgn="base"/>
            <a:r>
              <a:rPr lang="en-US" sz="2000" dirty="0" smtClean="0"/>
              <a:t>Actual Database </a:t>
            </a:r>
            <a:r>
              <a:rPr lang="en-US" sz="2000" dirty="0"/>
              <a:t>It is responsible for performing the </a:t>
            </a:r>
            <a:r>
              <a:rPr lang="en-US" sz="2000" u="sng" dirty="0" smtClean="0"/>
              <a:t>CRUD</a:t>
            </a:r>
            <a:r>
              <a:rPr lang="en-US" sz="2000" dirty="0"/>
              <a:t> </a:t>
            </a:r>
            <a:r>
              <a:rPr lang="en-US" sz="2000" dirty="0" smtClean="0"/>
              <a:t>operations.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4753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729673"/>
            <a:ext cx="8596668" cy="646545"/>
          </a:xfrm>
        </p:spPr>
        <p:txBody>
          <a:bodyPr/>
          <a:lstStyle/>
          <a:p>
            <a:r>
              <a:rPr lang="en-US" b="1" dirty="0" smtClean="0"/>
              <a:t>Spring Boot Annotation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262" y="1570181"/>
            <a:ext cx="8549002" cy="5004790"/>
          </a:xfrm>
        </p:spPr>
        <p:txBody>
          <a:bodyPr>
            <a:normAutofit/>
          </a:bodyPr>
          <a:lstStyle/>
          <a:p>
            <a:r>
              <a:rPr lang="en-US" sz="2400" dirty="0"/>
              <a:t>Spring Boot Annotations are a </a:t>
            </a:r>
            <a:r>
              <a:rPr lang="en-US" sz="2400" b="1" dirty="0"/>
              <a:t>form of metadata </a:t>
            </a:r>
            <a:r>
              <a:rPr lang="en-US" sz="2400" dirty="0"/>
              <a:t>that provides data about a spring application</a:t>
            </a:r>
            <a:r>
              <a:rPr lang="en-US" sz="2400" dirty="0" smtClean="0"/>
              <a:t>.</a:t>
            </a:r>
          </a:p>
          <a:p>
            <a:r>
              <a:rPr lang="en-US" sz="2200" dirty="0" smtClean="0"/>
              <a:t>In </a:t>
            </a:r>
            <a:r>
              <a:rPr lang="en-US" sz="2200" dirty="0"/>
              <a:t>other words, annotations are used </a:t>
            </a:r>
            <a:r>
              <a:rPr lang="en-US" sz="2200" dirty="0" smtClean="0"/>
              <a:t>to provide</a:t>
            </a:r>
            <a:r>
              <a:rPr lang="en-US" sz="2200" dirty="0"/>
              <a:t> </a:t>
            </a:r>
            <a:r>
              <a:rPr lang="en-US" sz="2200" b="1" dirty="0" smtClean="0"/>
              <a:t>supplemental</a:t>
            </a:r>
            <a:r>
              <a:rPr lang="en-US" sz="2200" dirty="0"/>
              <a:t> </a:t>
            </a:r>
            <a:r>
              <a:rPr lang="en-US" sz="2200" dirty="0" smtClean="0"/>
              <a:t>information </a:t>
            </a:r>
            <a:r>
              <a:rPr lang="en-US" sz="2200" dirty="0"/>
              <a:t>about a </a:t>
            </a:r>
            <a:r>
              <a:rPr lang="en-US" sz="2200" dirty="0" smtClean="0"/>
              <a:t>program.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For Example:</a:t>
            </a:r>
          </a:p>
          <a:p>
            <a:pPr marL="0" indent="0">
              <a:buNone/>
            </a:pPr>
            <a:r>
              <a:rPr lang="en-US" sz="2200" b="1" dirty="0"/>
              <a:t>@</a:t>
            </a:r>
            <a:r>
              <a:rPr lang="en-US" sz="2200" b="1" dirty="0" err="1" smtClean="0"/>
              <a:t>SpringBootApplication</a:t>
            </a:r>
            <a:r>
              <a:rPr lang="en-US" sz="2200" b="1" dirty="0" smtClean="0"/>
              <a:t> </a:t>
            </a:r>
            <a:r>
              <a:rPr lang="en-US" sz="2200" b="1" dirty="0"/>
              <a:t>:</a:t>
            </a:r>
            <a:endParaRPr lang="en-US" sz="2200" b="1" dirty="0" smtClean="0"/>
          </a:p>
          <a:p>
            <a:pPr lvl="1"/>
            <a:r>
              <a:rPr lang="en-US" sz="2200" dirty="0" smtClean="0"/>
              <a:t>This annotation is used to mark the </a:t>
            </a:r>
            <a:r>
              <a:rPr lang="en-US" sz="2200" b="1" dirty="0" smtClean="0"/>
              <a:t>main class of a Spring Boot</a:t>
            </a:r>
            <a:r>
              <a:rPr lang="en-US" sz="2200" dirty="0" smtClean="0"/>
              <a:t> application. </a:t>
            </a:r>
          </a:p>
          <a:p>
            <a:pPr marL="0" indent="0">
              <a:buNone/>
            </a:pPr>
            <a:r>
              <a:rPr lang="en-US" sz="2400" b="1" dirty="0" smtClean="0"/>
              <a:t>@Component :</a:t>
            </a:r>
          </a:p>
          <a:p>
            <a:pPr lvl="1"/>
            <a:r>
              <a:rPr lang="en-US" sz="2200" dirty="0"/>
              <a:t>It is a class-level annotation. </a:t>
            </a:r>
            <a:endParaRPr lang="en-US" sz="2200" dirty="0" smtClean="0"/>
          </a:p>
          <a:p>
            <a:pPr lvl="1"/>
            <a:r>
              <a:rPr lang="en-US" sz="2200" dirty="0" smtClean="0"/>
              <a:t>It </a:t>
            </a:r>
            <a:r>
              <a:rPr lang="en-US" sz="2200" dirty="0"/>
              <a:t>is used to mark a </a:t>
            </a:r>
            <a:r>
              <a:rPr lang="en-US" sz="2200" b="1" dirty="0"/>
              <a:t>Java class as a </a:t>
            </a:r>
            <a:r>
              <a:rPr lang="en-US" sz="2200" b="1" dirty="0" smtClean="0"/>
              <a:t>bean</a:t>
            </a:r>
            <a:r>
              <a:rPr lang="en-US" sz="2200" dirty="0" smtClean="0"/>
              <a:t>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9953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8" y="609600"/>
            <a:ext cx="8596668" cy="720436"/>
          </a:xfrm>
        </p:spPr>
        <p:txBody>
          <a:bodyPr/>
          <a:lstStyle/>
          <a:p>
            <a:r>
              <a:rPr lang="en-US" b="1" dirty="0" smtClean="0"/>
              <a:t>Spring </a:t>
            </a:r>
            <a:r>
              <a:rPr lang="en-US" b="1" dirty="0"/>
              <a:t>Boot Annotations </a:t>
            </a:r>
            <a:r>
              <a:rPr lang="en-US" b="1" dirty="0" smtClean="0"/>
              <a:t>List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458" y="1524000"/>
            <a:ext cx="8513288" cy="4949372"/>
          </a:xfrm>
        </p:spPr>
        <p:txBody>
          <a:bodyPr>
            <a:normAutofit/>
          </a:bodyPr>
          <a:lstStyle/>
          <a:p>
            <a:r>
              <a:rPr lang="en-US" sz="2400" dirty="0"/>
              <a:t>Some of the annotations that are available in this category are</a:t>
            </a:r>
            <a:r>
              <a:rPr lang="en-US" sz="2400" dirty="0" smtClean="0"/>
              <a:t>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600" b="1" dirty="0" smtClean="0"/>
              <a:t>@</a:t>
            </a:r>
            <a:r>
              <a:rPr lang="en-US" sz="2600" b="1" dirty="0" err="1"/>
              <a:t>SpringBootApplication</a:t>
            </a:r>
            <a:endParaRPr lang="en-US" sz="2600" b="1" dirty="0"/>
          </a:p>
          <a:p>
            <a:pPr lvl="2"/>
            <a:r>
              <a:rPr lang="en-US" sz="2600" dirty="0"/>
              <a:t> </a:t>
            </a:r>
            <a:r>
              <a:rPr lang="en-US" sz="2200" dirty="0"/>
              <a:t>@</a:t>
            </a:r>
            <a:r>
              <a:rPr lang="en-US" sz="2200" dirty="0" err="1"/>
              <a:t>SpringBootConfiguration</a:t>
            </a:r>
            <a:endParaRPr lang="en-US" sz="2200" dirty="0"/>
          </a:p>
          <a:p>
            <a:pPr lvl="2"/>
            <a:r>
              <a:rPr lang="en-US" sz="2200" dirty="0"/>
              <a:t> @</a:t>
            </a:r>
            <a:r>
              <a:rPr lang="en-US" sz="2200" dirty="0" err="1"/>
              <a:t>EnableAutoConfiguration</a:t>
            </a:r>
            <a:endParaRPr lang="en-US" sz="2200" dirty="0"/>
          </a:p>
          <a:p>
            <a:pPr lvl="2"/>
            <a:r>
              <a:rPr lang="en-US" sz="2200" dirty="0"/>
              <a:t> @</a:t>
            </a:r>
            <a:r>
              <a:rPr lang="en-US" sz="2200" dirty="0" err="1" smtClean="0"/>
              <a:t>ComponentScan</a:t>
            </a:r>
            <a:endParaRPr lang="en-US" sz="22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216" y="4325257"/>
            <a:ext cx="6371771" cy="23420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20240" y="4325257"/>
            <a:ext cx="235131" cy="23420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819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14924"/>
            <a:ext cx="3854528" cy="562425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Example:</a:t>
            </a:r>
            <a:endParaRPr lang="en-US" sz="2800" b="1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13898" y="3885899"/>
            <a:ext cx="4513541" cy="2832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 smtClean="0">
                <a:solidFill>
                  <a:schemeClr val="accent1"/>
                </a:solidFill>
              </a:rPr>
              <a:t>Developer.java :</a:t>
            </a:r>
          </a:p>
          <a:p>
            <a:pPr marL="0" indent="0">
              <a:buNone/>
            </a:pPr>
            <a:r>
              <a:rPr lang="en-US" sz="2000" b="1" dirty="0" smtClean="0"/>
              <a:t>@Component</a:t>
            </a:r>
          </a:p>
          <a:p>
            <a:pPr marL="0" indent="0">
              <a:buNone/>
            </a:pPr>
            <a:r>
              <a:rPr lang="en-US" sz="2000" dirty="0" smtClean="0"/>
              <a:t>Public class Developer {</a:t>
            </a:r>
          </a:p>
          <a:p>
            <a:pPr marL="0" indent="0">
              <a:buNone/>
            </a:pPr>
            <a:r>
              <a:rPr lang="en-US" sz="2000" dirty="0" smtClean="0"/>
              <a:t>public void build() {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err="1" smtClean="0"/>
              <a:t>s.o.p</a:t>
            </a:r>
            <a:r>
              <a:rPr lang="en-US" sz="2000" dirty="0" smtClean="0"/>
              <a:t>(“Working…”);</a:t>
            </a:r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dirty="0" smtClean="0"/>
              <a:t> }} </a:t>
            </a:r>
            <a:endParaRPr lang="en-US" sz="2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5159828" y="3451042"/>
            <a:ext cx="5203511" cy="3287273"/>
          </a:xfrm>
        </p:spPr>
        <p:txBody>
          <a:bodyPr>
            <a:noAutofit/>
          </a:bodyPr>
          <a:lstStyle/>
          <a:p>
            <a:r>
              <a:rPr lang="en-US" sz="2000" dirty="0" smtClean="0"/>
              <a:t>Public class </a:t>
            </a:r>
            <a:r>
              <a:rPr lang="en-US" sz="2000" dirty="0" err="1" smtClean="0"/>
              <a:t>SpringApp</a:t>
            </a:r>
            <a:r>
              <a:rPr lang="en-US" sz="2000" dirty="0" smtClean="0"/>
              <a:t> {</a:t>
            </a:r>
          </a:p>
          <a:p>
            <a:r>
              <a:rPr lang="en-US" sz="2000" dirty="0" smtClean="0"/>
              <a:t>public static void main(String[] a) {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</a:t>
            </a:r>
            <a:r>
              <a:rPr lang="en-US" sz="2000" dirty="0" err="1" smtClean="0"/>
              <a:t>ApplicationContext</a:t>
            </a:r>
            <a:r>
              <a:rPr lang="en-US" sz="2000" dirty="0" smtClean="0"/>
              <a:t> context = </a:t>
            </a:r>
          </a:p>
          <a:p>
            <a:r>
              <a:rPr lang="en-US" sz="2000" dirty="0"/>
              <a:t>	</a:t>
            </a:r>
            <a:r>
              <a:rPr lang="en-US" sz="2000" dirty="0" err="1" smtClean="0"/>
              <a:t>SpringApp.run</a:t>
            </a:r>
            <a:r>
              <a:rPr lang="en-US" sz="2000" dirty="0" smtClean="0"/>
              <a:t>(‘…’);</a:t>
            </a:r>
          </a:p>
          <a:p>
            <a:r>
              <a:rPr lang="en-US" sz="2000" dirty="0" smtClean="0"/>
              <a:t>  Developer </a:t>
            </a:r>
            <a:r>
              <a:rPr lang="en-US" sz="2000" dirty="0" err="1" smtClean="0"/>
              <a:t>obj</a:t>
            </a:r>
            <a:r>
              <a:rPr lang="en-US" sz="2000" dirty="0" smtClean="0"/>
              <a:t> =   </a:t>
            </a:r>
            <a:r>
              <a:rPr lang="en-US" sz="2000" dirty="0" err="1" smtClean="0"/>
              <a:t>context.getBean</a:t>
            </a:r>
            <a:r>
              <a:rPr lang="en-US" sz="2000" dirty="0" smtClean="0"/>
              <a:t>(</a:t>
            </a:r>
            <a:r>
              <a:rPr lang="en-US" sz="2000" dirty="0" err="1" smtClean="0"/>
              <a:t>Developer.class</a:t>
            </a:r>
            <a:r>
              <a:rPr lang="en-US" sz="2000" dirty="0" smtClean="0"/>
              <a:t>);</a:t>
            </a:r>
          </a:p>
          <a:p>
            <a:r>
              <a:rPr lang="en-US" sz="2000" dirty="0"/>
              <a:t>	</a:t>
            </a:r>
            <a:r>
              <a:rPr lang="en-US" sz="2000" dirty="0" err="1" smtClean="0"/>
              <a:t>obj.build</a:t>
            </a:r>
            <a:r>
              <a:rPr lang="en-US" sz="2000" dirty="0" smtClean="0"/>
              <a:t>();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821024" y="1304696"/>
            <a:ext cx="9015307" cy="2255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arenR"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Create a </a:t>
            </a:r>
            <a:r>
              <a:rPr lang="en-US" sz="1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Springboot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project and a Developer Class with build() method.</a:t>
            </a:r>
          </a:p>
          <a:p>
            <a:pPr>
              <a:buFont typeface="+mj-lt"/>
              <a:buAutoNum type="arabicParenR"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Make Developer Class as @Component so it can create bean in </a:t>
            </a:r>
            <a:r>
              <a:rPr lang="en-US" sz="1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Ioc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container.</a:t>
            </a:r>
          </a:p>
          <a:p>
            <a:pPr>
              <a:buFont typeface="+mj-lt"/>
              <a:buAutoNum type="arabicParenR"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Create Object(context) for </a:t>
            </a:r>
            <a:r>
              <a:rPr lang="en-US" sz="1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ApplicationContext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interface to call bean.</a:t>
            </a:r>
          </a:p>
          <a:p>
            <a:pPr>
              <a:buFont typeface="+mj-lt"/>
              <a:buAutoNum type="arabicParenR"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Create Object for Developer using </a:t>
            </a:r>
            <a:r>
              <a:rPr lang="en-US" sz="1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getBeam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(class-</a:t>
            </a:r>
            <a:r>
              <a:rPr lang="en-US" sz="1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name.class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method.</a:t>
            </a:r>
          </a:p>
          <a:p>
            <a:pPr>
              <a:buFont typeface="+mj-lt"/>
              <a:buAutoNum type="arabicParenR"/>
            </a:pP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Using spring object call the build() method.</a:t>
            </a:r>
          </a:p>
        </p:txBody>
      </p:sp>
    </p:spTree>
    <p:extLst>
      <p:ext uri="{BB962C8B-B14F-4D97-AF65-F5344CB8AC3E}">
        <p14:creationId xmlns:p14="http://schemas.microsoft.com/office/powerpoint/2010/main" val="378240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05" y="634273"/>
            <a:ext cx="8596668" cy="798286"/>
          </a:xfrm>
        </p:spPr>
        <p:txBody>
          <a:bodyPr/>
          <a:lstStyle/>
          <a:p>
            <a:r>
              <a:rPr lang="en-US" b="1" dirty="0" smtClean="0"/>
              <a:t>Annotations: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505" y="1432559"/>
            <a:ext cx="8596668" cy="50654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 smtClean="0"/>
              <a:t>@</a:t>
            </a:r>
            <a:r>
              <a:rPr lang="en-US" sz="2400" b="1" dirty="0" err="1" smtClean="0"/>
              <a:t>Autowire</a:t>
            </a:r>
            <a:r>
              <a:rPr lang="en-US" sz="2400" b="1" dirty="0" smtClean="0"/>
              <a:t> :</a:t>
            </a:r>
            <a:endParaRPr lang="en-US" sz="2400" b="1" dirty="0"/>
          </a:p>
          <a:p>
            <a:pPr lvl="1"/>
            <a:r>
              <a:rPr lang="en-US" sz="2400" dirty="0"/>
              <a:t>It is used to </a:t>
            </a:r>
            <a:r>
              <a:rPr lang="en-US" sz="2400" b="1" dirty="0" err="1" smtClean="0"/>
              <a:t>autowire</a:t>
            </a:r>
            <a:r>
              <a:rPr lang="en-US" sz="2400" b="1" dirty="0" smtClean="0"/>
              <a:t>(connecting) </a:t>
            </a:r>
            <a:r>
              <a:rPr lang="en-US" sz="2400" b="1" dirty="0"/>
              <a:t>spring bean </a:t>
            </a:r>
            <a:r>
              <a:rPr lang="en-US" sz="2400" dirty="0"/>
              <a:t>on</a:t>
            </a:r>
            <a:r>
              <a:rPr lang="en-US" sz="2400" b="1" dirty="0"/>
              <a:t> setter methods, instance variable, and </a:t>
            </a:r>
            <a:r>
              <a:rPr lang="en-US" sz="2400" b="1" dirty="0" smtClean="0"/>
              <a:t>constructor Injection.</a:t>
            </a:r>
          </a:p>
          <a:p>
            <a:pPr marL="0" indent="0">
              <a:buNone/>
            </a:pPr>
            <a:r>
              <a:rPr lang="en-US" sz="2400" b="1" dirty="0" smtClean="0"/>
              <a:t>@Primary :</a:t>
            </a:r>
          </a:p>
          <a:p>
            <a:pPr lvl="1"/>
            <a:r>
              <a:rPr lang="en-US" sz="2400" dirty="0" smtClean="0"/>
              <a:t>Giving </a:t>
            </a:r>
            <a:r>
              <a:rPr lang="en-US" sz="2400" b="1" dirty="0" smtClean="0"/>
              <a:t>priority to a Bean </a:t>
            </a:r>
            <a:r>
              <a:rPr lang="en-US" sz="2400" dirty="0" smtClean="0"/>
              <a:t>when we have more than one class with same method and component.</a:t>
            </a:r>
          </a:p>
          <a:p>
            <a:pPr marL="0" indent="0">
              <a:buNone/>
            </a:pPr>
            <a:r>
              <a:rPr lang="en-US" sz="2400" b="1" dirty="0"/>
              <a:t>@Qualifier(‘class-name’) :</a:t>
            </a:r>
          </a:p>
          <a:p>
            <a:pPr lvl="1"/>
            <a:r>
              <a:rPr lang="en-US" sz="2400" dirty="0"/>
              <a:t>Giving </a:t>
            </a:r>
            <a:r>
              <a:rPr lang="en-US" sz="2400" b="1" dirty="0"/>
              <a:t>priority to a </a:t>
            </a:r>
            <a:r>
              <a:rPr lang="en-US" sz="2400" b="1" dirty="0" smtClean="0"/>
              <a:t>Bean which given inside </a:t>
            </a:r>
            <a:r>
              <a:rPr lang="en-US" sz="2400" dirty="0"/>
              <a:t>when we have more than one class with same method and component.</a:t>
            </a:r>
          </a:p>
          <a:p>
            <a:pPr lvl="1"/>
            <a:r>
              <a:rPr lang="en-US" sz="2400" dirty="0" smtClean="0"/>
              <a:t>This is Given </a:t>
            </a:r>
            <a:r>
              <a:rPr lang="en-US" sz="2400" dirty="0"/>
              <a:t>inside main class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596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846" y="0"/>
            <a:ext cx="2835607" cy="753291"/>
          </a:xfrm>
        </p:spPr>
        <p:txBody>
          <a:bodyPr>
            <a:normAutofit/>
          </a:bodyPr>
          <a:lstStyle/>
          <a:p>
            <a:r>
              <a:rPr lang="en-US" b="1" dirty="0" smtClean="0"/>
              <a:t>Example: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024" y="539931"/>
            <a:ext cx="4415246" cy="618744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u="sng" dirty="0" smtClean="0">
                <a:solidFill>
                  <a:schemeClr val="accent1"/>
                </a:solidFill>
              </a:rPr>
              <a:t>Laptop.java </a:t>
            </a:r>
            <a:r>
              <a:rPr lang="en-US" u="sng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/>
              <a:t>@Component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smtClean="0"/>
              <a:t>Laptop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public void </a:t>
            </a:r>
            <a:r>
              <a:rPr lang="en-US" dirty="0" smtClean="0"/>
              <a:t>compile()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s.o.p</a:t>
            </a:r>
            <a:r>
              <a:rPr lang="en-US" dirty="0" smtClean="0"/>
              <a:t>(“Compiling</a:t>
            </a:r>
            <a:r>
              <a:rPr lang="en-US" dirty="0"/>
              <a:t>…”);</a:t>
            </a:r>
          </a:p>
          <a:p>
            <a:pPr marL="0" indent="0">
              <a:buNone/>
            </a:pPr>
            <a:r>
              <a:rPr lang="en-US" dirty="0"/>
              <a:t>  }} </a:t>
            </a:r>
          </a:p>
          <a:p>
            <a:pPr marL="0" indent="0">
              <a:buNone/>
            </a:pPr>
            <a:r>
              <a:rPr lang="en-US" u="sng" dirty="0">
                <a:solidFill>
                  <a:schemeClr val="accent1"/>
                </a:solidFill>
              </a:rPr>
              <a:t>Developer.java :</a:t>
            </a:r>
          </a:p>
          <a:p>
            <a:pPr marL="0" indent="0">
              <a:buNone/>
            </a:pPr>
            <a:r>
              <a:rPr lang="en-US" b="1" dirty="0"/>
              <a:t>@Component</a:t>
            </a:r>
          </a:p>
          <a:p>
            <a:pPr marL="0" indent="0">
              <a:buNone/>
            </a:pPr>
            <a:r>
              <a:rPr lang="en-US" dirty="0"/>
              <a:t>Public class Developer </a:t>
            </a:r>
            <a:r>
              <a:rPr lang="en-US" dirty="0" smtClean="0"/>
              <a:t>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private </a:t>
            </a:r>
            <a:r>
              <a:rPr lang="en-US" dirty="0"/>
              <a:t>Laptop lap; </a:t>
            </a:r>
            <a:r>
              <a:rPr lang="en-US" dirty="0" smtClean="0"/>
              <a:t>//constructor inject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smtClean="0"/>
              <a:t>public </a:t>
            </a:r>
            <a:r>
              <a:rPr lang="en-US" dirty="0"/>
              <a:t>Developer(Laptop lap) {</a:t>
            </a:r>
          </a:p>
          <a:p>
            <a:pPr marL="0" indent="0">
              <a:buNone/>
            </a:pPr>
            <a:r>
              <a:rPr lang="en-US" dirty="0"/>
              <a:t>   	</a:t>
            </a:r>
            <a:r>
              <a:rPr lang="en-US" dirty="0" err="1"/>
              <a:t>this.lap</a:t>
            </a:r>
            <a:r>
              <a:rPr lang="en-US" dirty="0"/>
              <a:t> = lap;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public void build()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s.o.p</a:t>
            </a:r>
            <a:r>
              <a:rPr lang="en-US" dirty="0"/>
              <a:t>(“Working…”);</a:t>
            </a:r>
          </a:p>
          <a:p>
            <a:pPr marL="0" indent="0">
              <a:buNone/>
            </a:pPr>
            <a:r>
              <a:rPr lang="en-US" dirty="0"/>
              <a:t>  }}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564778" y="753291"/>
            <a:ext cx="4389119" cy="6104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u="sng" dirty="0" smtClean="0">
                <a:solidFill>
                  <a:schemeClr val="accent1"/>
                </a:solidFill>
              </a:rPr>
              <a:t>Developer.java :</a:t>
            </a:r>
          </a:p>
          <a:p>
            <a:pPr marL="0" indent="0">
              <a:buFont typeface="Wingdings 3" charset="2"/>
              <a:buNone/>
            </a:pPr>
            <a:r>
              <a:rPr lang="en-US" b="1" dirty="0" smtClean="0"/>
              <a:t>@Component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Public class Developer {</a:t>
            </a:r>
          </a:p>
          <a:p>
            <a:pPr marL="0" indent="0">
              <a:buNone/>
            </a:pPr>
            <a:r>
              <a:rPr lang="en-US" b="1" dirty="0"/>
              <a:t>//field </a:t>
            </a:r>
            <a:r>
              <a:rPr lang="en-US" b="1" dirty="0" smtClean="0"/>
              <a:t>injection</a:t>
            </a:r>
            <a:endParaRPr lang="en-US" dirty="0" smtClean="0"/>
          </a:p>
          <a:p>
            <a:pPr marL="0" indent="0">
              <a:buFont typeface="Wingdings 3" charset="2"/>
              <a:buNone/>
            </a:pPr>
            <a:r>
              <a:rPr lang="en-US" dirty="0" smtClean="0"/>
              <a:t>  @</a:t>
            </a:r>
            <a:r>
              <a:rPr lang="en-US" dirty="0" err="1" smtClean="0"/>
              <a:t>Autowired</a:t>
            </a:r>
            <a:endParaRPr lang="en-US" dirty="0" smtClean="0"/>
          </a:p>
          <a:p>
            <a:pPr marL="0" indent="0">
              <a:buFont typeface="Wingdings 3" charset="2"/>
              <a:buNone/>
            </a:pPr>
            <a:r>
              <a:rPr lang="en-US" dirty="0"/>
              <a:t> </a:t>
            </a:r>
            <a:r>
              <a:rPr lang="en-US" dirty="0" smtClean="0"/>
              <a:t> private Laptop lap; </a:t>
            </a:r>
          </a:p>
          <a:p>
            <a:pPr marL="0" indent="0">
              <a:buNone/>
            </a:pPr>
            <a:r>
              <a:rPr lang="en-US" b="1" dirty="0"/>
              <a:t>//setter </a:t>
            </a:r>
            <a:r>
              <a:rPr lang="en-US" b="1" dirty="0" smtClean="0"/>
              <a:t>injection</a:t>
            </a:r>
            <a:endParaRPr lang="en-US" dirty="0" smtClean="0"/>
          </a:p>
          <a:p>
            <a:pPr marL="0" indent="0">
              <a:buFont typeface="Wingdings 3" charset="2"/>
              <a:buNone/>
            </a:pPr>
            <a:r>
              <a:rPr lang="en-US" dirty="0" smtClean="0"/>
              <a:t>  public  void </a:t>
            </a:r>
            <a:r>
              <a:rPr lang="en-US" dirty="0" err="1" smtClean="0"/>
              <a:t>setLaptop</a:t>
            </a:r>
            <a:r>
              <a:rPr lang="en-US" dirty="0" smtClean="0"/>
              <a:t>(Laptop </a:t>
            </a:r>
            <a:r>
              <a:rPr lang="en-US" dirty="0"/>
              <a:t>lap) {</a:t>
            </a:r>
          </a:p>
          <a:p>
            <a:pPr marL="0" indent="0">
              <a:buNone/>
            </a:pPr>
            <a:r>
              <a:rPr lang="en-US" dirty="0"/>
              <a:t>   	</a:t>
            </a:r>
            <a:r>
              <a:rPr lang="en-US" dirty="0" err="1"/>
              <a:t>this.lap</a:t>
            </a:r>
            <a:r>
              <a:rPr lang="en-US" dirty="0"/>
              <a:t> = lap</a:t>
            </a:r>
            <a:r>
              <a:rPr lang="en-US" dirty="0" smtClean="0"/>
              <a:t>;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}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  public void build() {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</a:t>
            </a:r>
            <a:r>
              <a:rPr lang="en-US" dirty="0" err="1" smtClean="0"/>
              <a:t>lap.compile</a:t>
            </a:r>
            <a:r>
              <a:rPr lang="en-US" dirty="0" smtClean="0"/>
              <a:t>();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	</a:t>
            </a:r>
            <a:r>
              <a:rPr lang="en-US" dirty="0" err="1" smtClean="0"/>
              <a:t>s.o.p</a:t>
            </a:r>
            <a:r>
              <a:rPr lang="en-US" dirty="0" smtClean="0"/>
              <a:t>(“Working…”);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  }} </a:t>
            </a:r>
          </a:p>
          <a:p>
            <a:pPr marL="0" indent="0">
              <a:buFont typeface="Wingdings 3" charset="2"/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8707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4671" y="169819"/>
            <a:ext cx="2614506" cy="696686"/>
          </a:xfrm>
        </p:spPr>
        <p:txBody>
          <a:bodyPr/>
          <a:lstStyle/>
          <a:p>
            <a:r>
              <a:rPr lang="en-US" b="1" dirty="0" smtClean="0"/>
              <a:t>Example:</a:t>
            </a:r>
            <a:endParaRPr lang="en-US" b="1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864947" y="1058094"/>
            <a:ext cx="4939695" cy="55647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>
                <a:solidFill>
                  <a:schemeClr val="accent1"/>
                </a:solidFill>
              </a:rPr>
              <a:t>Laptop.java </a:t>
            </a:r>
            <a:r>
              <a:rPr lang="en-US" u="sng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/>
              <a:t>@Component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smtClean="0"/>
              <a:t>Laptop implements Computer {</a:t>
            </a:r>
          </a:p>
          <a:p>
            <a:pPr marL="0" indent="0">
              <a:buNone/>
            </a:pPr>
            <a:r>
              <a:rPr lang="en-US" dirty="0" smtClean="0"/>
              <a:t>  public </a:t>
            </a:r>
            <a:r>
              <a:rPr lang="en-US" dirty="0"/>
              <a:t>void compile</a:t>
            </a:r>
            <a:r>
              <a:rPr lang="en-US" dirty="0" smtClean="0"/>
              <a:t>(){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s.o.p</a:t>
            </a:r>
            <a:r>
              <a:rPr lang="en-US" dirty="0" smtClean="0"/>
              <a:t>(“Compiling in laptop…”);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}} </a:t>
            </a:r>
            <a:endParaRPr lang="en-US" dirty="0" smtClean="0"/>
          </a:p>
          <a:p>
            <a:pPr marL="0" indent="0">
              <a:buNone/>
            </a:pPr>
            <a:r>
              <a:rPr lang="en-US" u="sng" dirty="0" smtClean="0">
                <a:solidFill>
                  <a:schemeClr val="accent1"/>
                </a:solidFill>
              </a:rPr>
              <a:t>Desktop.java </a:t>
            </a:r>
            <a:r>
              <a:rPr lang="en-US" u="sng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/>
              <a:t>@</a:t>
            </a:r>
            <a:r>
              <a:rPr lang="en-US" b="1" dirty="0" smtClean="0"/>
              <a:t>Component</a:t>
            </a:r>
          </a:p>
          <a:p>
            <a:pPr marL="0" indent="0">
              <a:buNone/>
            </a:pPr>
            <a:r>
              <a:rPr lang="en-US" b="1" dirty="0" smtClean="0"/>
              <a:t>@Primary //priority given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smtClean="0"/>
              <a:t>Desktop </a:t>
            </a:r>
            <a:r>
              <a:rPr lang="en-US" dirty="0"/>
              <a:t>implements Computer {</a:t>
            </a:r>
          </a:p>
          <a:p>
            <a:pPr marL="0" indent="0">
              <a:buNone/>
            </a:pPr>
            <a:r>
              <a:rPr lang="en-US" dirty="0"/>
              <a:t>  public void compile(){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s.o.p</a:t>
            </a:r>
            <a:r>
              <a:rPr lang="en-US" dirty="0"/>
              <a:t>(“</a:t>
            </a:r>
            <a:r>
              <a:rPr lang="en-US" dirty="0" smtClean="0"/>
              <a:t>Compiling in desktop…”);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}}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82805" y="1058094"/>
            <a:ext cx="4389119" cy="5721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u="sng" dirty="0">
                <a:solidFill>
                  <a:schemeClr val="accent1"/>
                </a:solidFill>
              </a:rPr>
              <a:t>Computer.java (interface</a:t>
            </a:r>
            <a:r>
              <a:rPr lang="en-US" u="sng" dirty="0" smtClean="0">
                <a:solidFill>
                  <a:schemeClr val="accent1"/>
                </a:solidFill>
              </a:rPr>
              <a:t>):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smtClean="0"/>
              <a:t>interface </a:t>
            </a:r>
            <a:r>
              <a:rPr lang="en-US" dirty="0"/>
              <a:t>Computer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smtClean="0"/>
              <a:t> </a:t>
            </a:r>
            <a:r>
              <a:rPr lang="en-US" dirty="0"/>
              <a:t>void compile();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Font typeface="Wingdings 3" charset="2"/>
              <a:buNone/>
            </a:pPr>
            <a:r>
              <a:rPr lang="en-US" u="sng" dirty="0" smtClean="0">
                <a:solidFill>
                  <a:schemeClr val="accent1"/>
                </a:solidFill>
              </a:rPr>
              <a:t>Developer.java :</a:t>
            </a:r>
          </a:p>
          <a:p>
            <a:pPr marL="0" indent="0">
              <a:buFont typeface="Wingdings 3" charset="2"/>
              <a:buNone/>
            </a:pPr>
            <a:r>
              <a:rPr lang="en-US" b="1" dirty="0" smtClean="0"/>
              <a:t>@Component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Public class Developer {</a:t>
            </a:r>
          </a:p>
          <a:p>
            <a:pPr marL="0" indent="0">
              <a:buNone/>
            </a:pPr>
            <a:r>
              <a:rPr lang="en-US" dirty="0" smtClean="0"/>
              <a:t> @</a:t>
            </a:r>
            <a:r>
              <a:rPr lang="en-US" dirty="0" err="1" smtClean="0"/>
              <a:t>Autowired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@Qualifier(“laptop”) //priority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 </a:t>
            </a:r>
            <a:r>
              <a:rPr lang="en-US" dirty="0" smtClean="0"/>
              <a:t> private Computer comp; </a:t>
            </a:r>
          </a:p>
          <a:p>
            <a:pPr marL="0" indent="0">
              <a:buNone/>
            </a:pPr>
            <a:r>
              <a:rPr lang="en-US" dirty="0" smtClean="0"/>
              <a:t>  public void build() {</a:t>
            </a:r>
          </a:p>
          <a:p>
            <a:pPr marL="0" indent="0">
              <a:buFont typeface="Wingdings 3" charset="2"/>
              <a:buNone/>
            </a:pPr>
            <a:r>
              <a:rPr lang="en-US" dirty="0"/>
              <a:t>	</a:t>
            </a:r>
            <a:r>
              <a:rPr lang="en-US" dirty="0" err="1" smtClean="0"/>
              <a:t>comp.compile</a:t>
            </a:r>
            <a:r>
              <a:rPr lang="en-US" dirty="0" smtClean="0"/>
              <a:t>();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	</a:t>
            </a:r>
            <a:r>
              <a:rPr lang="en-US" dirty="0" err="1" smtClean="0"/>
              <a:t>s.o.p</a:t>
            </a:r>
            <a:r>
              <a:rPr lang="en-US" dirty="0" smtClean="0"/>
              <a:t>(“Working…”);</a:t>
            </a:r>
          </a:p>
          <a:p>
            <a:pPr marL="0" indent="0">
              <a:buFont typeface="Wingdings 3" charset="2"/>
              <a:buNone/>
            </a:pPr>
            <a:r>
              <a:rPr lang="en-US" dirty="0" smtClean="0"/>
              <a:t>  }} </a:t>
            </a:r>
          </a:p>
        </p:txBody>
      </p:sp>
    </p:spTree>
    <p:extLst>
      <p:ext uri="{BB962C8B-B14F-4D97-AF65-F5344CB8AC3E}">
        <p14:creationId xmlns:p14="http://schemas.microsoft.com/office/powerpoint/2010/main" val="643360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888" y="895531"/>
            <a:ext cx="9100941" cy="5570583"/>
          </a:xfrm>
        </p:spPr>
        <p:txBody>
          <a:bodyPr>
            <a:normAutofit lnSpcReduction="10000"/>
          </a:bodyPr>
          <a:lstStyle/>
          <a:p>
            <a:r>
              <a:rPr lang="en-US" sz="2300" b="1" u="sng" dirty="0" smtClean="0">
                <a:solidFill>
                  <a:schemeClr val="accent1"/>
                </a:solidFill>
              </a:rPr>
              <a:t>@</a:t>
            </a:r>
            <a:r>
              <a:rPr lang="en-US" sz="2300" b="1" u="sng" dirty="0" err="1" smtClean="0">
                <a:solidFill>
                  <a:schemeClr val="accent1"/>
                </a:solidFill>
              </a:rPr>
              <a:t>RestController</a:t>
            </a:r>
            <a:r>
              <a:rPr lang="en-US" sz="2300" b="1" dirty="0" smtClean="0">
                <a:solidFill>
                  <a:schemeClr val="accent1"/>
                </a:solidFill>
              </a:rPr>
              <a:t>:</a:t>
            </a:r>
            <a:r>
              <a:rPr lang="en-US" sz="2300" dirty="0"/>
              <a:t> It marks a class as a </a:t>
            </a:r>
            <a:r>
              <a:rPr lang="en-US" sz="2300" b="1" dirty="0"/>
              <a:t>web </a:t>
            </a:r>
            <a:r>
              <a:rPr lang="en-US" sz="2300" b="1" dirty="0" smtClean="0"/>
              <a:t>request and response </a:t>
            </a:r>
            <a:r>
              <a:rPr lang="en-US" sz="2300" b="1" dirty="0"/>
              <a:t>handler</a:t>
            </a:r>
            <a:r>
              <a:rPr lang="en-US" sz="2300" dirty="0"/>
              <a:t>. </a:t>
            </a:r>
            <a:r>
              <a:rPr lang="en-US" sz="2300" dirty="0" smtClean="0"/>
              <a:t>It </a:t>
            </a:r>
            <a:r>
              <a:rPr lang="en-US" sz="2300" dirty="0"/>
              <a:t>is mostly </a:t>
            </a:r>
            <a:r>
              <a:rPr lang="en-US" sz="2300" dirty="0" smtClean="0"/>
              <a:t>used with </a:t>
            </a:r>
            <a:r>
              <a:rPr lang="en-US" sz="2300" b="1" dirty="0" smtClean="0"/>
              <a:t>@</a:t>
            </a:r>
            <a:r>
              <a:rPr lang="en-US" sz="2300" b="1" dirty="0" err="1" smtClean="0"/>
              <a:t>RequestMapping</a:t>
            </a:r>
            <a:r>
              <a:rPr lang="en-US" sz="2300" dirty="0" smtClean="0"/>
              <a:t>.</a:t>
            </a:r>
            <a:endParaRPr lang="en-US" sz="2300" dirty="0"/>
          </a:p>
          <a:p>
            <a:r>
              <a:rPr lang="en-US" sz="2300" b="1" u="sng" dirty="0" smtClean="0">
                <a:solidFill>
                  <a:schemeClr val="accent1"/>
                </a:solidFill>
              </a:rPr>
              <a:t>@Controller: </a:t>
            </a:r>
            <a:r>
              <a:rPr lang="en-US" sz="2300" dirty="0" smtClean="0"/>
              <a:t>It is also marks </a:t>
            </a:r>
            <a:r>
              <a:rPr lang="en-US" sz="2300" dirty="0"/>
              <a:t>a class as a </a:t>
            </a:r>
            <a:r>
              <a:rPr lang="en-US" sz="2300" b="1" dirty="0"/>
              <a:t>web request handler</a:t>
            </a:r>
            <a:r>
              <a:rPr lang="en-US" sz="2300" dirty="0"/>
              <a:t>. </a:t>
            </a:r>
            <a:r>
              <a:rPr lang="en-US" sz="2300" dirty="0" smtClean="0"/>
              <a:t>It </a:t>
            </a:r>
            <a:r>
              <a:rPr lang="en-US" sz="2300" dirty="0"/>
              <a:t>is mostly </a:t>
            </a:r>
            <a:r>
              <a:rPr lang="en-US" sz="2300" dirty="0" smtClean="0"/>
              <a:t>used with</a:t>
            </a:r>
            <a:r>
              <a:rPr lang="en-US" sz="2300" dirty="0"/>
              <a:t> </a:t>
            </a:r>
            <a:r>
              <a:rPr lang="en-US" sz="2300" b="1" dirty="0"/>
              <a:t>@</a:t>
            </a:r>
            <a:r>
              <a:rPr lang="en-US" sz="2300" b="1" dirty="0" err="1"/>
              <a:t>RequestMapping</a:t>
            </a:r>
            <a:r>
              <a:rPr lang="en-US" sz="2300" dirty="0"/>
              <a:t> annotation</a:t>
            </a:r>
            <a:r>
              <a:rPr lang="en-US" sz="2300" dirty="0" smtClean="0"/>
              <a:t>.</a:t>
            </a:r>
          </a:p>
          <a:p>
            <a:r>
              <a:rPr lang="en-US" sz="2300" b="1" u="sng" dirty="0" smtClean="0">
                <a:solidFill>
                  <a:schemeClr val="accent1"/>
                </a:solidFill>
              </a:rPr>
              <a:t>@</a:t>
            </a:r>
            <a:r>
              <a:rPr lang="en-US" sz="2300" b="1" u="sng" dirty="0" err="1" smtClean="0">
                <a:solidFill>
                  <a:schemeClr val="accent1"/>
                </a:solidFill>
              </a:rPr>
              <a:t>RequestMapping</a:t>
            </a:r>
            <a:r>
              <a:rPr lang="en-US" sz="2300" b="1" u="sng" dirty="0" smtClean="0">
                <a:solidFill>
                  <a:schemeClr val="accent1"/>
                </a:solidFill>
              </a:rPr>
              <a:t>(“/”): </a:t>
            </a:r>
            <a:r>
              <a:rPr lang="en-US" sz="2300" dirty="0" smtClean="0"/>
              <a:t>It is used to redirect the page which is mentioned inside the (“/”).</a:t>
            </a:r>
          </a:p>
          <a:p>
            <a:r>
              <a:rPr lang="en-US" sz="2300" b="1" u="sng" dirty="0" smtClean="0">
                <a:solidFill>
                  <a:schemeClr val="accent1"/>
                </a:solidFill>
              </a:rPr>
              <a:t>@</a:t>
            </a:r>
            <a:r>
              <a:rPr lang="en-US" sz="2300" b="1" u="sng" dirty="0" err="1" smtClean="0">
                <a:solidFill>
                  <a:schemeClr val="accent1"/>
                </a:solidFill>
              </a:rPr>
              <a:t>ResponseBody</a:t>
            </a:r>
            <a:r>
              <a:rPr lang="en-US" sz="2300" b="1" u="sng" dirty="0" smtClean="0">
                <a:solidFill>
                  <a:schemeClr val="accent1"/>
                </a:solidFill>
              </a:rPr>
              <a:t>: </a:t>
            </a:r>
            <a:r>
              <a:rPr lang="en-US" sz="2300" dirty="0" smtClean="0"/>
              <a:t>It </a:t>
            </a:r>
            <a:r>
              <a:rPr lang="en-US" sz="2300" dirty="0"/>
              <a:t>is mostly used </a:t>
            </a:r>
            <a:r>
              <a:rPr lang="en-US" sz="2300" dirty="0" smtClean="0"/>
              <a:t>with </a:t>
            </a:r>
            <a:r>
              <a:rPr lang="en-US" sz="2300" b="1" dirty="0" smtClean="0"/>
              <a:t>@</a:t>
            </a:r>
            <a:r>
              <a:rPr lang="en-US" sz="2300" b="1" dirty="0" err="1" smtClean="0"/>
              <a:t>RequestMapping</a:t>
            </a:r>
            <a:r>
              <a:rPr lang="en-US" sz="2300" dirty="0" smtClean="0"/>
              <a:t> annotation to pass the response from body incase you are using only @Controller not @</a:t>
            </a:r>
            <a:r>
              <a:rPr lang="en-US" sz="2300" dirty="0" err="1" smtClean="0"/>
              <a:t>RestController</a:t>
            </a:r>
            <a:r>
              <a:rPr lang="en-US" sz="2300" dirty="0" smtClean="0"/>
              <a:t>.</a:t>
            </a:r>
            <a:endParaRPr lang="en-US" sz="2300" b="1" u="sng" dirty="0" smtClean="0">
              <a:solidFill>
                <a:schemeClr val="accent1"/>
              </a:solidFill>
            </a:endParaRPr>
          </a:p>
          <a:p>
            <a:r>
              <a:rPr lang="en-US" sz="2300" b="1" u="sng" dirty="0" smtClean="0">
                <a:solidFill>
                  <a:schemeClr val="accent1"/>
                </a:solidFill>
              </a:rPr>
              <a:t>@</a:t>
            </a:r>
            <a:r>
              <a:rPr lang="en-US" sz="2300" b="1" u="sng" dirty="0">
                <a:solidFill>
                  <a:schemeClr val="accent1"/>
                </a:solidFill>
              </a:rPr>
              <a:t>Service:</a:t>
            </a:r>
            <a:r>
              <a:rPr lang="en-US" sz="2300" dirty="0"/>
              <a:t> It is also used at class level. It tells the Spring that class contains the </a:t>
            </a:r>
            <a:r>
              <a:rPr lang="en-US" sz="2300" b="1" dirty="0"/>
              <a:t>business logic</a:t>
            </a:r>
            <a:r>
              <a:rPr lang="en-US" sz="2300" dirty="0" smtClean="0"/>
              <a:t>.</a:t>
            </a:r>
          </a:p>
          <a:p>
            <a:r>
              <a:rPr lang="en-US" sz="2300" b="1" u="sng" dirty="0">
                <a:solidFill>
                  <a:schemeClr val="accent1"/>
                </a:solidFill>
              </a:rPr>
              <a:t>@Bean:</a:t>
            </a:r>
            <a:r>
              <a:rPr lang="en-US" sz="2300" dirty="0"/>
              <a:t> It is a method-level annotation. It is an alternative of XML &lt;bean&gt; tag. It tells the method to </a:t>
            </a:r>
            <a:r>
              <a:rPr lang="en-US" sz="2300" b="1" dirty="0"/>
              <a:t>produce a bean </a:t>
            </a:r>
            <a:r>
              <a:rPr lang="en-US" sz="2300" dirty="0"/>
              <a:t>to be managed by Spring Container</a:t>
            </a:r>
            <a:r>
              <a:rPr lang="en-US" sz="2300" dirty="0" smtClean="0"/>
              <a:t>.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288158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2061" y="609600"/>
            <a:ext cx="8596668" cy="701964"/>
          </a:xfrm>
        </p:spPr>
        <p:txBody>
          <a:bodyPr/>
          <a:lstStyle/>
          <a:p>
            <a:r>
              <a:rPr lang="en-US" b="1" dirty="0" smtClean="0"/>
              <a:t>Spring RESTful API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860" y="1560945"/>
            <a:ext cx="8503612" cy="4950691"/>
          </a:xfrm>
        </p:spPr>
        <p:txBody>
          <a:bodyPr>
            <a:noAutofit/>
          </a:bodyPr>
          <a:lstStyle/>
          <a:p>
            <a:r>
              <a:rPr lang="en-US" sz="2400" dirty="0" smtClean="0"/>
              <a:t>RESTful </a:t>
            </a:r>
            <a:r>
              <a:rPr lang="en-US" sz="2400" dirty="0"/>
              <a:t>Web Services REST stands for </a:t>
            </a:r>
            <a:r>
              <a:rPr lang="en-US" sz="2400" b="1" dirty="0" err="1"/>
              <a:t>REpresentational</a:t>
            </a:r>
            <a:r>
              <a:rPr lang="en-US" sz="2400" b="1" dirty="0"/>
              <a:t> State Transfer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was developed by </a:t>
            </a:r>
            <a:r>
              <a:rPr lang="en-US" sz="2400" b="1" dirty="0"/>
              <a:t>Roy Thomas Fielding</a:t>
            </a:r>
            <a:r>
              <a:rPr lang="en-US" sz="2400" dirty="0"/>
              <a:t>, one of the principal authors of the web protocol HTTP. </a:t>
            </a:r>
            <a:endParaRPr lang="en-US" sz="2400" dirty="0" smtClean="0"/>
          </a:p>
          <a:p>
            <a:r>
              <a:rPr lang="en-US" sz="2400" dirty="0" smtClean="0"/>
              <a:t>Consequently</a:t>
            </a:r>
            <a:r>
              <a:rPr lang="en-US" sz="2400" dirty="0"/>
              <a:t>, REST was an </a:t>
            </a:r>
            <a:r>
              <a:rPr lang="en-US" sz="2400" b="1" dirty="0"/>
              <a:t>architectural approach </a:t>
            </a:r>
            <a:r>
              <a:rPr lang="en-US" sz="2400" dirty="0"/>
              <a:t>designed to make the </a:t>
            </a:r>
            <a:r>
              <a:rPr lang="en-US" sz="2400" b="1" dirty="0"/>
              <a:t>optimum use of HTTP </a:t>
            </a:r>
            <a:r>
              <a:rPr lang="en-US" sz="2400" dirty="0"/>
              <a:t>protocol.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uses the concepts and verbs already present in HTTP to develop web services. </a:t>
            </a:r>
            <a:endParaRPr lang="en-US" sz="2400" dirty="0" smtClean="0"/>
          </a:p>
          <a:p>
            <a:r>
              <a:rPr lang="en-US" sz="2400" dirty="0" smtClean="0"/>
              <a:t>We </a:t>
            </a:r>
            <a:r>
              <a:rPr lang="en-US" sz="2400" dirty="0"/>
              <a:t>can build REST web services using many representations, including </a:t>
            </a:r>
            <a:r>
              <a:rPr lang="en-US" sz="2400" b="1" dirty="0"/>
              <a:t>both XML and JSON</a:t>
            </a:r>
            <a:r>
              <a:rPr lang="en-US" sz="2400" dirty="0"/>
              <a:t>, although JSON is the more popular option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3208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630" y="687977"/>
            <a:ext cx="8596668" cy="618309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Spring Web HTTP Method: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3630" y="1397726"/>
            <a:ext cx="8812519" cy="5146765"/>
          </a:xfrm>
        </p:spPr>
        <p:txBody>
          <a:bodyPr>
            <a:normAutofit/>
          </a:bodyPr>
          <a:lstStyle/>
          <a:p>
            <a:pPr lvl="1"/>
            <a:r>
              <a:rPr lang="en-US" sz="2400" b="1" dirty="0"/>
              <a:t>GET:</a:t>
            </a:r>
            <a:r>
              <a:rPr lang="en-US" sz="2400" dirty="0"/>
              <a:t> It </a:t>
            </a:r>
            <a:r>
              <a:rPr lang="en-US" sz="2400" b="1" dirty="0"/>
              <a:t>reads</a:t>
            </a:r>
            <a:r>
              <a:rPr lang="en-US" sz="2400" dirty="0"/>
              <a:t> a </a:t>
            </a:r>
            <a:r>
              <a:rPr lang="en-US" sz="2400" dirty="0" smtClean="0"/>
              <a:t>resource(web page).</a:t>
            </a:r>
            <a:endParaRPr lang="en-US" sz="2400" dirty="0"/>
          </a:p>
          <a:p>
            <a:pPr lvl="1"/>
            <a:r>
              <a:rPr lang="en-US" sz="2400" b="1" dirty="0"/>
              <a:t>PUT:</a:t>
            </a:r>
            <a:r>
              <a:rPr lang="en-US" sz="2400" dirty="0"/>
              <a:t> It </a:t>
            </a:r>
            <a:r>
              <a:rPr lang="en-US" sz="2400" b="1" dirty="0"/>
              <a:t>updates</a:t>
            </a:r>
            <a:r>
              <a:rPr lang="en-US" sz="2400" dirty="0"/>
              <a:t> an existing resource.</a:t>
            </a:r>
          </a:p>
          <a:p>
            <a:pPr lvl="1"/>
            <a:r>
              <a:rPr lang="en-US" sz="2400" b="1" dirty="0"/>
              <a:t>POST:</a:t>
            </a:r>
            <a:r>
              <a:rPr lang="en-US" sz="2400" dirty="0"/>
              <a:t> It </a:t>
            </a:r>
            <a:r>
              <a:rPr lang="en-US" sz="2400" b="1" dirty="0"/>
              <a:t>creates</a:t>
            </a:r>
            <a:r>
              <a:rPr lang="en-US" sz="2400" dirty="0"/>
              <a:t> a new </a:t>
            </a:r>
            <a:r>
              <a:rPr lang="en-US" sz="2400" dirty="0" smtClean="0"/>
              <a:t>resource(</a:t>
            </a:r>
            <a:r>
              <a:rPr lang="en-US" sz="2400" b="1" dirty="0" smtClean="0"/>
              <a:t>data sharing</a:t>
            </a:r>
            <a:r>
              <a:rPr lang="en-US" sz="2400" dirty="0" smtClean="0"/>
              <a:t>).</a:t>
            </a:r>
            <a:endParaRPr lang="en-US" sz="2400" dirty="0"/>
          </a:p>
          <a:p>
            <a:pPr lvl="1"/>
            <a:r>
              <a:rPr lang="en-US" sz="2400" b="1" dirty="0"/>
              <a:t>DELETE:</a:t>
            </a:r>
            <a:r>
              <a:rPr lang="en-US" sz="2400" dirty="0"/>
              <a:t> It </a:t>
            </a:r>
            <a:r>
              <a:rPr lang="en-US" sz="2400" b="1" dirty="0"/>
              <a:t>deletes</a:t>
            </a:r>
            <a:r>
              <a:rPr lang="en-US" sz="2400" dirty="0"/>
              <a:t> the </a:t>
            </a:r>
            <a:r>
              <a:rPr lang="en-US" sz="2400" dirty="0" smtClean="0"/>
              <a:t>resource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HTTP </a:t>
            </a:r>
            <a:r>
              <a:rPr lang="en-US" sz="3200" b="1" dirty="0" smtClean="0">
                <a:solidFill>
                  <a:schemeClr val="accent1"/>
                </a:solidFill>
              </a:rPr>
              <a:t>standard </a:t>
            </a:r>
            <a:r>
              <a:rPr lang="en-US" sz="3200" b="1" dirty="0">
                <a:solidFill>
                  <a:schemeClr val="accent1"/>
                </a:solidFill>
              </a:rPr>
              <a:t>status code:</a:t>
            </a:r>
          </a:p>
          <a:p>
            <a:pPr lvl="1"/>
            <a:r>
              <a:rPr lang="en-US" sz="2400" b="1" dirty="0"/>
              <a:t>404:</a:t>
            </a:r>
            <a:r>
              <a:rPr lang="en-US" sz="2400" dirty="0"/>
              <a:t> </a:t>
            </a:r>
            <a:r>
              <a:rPr lang="en-US" sz="2400" dirty="0" smtClean="0"/>
              <a:t>RESOURCE(Page) </a:t>
            </a:r>
            <a:r>
              <a:rPr lang="en-US" sz="2400" dirty="0"/>
              <a:t>NOT FOUND</a:t>
            </a:r>
          </a:p>
          <a:p>
            <a:pPr lvl="1"/>
            <a:r>
              <a:rPr lang="en-US" sz="2400" b="1" dirty="0"/>
              <a:t>200:</a:t>
            </a:r>
            <a:r>
              <a:rPr lang="en-US" sz="2400" dirty="0"/>
              <a:t> SUCCESS</a:t>
            </a:r>
          </a:p>
          <a:p>
            <a:pPr lvl="1"/>
            <a:r>
              <a:rPr lang="en-US" sz="2400" b="1" dirty="0"/>
              <a:t>201:</a:t>
            </a:r>
            <a:r>
              <a:rPr lang="en-US" sz="2400" dirty="0"/>
              <a:t> CREATED</a:t>
            </a:r>
          </a:p>
          <a:p>
            <a:pPr lvl="1"/>
            <a:r>
              <a:rPr lang="en-US" sz="2400" b="1" dirty="0"/>
              <a:t>401:</a:t>
            </a:r>
            <a:r>
              <a:rPr lang="en-US" sz="2400" dirty="0"/>
              <a:t> UNAUTHORIZED</a:t>
            </a:r>
          </a:p>
          <a:p>
            <a:pPr lvl="1"/>
            <a:r>
              <a:rPr lang="en-US" sz="2400" b="1" dirty="0"/>
              <a:t>500:</a:t>
            </a:r>
            <a:r>
              <a:rPr lang="en-US" sz="2400" dirty="0"/>
              <a:t> SERVER </a:t>
            </a:r>
            <a:r>
              <a:rPr lang="en-US" sz="2400" dirty="0" smtClean="0"/>
              <a:t>ERROR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0469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59" y="596537"/>
            <a:ext cx="8346539" cy="709749"/>
          </a:xfrm>
        </p:spPr>
        <p:txBody>
          <a:bodyPr>
            <a:normAutofit/>
          </a:bodyPr>
          <a:lstStyle/>
          <a:p>
            <a:pPr marL="457200" lvl="1" indent="0"/>
            <a:r>
              <a:rPr lang="en-US" sz="3200" b="1" dirty="0" smtClean="0">
                <a:solidFill>
                  <a:schemeClr val="accent1"/>
                </a:solidFill>
              </a:rPr>
              <a:t>HTTP Methods Annotation:</a:t>
            </a:r>
            <a:endParaRPr lang="en-US" sz="3200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1654" y="1436914"/>
            <a:ext cx="8596668" cy="4565259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en-US" sz="2600" dirty="0" smtClean="0">
                <a:sym typeface="Wingdings" panose="05000000000000000000" pitchFamily="2" charset="2"/>
              </a:rPr>
              <a:t>It </a:t>
            </a:r>
            <a:r>
              <a:rPr lang="en-US" sz="2600" dirty="0">
                <a:sym typeface="Wingdings" panose="05000000000000000000" pitchFamily="2" charset="2"/>
              </a:rPr>
              <a:t>is used to map the HTTP requests with the handler methods inside the controller class</a:t>
            </a:r>
            <a:r>
              <a:rPr lang="en-US" sz="2600" dirty="0" smtClean="0">
                <a:sym typeface="Wingdings" panose="05000000000000000000" pitchFamily="2" charset="2"/>
              </a:rPr>
              <a:t>.</a:t>
            </a:r>
          </a:p>
          <a:p>
            <a:pPr marL="514350" lvl="1" indent="0">
              <a:buNone/>
            </a:pPr>
            <a:r>
              <a:rPr lang="en-US" sz="2600" dirty="0" smtClean="0">
                <a:sym typeface="Wingdings" panose="05000000000000000000" pitchFamily="2" charset="2"/>
              </a:rPr>
              <a:t> </a:t>
            </a:r>
            <a:r>
              <a:rPr lang="en-US" sz="2600" b="1" dirty="0" smtClean="0"/>
              <a:t>@</a:t>
            </a:r>
            <a:r>
              <a:rPr lang="en-US" sz="2600" b="1" dirty="0" err="1" smtClean="0"/>
              <a:t>GetMapping</a:t>
            </a:r>
            <a:r>
              <a:rPr lang="en-US" sz="2600" b="1" dirty="0" smtClean="0"/>
              <a:t> </a:t>
            </a:r>
            <a:r>
              <a:rPr lang="en-US" sz="2600" b="1" dirty="0"/>
              <a:t>: </a:t>
            </a:r>
            <a:r>
              <a:rPr lang="en-US" sz="2600" dirty="0"/>
              <a:t>It is used to create a web service endpoint that fetches.</a:t>
            </a:r>
          </a:p>
          <a:p>
            <a:pPr marL="514350" lvl="1" indent="0">
              <a:buNone/>
            </a:pPr>
            <a:r>
              <a:rPr lang="en-US" sz="2600" dirty="0" smtClean="0"/>
              <a:t> </a:t>
            </a:r>
            <a:r>
              <a:rPr lang="en-US" sz="2600" b="1" dirty="0" smtClean="0"/>
              <a:t>@</a:t>
            </a:r>
            <a:r>
              <a:rPr lang="en-US" sz="2600" b="1" dirty="0" err="1" smtClean="0"/>
              <a:t>PutMapping</a:t>
            </a:r>
            <a:r>
              <a:rPr lang="en-US" sz="2600" b="1" dirty="0"/>
              <a:t> :  </a:t>
            </a:r>
            <a:r>
              <a:rPr lang="en-US" sz="2600" dirty="0"/>
              <a:t>It is used to create a web service endpoint that creates or </a:t>
            </a:r>
            <a:r>
              <a:rPr lang="en-US" sz="2600" dirty="0" smtClean="0"/>
              <a:t>update.</a:t>
            </a:r>
            <a:endParaRPr lang="en-US" sz="2600" dirty="0"/>
          </a:p>
          <a:p>
            <a:pPr marL="514350" lvl="1" indent="0">
              <a:buNone/>
            </a:pPr>
            <a:r>
              <a:rPr lang="en-US" sz="2600" dirty="0" smtClean="0"/>
              <a:t> </a:t>
            </a:r>
            <a:r>
              <a:rPr lang="en-US" sz="2600" b="1" dirty="0" smtClean="0"/>
              <a:t>@</a:t>
            </a:r>
            <a:r>
              <a:rPr lang="en-US" sz="2600" b="1" dirty="0" err="1" smtClean="0"/>
              <a:t>PostMapping</a:t>
            </a:r>
            <a:r>
              <a:rPr lang="en-US" sz="2600" b="1" dirty="0"/>
              <a:t> : </a:t>
            </a:r>
            <a:r>
              <a:rPr lang="en-US" sz="2600" dirty="0"/>
              <a:t>to create a web service endpoint that </a:t>
            </a:r>
            <a:r>
              <a:rPr lang="en-US" sz="2600" dirty="0" smtClean="0"/>
              <a:t>creates.</a:t>
            </a:r>
            <a:endParaRPr lang="en-US" sz="2600" dirty="0"/>
          </a:p>
          <a:p>
            <a:pPr marL="514350" lvl="1" indent="0">
              <a:buNone/>
            </a:pPr>
            <a:r>
              <a:rPr lang="en-US" sz="2600" b="1" dirty="0" smtClean="0"/>
              <a:t>@</a:t>
            </a:r>
            <a:r>
              <a:rPr lang="en-US" sz="2600" b="1" dirty="0" err="1" smtClean="0"/>
              <a:t>DeleteMapping</a:t>
            </a:r>
            <a:r>
              <a:rPr lang="en-US" sz="2600" b="1" dirty="0"/>
              <a:t> : </a:t>
            </a:r>
            <a:r>
              <a:rPr lang="en-US" sz="2600" dirty="0"/>
              <a:t>to create a web service endpoint that deletes a resource</a:t>
            </a:r>
            <a:r>
              <a:rPr lang="en-US" sz="2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168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036" y="888274"/>
            <a:ext cx="8596668" cy="5420943"/>
          </a:xfrm>
        </p:spPr>
        <p:txBody>
          <a:bodyPr>
            <a:normAutofit lnSpcReduction="10000"/>
          </a:bodyPr>
          <a:lstStyle/>
          <a:p>
            <a:pPr marL="0" lvl="1" indent="0">
              <a:buNone/>
            </a:pPr>
            <a:r>
              <a:rPr lang="en-US" sz="2800" b="1" dirty="0" smtClean="0"/>
              <a:t>@</a:t>
            </a:r>
            <a:r>
              <a:rPr lang="en-US" sz="2800" b="1" dirty="0" err="1" smtClean="0"/>
              <a:t>PathVariable</a:t>
            </a:r>
            <a:endParaRPr lang="en-US" sz="2800" b="1" dirty="0" smtClean="0"/>
          </a:p>
          <a:p>
            <a:pPr marL="742950" lvl="2" indent="-342900"/>
            <a:r>
              <a:rPr lang="en-US" sz="2600" dirty="0" smtClean="0"/>
              <a:t>It </a:t>
            </a:r>
            <a:r>
              <a:rPr lang="en-US" sz="2600" dirty="0"/>
              <a:t>is used to extract the data from the URI path.</a:t>
            </a:r>
          </a:p>
          <a:p>
            <a:pPr marL="57150" indent="0">
              <a:buNone/>
            </a:pPr>
            <a:r>
              <a:rPr lang="en-US" sz="2600" b="1" dirty="0" smtClean="0"/>
              <a:t>@</a:t>
            </a:r>
            <a:r>
              <a:rPr lang="en-US" sz="2600" b="1" dirty="0" err="1" smtClean="0"/>
              <a:t>RequestBody</a:t>
            </a:r>
            <a:endParaRPr lang="en-US" sz="2600" b="1" dirty="0" smtClean="0"/>
          </a:p>
          <a:p>
            <a:pPr marL="914400" lvl="1" indent="-457200"/>
            <a:r>
              <a:rPr lang="en-US" sz="2400" dirty="0"/>
              <a:t>It is used to convert HTTP requests from incoming </a:t>
            </a:r>
            <a:r>
              <a:rPr lang="en-US" sz="2400" b="1" dirty="0"/>
              <a:t>JSON format to domain objects </a:t>
            </a:r>
            <a:r>
              <a:rPr lang="en-US" sz="2400" dirty="0"/>
              <a:t>directly from request body</a:t>
            </a:r>
            <a:r>
              <a:rPr lang="en-US" sz="2400" dirty="0" smtClean="0"/>
              <a:t>.</a:t>
            </a:r>
          </a:p>
          <a:p>
            <a:pPr marL="57150" indent="0">
              <a:buNone/>
            </a:pPr>
            <a:r>
              <a:rPr lang="en-US" sz="2600" b="1" dirty="0" smtClean="0"/>
              <a:t>@</a:t>
            </a:r>
            <a:r>
              <a:rPr lang="en-US" sz="2600" b="1" dirty="0" err="1" smtClean="0"/>
              <a:t>ResponseBody</a:t>
            </a:r>
            <a:endParaRPr lang="en-US" sz="2600" b="1" dirty="0" smtClean="0"/>
          </a:p>
          <a:p>
            <a:pPr marL="914400" lvl="1" indent="-457200"/>
            <a:r>
              <a:rPr lang="en-US" sz="2600" dirty="0" smtClean="0"/>
              <a:t>It is used to convert the </a:t>
            </a:r>
            <a:r>
              <a:rPr lang="en-US" sz="2600" b="1" dirty="0" smtClean="0"/>
              <a:t>domain object into HTTP request in the form of JSON </a:t>
            </a:r>
            <a:r>
              <a:rPr lang="en-US" sz="2600" dirty="0" smtClean="0"/>
              <a:t>or any other text.</a:t>
            </a:r>
            <a:endParaRPr lang="en-US" sz="2600" b="1" dirty="0" smtClean="0"/>
          </a:p>
          <a:p>
            <a:pPr marL="57150" indent="0">
              <a:buNone/>
            </a:pPr>
            <a:endParaRPr lang="en-US" sz="2400" b="1" dirty="0" smtClean="0"/>
          </a:p>
          <a:p>
            <a:pPr marL="57150" indent="0">
              <a:buNone/>
            </a:pPr>
            <a:r>
              <a:rPr lang="en-US" sz="2400" b="1" dirty="0" smtClean="0"/>
              <a:t>Note</a:t>
            </a:r>
            <a:r>
              <a:rPr lang="en-US" sz="2400" b="1" dirty="0"/>
              <a:t>: </a:t>
            </a:r>
            <a:r>
              <a:rPr lang="en-US" sz="2400" dirty="0"/>
              <a:t>Jackson library file is </a:t>
            </a:r>
            <a:r>
              <a:rPr lang="en-US" sz="2400" dirty="0" smtClean="0"/>
              <a:t>responsible to </a:t>
            </a:r>
            <a:r>
              <a:rPr lang="en-US" sz="2400" dirty="0"/>
              <a:t>convert object into JSON vise versa</a:t>
            </a:r>
            <a:r>
              <a:rPr lang="en-US" sz="2400" dirty="0" smtClean="0"/>
              <a:t>.</a:t>
            </a:r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415642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916" y="588621"/>
            <a:ext cx="8596668" cy="766618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Spring JDBC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419" y="1355239"/>
            <a:ext cx="8882303" cy="5190837"/>
          </a:xfrm>
        </p:spPr>
        <p:txBody>
          <a:bodyPr>
            <a:normAutofit/>
          </a:bodyPr>
          <a:lstStyle/>
          <a:p>
            <a:r>
              <a:rPr lang="en-US" sz="2400" dirty="0" smtClean="0"/>
              <a:t>Spring </a:t>
            </a:r>
            <a:r>
              <a:rPr lang="en-US" sz="2400" dirty="0"/>
              <a:t>Boot JDBC is used to connect the </a:t>
            </a:r>
            <a:r>
              <a:rPr lang="en-US" sz="2400" b="1" dirty="0"/>
              <a:t>Spring Boot application with JDBC </a:t>
            </a:r>
            <a:r>
              <a:rPr lang="en-US" sz="2400" dirty="0"/>
              <a:t>by providing libraries and starter dependencies. </a:t>
            </a:r>
            <a:endParaRPr lang="en-US" sz="2400" dirty="0" smtClean="0"/>
          </a:p>
          <a:p>
            <a:pPr marL="0" indent="0">
              <a:buNone/>
            </a:pPr>
            <a:r>
              <a:rPr lang="en-US" sz="3000" b="1" dirty="0" smtClean="0">
                <a:solidFill>
                  <a:schemeClr val="accent1"/>
                </a:solidFill>
              </a:rPr>
              <a:t>Spring Data </a:t>
            </a:r>
            <a:r>
              <a:rPr lang="en-US" sz="3000" b="1" dirty="0">
                <a:solidFill>
                  <a:schemeClr val="accent1"/>
                </a:solidFill>
              </a:rPr>
              <a:t>JPA </a:t>
            </a:r>
            <a:endParaRPr lang="en-US" sz="3000" b="1" dirty="0" smtClean="0">
              <a:solidFill>
                <a:schemeClr val="accent1"/>
              </a:solidFill>
            </a:endParaRPr>
          </a:p>
          <a:p>
            <a:r>
              <a:rPr lang="en-US" sz="2200" dirty="0" smtClean="0"/>
              <a:t>It</a:t>
            </a:r>
            <a:r>
              <a:rPr lang="en-US" sz="2200" b="1" dirty="0" smtClean="0"/>
              <a:t> handles </a:t>
            </a:r>
            <a:r>
              <a:rPr lang="en-US" sz="2200" b="1" dirty="0"/>
              <a:t>most of the complexity </a:t>
            </a:r>
            <a:r>
              <a:rPr lang="en-US" sz="2200" dirty="0"/>
              <a:t>of JDBC-based database access and ORM. </a:t>
            </a:r>
          </a:p>
          <a:p>
            <a:r>
              <a:rPr lang="en-US" sz="2200" dirty="0"/>
              <a:t>It </a:t>
            </a:r>
            <a:r>
              <a:rPr lang="en-US" sz="2200" b="1" dirty="0"/>
              <a:t>reduces the boilerplate code</a:t>
            </a:r>
            <a:r>
              <a:rPr lang="en-US" sz="2200" dirty="0"/>
              <a:t> required by JPA. </a:t>
            </a:r>
          </a:p>
          <a:p>
            <a:r>
              <a:rPr lang="en-US" sz="2200" b="1" dirty="0"/>
              <a:t>No-code </a:t>
            </a:r>
            <a:r>
              <a:rPr lang="en-US" sz="2200" b="1" dirty="0" smtClean="0"/>
              <a:t>repository: </a:t>
            </a:r>
            <a:r>
              <a:rPr lang="en-US" sz="2200" dirty="0" smtClean="0"/>
              <a:t>It </a:t>
            </a:r>
            <a:r>
              <a:rPr lang="en-US" sz="2200" dirty="0"/>
              <a:t>is the most popular persistence-related pattern.</a:t>
            </a:r>
            <a:endParaRPr lang="en-US" sz="2200" b="1" dirty="0" smtClean="0"/>
          </a:p>
          <a:p>
            <a:r>
              <a:rPr lang="en-US" sz="2200" dirty="0"/>
              <a:t>Another feature of Spring Data JPA is the </a:t>
            </a:r>
            <a:r>
              <a:rPr lang="en-US" sz="2200" b="1" dirty="0"/>
              <a:t>generation of database queries</a:t>
            </a:r>
            <a:r>
              <a:rPr lang="en-US" sz="2200" dirty="0"/>
              <a:t> based on the method name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2086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213" y="646545"/>
            <a:ext cx="8596668" cy="683491"/>
          </a:xfrm>
        </p:spPr>
        <p:txBody>
          <a:bodyPr/>
          <a:lstStyle/>
          <a:p>
            <a:r>
              <a:rPr lang="en-US" b="1" dirty="0" smtClean="0"/>
              <a:t>ORM TOOL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213" y="1403927"/>
            <a:ext cx="8358909" cy="4748271"/>
          </a:xfrm>
        </p:spPr>
        <p:txBody>
          <a:bodyPr>
            <a:normAutofit/>
          </a:bodyPr>
          <a:lstStyle/>
          <a:p>
            <a:pPr lvl="1"/>
            <a:r>
              <a:rPr lang="en-US" sz="2000" dirty="0"/>
              <a:t>An ORM tool simplifies the </a:t>
            </a:r>
            <a:r>
              <a:rPr lang="en-US" sz="2000" b="1" dirty="0"/>
              <a:t>data creation, data manipulation and data access</a:t>
            </a:r>
            <a:r>
              <a:rPr lang="en-US" sz="2000" dirty="0"/>
              <a:t>. </a:t>
            </a:r>
            <a:endParaRPr lang="en-US" sz="2000" dirty="0" smtClean="0"/>
          </a:p>
          <a:p>
            <a:pPr lvl="1"/>
            <a:r>
              <a:rPr lang="en-US" sz="1800" dirty="0"/>
              <a:t>It allows us to </a:t>
            </a:r>
            <a:r>
              <a:rPr lang="en-US" sz="1800" b="1" dirty="0"/>
              <a:t>access and persist data </a:t>
            </a:r>
            <a:r>
              <a:rPr lang="en-US" sz="1800" dirty="0"/>
              <a:t>between Java </a:t>
            </a:r>
            <a:r>
              <a:rPr lang="en-US" sz="1800" b="1" dirty="0"/>
              <a:t>object/ class and relational database</a:t>
            </a:r>
            <a:r>
              <a:rPr lang="en-US" sz="2200" dirty="0"/>
              <a:t>. </a:t>
            </a:r>
            <a:endParaRPr lang="en-US" sz="3000" dirty="0"/>
          </a:p>
          <a:p>
            <a:pPr marL="0" indent="0">
              <a:buNone/>
            </a:pPr>
            <a:r>
              <a:rPr lang="en-US" sz="4000" b="1" dirty="0" smtClean="0">
                <a:solidFill>
                  <a:schemeClr val="accent1"/>
                </a:solidFill>
              </a:rPr>
              <a:t>JPA :</a:t>
            </a:r>
            <a:endParaRPr lang="en-US" sz="3600" b="1" dirty="0" smtClean="0">
              <a:solidFill>
                <a:schemeClr val="accent1"/>
              </a:solidFill>
            </a:endParaRPr>
          </a:p>
          <a:p>
            <a:pPr lvl="1"/>
            <a:r>
              <a:rPr lang="en-US" sz="2000" b="1" dirty="0"/>
              <a:t>Java Persistence API </a:t>
            </a:r>
            <a:r>
              <a:rPr lang="en-US" sz="2000" dirty="0"/>
              <a:t>(JPA) is a Java specification that provides certain functionality and</a:t>
            </a:r>
            <a:r>
              <a:rPr lang="en-US" sz="2000" b="1" dirty="0"/>
              <a:t> standard to ORM tools</a:t>
            </a:r>
            <a:r>
              <a:rPr lang="en-US" sz="2000" dirty="0"/>
              <a:t>. </a:t>
            </a:r>
            <a:endParaRPr lang="en-US" sz="2000" dirty="0" smtClean="0"/>
          </a:p>
          <a:p>
            <a:pPr lvl="1"/>
            <a:r>
              <a:rPr lang="en-US" sz="2000" dirty="0" smtClean="0"/>
              <a:t>The </a:t>
            </a:r>
            <a:r>
              <a:rPr lang="en-US" sz="2000" dirty="0" err="1"/>
              <a:t>javax.persistence</a:t>
            </a:r>
            <a:r>
              <a:rPr lang="en-US" sz="2000" dirty="0"/>
              <a:t> package contains the JPA classes and interfaces.</a:t>
            </a:r>
          </a:p>
        </p:txBody>
      </p:sp>
      <p:pic>
        <p:nvPicPr>
          <p:cNvPr id="2050" name="Picture 2" descr="hibernate tutorial, An introduction to hibern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636" y="5196555"/>
            <a:ext cx="6864062" cy="145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36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170" y="738909"/>
            <a:ext cx="8596668" cy="766618"/>
          </a:xfrm>
        </p:spPr>
        <p:txBody>
          <a:bodyPr/>
          <a:lstStyle/>
          <a:p>
            <a:r>
              <a:rPr lang="en-US" b="1" dirty="0" smtClean="0"/>
              <a:t>Spring </a:t>
            </a:r>
            <a:r>
              <a:rPr lang="en-US" b="1" dirty="0" err="1" smtClean="0"/>
              <a:t>MicroServices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734" y="1505527"/>
            <a:ext cx="8642157" cy="4987637"/>
          </a:xfrm>
        </p:spPr>
        <p:txBody>
          <a:bodyPr>
            <a:noAutofit/>
          </a:bodyPr>
          <a:lstStyle/>
          <a:p>
            <a:r>
              <a:rPr lang="en-US" sz="2400" dirty="0" err="1"/>
              <a:t>Microservice</a:t>
            </a:r>
            <a:r>
              <a:rPr lang="en-US" sz="2400" dirty="0"/>
              <a:t> Architecture is a </a:t>
            </a:r>
            <a:r>
              <a:rPr lang="en-US" sz="2400" b="1" dirty="0"/>
              <a:t>Service Oriented Architecture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In this there </a:t>
            </a:r>
            <a:r>
              <a:rPr lang="en-US" sz="2400" dirty="0"/>
              <a:t>are a large number of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 by </a:t>
            </a:r>
            <a:r>
              <a:rPr lang="en-US" sz="2400" b="1" dirty="0"/>
              <a:t>combining all the </a:t>
            </a:r>
            <a:r>
              <a:rPr lang="en-US" sz="2400" b="1" dirty="0" err="1"/>
              <a:t>microservices</a:t>
            </a:r>
            <a:r>
              <a:rPr lang="en-US" sz="2400" dirty="0"/>
              <a:t>, it constructs a big service.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the </a:t>
            </a:r>
            <a:r>
              <a:rPr lang="en-US" sz="2400" dirty="0" err="1"/>
              <a:t>microservice</a:t>
            </a:r>
            <a:r>
              <a:rPr lang="en-US" sz="2400" dirty="0"/>
              <a:t> architecture, </a:t>
            </a:r>
            <a:r>
              <a:rPr lang="en-US" sz="2400" b="1" dirty="0"/>
              <a:t>all the services </a:t>
            </a:r>
            <a:r>
              <a:rPr lang="en-US" sz="2400" b="1" dirty="0" smtClean="0"/>
              <a:t>communicate</a:t>
            </a:r>
            <a:r>
              <a:rPr lang="en-US" sz="2400" dirty="0" smtClean="0"/>
              <a:t> </a:t>
            </a:r>
            <a:r>
              <a:rPr lang="en-US" sz="2400" dirty="0"/>
              <a:t>with each other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/>
              <a:t>Each </a:t>
            </a:r>
            <a:r>
              <a:rPr lang="en-US" sz="2400" dirty="0" err="1"/>
              <a:t>microservice</a:t>
            </a:r>
            <a:r>
              <a:rPr lang="en-US" sz="2400" dirty="0"/>
              <a:t> </a:t>
            </a:r>
            <a:r>
              <a:rPr lang="en-US" sz="2400" b="1" dirty="0"/>
              <a:t>runs its process and communicates </a:t>
            </a:r>
            <a:r>
              <a:rPr lang="en-US" sz="2400" dirty="0"/>
              <a:t>with lightweight mechanisms. </a:t>
            </a:r>
            <a:endParaRPr lang="en-US" sz="2400" dirty="0" smtClean="0"/>
          </a:p>
          <a:p>
            <a:r>
              <a:rPr lang="en-US" sz="2400" dirty="0"/>
              <a:t>These are the services which are exposed by REST.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54946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 descr="Introduction to Microservices"/>
          <p:cNvSpPr>
            <a:spLocks noChangeAspect="1" noChangeArrowheads="1"/>
          </p:cNvSpPr>
          <p:nvPr/>
        </p:nvSpPr>
        <p:spPr bwMode="auto">
          <a:xfrm>
            <a:off x="155575" y="-144463"/>
            <a:ext cx="5617152" cy="561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Introduction to Microservic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54" y="506869"/>
            <a:ext cx="8886465" cy="592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452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269464" y="345747"/>
            <a:ext cx="4032674" cy="2672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89" y="3664888"/>
            <a:ext cx="3425340" cy="30243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443" y="3708506"/>
            <a:ext cx="5110973" cy="29807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1886" y="640079"/>
            <a:ext cx="2743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To Develop an application we need to create modules.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1886" y="1732410"/>
            <a:ext cx="304799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After creating all modules if we connect them in one package its called Monolithic Architecture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36516" y="2002596"/>
            <a:ext cx="268208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If we are 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doint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it as a different service and using 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differen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technologies it is called </a:t>
            </a:r>
            <a:r>
              <a:rPr lang="en-US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Microservices</a:t>
            </a:r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36750" y="3334038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Monolithic Arch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2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812800"/>
            <a:ext cx="8596668" cy="748145"/>
          </a:xfrm>
        </p:spPr>
        <p:txBody>
          <a:bodyPr/>
          <a:lstStyle/>
          <a:p>
            <a:r>
              <a:rPr lang="en-US" b="1" dirty="0" smtClean="0"/>
              <a:t>Hibernate: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2326" y="1773383"/>
            <a:ext cx="7971675" cy="4267980"/>
          </a:xfrm>
        </p:spPr>
        <p:txBody>
          <a:bodyPr>
            <a:normAutofit/>
          </a:bodyPr>
          <a:lstStyle/>
          <a:p>
            <a:r>
              <a:rPr lang="en-US" sz="2400" dirty="0"/>
              <a:t>Hibernate is </a:t>
            </a:r>
            <a:r>
              <a:rPr lang="en-US" sz="2400" b="1" dirty="0"/>
              <a:t>a Java framework </a:t>
            </a:r>
            <a:r>
              <a:rPr lang="en-US" sz="2400" dirty="0"/>
              <a:t>that simplifies the development of Java application to </a:t>
            </a:r>
            <a:r>
              <a:rPr lang="en-US" sz="2400" b="1" dirty="0"/>
              <a:t>interact with the database. </a:t>
            </a:r>
            <a:endParaRPr lang="en-US" sz="2400" b="1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is an open source, lightweight, </a:t>
            </a:r>
            <a:r>
              <a:rPr lang="en-US" sz="2400" b="1" dirty="0"/>
              <a:t>ORM (Object Relational Mapping</a:t>
            </a:r>
            <a:r>
              <a:rPr lang="en-US" sz="2400" dirty="0"/>
              <a:t>) tool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Hibernate </a:t>
            </a:r>
            <a:r>
              <a:rPr lang="en-US" sz="2400" dirty="0"/>
              <a:t>implements the specifications of </a:t>
            </a:r>
            <a:r>
              <a:rPr lang="en-US" sz="2400" b="1" dirty="0"/>
              <a:t>JPA (Java Persistence API)</a:t>
            </a:r>
            <a:r>
              <a:rPr lang="en-US" sz="2400" dirty="0"/>
              <a:t> for </a:t>
            </a:r>
            <a:r>
              <a:rPr lang="en-US" sz="2400" dirty="0" smtClean="0"/>
              <a:t>data</a:t>
            </a:r>
          </a:p>
          <a:p>
            <a:r>
              <a:rPr lang="en-US" sz="2400" dirty="0" smtClean="0"/>
              <a:t>It </a:t>
            </a:r>
            <a:r>
              <a:rPr lang="en-US" sz="2400" dirty="0"/>
              <a:t>was started in </a:t>
            </a:r>
            <a:r>
              <a:rPr lang="en-US" sz="2400" b="1" dirty="0"/>
              <a:t>2001 by Gavin King </a:t>
            </a:r>
            <a:r>
              <a:rPr lang="en-US" sz="2400" dirty="0"/>
              <a:t>as an alternative to EJB2 style entity bean.</a:t>
            </a:r>
            <a:r>
              <a:rPr lang="en-US" sz="3200" dirty="0" smtClean="0"/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7145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5091"/>
          </a:xfrm>
        </p:spPr>
        <p:txBody>
          <a:bodyPr/>
          <a:lstStyle/>
          <a:p>
            <a:r>
              <a:rPr lang="en-US" b="1" dirty="0" smtClean="0"/>
              <a:t>Maven: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9843" y="1394691"/>
            <a:ext cx="8596668" cy="5080000"/>
          </a:xfrm>
        </p:spPr>
        <p:txBody>
          <a:bodyPr>
            <a:noAutofit/>
          </a:bodyPr>
          <a:lstStyle/>
          <a:p>
            <a:r>
              <a:rPr lang="en-US" sz="2400" dirty="0"/>
              <a:t>Maven is a powerful </a:t>
            </a:r>
            <a:r>
              <a:rPr lang="en-US" sz="2400" b="1" i="1" dirty="0"/>
              <a:t>project management tool</a:t>
            </a:r>
            <a:r>
              <a:rPr lang="en-US" sz="2400" dirty="0"/>
              <a:t> that is based on POM (project object model).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is used for projects build, dependency and documentation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It makes a </a:t>
            </a:r>
            <a:r>
              <a:rPr lang="en-US" sz="2400" b="1" dirty="0"/>
              <a:t>project easy to build</a:t>
            </a:r>
          </a:p>
          <a:p>
            <a:r>
              <a:rPr lang="en-US" sz="2400" dirty="0"/>
              <a:t>It provides uniform build process (maven project can be </a:t>
            </a:r>
            <a:r>
              <a:rPr lang="en-US" sz="2400" b="1" dirty="0"/>
              <a:t>shared by all the maven projects</a:t>
            </a:r>
            <a:r>
              <a:rPr lang="en-US" sz="2400" dirty="0"/>
              <a:t>)</a:t>
            </a:r>
          </a:p>
          <a:p>
            <a:r>
              <a:rPr lang="en-US" sz="2400" dirty="0"/>
              <a:t>It provides project information (log document, cross referenced sources, mailing list, dependency list, unit test reports etc.)</a:t>
            </a:r>
          </a:p>
          <a:p>
            <a:r>
              <a:rPr lang="en-US" sz="2400" dirty="0"/>
              <a:t>It is easy to migrate for new features of </a:t>
            </a:r>
            <a:r>
              <a:rPr lang="en-US" sz="2400" dirty="0" smtClean="0"/>
              <a:t>Maven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7566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18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3035</TotalTime>
  <Words>1929</Words>
  <Application>Microsoft Office PowerPoint</Application>
  <PresentationFormat>Widescreen</PresentationFormat>
  <Paragraphs>223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Trebuchet MS</vt:lpstr>
      <vt:lpstr>Wingdings</vt:lpstr>
      <vt:lpstr>Wingdings 3</vt:lpstr>
      <vt:lpstr>Facet</vt:lpstr>
      <vt:lpstr>Spring Boot</vt:lpstr>
      <vt:lpstr>Introduction</vt:lpstr>
      <vt:lpstr>Spring Boot Features</vt:lpstr>
      <vt:lpstr>Creating Spring Boot Project</vt:lpstr>
      <vt:lpstr>Spring Core</vt:lpstr>
      <vt:lpstr>Ioc Container</vt:lpstr>
      <vt:lpstr>PowerPoint Presentation</vt:lpstr>
      <vt:lpstr>Spring Boot Architecture</vt:lpstr>
      <vt:lpstr>Layers in Spring Boot:</vt:lpstr>
      <vt:lpstr>Spring Boot Annotation</vt:lpstr>
      <vt:lpstr>Spring Boot Annotations List</vt:lpstr>
      <vt:lpstr>Example:</vt:lpstr>
      <vt:lpstr>Annotations:</vt:lpstr>
      <vt:lpstr>Example:</vt:lpstr>
      <vt:lpstr>Example:</vt:lpstr>
      <vt:lpstr>PowerPoint Presentation</vt:lpstr>
      <vt:lpstr>Spring RESTful API</vt:lpstr>
      <vt:lpstr>Spring Web HTTP Method:</vt:lpstr>
      <vt:lpstr>HTTP Methods Annotation:</vt:lpstr>
      <vt:lpstr>PowerPoint Presentation</vt:lpstr>
      <vt:lpstr>Spring JDBC</vt:lpstr>
      <vt:lpstr>ORM TOOL</vt:lpstr>
      <vt:lpstr>Spring MicroServices</vt:lpstr>
      <vt:lpstr>PowerPoint Presentation</vt:lpstr>
      <vt:lpstr>PowerPoint Presentation</vt:lpstr>
      <vt:lpstr>Hibernate:</vt:lpstr>
      <vt:lpstr>Maven: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</dc:title>
  <dc:creator>HP-PC</dc:creator>
  <cp:lastModifiedBy>Admin</cp:lastModifiedBy>
  <cp:revision>289</cp:revision>
  <dcterms:created xsi:type="dcterms:W3CDTF">2024-03-19T04:49:11Z</dcterms:created>
  <dcterms:modified xsi:type="dcterms:W3CDTF">2025-07-15T05:11:51Z</dcterms:modified>
</cp:coreProperties>
</file>