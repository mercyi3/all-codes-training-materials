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5" r:id="rId1"/>
  </p:sldMasterIdLst>
  <p:sldIdLst>
    <p:sldId id="256" r:id="rId2"/>
    <p:sldId id="257" r:id="rId3"/>
    <p:sldId id="258" r:id="rId4"/>
    <p:sldId id="276" r:id="rId5"/>
    <p:sldId id="275" r:id="rId6"/>
    <p:sldId id="259" r:id="rId7"/>
    <p:sldId id="261" r:id="rId8"/>
    <p:sldId id="262" r:id="rId9"/>
    <p:sldId id="263" r:id="rId10"/>
    <p:sldId id="267" r:id="rId11"/>
    <p:sldId id="264" r:id="rId12"/>
    <p:sldId id="268" r:id="rId13"/>
    <p:sldId id="265" r:id="rId14"/>
    <p:sldId id="269" r:id="rId15"/>
    <p:sldId id="266" r:id="rId16"/>
    <p:sldId id="273" r:id="rId17"/>
    <p:sldId id="270" r:id="rId18"/>
    <p:sldId id="271" r:id="rId19"/>
    <p:sldId id="272" r:id="rId20"/>
    <p:sldId id="277" r:id="rId21"/>
    <p:sldId id="278" r:id="rId22"/>
    <p:sldId id="279" r:id="rId23"/>
    <p:sldId id="288" r:id="rId24"/>
    <p:sldId id="290" r:id="rId25"/>
    <p:sldId id="291" r:id="rId26"/>
    <p:sldId id="289" r:id="rId27"/>
    <p:sldId id="287" r:id="rId28"/>
    <p:sldId id="292" r:id="rId29"/>
    <p:sldId id="293" r:id="rId30"/>
    <p:sldId id="294" r:id="rId31"/>
    <p:sldId id="283" r:id="rId32"/>
    <p:sldId id="274" r:id="rId33"/>
    <p:sldId id="281" r:id="rId34"/>
    <p:sldId id="282" r:id="rId35"/>
    <p:sldId id="280" r:id="rId36"/>
    <p:sldId id="295" r:id="rId37"/>
    <p:sldId id="296" r:id="rId38"/>
    <p:sldId id="297" r:id="rId39"/>
    <p:sldId id="298" r:id="rId40"/>
    <p:sldId id="300" r:id="rId41"/>
    <p:sldId id="303" r:id="rId42"/>
    <p:sldId id="301" r:id="rId43"/>
    <p:sldId id="302" r:id="rId44"/>
    <p:sldId id="299" r:id="rId45"/>
    <p:sldId id="305" r:id="rId46"/>
    <p:sldId id="304" r:id="rId47"/>
    <p:sldId id="260" r:id="rId48"/>
    <p:sldId id="284" r:id="rId49"/>
    <p:sldId id="285" r:id="rId50"/>
    <p:sldId id="286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06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18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91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72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71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856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07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67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8A87A34-81AB-432B-8DAE-1953F412C126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418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689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509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104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http-full-form/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35564" y="2955637"/>
            <a:ext cx="7010399" cy="79447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Networking(N+)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4954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835" y="821719"/>
            <a:ext cx="6687129" cy="766936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/>
              <a:t>Introduction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0109" y="1930400"/>
            <a:ext cx="9412575" cy="46643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What is Network</a:t>
            </a:r>
            <a:r>
              <a:rPr lang="en-US" sz="2800" b="1" dirty="0" smtClean="0"/>
              <a:t>?</a:t>
            </a:r>
          </a:p>
          <a:p>
            <a:pPr lvl="1"/>
            <a:r>
              <a:rPr lang="en-US" sz="2400" dirty="0"/>
              <a:t>Network is a </a:t>
            </a:r>
            <a:r>
              <a:rPr lang="en-US" sz="2400" b="1" dirty="0"/>
              <a:t>collection of multiple </a:t>
            </a:r>
            <a:r>
              <a:rPr lang="en-US" sz="2400" b="1" dirty="0" smtClean="0"/>
              <a:t>nodes </a:t>
            </a:r>
            <a:r>
              <a:rPr lang="en-US" sz="2400" dirty="0" smtClean="0"/>
              <a:t>(Network Devices). </a:t>
            </a:r>
            <a:endParaRPr lang="en-US" sz="2400" dirty="0"/>
          </a:p>
          <a:p>
            <a:pPr lvl="1"/>
            <a:r>
              <a:rPr lang="en-US" sz="2400" dirty="0"/>
              <a:t>A network is a collection of computers, servers, mainframes, network devices, peripherals, or other devices connected to allow data sharing. </a:t>
            </a:r>
          </a:p>
          <a:p>
            <a:pPr lvl="1"/>
            <a:r>
              <a:rPr lang="en-US" sz="2400" dirty="0"/>
              <a:t>An </a:t>
            </a:r>
            <a:r>
              <a:rPr lang="en-US" sz="2400" b="1" dirty="0"/>
              <a:t>example</a:t>
            </a:r>
            <a:r>
              <a:rPr lang="en-US" sz="2400" dirty="0"/>
              <a:t> of a network is the </a:t>
            </a:r>
            <a:r>
              <a:rPr lang="en-US" sz="2400" b="1" dirty="0"/>
              <a:t>Internet</a:t>
            </a:r>
            <a:r>
              <a:rPr lang="en-US" sz="2400" dirty="0"/>
              <a:t>, which connects millions of people all over the world</a:t>
            </a:r>
            <a:r>
              <a:rPr lang="en-US" sz="2400" dirty="0" smtClean="0"/>
              <a:t>.</a:t>
            </a:r>
            <a:r>
              <a:rPr lang="en-US" sz="2400" b="1" dirty="0" smtClean="0"/>
              <a:t> </a:t>
            </a:r>
          </a:p>
          <a:p>
            <a:pPr marL="0" indent="0">
              <a:buNone/>
            </a:pPr>
            <a:r>
              <a:rPr lang="en-US" sz="2800" b="1" dirty="0"/>
              <a:t>What is networking? </a:t>
            </a:r>
          </a:p>
          <a:p>
            <a:pPr lvl="1"/>
            <a:r>
              <a:rPr lang="en-US" sz="2400" dirty="0" smtClean="0"/>
              <a:t>Networking </a:t>
            </a:r>
            <a:r>
              <a:rPr lang="en-US" sz="2400" dirty="0"/>
              <a:t>is a process of communication or </a:t>
            </a:r>
            <a:r>
              <a:rPr lang="en-US" sz="2400" b="1" dirty="0"/>
              <a:t>transmission of data </a:t>
            </a:r>
            <a:r>
              <a:rPr lang="en-US" sz="2400" dirty="0"/>
              <a:t>between devices is called Networking</a:t>
            </a:r>
            <a:r>
              <a:rPr lang="en-US" sz="2400" dirty="0" smtClean="0"/>
              <a:t>.</a:t>
            </a:r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113635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1900" y="853856"/>
            <a:ext cx="7729728" cy="753272"/>
          </a:xfrm>
        </p:spPr>
        <p:txBody>
          <a:bodyPr/>
          <a:lstStyle/>
          <a:p>
            <a:r>
              <a:rPr lang="en-US" b="1" dirty="0" smtClean="0"/>
              <a:t>Network &amp; Networking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8145" y="2225964"/>
            <a:ext cx="5772727" cy="3713018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855921" y="2256371"/>
            <a:ext cx="4846551" cy="365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233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8008" y="715310"/>
            <a:ext cx="7729728" cy="771744"/>
          </a:xfrm>
        </p:spPr>
        <p:txBody>
          <a:bodyPr/>
          <a:lstStyle/>
          <a:p>
            <a:r>
              <a:rPr lang="en-US" b="1" dirty="0" smtClean="0"/>
              <a:t>Characteristics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856509"/>
            <a:ext cx="8834028" cy="4581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Fault Tolerance: </a:t>
            </a:r>
          </a:p>
          <a:p>
            <a:pPr marL="855663" lvl="5"/>
            <a:r>
              <a:rPr lang="en-US" sz="2400" dirty="0"/>
              <a:t>If one node will go down remaining will work</a:t>
            </a:r>
            <a:r>
              <a:rPr lang="en-US" sz="2200" dirty="0" smtClean="0"/>
              <a:t>.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Quality Of Service:</a:t>
            </a:r>
          </a:p>
          <a:p>
            <a:pPr lvl="3"/>
            <a:r>
              <a:rPr lang="en-US" sz="2400" dirty="0" smtClean="0"/>
              <a:t>Giving priority to the particular node(for transmission).</a:t>
            </a:r>
          </a:p>
          <a:p>
            <a:pPr marL="0" indent="0">
              <a:buNone/>
            </a:pPr>
            <a:r>
              <a:rPr lang="en-US" sz="2400" b="1" dirty="0" smtClean="0"/>
              <a:t>Scalability:</a:t>
            </a:r>
          </a:p>
          <a:p>
            <a:pPr lvl="3"/>
            <a:r>
              <a:rPr lang="en-US" sz="2400" dirty="0" smtClean="0"/>
              <a:t>Even it grows(no. of user) it will give good performance</a:t>
            </a:r>
            <a:r>
              <a:rPr lang="en-US" sz="2200" dirty="0" smtClean="0"/>
              <a:t>.</a:t>
            </a:r>
          </a:p>
          <a:p>
            <a:pPr marL="0" indent="0">
              <a:buNone/>
            </a:pPr>
            <a:r>
              <a:rPr lang="en-US" sz="2400" b="1" dirty="0" smtClean="0"/>
              <a:t>Security:</a:t>
            </a:r>
            <a:endParaRPr lang="en-US" sz="2400" b="1" dirty="0"/>
          </a:p>
          <a:p>
            <a:pPr lvl="3"/>
            <a:r>
              <a:rPr lang="en-US" sz="2400" dirty="0" smtClean="0"/>
              <a:t>When a non-user enters it will prevent by checking MAC &amp; Authentications.</a:t>
            </a:r>
          </a:p>
        </p:txBody>
      </p:sp>
    </p:spTree>
    <p:extLst>
      <p:ext uri="{BB962C8B-B14F-4D97-AF65-F5344CB8AC3E}">
        <p14:creationId xmlns:p14="http://schemas.microsoft.com/office/powerpoint/2010/main" val="3925552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724546"/>
            <a:ext cx="7729728" cy="73479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Data Communication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1349" y="1976583"/>
            <a:ext cx="8822760" cy="3971636"/>
          </a:xfrm>
        </p:spPr>
        <p:txBody>
          <a:bodyPr>
            <a:normAutofit/>
          </a:bodyPr>
          <a:lstStyle/>
          <a:p>
            <a:pPr lvl="1"/>
            <a:r>
              <a:rPr lang="en-US" sz="2400" dirty="0" smtClean="0"/>
              <a:t>Sending Data from one end to another end (Receiver).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 smtClean="0"/>
              <a:t>    Types:</a:t>
            </a:r>
          </a:p>
          <a:p>
            <a:pPr marL="1143000" lvl="3" indent="-457200">
              <a:buFont typeface="+mj-lt"/>
              <a:buAutoNum type="arabicPeriod"/>
            </a:pPr>
            <a:r>
              <a:rPr lang="en-US" sz="2400" dirty="0" smtClean="0"/>
              <a:t>Simplex </a:t>
            </a:r>
            <a:r>
              <a:rPr lang="en-US" sz="2400" dirty="0" smtClean="0">
                <a:sym typeface="Wingdings" panose="05000000000000000000" pitchFamily="2" charset="2"/>
              </a:rPr>
              <a:t> Unidirectional. One way Communication.</a:t>
            </a:r>
          </a:p>
          <a:p>
            <a:pPr marL="1143000" lvl="3" indent="-457200">
              <a:buFont typeface="+mj-lt"/>
              <a:buAutoNum type="arabicPeriod"/>
            </a:pPr>
            <a:r>
              <a:rPr lang="en-US" sz="2400" dirty="0" smtClean="0">
                <a:sym typeface="Wingdings" panose="05000000000000000000" pitchFamily="2" charset="2"/>
              </a:rPr>
              <a:t>Half-Duplex  Bi-directional but not in same time.</a:t>
            </a:r>
          </a:p>
          <a:p>
            <a:pPr marL="1143000" lvl="3" indent="-457200">
              <a:buFont typeface="+mj-lt"/>
              <a:buAutoNum type="arabicPeriod"/>
            </a:pPr>
            <a:r>
              <a:rPr lang="en-US" sz="2400" dirty="0" smtClean="0">
                <a:sym typeface="Wingdings" panose="05000000000000000000" pitchFamily="2" charset="2"/>
              </a:rPr>
              <a:t>Duplex    Bi-directional In same time.</a:t>
            </a:r>
            <a:endParaRPr lang="en-US" sz="2400" dirty="0"/>
          </a:p>
        </p:txBody>
      </p:sp>
      <p:sp>
        <p:nvSpPr>
          <p:cNvPr id="4" name="Oval 3"/>
          <p:cNvSpPr/>
          <p:nvPr/>
        </p:nvSpPr>
        <p:spPr>
          <a:xfrm>
            <a:off x="810768" y="5080001"/>
            <a:ext cx="1579419" cy="86821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Sender</a:t>
            </a:r>
            <a:endParaRPr lang="en-US" b="1" dirty="0"/>
          </a:p>
        </p:txBody>
      </p:sp>
      <p:sp>
        <p:nvSpPr>
          <p:cNvPr id="5" name="Rounded Rectangle 4"/>
          <p:cNvSpPr/>
          <p:nvPr/>
        </p:nvSpPr>
        <p:spPr>
          <a:xfrm>
            <a:off x="3011056" y="5260109"/>
            <a:ext cx="1477818" cy="50800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Encode</a:t>
            </a:r>
            <a:endParaRPr lang="en-US" b="1" dirty="0"/>
          </a:p>
        </p:txBody>
      </p:sp>
      <p:sp>
        <p:nvSpPr>
          <p:cNvPr id="6" name="Flowchart: Terminator 5"/>
          <p:cNvSpPr/>
          <p:nvPr/>
        </p:nvSpPr>
        <p:spPr>
          <a:xfrm>
            <a:off x="5180583" y="5223163"/>
            <a:ext cx="2004291" cy="581892"/>
          </a:xfrm>
          <a:prstGeom prst="flowChartTerminato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Transmit</a:t>
            </a:r>
            <a:endParaRPr lang="en-US" b="1" dirty="0"/>
          </a:p>
        </p:txBody>
      </p:sp>
      <p:sp>
        <p:nvSpPr>
          <p:cNvPr id="7" name="Rounded Rectangle 6"/>
          <p:cNvSpPr/>
          <p:nvPr/>
        </p:nvSpPr>
        <p:spPr>
          <a:xfrm>
            <a:off x="7725203" y="5188526"/>
            <a:ext cx="1570182" cy="58651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Decode</a:t>
            </a:r>
            <a:endParaRPr lang="en-US" b="1" dirty="0"/>
          </a:p>
        </p:txBody>
      </p:sp>
      <p:sp>
        <p:nvSpPr>
          <p:cNvPr id="8" name="Oval 7"/>
          <p:cNvSpPr/>
          <p:nvPr/>
        </p:nvSpPr>
        <p:spPr>
          <a:xfrm>
            <a:off x="9902900" y="4971471"/>
            <a:ext cx="1579419" cy="86821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Receiver</a:t>
            </a:r>
            <a:endParaRPr lang="en-US" b="1" dirty="0"/>
          </a:p>
        </p:txBody>
      </p:sp>
      <p:sp>
        <p:nvSpPr>
          <p:cNvPr id="11" name="Right Arrow 10"/>
          <p:cNvSpPr/>
          <p:nvPr/>
        </p:nvSpPr>
        <p:spPr>
          <a:xfrm>
            <a:off x="2455909" y="5437908"/>
            <a:ext cx="473086" cy="152401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9350804" y="5329380"/>
            <a:ext cx="473086" cy="152401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7216189" y="5447142"/>
            <a:ext cx="473086" cy="152401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4622344" y="5447142"/>
            <a:ext cx="473086" cy="152401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7245" y="983165"/>
            <a:ext cx="7729728" cy="69785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Types of computer network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528" y="1976583"/>
            <a:ext cx="8861000" cy="4433454"/>
          </a:xfrm>
        </p:spPr>
        <p:txBody>
          <a:bodyPr>
            <a:normAutofit/>
          </a:bodyPr>
          <a:lstStyle/>
          <a:p>
            <a:pPr lvl="0" fontAlgn="base"/>
            <a:r>
              <a:rPr lang="en-US" sz="2400" dirty="0" smtClean="0"/>
              <a:t>A </a:t>
            </a:r>
            <a:r>
              <a:rPr lang="en-US" sz="2400" dirty="0"/>
              <a:t>computer network is a group of computers linked to each other that enables the computer to communicate with another computer and share their resources, data, and applications.</a:t>
            </a:r>
            <a:r>
              <a:rPr lang="en-US" sz="2400" b="1" dirty="0"/>
              <a:t> </a:t>
            </a:r>
            <a:endParaRPr lang="en-US" sz="2400" dirty="0"/>
          </a:p>
          <a:p>
            <a:pPr lvl="0" fontAlgn="base"/>
            <a:r>
              <a:rPr lang="en-US" sz="2400" dirty="0"/>
              <a:t>A computer network is mainly of </a:t>
            </a:r>
            <a:r>
              <a:rPr lang="en-US" sz="2400" b="1" dirty="0"/>
              <a:t>five types: </a:t>
            </a:r>
            <a:endParaRPr lang="en-US" sz="2400" dirty="0"/>
          </a:p>
          <a:p>
            <a:pPr marL="1541463" lvl="5" indent="-457200" fontAlgn="base">
              <a:buFont typeface="+mj-lt"/>
              <a:buAutoNum type="arabicPeriod"/>
            </a:pPr>
            <a:r>
              <a:rPr lang="en-US" sz="2400" dirty="0"/>
              <a:t>LAN (Local Area Network)</a:t>
            </a:r>
            <a:r>
              <a:rPr lang="en-US" sz="2400" b="1" dirty="0"/>
              <a:t> </a:t>
            </a:r>
            <a:endParaRPr lang="en-US" sz="2400" dirty="0"/>
          </a:p>
          <a:p>
            <a:pPr marL="1541463" lvl="5" indent="-457200" fontAlgn="base">
              <a:buFont typeface="+mj-lt"/>
              <a:buAutoNum type="arabicPeriod"/>
            </a:pPr>
            <a:r>
              <a:rPr lang="en-US" sz="2400" dirty="0"/>
              <a:t>CAN (Campus Area Network)</a:t>
            </a:r>
            <a:r>
              <a:rPr lang="en-US" sz="2400" b="1" dirty="0"/>
              <a:t> </a:t>
            </a:r>
            <a:endParaRPr lang="en-US" sz="2400" dirty="0"/>
          </a:p>
          <a:p>
            <a:pPr marL="1541463" lvl="5" indent="-457200" fontAlgn="base">
              <a:buFont typeface="+mj-lt"/>
              <a:buAutoNum type="arabicPeriod"/>
            </a:pPr>
            <a:r>
              <a:rPr lang="en-US" sz="2400" dirty="0"/>
              <a:t>MAN (Metropolitan Area Network)</a:t>
            </a:r>
            <a:r>
              <a:rPr lang="en-US" sz="2400" b="1" dirty="0"/>
              <a:t> </a:t>
            </a:r>
            <a:endParaRPr lang="en-US" sz="2400" dirty="0"/>
          </a:p>
          <a:p>
            <a:pPr marL="1541463" lvl="5" indent="-457200" fontAlgn="base">
              <a:buFont typeface="+mj-lt"/>
              <a:buAutoNum type="arabicPeriod"/>
            </a:pPr>
            <a:r>
              <a:rPr lang="en-US" sz="2400" dirty="0"/>
              <a:t>WAN (Wide Area Network)</a:t>
            </a:r>
            <a:r>
              <a:rPr lang="en-US" sz="2400" b="1" dirty="0"/>
              <a:t> </a:t>
            </a:r>
            <a:endParaRPr lang="en-US" sz="2400" dirty="0"/>
          </a:p>
          <a:p>
            <a:pPr marL="1541463" lvl="5" indent="-457200" fontAlgn="base">
              <a:buFont typeface="+mj-lt"/>
              <a:buAutoNum type="arabicPeriod"/>
            </a:pPr>
            <a:r>
              <a:rPr lang="en-US" sz="2400" dirty="0"/>
              <a:t>PAN (Personal Area Network)</a:t>
            </a:r>
            <a:r>
              <a:rPr lang="en-US" sz="2400" b="1" dirty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8471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5790" y="743020"/>
            <a:ext cx="7729728" cy="808690"/>
          </a:xfrm>
        </p:spPr>
        <p:txBody>
          <a:bodyPr/>
          <a:lstStyle/>
          <a:p>
            <a:pPr lvl="0" fontAlgn="base"/>
            <a:r>
              <a:rPr lang="en-US" b="1" u="sng" dirty="0"/>
              <a:t>Local Area Network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399" y="1791855"/>
            <a:ext cx="8968510" cy="4627418"/>
          </a:xfrm>
        </p:spPr>
        <p:txBody>
          <a:bodyPr>
            <a:noAutofit/>
          </a:bodyPr>
          <a:lstStyle/>
          <a:p>
            <a:pPr lvl="1" fontAlgn="base"/>
            <a:r>
              <a:rPr lang="en-US" sz="2400" dirty="0"/>
              <a:t>Local Area Network is a </a:t>
            </a:r>
            <a:r>
              <a:rPr lang="en-US" sz="2400" b="1" dirty="0"/>
              <a:t>group of computers </a:t>
            </a:r>
            <a:r>
              <a:rPr lang="en-US" sz="2400" dirty="0"/>
              <a:t>connected to each other in a </a:t>
            </a:r>
            <a:r>
              <a:rPr lang="en-US" sz="2400" b="1" dirty="0"/>
              <a:t>small area </a:t>
            </a:r>
            <a:r>
              <a:rPr lang="en-US" sz="2400" dirty="0"/>
              <a:t>such as </a:t>
            </a:r>
            <a:r>
              <a:rPr lang="en-US" sz="2400" b="1" dirty="0"/>
              <a:t>building, office</a:t>
            </a:r>
            <a:r>
              <a:rPr lang="en-US" sz="2400" dirty="0"/>
              <a:t>. </a:t>
            </a:r>
          </a:p>
          <a:p>
            <a:pPr lvl="1" fontAlgn="base"/>
            <a:r>
              <a:rPr lang="en-US" sz="2400" dirty="0"/>
              <a:t>LAN is used for connecting two or more personal computers through a communication medium such as </a:t>
            </a:r>
            <a:r>
              <a:rPr lang="en-US" sz="2400" b="1" dirty="0"/>
              <a:t>twisted pair, coaxial cable, etc. </a:t>
            </a:r>
            <a:endParaRPr lang="en-US" sz="2400" b="1" dirty="0" smtClean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823855" y="3574472"/>
            <a:ext cx="4802909" cy="29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7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0036" y="1089891"/>
            <a:ext cx="9301016" cy="5200073"/>
          </a:xfrm>
        </p:spPr>
        <p:txBody>
          <a:bodyPr>
            <a:normAutofit/>
          </a:bodyPr>
          <a:lstStyle/>
          <a:p>
            <a:pPr marL="228600" lvl="1" indent="0" fontAlgn="base"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</a:t>
            </a:r>
            <a:r>
              <a:rPr lang="en-US" sz="2800" b="1" u="sng" dirty="0" smtClean="0"/>
              <a:t>Advantages</a:t>
            </a:r>
            <a:r>
              <a:rPr lang="en-US" sz="2800" b="1" dirty="0" smtClean="0"/>
              <a:t> </a:t>
            </a:r>
            <a:r>
              <a:rPr lang="en-US" sz="2400" b="1" dirty="0" smtClean="0"/>
              <a:t> </a:t>
            </a:r>
            <a:endParaRPr lang="en-US" sz="2400" b="1" dirty="0"/>
          </a:p>
          <a:p>
            <a:pPr lvl="5" fontAlgn="base"/>
            <a:r>
              <a:rPr lang="en-US" sz="2400" dirty="0"/>
              <a:t>It is </a:t>
            </a:r>
            <a:r>
              <a:rPr lang="en-US" sz="2400" b="1" dirty="0"/>
              <a:t>less costly </a:t>
            </a:r>
            <a:r>
              <a:rPr lang="en-US" sz="2400" dirty="0"/>
              <a:t>as it is built with </a:t>
            </a:r>
            <a:r>
              <a:rPr lang="en-US" sz="2400" b="1" dirty="0"/>
              <a:t>inexpensive</a:t>
            </a:r>
            <a:r>
              <a:rPr lang="en-US" sz="2400" dirty="0"/>
              <a:t> hardware such as hubs, network adapters, and Ethernet cables.</a:t>
            </a:r>
            <a:r>
              <a:rPr lang="en-US" sz="2400" b="1" dirty="0"/>
              <a:t> </a:t>
            </a:r>
          </a:p>
          <a:p>
            <a:pPr lvl="5" fontAlgn="base"/>
            <a:r>
              <a:rPr lang="en-US" sz="2400" dirty="0"/>
              <a:t>The data is transferred at an </a:t>
            </a:r>
            <a:r>
              <a:rPr lang="en-US" sz="2400" b="1" dirty="0"/>
              <a:t>extremely faster </a:t>
            </a:r>
            <a:r>
              <a:rPr lang="en-US" sz="2400" dirty="0"/>
              <a:t>rate and it also provides high security.</a:t>
            </a:r>
            <a:r>
              <a:rPr lang="en-US" sz="2400" b="1" dirty="0"/>
              <a:t> </a:t>
            </a:r>
            <a:endParaRPr lang="en-US" sz="2400" dirty="0"/>
          </a:p>
          <a:p>
            <a:pPr marL="685800" lvl="3" indent="0" fontAlgn="base">
              <a:buNone/>
            </a:pPr>
            <a:r>
              <a:rPr lang="en-US" sz="2800" b="1" u="sng" dirty="0"/>
              <a:t>Disadvantages</a:t>
            </a:r>
            <a:r>
              <a:rPr lang="en-US" sz="2800" b="1" dirty="0"/>
              <a:t> </a:t>
            </a:r>
            <a:endParaRPr lang="en-US" sz="2800" dirty="0"/>
          </a:p>
          <a:p>
            <a:pPr lvl="6" fontAlgn="base"/>
            <a:r>
              <a:rPr lang="en-US" sz="2400" dirty="0" smtClean="0"/>
              <a:t>Network </a:t>
            </a:r>
            <a:r>
              <a:rPr lang="en-US" sz="2400" b="1" dirty="0"/>
              <a:t>performance degrades </a:t>
            </a:r>
            <a:r>
              <a:rPr lang="en-US" sz="2400" dirty="0"/>
              <a:t>as the number of </a:t>
            </a:r>
            <a:r>
              <a:rPr lang="en-US" sz="2400" b="1" dirty="0"/>
              <a:t>users</a:t>
            </a:r>
            <a:r>
              <a:rPr lang="en-US" sz="2400" dirty="0"/>
              <a:t> </a:t>
            </a:r>
            <a:r>
              <a:rPr lang="en-US" sz="2400" b="1" dirty="0"/>
              <a:t>exceeds</a:t>
            </a:r>
            <a:r>
              <a:rPr lang="en-US" sz="2400" dirty="0"/>
              <a:t>. </a:t>
            </a:r>
          </a:p>
          <a:p>
            <a:pPr lvl="6" fontAlgn="base"/>
            <a:r>
              <a:rPr lang="en-US" sz="2400" dirty="0"/>
              <a:t>A </a:t>
            </a:r>
            <a:r>
              <a:rPr lang="en-US" sz="2400" b="1" dirty="0"/>
              <a:t>limited number of system </a:t>
            </a:r>
            <a:r>
              <a:rPr lang="en-US" sz="2400" dirty="0"/>
              <a:t>can only be connected. </a:t>
            </a:r>
          </a:p>
        </p:txBody>
      </p:sp>
    </p:spTree>
    <p:extLst>
      <p:ext uri="{BB962C8B-B14F-4D97-AF65-F5344CB8AC3E}">
        <p14:creationId xmlns:p14="http://schemas.microsoft.com/office/powerpoint/2010/main" val="54739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8700" y="622946"/>
            <a:ext cx="7729728" cy="808690"/>
          </a:xfrm>
        </p:spPr>
        <p:txBody>
          <a:bodyPr/>
          <a:lstStyle/>
          <a:p>
            <a:pPr lvl="0" fontAlgn="base"/>
            <a:r>
              <a:rPr lang="en-US" b="1" u="sng" dirty="0"/>
              <a:t>Campus Area Network ( CAN )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7128" y="1893456"/>
            <a:ext cx="8713955" cy="38281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CAN </a:t>
            </a:r>
            <a:r>
              <a:rPr lang="en-US" sz="2400" dirty="0"/>
              <a:t>is </a:t>
            </a:r>
            <a:r>
              <a:rPr lang="en-US" sz="2400" b="1" dirty="0"/>
              <a:t>bigger </a:t>
            </a:r>
            <a:r>
              <a:rPr lang="en-US" sz="2400" dirty="0"/>
              <a:t>than a LAN. This is a type of computer network which is usually used in </a:t>
            </a:r>
            <a:r>
              <a:rPr lang="en-US" sz="2400" b="1" dirty="0"/>
              <a:t>places like a school or college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network covers a limited geographical area that is, it spreads across </a:t>
            </a:r>
            <a:r>
              <a:rPr lang="en-US" sz="2400" b="1" dirty="0"/>
              <a:t>several buildings within the campus</a:t>
            </a:r>
            <a:r>
              <a:rPr lang="en-US" sz="2400" dirty="0"/>
              <a:t>. </a:t>
            </a:r>
          </a:p>
          <a:p>
            <a:endParaRPr lang="en-US" sz="24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11322" y="3654222"/>
            <a:ext cx="5505565" cy="293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23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6764" y="886691"/>
            <a:ext cx="9596582" cy="5818908"/>
          </a:xfrm>
        </p:spPr>
        <p:txBody>
          <a:bodyPr>
            <a:normAutofit/>
          </a:bodyPr>
          <a:lstStyle/>
          <a:p>
            <a:pPr marL="228600" lvl="1" indent="0" fontAlgn="base"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   </a:t>
            </a:r>
            <a:r>
              <a:rPr lang="en-US" sz="2800" b="1" u="sng" dirty="0" smtClean="0"/>
              <a:t>Advantages</a:t>
            </a:r>
            <a:r>
              <a:rPr lang="en-US" sz="2800" b="1" dirty="0" smtClean="0"/>
              <a:t> </a:t>
            </a:r>
            <a:r>
              <a:rPr lang="en-US" sz="2400" b="1" dirty="0" smtClean="0"/>
              <a:t> </a:t>
            </a:r>
            <a:endParaRPr lang="en-US" sz="2400" b="1" dirty="0"/>
          </a:p>
          <a:p>
            <a:pPr lvl="5" fontAlgn="base"/>
            <a:r>
              <a:rPr lang="en-US" sz="2400" dirty="0"/>
              <a:t>To construct CAN networks we use hardware devices </a:t>
            </a:r>
            <a:r>
              <a:rPr lang="en-US" sz="2400" b="1" dirty="0"/>
              <a:t>like hub, routers, switches, cables</a:t>
            </a:r>
            <a:r>
              <a:rPr lang="en-US" sz="2400" dirty="0"/>
              <a:t> which are affordable. </a:t>
            </a:r>
          </a:p>
          <a:p>
            <a:pPr lvl="5" fontAlgn="base"/>
            <a:r>
              <a:rPr lang="en-US" sz="2400" dirty="0"/>
              <a:t>We can easily </a:t>
            </a:r>
            <a:r>
              <a:rPr lang="en-US" sz="2400" b="1" dirty="0"/>
              <a:t>access the data </a:t>
            </a:r>
            <a:r>
              <a:rPr lang="en-US" sz="2400" dirty="0"/>
              <a:t>that are present in </a:t>
            </a:r>
            <a:r>
              <a:rPr lang="en-US" sz="2400" b="1" dirty="0"/>
              <a:t>different departments </a:t>
            </a:r>
            <a:r>
              <a:rPr lang="en-US" sz="2400" dirty="0"/>
              <a:t>with the help of CAN. </a:t>
            </a:r>
          </a:p>
          <a:p>
            <a:pPr lvl="5" fontAlgn="base"/>
            <a:r>
              <a:rPr lang="en-US" sz="2400" dirty="0" smtClean="0"/>
              <a:t>CAN </a:t>
            </a:r>
            <a:r>
              <a:rPr lang="en-US" sz="2400" dirty="0"/>
              <a:t>networks </a:t>
            </a:r>
            <a:r>
              <a:rPr lang="en-US" sz="2400" b="1" dirty="0"/>
              <a:t>have firewalls and proxy servers </a:t>
            </a:r>
            <a:r>
              <a:rPr lang="en-US" sz="2400" dirty="0"/>
              <a:t>which are used for security purposes. </a:t>
            </a:r>
          </a:p>
          <a:p>
            <a:pPr marL="1084263" lvl="5" indent="0" fontAlgn="base">
              <a:buNone/>
            </a:pPr>
            <a:r>
              <a:rPr lang="en-US" sz="2800" b="1" u="sng" dirty="0" smtClean="0"/>
              <a:t>Disadvantages</a:t>
            </a:r>
            <a:r>
              <a:rPr lang="en-US" sz="2800" b="1" dirty="0" smtClean="0"/>
              <a:t> </a:t>
            </a:r>
            <a:endParaRPr lang="en-US" sz="2800" dirty="0"/>
          </a:p>
          <a:p>
            <a:pPr lvl="6" fontAlgn="base"/>
            <a:r>
              <a:rPr lang="en-US" sz="2400" dirty="0"/>
              <a:t>It does </a:t>
            </a:r>
            <a:r>
              <a:rPr lang="en-US" sz="2400" b="1" dirty="0"/>
              <a:t>not support a maximum </a:t>
            </a:r>
            <a:r>
              <a:rPr lang="en-US" sz="2400" dirty="0"/>
              <a:t>number of nodes. </a:t>
            </a:r>
          </a:p>
          <a:p>
            <a:pPr lvl="6" fontAlgn="base"/>
            <a:r>
              <a:rPr lang="en-US" sz="2400" dirty="0"/>
              <a:t>CAN maintenance is </a:t>
            </a:r>
            <a:r>
              <a:rPr lang="en-US" sz="2400" b="1" dirty="0"/>
              <a:t>costly</a:t>
            </a:r>
            <a:r>
              <a:rPr lang="en-US" sz="2400" dirty="0"/>
              <a:t> when compared to other networks like LAN, WAN etc</a:t>
            </a:r>
            <a:r>
              <a:rPr lang="en-US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71495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8700" y="562402"/>
            <a:ext cx="7729728" cy="919526"/>
          </a:xfrm>
        </p:spPr>
        <p:txBody>
          <a:bodyPr>
            <a:normAutofit fontScale="90000"/>
          </a:bodyPr>
          <a:lstStyle/>
          <a:p>
            <a:pPr lvl="0" fontAlgn="base"/>
            <a:r>
              <a:rPr lang="en-US" b="1" u="sng" dirty="0"/>
              <a:t>Metropolitan Area Network (MAN)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2768" y="1727200"/>
            <a:ext cx="9270723" cy="4507345"/>
          </a:xfrm>
        </p:spPr>
        <p:txBody>
          <a:bodyPr>
            <a:normAutofit/>
          </a:bodyPr>
          <a:lstStyle/>
          <a:p>
            <a:pPr fontAlgn="base"/>
            <a:r>
              <a:rPr lang="en-US" sz="2200" dirty="0" smtClean="0"/>
              <a:t>A </a:t>
            </a:r>
            <a:r>
              <a:rPr lang="en-US" sz="2200" dirty="0"/>
              <a:t>MAN is larger than a LAN but smaller than a WAN.  </a:t>
            </a:r>
            <a:endParaRPr lang="en-US" sz="2200" dirty="0" smtClean="0"/>
          </a:p>
          <a:p>
            <a:pPr fontAlgn="base"/>
            <a:r>
              <a:rPr lang="en-US" sz="2200" dirty="0" smtClean="0"/>
              <a:t>This </a:t>
            </a:r>
            <a:r>
              <a:rPr lang="en-US" sz="2200" dirty="0"/>
              <a:t>is the type of computer network that connects computers over a </a:t>
            </a:r>
            <a:r>
              <a:rPr lang="en-US" sz="2200" b="1" dirty="0"/>
              <a:t>geographical distance </a:t>
            </a:r>
            <a:r>
              <a:rPr lang="en-US" sz="2200" dirty="0"/>
              <a:t>through a shared communication path over a </a:t>
            </a:r>
            <a:r>
              <a:rPr lang="en-US" sz="2200" b="1" dirty="0"/>
              <a:t>city, town</a:t>
            </a:r>
            <a:r>
              <a:rPr lang="en-US" sz="2200" dirty="0"/>
              <a:t> or metropolitan area.</a:t>
            </a:r>
            <a:r>
              <a:rPr lang="en-US" sz="2200" b="1" dirty="0"/>
              <a:t> </a:t>
            </a:r>
            <a:endParaRPr lang="en-US" sz="22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509818" y="3389747"/>
            <a:ext cx="5883563" cy="321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37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0036" y="775854"/>
            <a:ext cx="8903855" cy="5606473"/>
          </a:xfrm>
        </p:spPr>
        <p:txBody>
          <a:bodyPr>
            <a:normAutofit lnSpcReduction="10000"/>
          </a:bodyPr>
          <a:lstStyle/>
          <a:p>
            <a:pPr marL="228600" lvl="1" indent="0" fontAlgn="base"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</a:t>
            </a:r>
            <a:r>
              <a:rPr lang="en-US" sz="2800" b="1" u="sng" dirty="0" smtClean="0"/>
              <a:t>Advantages</a:t>
            </a:r>
            <a:r>
              <a:rPr lang="en-US" sz="2800" b="1" dirty="0" smtClean="0"/>
              <a:t> </a:t>
            </a:r>
            <a:r>
              <a:rPr lang="en-US" sz="2400" b="1" dirty="0" smtClean="0"/>
              <a:t> </a:t>
            </a:r>
            <a:endParaRPr lang="en-US" sz="2400" b="1" dirty="0"/>
          </a:p>
          <a:p>
            <a:pPr lvl="5" fontAlgn="base">
              <a:lnSpc>
                <a:spcPct val="110000"/>
              </a:lnSpc>
            </a:pPr>
            <a:r>
              <a:rPr lang="en-US" sz="2400" dirty="0"/>
              <a:t>It provides </a:t>
            </a:r>
            <a:r>
              <a:rPr lang="en-US" sz="2400" b="1" dirty="0"/>
              <a:t>higher security </a:t>
            </a:r>
            <a:r>
              <a:rPr lang="en-US" sz="2400" dirty="0"/>
              <a:t>compare to WAN and it is wider than LAN. </a:t>
            </a:r>
          </a:p>
          <a:p>
            <a:pPr lvl="5" fontAlgn="base"/>
            <a:r>
              <a:rPr lang="en-US" sz="2400" dirty="0"/>
              <a:t>Increases the </a:t>
            </a:r>
            <a:r>
              <a:rPr lang="en-US" sz="2400" b="1" dirty="0"/>
              <a:t>efficiency of handling data</a:t>
            </a:r>
            <a:r>
              <a:rPr lang="en-US" sz="2400" dirty="0"/>
              <a:t>. </a:t>
            </a:r>
          </a:p>
          <a:p>
            <a:pPr lvl="5" fontAlgn="base"/>
            <a:r>
              <a:rPr lang="en-US" sz="2400" dirty="0"/>
              <a:t>The speed of data can easily reach 1000 Mbps, as </a:t>
            </a:r>
            <a:r>
              <a:rPr lang="en-US" sz="2400" b="1" dirty="0"/>
              <a:t>MAN uses fiber optics</a:t>
            </a:r>
            <a:r>
              <a:rPr lang="en-US" sz="2400" dirty="0"/>
              <a:t>. Files and database transfer rates are fast. </a:t>
            </a:r>
            <a:endParaRPr lang="en-US" sz="2400" dirty="0" smtClean="0"/>
          </a:p>
          <a:p>
            <a:pPr marL="685800" lvl="3" indent="0" fontAlgn="base">
              <a:buNone/>
            </a:pPr>
            <a:r>
              <a:rPr lang="en-US" sz="2800" b="1" u="sng" dirty="0" smtClean="0"/>
              <a:t>Disadvantages</a:t>
            </a:r>
            <a:r>
              <a:rPr lang="en-US" sz="2800" b="1" dirty="0" smtClean="0"/>
              <a:t> </a:t>
            </a:r>
          </a:p>
          <a:p>
            <a:pPr lvl="5" fontAlgn="base">
              <a:lnSpc>
                <a:spcPct val="110000"/>
              </a:lnSpc>
            </a:pPr>
            <a:r>
              <a:rPr lang="en-US" sz="2400" b="1" dirty="0"/>
              <a:t>More</a:t>
            </a:r>
            <a:r>
              <a:rPr lang="en-US" sz="2400" dirty="0"/>
              <a:t> </a:t>
            </a:r>
            <a:r>
              <a:rPr lang="en-US" sz="2400" b="1" dirty="0"/>
              <a:t>cable require </a:t>
            </a:r>
            <a:r>
              <a:rPr lang="en-US" sz="2400" dirty="0"/>
              <a:t>for a MAN connection from one place to another. </a:t>
            </a:r>
          </a:p>
          <a:p>
            <a:pPr lvl="5" fontAlgn="base"/>
            <a:r>
              <a:rPr lang="en-US" sz="2400" dirty="0"/>
              <a:t>The large network </a:t>
            </a:r>
            <a:r>
              <a:rPr lang="en-US" sz="2400" b="1" dirty="0"/>
              <a:t>difficult to manage</a:t>
            </a:r>
            <a:r>
              <a:rPr lang="en-US" sz="2400" dirty="0"/>
              <a:t>. </a:t>
            </a:r>
          </a:p>
          <a:p>
            <a:pPr lvl="5" fontAlgn="base"/>
            <a:r>
              <a:rPr lang="en-US" sz="2400" dirty="0"/>
              <a:t>The </a:t>
            </a:r>
            <a:r>
              <a:rPr lang="en-US" sz="2400" b="1" dirty="0"/>
              <a:t>data rate is slow </a:t>
            </a:r>
            <a:r>
              <a:rPr lang="en-US" sz="2400" dirty="0"/>
              <a:t>compared to LAN. </a:t>
            </a:r>
          </a:p>
          <a:p>
            <a:pPr lvl="5" fontAlgn="base"/>
            <a:r>
              <a:rPr lang="en-US" sz="2400" dirty="0"/>
              <a:t>Cost is higher than LAN. </a:t>
            </a:r>
          </a:p>
        </p:txBody>
      </p:sp>
    </p:spTree>
    <p:extLst>
      <p:ext uri="{BB962C8B-B14F-4D97-AF65-F5344CB8AC3E}">
        <p14:creationId xmlns:p14="http://schemas.microsoft.com/office/powerpoint/2010/main" val="280304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8008" y="706074"/>
            <a:ext cx="7729728" cy="845635"/>
          </a:xfrm>
        </p:spPr>
        <p:txBody>
          <a:bodyPr/>
          <a:lstStyle/>
          <a:p>
            <a:pPr lvl="0" fontAlgn="base"/>
            <a:r>
              <a:rPr lang="en-US" b="1" u="sng" dirty="0"/>
              <a:t>Wide Area Network (WAN)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0109" y="1801090"/>
            <a:ext cx="9448799" cy="1690255"/>
          </a:xfrm>
        </p:spPr>
        <p:txBody>
          <a:bodyPr>
            <a:noAutofit/>
          </a:bodyPr>
          <a:lstStyle/>
          <a:p>
            <a:r>
              <a:rPr lang="en-US" sz="2400" dirty="0" smtClean="0"/>
              <a:t>A </a:t>
            </a:r>
            <a:r>
              <a:rPr lang="en-US" sz="2400" dirty="0"/>
              <a:t>wide area network (WAN) is a computer network that covers a large geographical area comprising a </a:t>
            </a:r>
            <a:r>
              <a:rPr lang="en-US" sz="2400" b="1" dirty="0"/>
              <a:t>region, a country</a:t>
            </a:r>
            <a:r>
              <a:rPr lang="en-US" sz="2400" dirty="0"/>
              <a:t>, a continent or even the whole world. </a:t>
            </a:r>
            <a:endParaRPr lang="en-US" sz="2400" dirty="0" smtClean="0"/>
          </a:p>
          <a:p>
            <a:r>
              <a:rPr lang="en-US" sz="2400" dirty="0" smtClean="0"/>
              <a:t>WAN </a:t>
            </a:r>
            <a:r>
              <a:rPr lang="en-US" sz="2400" dirty="0"/>
              <a:t>includes the technologies to </a:t>
            </a:r>
            <a:r>
              <a:rPr lang="en-US" sz="2400" b="1" dirty="0"/>
              <a:t>transmit data, image, audio and video </a:t>
            </a:r>
            <a:r>
              <a:rPr lang="en-US" sz="2400" dirty="0"/>
              <a:t>information over long distances and </a:t>
            </a:r>
            <a:r>
              <a:rPr lang="en-US" sz="2400" b="1" dirty="0"/>
              <a:t>among different LANs and MANs</a:t>
            </a:r>
            <a:r>
              <a:rPr lang="en-US" sz="2400" dirty="0"/>
              <a:t>. 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027053" y="3971318"/>
            <a:ext cx="5366329" cy="257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35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7054" y="1330037"/>
            <a:ext cx="9107055" cy="4147127"/>
          </a:xfrm>
        </p:spPr>
        <p:txBody>
          <a:bodyPr>
            <a:normAutofit fontScale="92500" lnSpcReduction="10000"/>
          </a:bodyPr>
          <a:lstStyle/>
          <a:p>
            <a:pPr marL="228600" lvl="1" indent="0" fontAlgn="base"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</a:t>
            </a:r>
            <a:r>
              <a:rPr lang="en-US" sz="2800" b="1" u="sng" dirty="0" smtClean="0"/>
              <a:t>Advantages</a:t>
            </a:r>
            <a:r>
              <a:rPr lang="en-US" sz="2800" b="1" dirty="0" smtClean="0"/>
              <a:t> </a:t>
            </a:r>
            <a:r>
              <a:rPr lang="en-US" sz="2400" b="1" dirty="0" smtClean="0"/>
              <a:t> </a:t>
            </a:r>
            <a:endParaRPr lang="en-US" sz="2400" b="1" dirty="0"/>
          </a:p>
          <a:p>
            <a:pPr lvl="4" fontAlgn="base"/>
            <a:r>
              <a:rPr lang="en-US" sz="2800" dirty="0"/>
              <a:t>WAN covers larger geographical area. Hence business offices </a:t>
            </a:r>
            <a:r>
              <a:rPr lang="en-US" sz="2800" b="1" dirty="0"/>
              <a:t>situated at longer distances </a:t>
            </a:r>
            <a:r>
              <a:rPr lang="en-US" sz="2800" dirty="0"/>
              <a:t>can easily communicate. </a:t>
            </a:r>
          </a:p>
          <a:p>
            <a:pPr lvl="4" fontAlgn="base"/>
            <a:r>
              <a:rPr lang="en-US" sz="2800" dirty="0" smtClean="0"/>
              <a:t>Message </a:t>
            </a:r>
            <a:r>
              <a:rPr lang="en-US" sz="2800" dirty="0"/>
              <a:t>can be </a:t>
            </a:r>
            <a:r>
              <a:rPr lang="en-US" sz="2800" b="1" dirty="0"/>
              <a:t>sent very quickly </a:t>
            </a:r>
            <a:r>
              <a:rPr lang="en-US" sz="2800" dirty="0"/>
              <a:t>to anyone else on the network </a:t>
            </a:r>
            <a:endParaRPr lang="en-US" sz="2800" dirty="0" smtClean="0"/>
          </a:p>
          <a:p>
            <a:pPr marL="685800" lvl="3" indent="0" fontAlgn="base">
              <a:lnSpc>
                <a:spcPct val="110000"/>
              </a:lnSpc>
              <a:buNone/>
            </a:pPr>
            <a:r>
              <a:rPr lang="en-US" sz="2800" b="1" u="sng" dirty="0" smtClean="0"/>
              <a:t>Disadvantages</a:t>
            </a:r>
            <a:r>
              <a:rPr lang="en-US" sz="2800" b="1" dirty="0" smtClean="0"/>
              <a:t> </a:t>
            </a:r>
          </a:p>
          <a:p>
            <a:pPr lvl="4" fontAlgn="base"/>
            <a:r>
              <a:rPr lang="en-US" sz="2800" dirty="0"/>
              <a:t>It is </a:t>
            </a:r>
            <a:r>
              <a:rPr lang="en-US" sz="2800" b="1" dirty="0"/>
              <a:t>difficult to maintain </a:t>
            </a:r>
            <a:r>
              <a:rPr lang="en-US" sz="2800" dirty="0"/>
              <a:t>the network </a:t>
            </a:r>
          </a:p>
          <a:p>
            <a:pPr lvl="4" fontAlgn="base"/>
            <a:r>
              <a:rPr lang="en-US" sz="2800" dirty="0"/>
              <a:t>WAN is </a:t>
            </a:r>
            <a:r>
              <a:rPr lang="en-US" sz="2800" b="1" dirty="0"/>
              <a:t>not secure </a:t>
            </a:r>
            <a:r>
              <a:rPr lang="en-US" sz="2800" dirty="0"/>
              <a:t>and means not reliable </a:t>
            </a:r>
          </a:p>
        </p:txBody>
      </p:sp>
    </p:spTree>
    <p:extLst>
      <p:ext uri="{BB962C8B-B14F-4D97-AF65-F5344CB8AC3E}">
        <p14:creationId xmlns:p14="http://schemas.microsoft.com/office/powerpoint/2010/main" val="388985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3427" y="641419"/>
            <a:ext cx="7729728" cy="891817"/>
          </a:xfrm>
        </p:spPr>
        <p:txBody>
          <a:bodyPr/>
          <a:lstStyle/>
          <a:p>
            <a:pPr lvl="0" fontAlgn="base"/>
            <a:r>
              <a:rPr lang="en-US" b="1" u="sng" dirty="0"/>
              <a:t>Personal Area Network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2731" y="1801090"/>
            <a:ext cx="9111119" cy="2105891"/>
          </a:xfrm>
        </p:spPr>
        <p:txBody>
          <a:bodyPr>
            <a:noAutofit/>
          </a:bodyPr>
          <a:lstStyle/>
          <a:p>
            <a:pPr lvl="2" fontAlgn="base"/>
            <a:r>
              <a:rPr lang="en-US" sz="2400" dirty="0" smtClean="0"/>
              <a:t>PAN is </a:t>
            </a:r>
            <a:r>
              <a:rPr lang="en-US" sz="2400" dirty="0"/>
              <a:t>the interconnection between different devices like </a:t>
            </a:r>
            <a:r>
              <a:rPr lang="en-US" sz="2400" b="1" dirty="0"/>
              <a:t>smartphones, tablets, computers </a:t>
            </a:r>
            <a:r>
              <a:rPr lang="en-US" sz="2400" dirty="0"/>
              <a:t>and other digital devices.</a:t>
            </a:r>
            <a:r>
              <a:rPr lang="en-US" sz="2400" b="1" dirty="0"/>
              <a:t> </a:t>
            </a:r>
            <a:endParaRPr lang="en-US" sz="2400" dirty="0"/>
          </a:p>
          <a:p>
            <a:pPr lvl="2" fontAlgn="base"/>
            <a:r>
              <a:rPr lang="en-US" sz="2400" dirty="0"/>
              <a:t>PAN is used for personal purposes like data sharing among devices and it has a </a:t>
            </a:r>
            <a:r>
              <a:rPr lang="en-US" sz="2400" b="1" dirty="0"/>
              <a:t>range of 10 meters</a:t>
            </a:r>
            <a:r>
              <a:rPr lang="en-US" sz="2400" dirty="0"/>
              <a:t>.</a:t>
            </a:r>
            <a:r>
              <a:rPr lang="en-US" sz="2400" b="1" dirty="0"/>
              <a:t> </a:t>
            </a:r>
            <a:endParaRPr lang="en-US" sz="24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368799" y="4091710"/>
            <a:ext cx="5384801" cy="224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6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2329" y="1311564"/>
            <a:ext cx="9042398" cy="4636654"/>
          </a:xfrm>
        </p:spPr>
        <p:txBody>
          <a:bodyPr>
            <a:normAutofit/>
          </a:bodyPr>
          <a:lstStyle/>
          <a:p>
            <a:pPr marL="228600" lvl="1" indent="0" fontAlgn="base">
              <a:buNone/>
            </a:pPr>
            <a:r>
              <a:rPr lang="en-US" sz="2800" b="1" dirty="0"/>
              <a:t> </a:t>
            </a:r>
            <a:r>
              <a:rPr lang="en-US" sz="2800" b="1" dirty="0" smtClean="0"/>
              <a:t>      </a:t>
            </a:r>
            <a:r>
              <a:rPr lang="en-US" sz="3200" b="1" u="sng" dirty="0" smtClean="0"/>
              <a:t>Advantages</a:t>
            </a:r>
            <a:r>
              <a:rPr lang="en-US" sz="3200" b="1" dirty="0" smtClean="0"/>
              <a:t> </a:t>
            </a:r>
            <a:r>
              <a:rPr lang="en-US" sz="2800" b="1" dirty="0" smtClean="0"/>
              <a:t> </a:t>
            </a:r>
            <a:endParaRPr lang="en-US" sz="2800" b="1" dirty="0"/>
          </a:p>
          <a:p>
            <a:pPr lvl="7" fontAlgn="base"/>
            <a:r>
              <a:rPr lang="en-US" sz="2800" dirty="0"/>
              <a:t>In PAN </a:t>
            </a:r>
            <a:r>
              <a:rPr lang="en-US" sz="2800" b="1" dirty="0"/>
              <a:t>no extra </a:t>
            </a:r>
            <a:r>
              <a:rPr lang="en-US" sz="2800" b="1" dirty="0" smtClean="0"/>
              <a:t>space</a:t>
            </a:r>
            <a:r>
              <a:rPr lang="en-US" sz="2800" dirty="0" smtClean="0"/>
              <a:t> </a:t>
            </a:r>
            <a:r>
              <a:rPr lang="en-US" sz="2800" b="1" dirty="0"/>
              <a:t>a</a:t>
            </a:r>
            <a:r>
              <a:rPr lang="en-US" sz="2800" b="1" dirty="0" smtClean="0"/>
              <a:t>nd extra cable </a:t>
            </a:r>
            <a:r>
              <a:rPr lang="en-US" sz="2800" b="1" dirty="0"/>
              <a:t>r</a:t>
            </a:r>
            <a:r>
              <a:rPr lang="en-US" sz="2800" b="1" dirty="0" smtClean="0"/>
              <a:t>equires.</a:t>
            </a:r>
            <a:r>
              <a:rPr lang="en-US" sz="2800" dirty="0" smtClean="0"/>
              <a:t> </a:t>
            </a:r>
            <a:endParaRPr lang="en-US" sz="2800" dirty="0"/>
          </a:p>
          <a:p>
            <a:pPr lvl="7" fontAlgn="base"/>
            <a:r>
              <a:rPr lang="en-US" sz="2800" dirty="0"/>
              <a:t>It is </a:t>
            </a:r>
            <a:r>
              <a:rPr lang="en-US" sz="2800" b="1" dirty="0"/>
              <a:t>reliable and secure</a:t>
            </a:r>
            <a:r>
              <a:rPr lang="en-US" sz="2800" dirty="0"/>
              <a:t>. </a:t>
            </a:r>
          </a:p>
          <a:p>
            <a:pPr lvl="7" fontAlgn="base"/>
            <a:r>
              <a:rPr lang="en-US" sz="2800" dirty="0"/>
              <a:t>It is </a:t>
            </a:r>
            <a:r>
              <a:rPr lang="en-US" sz="2800" b="1" dirty="0"/>
              <a:t>easy to use </a:t>
            </a:r>
            <a:r>
              <a:rPr lang="en-US" sz="2800" dirty="0"/>
              <a:t>and it is </a:t>
            </a:r>
            <a:r>
              <a:rPr lang="en-US" sz="2800" b="1" dirty="0"/>
              <a:t>portable</a:t>
            </a:r>
            <a:r>
              <a:rPr lang="en-US" sz="2800" dirty="0"/>
              <a:t> </a:t>
            </a:r>
            <a:endParaRPr lang="en-US" sz="2800" dirty="0" smtClean="0"/>
          </a:p>
          <a:p>
            <a:pPr marL="914400" lvl="4" indent="0" fontAlgn="base">
              <a:buNone/>
            </a:pPr>
            <a:r>
              <a:rPr lang="en-US" sz="3200" b="1" u="sng" dirty="0" smtClean="0"/>
              <a:t>Disadvantages</a:t>
            </a:r>
            <a:r>
              <a:rPr lang="en-US" sz="3200" b="1" dirty="0" smtClean="0"/>
              <a:t> </a:t>
            </a:r>
          </a:p>
          <a:p>
            <a:pPr lvl="7" fontAlgn="base"/>
            <a:r>
              <a:rPr lang="en-US" sz="2800" dirty="0" smtClean="0"/>
              <a:t>It </a:t>
            </a:r>
            <a:r>
              <a:rPr lang="en-US" sz="2800" dirty="0"/>
              <a:t>is a </a:t>
            </a:r>
            <a:r>
              <a:rPr lang="en-US" sz="2800" b="1" dirty="0"/>
              <a:t>slow data transfer</a:t>
            </a:r>
            <a:r>
              <a:rPr lang="en-US" sz="2800" dirty="0"/>
              <a:t>. </a:t>
            </a:r>
          </a:p>
          <a:p>
            <a:pPr lvl="7" fontAlgn="base"/>
            <a:r>
              <a:rPr lang="en-US" sz="2800" dirty="0"/>
              <a:t>PAN has </a:t>
            </a:r>
            <a:r>
              <a:rPr lang="en-US" sz="2800" b="1" dirty="0"/>
              <a:t>a limited range</a:t>
            </a:r>
            <a:r>
              <a:rPr lang="en-US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1294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678365"/>
            <a:ext cx="7729728" cy="771744"/>
          </a:xfrm>
        </p:spPr>
        <p:txBody>
          <a:bodyPr/>
          <a:lstStyle/>
          <a:p>
            <a:r>
              <a:rPr lang="en-US" b="1" dirty="0" smtClean="0"/>
              <a:t>Network topologies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1" y="1838035"/>
            <a:ext cx="9023926" cy="4775199"/>
          </a:xfrm>
        </p:spPr>
        <p:txBody>
          <a:bodyPr>
            <a:noAutofit/>
          </a:bodyPr>
          <a:lstStyle/>
          <a:p>
            <a:pPr lvl="1"/>
            <a:r>
              <a:rPr lang="en-US" sz="2800" dirty="0"/>
              <a:t>A network topology is the </a:t>
            </a:r>
            <a:r>
              <a:rPr lang="en-US" sz="2800" b="1" dirty="0"/>
              <a:t>physical and logical arrangement of nodes </a:t>
            </a:r>
            <a:r>
              <a:rPr lang="en-US" sz="2800" dirty="0"/>
              <a:t>and connections in a </a:t>
            </a:r>
            <a:r>
              <a:rPr lang="en-US" sz="2800" dirty="0" smtClean="0"/>
              <a:t>network.</a:t>
            </a:r>
          </a:p>
          <a:p>
            <a:pPr marL="228600" lvl="1" indent="0">
              <a:buNone/>
            </a:pPr>
            <a:r>
              <a:rPr lang="en-US" sz="2800" b="1" dirty="0" smtClean="0"/>
              <a:t>   Types:</a:t>
            </a:r>
            <a:endParaRPr lang="en-US" sz="2800" b="1" dirty="0"/>
          </a:p>
          <a:p>
            <a:pPr lvl="8" fontAlgn="base"/>
            <a:r>
              <a:rPr lang="en-US" sz="2800" dirty="0"/>
              <a:t>Bus topology</a:t>
            </a:r>
          </a:p>
          <a:p>
            <a:pPr lvl="8" fontAlgn="base"/>
            <a:r>
              <a:rPr lang="en-US" sz="2800" dirty="0"/>
              <a:t>Ring topology</a:t>
            </a:r>
          </a:p>
          <a:p>
            <a:pPr lvl="8" fontAlgn="base"/>
            <a:r>
              <a:rPr lang="en-US" sz="2800" dirty="0" smtClean="0"/>
              <a:t>Mesh </a:t>
            </a:r>
            <a:r>
              <a:rPr lang="en-US" sz="2800" dirty="0"/>
              <a:t>topology</a:t>
            </a:r>
          </a:p>
          <a:p>
            <a:pPr lvl="8" fontAlgn="base"/>
            <a:r>
              <a:rPr lang="en-US" sz="2800" dirty="0"/>
              <a:t>Star topology</a:t>
            </a:r>
          </a:p>
          <a:p>
            <a:pPr lvl="8" fontAlgn="base"/>
            <a:r>
              <a:rPr lang="en-US" sz="2800" dirty="0"/>
              <a:t>Hybrid topology</a:t>
            </a:r>
          </a:p>
        </p:txBody>
      </p:sp>
    </p:spTree>
    <p:extLst>
      <p:ext uri="{BB962C8B-B14F-4D97-AF65-F5344CB8AC3E}">
        <p14:creationId xmlns:p14="http://schemas.microsoft.com/office/powerpoint/2010/main" val="253586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953" y="1167891"/>
            <a:ext cx="7729728" cy="753272"/>
          </a:xfrm>
        </p:spPr>
        <p:txBody>
          <a:bodyPr/>
          <a:lstStyle/>
          <a:p>
            <a:r>
              <a:rPr lang="en-US" b="1" dirty="0" smtClean="0"/>
              <a:t>Bus Topology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0798" y="2262908"/>
            <a:ext cx="8950037" cy="4017819"/>
          </a:xfrm>
        </p:spPr>
        <p:txBody>
          <a:bodyPr>
            <a:normAutofit/>
          </a:bodyPr>
          <a:lstStyle/>
          <a:p>
            <a:pPr lvl="0" fontAlgn="base"/>
            <a:r>
              <a:rPr lang="en-US" sz="2400" dirty="0"/>
              <a:t>Bus topology is a network type in which </a:t>
            </a:r>
            <a:r>
              <a:rPr lang="en-US" sz="2400" b="1" dirty="0"/>
              <a:t>every computer and network device is connected to a single cable. </a:t>
            </a:r>
            <a:endParaRPr lang="en-US" sz="2400" b="1" dirty="0" smtClean="0"/>
          </a:p>
          <a:p>
            <a:pPr lvl="0" fontAlgn="base"/>
            <a:r>
              <a:rPr lang="en-US" sz="2400" dirty="0" smtClean="0"/>
              <a:t>It </a:t>
            </a:r>
            <a:r>
              <a:rPr lang="en-US" sz="2400" dirty="0"/>
              <a:t>transmits the data from one end to another in a </a:t>
            </a:r>
            <a:r>
              <a:rPr lang="en-US" sz="2400" b="1" dirty="0"/>
              <a:t>single direction</a:t>
            </a:r>
            <a:r>
              <a:rPr lang="en-US" sz="2400" dirty="0"/>
              <a:t>. </a:t>
            </a:r>
            <a:endParaRPr lang="en-US" sz="2400" dirty="0" smtClean="0"/>
          </a:p>
          <a:p>
            <a:pPr lvl="0" fontAlgn="base"/>
            <a:r>
              <a:rPr lang="en-US" sz="2400" dirty="0" smtClean="0"/>
              <a:t>It </a:t>
            </a:r>
            <a:r>
              <a:rPr lang="en-US" sz="2400" dirty="0"/>
              <a:t>is a </a:t>
            </a:r>
            <a:r>
              <a:rPr lang="en-US" sz="2400" b="1" dirty="0"/>
              <a:t>multi-point connection </a:t>
            </a:r>
            <a:r>
              <a:rPr lang="en-US" sz="2400" dirty="0"/>
              <a:t>and a </a:t>
            </a:r>
            <a:r>
              <a:rPr lang="en-US" sz="2400" b="1" dirty="0"/>
              <a:t>non-robust topology </a:t>
            </a:r>
            <a:r>
              <a:rPr lang="en-US" sz="2400" dirty="0"/>
              <a:t>because if the </a:t>
            </a:r>
            <a:r>
              <a:rPr lang="en-US" sz="2400" b="1" dirty="0"/>
              <a:t>backbone fails the topology crashes</a:t>
            </a:r>
            <a:r>
              <a:rPr lang="en-US" sz="2400" dirty="0"/>
              <a:t>.</a:t>
            </a:r>
          </a:p>
          <a:p>
            <a:pPr marL="0" indent="0" fontAlgn="base">
              <a:buNone/>
            </a:pPr>
            <a:r>
              <a:rPr lang="en-US" sz="2400" b="1" dirty="0" smtClean="0"/>
              <a:t>Moderate </a:t>
            </a:r>
            <a:r>
              <a:rPr lang="en-US" sz="2400" b="1" dirty="0"/>
              <a:t>data speeds: </a:t>
            </a:r>
            <a:endParaRPr lang="en-US" sz="2400" b="1" dirty="0" smtClean="0"/>
          </a:p>
          <a:p>
            <a:pPr lvl="2" fontAlgn="base"/>
            <a:r>
              <a:rPr lang="en-US" sz="2400" dirty="0" smtClean="0"/>
              <a:t>Coaxial </a:t>
            </a:r>
            <a:r>
              <a:rPr lang="en-US" sz="2400" dirty="0"/>
              <a:t>or twisted pair cables are mainly used in bus-based networks that support up to </a:t>
            </a:r>
            <a:r>
              <a:rPr lang="en-US" sz="2400" b="1" dirty="0"/>
              <a:t>10 Mbps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657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5718" y="992401"/>
            <a:ext cx="7729728" cy="854872"/>
          </a:xfrm>
        </p:spPr>
        <p:txBody>
          <a:bodyPr>
            <a:normAutofit/>
          </a:bodyPr>
          <a:lstStyle/>
          <a:p>
            <a:r>
              <a:rPr lang="en-US" b="1" dirty="0" smtClean="0"/>
              <a:t>Ring topology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1708" y="2309091"/>
            <a:ext cx="8737601" cy="3759200"/>
          </a:xfrm>
        </p:spPr>
        <p:txBody>
          <a:bodyPr>
            <a:noAutofit/>
          </a:bodyPr>
          <a:lstStyle/>
          <a:p>
            <a:pPr lvl="0" fontAlgn="base"/>
            <a:r>
              <a:rPr lang="en-US" sz="2400" dirty="0"/>
              <a:t>In this topology, it forms a ring connecting devices with </a:t>
            </a:r>
            <a:r>
              <a:rPr lang="en-US" sz="2400" b="1" dirty="0"/>
              <a:t>exactly two </a:t>
            </a:r>
            <a:r>
              <a:rPr lang="en-US" sz="2400" b="1" dirty="0" err="1"/>
              <a:t>neighbouring</a:t>
            </a:r>
            <a:r>
              <a:rPr lang="en-US" sz="2400" b="1" dirty="0"/>
              <a:t> devices.</a:t>
            </a:r>
          </a:p>
          <a:p>
            <a:pPr lvl="0" fontAlgn="base"/>
            <a:r>
              <a:rPr lang="en-US" sz="2400" dirty="0" smtClean="0"/>
              <a:t>The </a:t>
            </a:r>
            <a:r>
              <a:rPr lang="en-US" sz="2400" b="1" dirty="0"/>
              <a:t>data flows in one direction, </a:t>
            </a:r>
            <a:r>
              <a:rPr lang="en-US" sz="2400" dirty="0"/>
              <a:t>i.e., it is </a:t>
            </a:r>
            <a:r>
              <a:rPr lang="en-US" sz="2400" b="1" dirty="0" smtClean="0"/>
              <a:t>unidirectional</a:t>
            </a:r>
            <a:r>
              <a:rPr lang="en-US" sz="2400" dirty="0" smtClean="0"/>
              <a:t> and it flow </a:t>
            </a:r>
            <a:r>
              <a:rPr lang="en-US" sz="2400" dirty="0"/>
              <a:t>in a </a:t>
            </a:r>
            <a:r>
              <a:rPr lang="en-US" sz="2400" b="1" dirty="0"/>
              <a:t>clockwise direction</a:t>
            </a:r>
            <a:r>
              <a:rPr lang="en-US" sz="2400" dirty="0"/>
              <a:t>.</a:t>
            </a:r>
          </a:p>
          <a:p>
            <a:pPr lvl="0" fontAlgn="base"/>
            <a:r>
              <a:rPr lang="en-US" sz="2400" dirty="0"/>
              <a:t>The most common access method of the ring topology is </a:t>
            </a:r>
            <a:r>
              <a:rPr lang="en-US" sz="2400" b="1" dirty="0"/>
              <a:t>token passing.</a:t>
            </a:r>
            <a:endParaRPr lang="en-US" sz="2400" dirty="0"/>
          </a:p>
          <a:p>
            <a:pPr lvl="0" fontAlgn="base"/>
            <a:r>
              <a:rPr lang="en-US" sz="2400" dirty="0" smtClean="0"/>
              <a:t>The </a:t>
            </a:r>
            <a:r>
              <a:rPr lang="en-US" sz="2400" dirty="0"/>
              <a:t>sender modifies the token by </a:t>
            </a:r>
            <a:r>
              <a:rPr lang="en-US" sz="2400" b="1" dirty="0"/>
              <a:t>putting the address </a:t>
            </a:r>
            <a:r>
              <a:rPr lang="en-US" sz="2400" dirty="0"/>
              <a:t>along with the </a:t>
            </a:r>
            <a:r>
              <a:rPr lang="en-US" sz="2400" dirty="0" smtClean="0"/>
              <a:t>data and it will transfer from sender to receiver.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112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5718" y="1278727"/>
            <a:ext cx="7729728" cy="827163"/>
          </a:xfrm>
        </p:spPr>
        <p:txBody>
          <a:bodyPr>
            <a:normAutofit/>
          </a:bodyPr>
          <a:lstStyle/>
          <a:p>
            <a:r>
              <a:rPr lang="en-US" b="1" dirty="0" smtClean="0"/>
              <a:t>Mesh topology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8295" y="2466109"/>
            <a:ext cx="8686246" cy="3754211"/>
          </a:xfrm>
        </p:spPr>
        <p:txBody>
          <a:bodyPr>
            <a:normAutofit/>
          </a:bodyPr>
          <a:lstStyle/>
          <a:p>
            <a:pPr lvl="0" fontAlgn="base"/>
            <a:r>
              <a:rPr lang="en-US" sz="2400" dirty="0"/>
              <a:t>Mesh topology is a type of networking in which </a:t>
            </a:r>
            <a:r>
              <a:rPr lang="en-US" sz="2400" b="1" dirty="0"/>
              <a:t>all the computers are inter-connected to each other</a:t>
            </a:r>
            <a:r>
              <a:rPr lang="en-US" sz="2400" dirty="0"/>
              <a:t>.</a:t>
            </a:r>
          </a:p>
          <a:p>
            <a:pPr lvl="0" fontAlgn="base"/>
            <a:r>
              <a:rPr lang="en-US" sz="2400" dirty="0" smtClean="0"/>
              <a:t>The </a:t>
            </a:r>
            <a:r>
              <a:rPr lang="en-US" sz="2400" dirty="0"/>
              <a:t>connected nodes can be </a:t>
            </a:r>
            <a:r>
              <a:rPr lang="en-US" sz="2400" b="1" dirty="0"/>
              <a:t>computers, switches, hubs, </a:t>
            </a:r>
            <a:r>
              <a:rPr lang="en-US" sz="2400" dirty="0"/>
              <a:t>or any other devices</a:t>
            </a:r>
            <a:r>
              <a:rPr lang="en-US" sz="2400" dirty="0" smtClean="0"/>
              <a:t>.</a:t>
            </a:r>
          </a:p>
          <a:p>
            <a:pPr lvl="0" fontAlgn="base"/>
            <a:r>
              <a:rPr lang="en-US" sz="2400" dirty="0"/>
              <a:t>In this topology setup, even if </a:t>
            </a:r>
            <a:r>
              <a:rPr lang="en-US" sz="2400" b="1" dirty="0"/>
              <a:t>one of the connections goes down</a:t>
            </a:r>
            <a:r>
              <a:rPr lang="en-US" sz="2400" dirty="0"/>
              <a:t>, it </a:t>
            </a:r>
            <a:r>
              <a:rPr lang="en-US" sz="2400" b="1" dirty="0"/>
              <a:t>allows other nodes to be </a:t>
            </a:r>
            <a:r>
              <a:rPr lang="en-US" sz="2400" b="1" dirty="0" smtClean="0"/>
              <a:t>distributed</a:t>
            </a:r>
            <a:r>
              <a:rPr lang="en-US" sz="2400" dirty="0" smtClean="0"/>
              <a:t>.</a:t>
            </a:r>
          </a:p>
          <a:p>
            <a:pPr lvl="0" fontAlgn="base"/>
            <a:r>
              <a:rPr lang="en-US" sz="2400" dirty="0"/>
              <a:t>The </a:t>
            </a:r>
            <a:r>
              <a:rPr lang="en-US" sz="2400" b="1" dirty="0"/>
              <a:t>cost of cables is high </a:t>
            </a:r>
            <a:r>
              <a:rPr lang="en-US" sz="2400" dirty="0"/>
              <a:t>as bulk wiring is required, hence suitable for less number of devices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9739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1827" y="1167892"/>
            <a:ext cx="7729728" cy="827163"/>
          </a:xfrm>
        </p:spPr>
        <p:txBody>
          <a:bodyPr/>
          <a:lstStyle/>
          <a:p>
            <a:r>
              <a:rPr lang="en-US" b="1" dirty="0" smtClean="0"/>
              <a:t>Star topology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2990" y="2382982"/>
            <a:ext cx="9415919" cy="3962400"/>
          </a:xfrm>
        </p:spPr>
        <p:txBody>
          <a:bodyPr>
            <a:normAutofit/>
          </a:bodyPr>
          <a:lstStyle/>
          <a:p>
            <a:pPr lvl="0" fontAlgn="base"/>
            <a:r>
              <a:rPr lang="en-US" sz="2800" dirty="0" smtClean="0"/>
              <a:t>In </a:t>
            </a:r>
            <a:r>
              <a:rPr lang="en-US" sz="2800" dirty="0"/>
              <a:t>this network arrangement, </a:t>
            </a:r>
            <a:r>
              <a:rPr lang="en-US" sz="2800" b="1" dirty="0"/>
              <a:t>all devices linked to a central network device</a:t>
            </a:r>
            <a:r>
              <a:rPr lang="en-US" sz="2800" dirty="0"/>
              <a:t> i.e. </a:t>
            </a:r>
            <a:r>
              <a:rPr lang="en-US" sz="2800" dirty="0" smtClean="0"/>
              <a:t>Hub, Switch..</a:t>
            </a:r>
          </a:p>
          <a:p>
            <a:pPr lvl="0" fontAlgn="base"/>
            <a:r>
              <a:rPr lang="en-US" sz="2800" dirty="0" smtClean="0"/>
              <a:t>In </a:t>
            </a:r>
            <a:r>
              <a:rPr lang="en-US" sz="2800" dirty="0"/>
              <a:t>star topology, a device </a:t>
            </a:r>
            <a:r>
              <a:rPr lang="en-US" sz="2800" b="1" dirty="0"/>
              <a:t>cannot provide communication directly </a:t>
            </a:r>
            <a:r>
              <a:rPr lang="en-US" sz="2800" dirty="0"/>
              <a:t>between the devices. </a:t>
            </a:r>
            <a:endParaRPr lang="en-US" sz="2800" dirty="0" smtClean="0"/>
          </a:p>
          <a:p>
            <a:pPr lvl="0" fontAlgn="base"/>
            <a:r>
              <a:rPr lang="en-US" sz="2800" dirty="0" smtClean="0"/>
              <a:t>The </a:t>
            </a:r>
            <a:r>
              <a:rPr lang="en-US" sz="2800" b="1" dirty="0"/>
              <a:t>RJ-45 or coaxial cable </a:t>
            </a:r>
            <a:r>
              <a:rPr lang="en-US" sz="2800" dirty="0"/>
              <a:t>is used in a star topology.</a:t>
            </a:r>
          </a:p>
          <a:p>
            <a:pPr lvl="0" fontAlgn="base"/>
            <a:r>
              <a:rPr lang="en-US" sz="2800" b="1" dirty="0"/>
              <a:t>E</a:t>
            </a:r>
            <a:r>
              <a:rPr lang="en-US" sz="2800" b="1" dirty="0" smtClean="0"/>
              <a:t>xamples</a:t>
            </a:r>
            <a:r>
              <a:rPr lang="en-US" sz="2800" dirty="0" smtClean="0"/>
              <a:t> </a:t>
            </a:r>
            <a:r>
              <a:rPr lang="en-US" sz="2800" dirty="0"/>
              <a:t>of star topology in real life </a:t>
            </a:r>
            <a:r>
              <a:rPr lang="en-US" sz="2800" dirty="0" smtClean="0"/>
              <a:t>like </a:t>
            </a:r>
            <a:r>
              <a:rPr lang="en-US" sz="2800" b="1" dirty="0" smtClean="0"/>
              <a:t>Airports</a:t>
            </a:r>
            <a:r>
              <a:rPr lang="en-US" sz="2800" b="1" dirty="0"/>
              <a:t>, Hospitals, Banks, and Educational Institutes</a:t>
            </a:r>
            <a:r>
              <a:rPr lang="en-US" sz="2800" b="1" dirty="0" smtClean="0"/>
              <a:t>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90760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6479" y="979056"/>
            <a:ext cx="7729728" cy="840508"/>
          </a:xfrm>
        </p:spPr>
        <p:txBody>
          <a:bodyPr/>
          <a:lstStyle/>
          <a:p>
            <a:r>
              <a:rPr lang="en-US" b="1" dirty="0" smtClean="0"/>
              <a:t>Hybrid topology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1344" y="2124363"/>
            <a:ext cx="9339998" cy="3980872"/>
          </a:xfrm>
        </p:spPr>
        <p:txBody>
          <a:bodyPr>
            <a:noAutofit/>
          </a:bodyPr>
          <a:lstStyle/>
          <a:p>
            <a:r>
              <a:rPr lang="en-US" sz="2800" dirty="0"/>
              <a:t>Hybrid topology is a kind of network topology that is a </a:t>
            </a:r>
            <a:r>
              <a:rPr lang="en-US" sz="2800" b="1" dirty="0"/>
              <a:t>combination of two or more network topologies</a:t>
            </a:r>
            <a:r>
              <a:rPr lang="en-US" sz="2800" dirty="0"/>
              <a:t>, such as bus topology, mesh topology, ring topology, star </a:t>
            </a:r>
            <a:r>
              <a:rPr lang="en-US" sz="2800" dirty="0" smtClean="0"/>
              <a:t>topology</a:t>
            </a:r>
            <a:r>
              <a:rPr lang="en-US" sz="2800" dirty="0"/>
              <a:t>.</a:t>
            </a:r>
          </a:p>
          <a:p>
            <a:r>
              <a:rPr lang="en-US" sz="2800" b="1" dirty="0"/>
              <a:t>Error detecting and troubleshooting </a:t>
            </a:r>
            <a:r>
              <a:rPr lang="en-US" sz="2800" dirty="0"/>
              <a:t>are easy.</a:t>
            </a:r>
          </a:p>
          <a:p>
            <a:r>
              <a:rPr lang="en-US" sz="2800" dirty="0"/>
              <a:t>It is used to create </a:t>
            </a:r>
            <a:r>
              <a:rPr lang="en-US" sz="2800" b="1" dirty="0"/>
              <a:t>large </a:t>
            </a:r>
            <a:r>
              <a:rPr lang="en-US" sz="2800" b="1" dirty="0" smtClean="0"/>
              <a:t>networks </a:t>
            </a:r>
            <a:r>
              <a:rPr lang="en-US" sz="2800" dirty="0" smtClean="0"/>
              <a:t>and </a:t>
            </a:r>
            <a:r>
              <a:rPr lang="en-US" sz="2800" dirty="0"/>
              <a:t>It is </a:t>
            </a:r>
            <a:r>
              <a:rPr lang="en-US" sz="2800" b="1" dirty="0" smtClean="0"/>
              <a:t>expensive</a:t>
            </a:r>
            <a:r>
              <a:rPr lang="en-US" sz="2800" dirty="0" smtClean="0"/>
              <a:t>.</a:t>
            </a:r>
            <a:endParaRPr lang="en-US" sz="2800" dirty="0"/>
          </a:p>
          <a:p>
            <a:pPr lvl="0"/>
            <a:r>
              <a:rPr lang="en-US" sz="2800" dirty="0"/>
              <a:t>The </a:t>
            </a:r>
            <a:r>
              <a:rPr lang="en-US" sz="2800" b="1" dirty="0"/>
              <a:t>speed of the topology </a:t>
            </a:r>
            <a:r>
              <a:rPr lang="en-US" sz="2800" dirty="0"/>
              <a:t>becomes </a:t>
            </a:r>
            <a:r>
              <a:rPr lang="en-US" sz="2800" b="1" dirty="0"/>
              <a:t>fast</a:t>
            </a:r>
            <a:r>
              <a:rPr lang="en-US" sz="2800" dirty="0"/>
              <a:t> when two topologies are put together</a:t>
            </a:r>
            <a:r>
              <a:rPr lang="en-US" sz="2800" dirty="0" smtClean="0"/>
              <a:t>.</a:t>
            </a:r>
            <a:endParaRPr lang="en-US" sz="2800" dirty="0"/>
          </a:p>
          <a:p>
            <a:pPr lvl="0" fontAlgn="base"/>
            <a:r>
              <a:rPr lang="en-US" sz="2800" dirty="0"/>
              <a:t>The design of a hybrid network is </a:t>
            </a:r>
            <a:r>
              <a:rPr lang="en-US" sz="2800" b="1" dirty="0"/>
              <a:t>very complex</a:t>
            </a:r>
            <a:r>
              <a:rPr lang="en-US" sz="2800" b="1" dirty="0" smtClean="0"/>
              <a:t>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114339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5" y="890801"/>
            <a:ext cx="7729728" cy="762508"/>
          </a:xfrm>
        </p:spPr>
        <p:txBody>
          <a:bodyPr/>
          <a:lstStyle/>
          <a:p>
            <a:r>
              <a:rPr lang="en-US" b="1" dirty="0" err="1" smtClean="0"/>
              <a:t>Ip</a:t>
            </a:r>
            <a:r>
              <a:rPr lang="en-US" b="1" dirty="0" smtClean="0"/>
              <a:t> address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9639" y="1902691"/>
            <a:ext cx="9212719" cy="4451927"/>
          </a:xfrm>
        </p:spPr>
        <p:txBody>
          <a:bodyPr>
            <a:normAutofit/>
          </a:bodyPr>
          <a:lstStyle/>
          <a:p>
            <a:r>
              <a:rPr lang="en-US" sz="2800" dirty="0"/>
              <a:t>IP address is a </a:t>
            </a:r>
            <a:r>
              <a:rPr lang="en-US" sz="2800" b="1" dirty="0"/>
              <a:t>unique address </a:t>
            </a:r>
            <a:r>
              <a:rPr lang="en-US" sz="2800" dirty="0"/>
              <a:t>that is used to identify computers or nodes on the internet. </a:t>
            </a:r>
            <a:endParaRPr lang="en-US" sz="2800" dirty="0" smtClean="0"/>
          </a:p>
          <a:p>
            <a:r>
              <a:rPr lang="en-US" sz="2800" dirty="0" smtClean="0"/>
              <a:t>This </a:t>
            </a:r>
            <a:r>
              <a:rPr lang="en-US" sz="2800" dirty="0"/>
              <a:t>address is assigned by  </a:t>
            </a:r>
            <a:r>
              <a:rPr lang="en-US" sz="2800" b="1" dirty="0"/>
              <a:t>Internet Assigned Numbers Authority </a:t>
            </a:r>
            <a:r>
              <a:rPr lang="en-US" sz="2800" dirty="0"/>
              <a:t>(IANA</a:t>
            </a:r>
            <a:r>
              <a:rPr lang="en-US" sz="2800" dirty="0" smtClean="0"/>
              <a:t>) standard organization.</a:t>
            </a:r>
          </a:p>
          <a:p>
            <a:pPr marL="0" indent="0">
              <a:buNone/>
            </a:pPr>
            <a:r>
              <a:rPr lang="en-US" sz="2800" b="1" dirty="0" smtClean="0"/>
              <a:t>IPv4:</a:t>
            </a:r>
            <a:r>
              <a:rPr lang="en-US" sz="3600" b="1" dirty="0"/>
              <a:t> </a:t>
            </a:r>
            <a:r>
              <a:rPr lang="en-US" sz="3200" dirty="0" smtClean="0"/>
              <a:t>[</a:t>
            </a:r>
            <a:r>
              <a:rPr lang="en-US" sz="2800" dirty="0" smtClean="0"/>
              <a:t>Internet </a:t>
            </a:r>
            <a:r>
              <a:rPr lang="en-US" sz="2800" dirty="0"/>
              <a:t>Protocol version 4. </a:t>
            </a:r>
            <a:r>
              <a:rPr lang="en-US" sz="2800" dirty="0" smtClean="0"/>
              <a:t>(famous - 2006 )]</a:t>
            </a:r>
          </a:p>
          <a:p>
            <a:pPr lvl="4"/>
            <a:r>
              <a:rPr lang="en-US" sz="2800" dirty="0" smtClean="0"/>
              <a:t>It </a:t>
            </a:r>
            <a:r>
              <a:rPr lang="en-US" sz="2800" dirty="0"/>
              <a:t>consists of </a:t>
            </a:r>
            <a:r>
              <a:rPr lang="en-US" sz="2800" b="1" dirty="0"/>
              <a:t>4 numbers </a:t>
            </a:r>
            <a:r>
              <a:rPr lang="en-US" sz="2800" dirty="0"/>
              <a:t>separated by the dots. </a:t>
            </a:r>
            <a:endParaRPr lang="en-US" sz="2800" dirty="0" smtClean="0"/>
          </a:p>
          <a:p>
            <a:pPr lvl="4"/>
            <a:r>
              <a:rPr lang="en-US" sz="2800" dirty="0" smtClean="0"/>
              <a:t>Each </a:t>
            </a:r>
            <a:r>
              <a:rPr lang="en-US" sz="2800" dirty="0"/>
              <a:t>number can be from </a:t>
            </a:r>
            <a:r>
              <a:rPr lang="en-US" sz="2800" b="1" dirty="0"/>
              <a:t>0-255</a:t>
            </a:r>
            <a:r>
              <a:rPr lang="en-US" sz="2800" dirty="0"/>
              <a:t> in decimal numbers. </a:t>
            </a:r>
          </a:p>
          <a:p>
            <a:pPr marL="914400" lvl="4" indent="0">
              <a:buNone/>
            </a:pPr>
            <a:r>
              <a:rPr lang="en-US" sz="2800" b="1" dirty="0" smtClean="0"/>
              <a:t>   Example</a:t>
            </a:r>
            <a:r>
              <a:rPr lang="en-US" sz="2800" i="1" dirty="0" smtClean="0"/>
              <a:t>:  189.123.123.90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196382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0299" y="669128"/>
            <a:ext cx="7729728" cy="799453"/>
          </a:xfrm>
        </p:spPr>
        <p:txBody>
          <a:bodyPr/>
          <a:lstStyle/>
          <a:p>
            <a:r>
              <a:rPr lang="en-US" b="1" dirty="0" smtClean="0"/>
              <a:t>Classes of IP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9344" y="1699491"/>
            <a:ext cx="9633527" cy="4221017"/>
          </a:xfrm>
        </p:spPr>
        <p:txBody>
          <a:bodyPr>
            <a:normAutofit/>
          </a:bodyPr>
          <a:lstStyle/>
          <a:p>
            <a:r>
              <a:rPr lang="en-US" sz="2400" dirty="0"/>
              <a:t>There are around </a:t>
            </a:r>
            <a:r>
              <a:rPr lang="en-US" sz="2400" b="1" dirty="0"/>
              <a:t>4.3 billion IPv4 </a:t>
            </a:r>
            <a:r>
              <a:rPr lang="en-US" sz="2400" dirty="0"/>
              <a:t>addresses and managing all those addresses without any scheme is next to </a:t>
            </a:r>
            <a:r>
              <a:rPr lang="en-US" sz="2400" dirty="0" smtClean="0"/>
              <a:t>impossible.</a:t>
            </a:r>
          </a:p>
          <a:p>
            <a:r>
              <a:rPr lang="en-US" sz="2400" dirty="0"/>
              <a:t>For </a:t>
            </a:r>
            <a:r>
              <a:rPr lang="en-US" sz="2400" b="1" dirty="0"/>
              <a:t>easier management </a:t>
            </a:r>
            <a:r>
              <a:rPr lang="en-US" sz="2400" dirty="0"/>
              <a:t>and assignment IP addresses </a:t>
            </a:r>
            <a:r>
              <a:rPr lang="en-US" sz="2400" dirty="0" smtClean="0"/>
              <a:t>are divided </a:t>
            </a:r>
            <a:r>
              <a:rPr lang="en-US" sz="2400" dirty="0"/>
              <a:t>into the following 5 classes </a:t>
            </a:r>
            <a:r>
              <a:rPr lang="en-US" sz="2400" dirty="0" smtClean="0"/>
              <a:t>:</a:t>
            </a:r>
          </a:p>
          <a:p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570134"/>
              </p:ext>
            </p:extLst>
          </p:nvPr>
        </p:nvGraphicFramePr>
        <p:xfrm>
          <a:off x="1939635" y="3435928"/>
          <a:ext cx="8321964" cy="3271520"/>
        </p:xfrm>
        <a:graphic>
          <a:graphicData uri="http://schemas.openxmlformats.org/drawingml/2006/table">
            <a:tbl>
              <a:tblPr/>
              <a:tblGrid>
                <a:gridCol w="2773988">
                  <a:extLst>
                    <a:ext uri="{9D8B030D-6E8A-4147-A177-3AD203B41FA5}">
                      <a16:colId xmlns:a16="http://schemas.microsoft.com/office/drawing/2014/main" val="1198114952"/>
                    </a:ext>
                  </a:extLst>
                </a:gridCol>
                <a:gridCol w="2773988">
                  <a:extLst>
                    <a:ext uri="{9D8B030D-6E8A-4147-A177-3AD203B41FA5}">
                      <a16:colId xmlns:a16="http://schemas.microsoft.com/office/drawing/2014/main" val="1230096270"/>
                    </a:ext>
                  </a:extLst>
                </a:gridCol>
                <a:gridCol w="2773988">
                  <a:extLst>
                    <a:ext uri="{9D8B030D-6E8A-4147-A177-3AD203B41FA5}">
                      <a16:colId xmlns:a16="http://schemas.microsoft.com/office/drawing/2014/main" val="1401336858"/>
                    </a:ext>
                  </a:extLst>
                </a:gridCol>
              </a:tblGrid>
              <a:tr h="673384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</a:rPr>
                        <a:t>IP Class</a:t>
                      </a:r>
                    </a:p>
                  </a:txBody>
                  <a:tcPr marL="38100" marR="381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</a:rPr>
                        <a:t>Address Range</a:t>
                      </a:r>
                    </a:p>
                  </a:txBody>
                  <a:tcPr marL="63500" marR="635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Maximum number of networks</a:t>
                      </a:r>
                    </a:p>
                  </a:txBody>
                  <a:tcPr marL="63500" marR="635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174759"/>
                  </a:ext>
                </a:extLst>
              </a:tr>
              <a:tr h="4478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Class A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1-126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solidFill>
                            <a:schemeClr val="bg1"/>
                          </a:solidFill>
                          <a:effectLst/>
                        </a:rPr>
                        <a:t>2097152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309122"/>
                  </a:ext>
                </a:extLst>
              </a:tr>
              <a:tr h="4478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solidFill>
                            <a:schemeClr val="bg1"/>
                          </a:solidFill>
                          <a:effectLst/>
                        </a:rPr>
                        <a:t>Class B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 smtClean="0">
                          <a:solidFill>
                            <a:schemeClr val="bg1"/>
                          </a:solidFill>
                          <a:effectLst/>
                        </a:rPr>
                        <a:t>127-191</a:t>
                      </a:r>
                      <a:endParaRPr lang="en-US" sz="18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 smtClean="0">
                          <a:solidFill>
                            <a:schemeClr val="bg1"/>
                          </a:solidFill>
                          <a:effectLst/>
                        </a:rPr>
                        <a:t>65536</a:t>
                      </a:r>
                      <a:endParaRPr lang="en-US" sz="18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17916"/>
                  </a:ext>
                </a:extLst>
              </a:tr>
              <a:tr h="4478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solidFill>
                            <a:schemeClr val="bg1"/>
                          </a:solidFill>
                          <a:effectLst/>
                        </a:rPr>
                        <a:t>Class C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192-223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 smtClean="0">
                          <a:solidFill>
                            <a:schemeClr val="bg1"/>
                          </a:solidFill>
                          <a:effectLst/>
                        </a:rPr>
                        <a:t>256</a:t>
                      </a:r>
                      <a:endParaRPr lang="en-US" sz="18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74411"/>
                  </a:ext>
                </a:extLst>
              </a:tr>
              <a:tr h="4478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solidFill>
                            <a:schemeClr val="bg1"/>
                          </a:solidFill>
                          <a:effectLst/>
                        </a:rPr>
                        <a:t>Class D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224-239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Reserve for multitasking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315660"/>
                  </a:ext>
                </a:extLst>
              </a:tr>
              <a:tr h="6795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solidFill>
                            <a:schemeClr val="bg1"/>
                          </a:solidFill>
                          <a:effectLst/>
                        </a:rPr>
                        <a:t>Class E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 smtClean="0">
                          <a:solidFill>
                            <a:schemeClr val="bg1"/>
                          </a:solidFill>
                          <a:effectLst/>
                        </a:rPr>
                        <a:t>240-255</a:t>
                      </a:r>
                      <a:endParaRPr lang="en-US" sz="18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solidFill>
                            <a:schemeClr val="bg1"/>
                          </a:solidFill>
                          <a:effectLst/>
                        </a:rPr>
                        <a:t>Reserved for Research and development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890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762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hat is a private and public IP address?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736" y="554183"/>
            <a:ext cx="9850528" cy="594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9" y="4344699"/>
            <a:ext cx="4091710" cy="19775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300" y="4344699"/>
            <a:ext cx="4631027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6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8008" y="816909"/>
            <a:ext cx="7729728" cy="836399"/>
          </a:xfrm>
        </p:spPr>
        <p:txBody>
          <a:bodyPr/>
          <a:lstStyle/>
          <a:p>
            <a:r>
              <a:rPr lang="en-US" b="1" dirty="0" smtClean="0"/>
              <a:t>IPv6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8841" y="1856508"/>
            <a:ext cx="9441596" cy="4341092"/>
          </a:xfrm>
        </p:spPr>
        <p:txBody>
          <a:bodyPr>
            <a:noAutofit/>
          </a:bodyPr>
          <a:lstStyle/>
          <a:p>
            <a:r>
              <a:rPr lang="en-US" sz="2800" dirty="0"/>
              <a:t>With </a:t>
            </a:r>
            <a:r>
              <a:rPr lang="en-US" sz="2800" b="1" dirty="0"/>
              <a:t>IPv4, we can connect </a:t>
            </a:r>
            <a:r>
              <a:rPr lang="en-US" sz="2800" dirty="0"/>
              <a:t>only the above number of </a:t>
            </a:r>
            <a:r>
              <a:rPr lang="en-US" sz="2800" b="1" dirty="0"/>
              <a:t>4 billion devices </a:t>
            </a:r>
            <a:r>
              <a:rPr lang="en-US" sz="2800" dirty="0"/>
              <a:t>uniquely, and apparently, there are much more devices in the world to be connected to the internet. </a:t>
            </a:r>
            <a:endParaRPr lang="en-US" sz="2800" dirty="0" smtClean="0"/>
          </a:p>
          <a:p>
            <a:r>
              <a:rPr lang="en-US" sz="2800" dirty="0" smtClean="0"/>
              <a:t>So</a:t>
            </a:r>
            <a:r>
              <a:rPr lang="en-US" sz="2800" dirty="0"/>
              <a:t>, gradually we are making our way to </a:t>
            </a:r>
            <a:r>
              <a:rPr lang="en-US" sz="2800" b="1" dirty="0"/>
              <a:t>IPv6 Address </a:t>
            </a:r>
            <a:r>
              <a:rPr lang="en-US" sz="2800" dirty="0"/>
              <a:t>which is a </a:t>
            </a:r>
            <a:r>
              <a:rPr lang="en-US" sz="2800" b="1" dirty="0"/>
              <a:t>128-bit IP address. </a:t>
            </a:r>
            <a:endParaRPr lang="en-US" sz="2800" b="1" dirty="0" smtClean="0"/>
          </a:p>
          <a:p>
            <a:r>
              <a:rPr lang="en-US" sz="2800" dirty="0" smtClean="0"/>
              <a:t>In </a:t>
            </a:r>
            <a:r>
              <a:rPr lang="en-US" sz="2800" dirty="0"/>
              <a:t>human-friendly form, IPv6 is written as a group of </a:t>
            </a:r>
            <a:r>
              <a:rPr lang="en-US" sz="2800" b="1" dirty="0"/>
              <a:t>8 hexadecimal numbers separated with colons(:). </a:t>
            </a:r>
            <a:endParaRPr lang="en-US" sz="2800" b="1" dirty="0" smtClean="0"/>
          </a:p>
          <a:p>
            <a:pPr marL="0" indent="0">
              <a:buNone/>
            </a:pPr>
            <a:r>
              <a:rPr lang="en-US" sz="2800" b="1" dirty="0" smtClean="0"/>
              <a:t>  Example:  </a:t>
            </a:r>
            <a:r>
              <a:rPr lang="en-US" sz="2800" dirty="0" smtClean="0"/>
              <a:t>	</a:t>
            </a:r>
          </a:p>
          <a:p>
            <a:pPr marL="0" indent="0">
              <a:buNone/>
            </a:pPr>
            <a:r>
              <a:rPr lang="en-US" sz="2800" i="1" dirty="0"/>
              <a:t>	</a:t>
            </a:r>
            <a:r>
              <a:rPr lang="en-US" sz="2800" i="1" dirty="0" smtClean="0"/>
              <a:t>	2011:0bd9:75c5:0000:0000:6b3e:0170:8394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9472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9536" y="669128"/>
            <a:ext cx="7729728" cy="734799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Subnetting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6622" y="1644073"/>
            <a:ext cx="8815555" cy="167178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When a bigger network is divided into smaller networks, to maintain security, then that is known as </a:t>
            </a:r>
            <a:r>
              <a:rPr lang="en-US" sz="2400" dirty="0" err="1"/>
              <a:t>Subnetting</a:t>
            </a:r>
            <a:r>
              <a:rPr lang="en-US" sz="2400" dirty="0" smtClean="0"/>
              <a:t>.</a:t>
            </a:r>
          </a:p>
          <a:p>
            <a:r>
              <a:rPr lang="en-US" sz="2400" dirty="0" err="1"/>
              <a:t>Subnetting</a:t>
            </a:r>
            <a:r>
              <a:rPr lang="en-US" sz="2400" dirty="0"/>
              <a:t> helps in organizing the network in an efficient way which helps in expanding the technology for large firms and companies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5124" name="Picture 4" descr="Subnet Mask Explained - Network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284" y="3315855"/>
            <a:ext cx="5358534" cy="3339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601527" y="3463637"/>
            <a:ext cx="32789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A </a:t>
            </a:r>
            <a:r>
              <a:rPr lang="en-US" sz="2000" b="1" dirty="0" smtClean="0">
                <a:sym typeface="Wingdings" panose="05000000000000000000" pitchFamily="2" charset="2"/>
              </a:rPr>
              <a:t> 10.0.0.0 / 8</a:t>
            </a:r>
          </a:p>
          <a:p>
            <a:r>
              <a:rPr lang="en-US" sz="2000" b="1" dirty="0" smtClean="0">
                <a:sym typeface="Wingdings" panose="05000000000000000000" pitchFamily="2" charset="2"/>
              </a:rPr>
              <a:t>Here, / 8 means </a:t>
            </a:r>
            <a:r>
              <a:rPr lang="en-US" sz="2000" b="1" dirty="0" err="1" smtClean="0">
                <a:sym typeface="Wingdings" panose="05000000000000000000" pitchFamily="2" charset="2"/>
              </a:rPr>
              <a:t>no.of</a:t>
            </a:r>
            <a:r>
              <a:rPr lang="en-US" sz="2000" b="1" dirty="0" smtClean="0">
                <a:sym typeface="Wingdings" panose="05000000000000000000" pitchFamily="2" charset="2"/>
              </a:rPr>
              <a:t> 1’s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601527" y="5758873"/>
            <a:ext cx="32789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ym typeface="Wingdings" panose="05000000000000000000" pitchFamily="2" charset="2"/>
              </a:rPr>
              <a:t>C   192.168.0.0 / 24</a:t>
            </a:r>
          </a:p>
          <a:p>
            <a:r>
              <a:rPr lang="en-US" sz="2000" b="1" dirty="0" smtClean="0">
                <a:sym typeface="Wingdings" panose="05000000000000000000" pitchFamily="2" charset="2"/>
              </a:rPr>
              <a:t>Here, / 24 means </a:t>
            </a:r>
            <a:r>
              <a:rPr lang="en-US" sz="2000" b="1" dirty="0" err="1" smtClean="0">
                <a:sym typeface="Wingdings" panose="05000000000000000000" pitchFamily="2" charset="2"/>
              </a:rPr>
              <a:t>no.of</a:t>
            </a:r>
            <a:r>
              <a:rPr lang="en-US" sz="2000" b="1" dirty="0" smtClean="0">
                <a:sym typeface="Wingdings" panose="05000000000000000000" pitchFamily="2" charset="2"/>
              </a:rPr>
              <a:t> 1’s</a:t>
            </a:r>
            <a:endParaRPr 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601526" y="4631738"/>
            <a:ext cx="32789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  <a:r>
              <a:rPr lang="en-US" sz="2000" b="1" dirty="0" smtClean="0"/>
              <a:t> </a:t>
            </a:r>
            <a:r>
              <a:rPr lang="en-US" sz="2000" b="1" dirty="0" smtClean="0">
                <a:sym typeface="Wingdings" panose="05000000000000000000" pitchFamily="2" charset="2"/>
              </a:rPr>
              <a:t> 176.16.0.0 / 16</a:t>
            </a:r>
          </a:p>
          <a:p>
            <a:r>
              <a:rPr lang="en-US" sz="2000" b="1" dirty="0" smtClean="0">
                <a:sym typeface="Wingdings" panose="05000000000000000000" pitchFamily="2" charset="2"/>
              </a:rPr>
              <a:t>Here, / 16 means </a:t>
            </a:r>
            <a:r>
              <a:rPr lang="en-US" sz="2000" b="1" dirty="0" err="1" smtClean="0">
                <a:sym typeface="Wingdings" panose="05000000000000000000" pitchFamily="2" charset="2"/>
              </a:rPr>
              <a:t>no.of</a:t>
            </a:r>
            <a:r>
              <a:rPr lang="en-US" sz="2000" b="1" dirty="0" smtClean="0">
                <a:sym typeface="Wingdings" panose="05000000000000000000" pitchFamily="2" charset="2"/>
              </a:rPr>
              <a:t> 1’s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4103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798437"/>
            <a:ext cx="7729728" cy="70709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Subnet of Class C </a:t>
            </a:r>
            <a:endParaRPr lang="en-US" b="1" dirty="0"/>
          </a:p>
        </p:txBody>
      </p:sp>
      <p:pic>
        <p:nvPicPr>
          <p:cNvPr id="1026" name="Picture 2" descr="AWS Networking (VPCs, Subnets, CIDR) and Terraform Integration | by Kevon  Mayers | Mediu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965" y="1697079"/>
            <a:ext cx="10095344" cy="486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049818" y="3519055"/>
            <a:ext cx="304800" cy="230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66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743019"/>
            <a:ext cx="7729728" cy="836399"/>
          </a:xfrm>
        </p:spPr>
        <p:txBody>
          <a:bodyPr/>
          <a:lstStyle/>
          <a:p>
            <a:r>
              <a:rPr lang="en-US" b="1" dirty="0" smtClean="0"/>
              <a:t>Subnet of class B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78" y="2036762"/>
            <a:ext cx="980122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3759" y="772188"/>
            <a:ext cx="7729728" cy="825607"/>
          </a:xfrm>
        </p:spPr>
        <p:txBody>
          <a:bodyPr/>
          <a:lstStyle/>
          <a:p>
            <a:r>
              <a:rPr lang="en-US" b="1" dirty="0" smtClean="0"/>
              <a:t>Subnet of class A</a:t>
            </a:r>
            <a:endParaRPr lang="en-US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2074" y="2109522"/>
            <a:ext cx="9733097" cy="389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90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1112474"/>
            <a:ext cx="7729728" cy="827163"/>
          </a:xfrm>
        </p:spPr>
        <p:txBody>
          <a:bodyPr/>
          <a:lstStyle/>
          <a:p>
            <a:r>
              <a:rPr lang="en-US" b="1" dirty="0" smtClean="0"/>
              <a:t>Network devices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6586" y="2225964"/>
            <a:ext cx="9138828" cy="4073237"/>
          </a:xfrm>
        </p:spPr>
        <p:txBody>
          <a:bodyPr>
            <a:normAutofit/>
          </a:bodyPr>
          <a:lstStyle/>
          <a:p>
            <a:r>
              <a:rPr lang="en-US" sz="2400" dirty="0"/>
              <a:t> </a:t>
            </a:r>
            <a:r>
              <a:rPr lang="en-US" sz="2800" dirty="0"/>
              <a:t>Network devices, also known as networking hardware, are physical devices that allow hardware on a computer network to communicate and interact with one another. </a:t>
            </a:r>
            <a:endParaRPr lang="en-US" sz="2800" dirty="0" smtClean="0"/>
          </a:p>
          <a:p>
            <a:pPr marL="0" indent="0">
              <a:buNone/>
            </a:pPr>
            <a:r>
              <a:rPr lang="en-US" sz="2400" b="1" dirty="0" smtClean="0"/>
              <a:t>   </a:t>
            </a:r>
            <a:r>
              <a:rPr lang="en-US" sz="2800" b="1" dirty="0" smtClean="0"/>
              <a:t>Example </a:t>
            </a:r>
          </a:p>
          <a:p>
            <a:pPr marL="1654175" lvl="8" indent="0">
              <a:buNone/>
            </a:pPr>
            <a:r>
              <a:rPr lang="en-US" sz="3000" dirty="0" smtClean="0"/>
              <a:t>	Repeater			Hub</a:t>
            </a:r>
          </a:p>
          <a:p>
            <a:pPr marL="1654175" lvl="8" indent="0">
              <a:buNone/>
            </a:pPr>
            <a:r>
              <a:rPr lang="en-US" sz="3000" dirty="0" smtClean="0"/>
              <a:t>	Bridge			Switch</a:t>
            </a:r>
          </a:p>
          <a:p>
            <a:pPr marL="1654175" lvl="8" indent="0">
              <a:buNone/>
            </a:pPr>
            <a:r>
              <a:rPr lang="en-US" sz="3000" dirty="0" smtClean="0"/>
              <a:t>	Routers			NIC</a:t>
            </a:r>
            <a:r>
              <a:rPr lang="en-US" sz="3000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88183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364" y="628072"/>
            <a:ext cx="9531925" cy="5902037"/>
          </a:xfrm>
        </p:spPr>
        <p:txBody>
          <a:bodyPr>
            <a:normAutofit/>
          </a:bodyPr>
          <a:lstStyle/>
          <a:p>
            <a:pPr marL="228600" lvl="1" indent="0" fontAlgn="base">
              <a:buNone/>
            </a:pPr>
            <a:r>
              <a:rPr lang="en-US" sz="2800" b="1" dirty="0" smtClean="0"/>
              <a:t>Repeater:</a:t>
            </a:r>
          </a:p>
          <a:p>
            <a:pPr lvl="3" fontAlgn="base"/>
            <a:r>
              <a:rPr lang="en-US" sz="2400" dirty="0"/>
              <a:t>A repeater operates at the physical layer. </a:t>
            </a:r>
          </a:p>
          <a:p>
            <a:pPr lvl="3" fontAlgn="base"/>
            <a:r>
              <a:rPr lang="en-US" sz="2400" dirty="0"/>
              <a:t>Its job is to </a:t>
            </a:r>
            <a:r>
              <a:rPr lang="en-US" sz="2400" b="1" dirty="0"/>
              <a:t>regenerate the signal over the same network </a:t>
            </a:r>
            <a:r>
              <a:rPr lang="en-US" sz="2400" dirty="0"/>
              <a:t>before the signal becomes too weak or corrupted to extend the length to which the signal can be transmitted over the same network. </a:t>
            </a:r>
            <a:endParaRPr lang="en-US" sz="2400" b="1" dirty="0" smtClean="0"/>
          </a:p>
          <a:p>
            <a:pPr marL="228600" lvl="1" indent="0" fontAlgn="base">
              <a:buNone/>
            </a:pPr>
            <a:r>
              <a:rPr lang="en-US" sz="2800" b="1" dirty="0" smtClean="0"/>
              <a:t>Hub:</a:t>
            </a:r>
          </a:p>
          <a:p>
            <a:pPr lvl="3" fontAlgn="base"/>
            <a:r>
              <a:rPr lang="en-US" sz="2400" dirty="0"/>
              <a:t>A hub is a </a:t>
            </a:r>
            <a:r>
              <a:rPr lang="en-US" sz="2400" b="1" dirty="0"/>
              <a:t>basically multi-port </a:t>
            </a:r>
            <a:r>
              <a:rPr lang="en-US" sz="2400" dirty="0"/>
              <a:t>repeater. </a:t>
            </a:r>
            <a:endParaRPr lang="en-US" sz="2400" dirty="0" smtClean="0"/>
          </a:p>
          <a:p>
            <a:pPr lvl="3" fontAlgn="base"/>
            <a:r>
              <a:rPr lang="en-US" sz="2400" dirty="0" smtClean="0"/>
              <a:t>A </a:t>
            </a:r>
            <a:r>
              <a:rPr lang="en-US" sz="2400" dirty="0"/>
              <a:t>hub connects multiple wires coming from different </a:t>
            </a:r>
            <a:r>
              <a:rPr lang="en-US" sz="2400" dirty="0" smtClean="0"/>
              <a:t>branches.</a:t>
            </a:r>
          </a:p>
          <a:p>
            <a:pPr marL="1143000" lvl="3" indent="-457200" fontAlgn="base">
              <a:buFont typeface="+mj-lt"/>
              <a:buAutoNum type="arabicPeriod"/>
            </a:pPr>
            <a:r>
              <a:rPr lang="en-US" sz="2400" b="1" dirty="0" smtClean="0"/>
              <a:t>Active Hub: </a:t>
            </a:r>
            <a:r>
              <a:rPr lang="en-US" sz="2400" dirty="0" smtClean="0"/>
              <a:t>These </a:t>
            </a:r>
            <a:r>
              <a:rPr lang="en-US" sz="2400" dirty="0"/>
              <a:t>are the hubs that have their power supply and can clean, boost, and relay the signal along with the network</a:t>
            </a:r>
            <a:r>
              <a:rPr lang="en-US" sz="2400" dirty="0" smtClean="0"/>
              <a:t>.</a:t>
            </a:r>
          </a:p>
          <a:p>
            <a:pPr marL="1143000" lvl="3" indent="-457200" fontAlgn="base">
              <a:buFont typeface="+mj-lt"/>
              <a:buAutoNum type="arabicPeriod"/>
            </a:pPr>
            <a:r>
              <a:rPr lang="en-US" sz="2400" b="1" dirty="0" smtClean="0"/>
              <a:t>Passive Hub: </a:t>
            </a:r>
            <a:r>
              <a:rPr lang="en-US" sz="2400" dirty="0"/>
              <a:t>These are the hubs that collect wiring from nodes and </a:t>
            </a:r>
            <a:r>
              <a:rPr lang="en-US" sz="2400" b="1" dirty="0"/>
              <a:t>power supply from the active hub</a:t>
            </a:r>
            <a:r>
              <a:rPr lang="en-US" sz="2400" dirty="0"/>
              <a:t>.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53754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728" y="757380"/>
            <a:ext cx="9772072" cy="57080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 smtClean="0"/>
              <a:t>Bridge:</a:t>
            </a:r>
          </a:p>
          <a:p>
            <a:pPr lvl="3"/>
            <a:r>
              <a:rPr lang="en-US" sz="2400" dirty="0"/>
              <a:t>A bridge operates at the </a:t>
            </a:r>
            <a:r>
              <a:rPr lang="en-US" sz="2400" b="1" dirty="0"/>
              <a:t>data link layer</a:t>
            </a:r>
            <a:r>
              <a:rPr lang="en-US" sz="2400" dirty="0"/>
              <a:t>.  </a:t>
            </a:r>
          </a:p>
          <a:p>
            <a:pPr lvl="3"/>
            <a:r>
              <a:rPr lang="en-US" sz="2400" dirty="0"/>
              <a:t>A bridge is a </a:t>
            </a:r>
            <a:r>
              <a:rPr lang="en-US" sz="2400" b="1" dirty="0"/>
              <a:t>repeater</a:t>
            </a:r>
            <a:r>
              <a:rPr lang="en-US" sz="2400" dirty="0"/>
              <a:t>, with add on the functionality of </a:t>
            </a:r>
            <a:r>
              <a:rPr lang="en-US" sz="2400" b="1" dirty="0"/>
              <a:t>filtering content by reading the MAC addresses </a:t>
            </a:r>
            <a:r>
              <a:rPr lang="en-US" sz="2400" dirty="0"/>
              <a:t>of the source and destination.</a:t>
            </a:r>
          </a:p>
          <a:p>
            <a:pPr lvl="3"/>
            <a:r>
              <a:rPr lang="en-US" sz="2400" dirty="0"/>
              <a:t>It is used in Bus topology to </a:t>
            </a:r>
            <a:r>
              <a:rPr lang="en-US" sz="2400" b="1" dirty="0"/>
              <a:t>overcome collision</a:t>
            </a:r>
            <a:r>
              <a:rPr lang="en-US" sz="2400" dirty="0" smtClean="0"/>
              <a:t>.</a:t>
            </a:r>
            <a:endParaRPr lang="en-US" sz="2800" b="1" dirty="0" smtClean="0"/>
          </a:p>
          <a:p>
            <a:pPr marL="0" indent="0">
              <a:buNone/>
            </a:pPr>
            <a:r>
              <a:rPr lang="en-US" sz="2800" b="1" dirty="0" smtClean="0"/>
              <a:t>Switch:</a:t>
            </a:r>
          </a:p>
          <a:p>
            <a:pPr lvl="3"/>
            <a:r>
              <a:rPr lang="en-US" sz="2400" dirty="0"/>
              <a:t>A switch is a </a:t>
            </a:r>
            <a:r>
              <a:rPr lang="en-US" sz="2400" b="1" dirty="0"/>
              <a:t>multiport bridge </a:t>
            </a:r>
            <a:r>
              <a:rPr lang="en-US" sz="2400" dirty="0"/>
              <a:t>with a buffer and a design that can boost its </a:t>
            </a:r>
            <a:r>
              <a:rPr lang="en-US" sz="2400" dirty="0" smtClean="0"/>
              <a:t>efficiency and </a:t>
            </a:r>
            <a:r>
              <a:rPr lang="en-US" sz="2400" dirty="0"/>
              <a:t>performance. </a:t>
            </a:r>
            <a:endParaRPr lang="en-US" sz="2400" dirty="0" smtClean="0"/>
          </a:p>
          <a:p>
            <a:pPr lvl="3"/>
            <a:r>
              <a:rPr lang="en-US" sz="2400" dirty="0" smtClean="0"/>
              <a:t>The </a:t>
            </a:r>
            <a:r>
              <a:rPr lang="en-US" sz="2400" dirty="0"/>
              <a:t>switch can perform </a:t>
            </a:r>
            <a:r>
              <a:rPr lang="en-US" sz="2400" b="1" dirty="0"/>
              <a:t>error checking </a:t>
            </a:r>
            <a:r>
              <a:rPr lang="en-US" sz="2400" dirty="0"/>
              <a:t>before forwarding data, which makes it very </a:t>
            </a:r>
            <a:r>
              <a:rPr lang="en-US" sz="2400" dirty="0" smtClean="0"/>
              <a:t>efficient.</a:t>
            </a:r>
          </a:p>
          <a:p>
            <a:pPr lvl="3"/>
            <a:r>
              <a:rPr lang="en-US" sz="2400" dirty="0" smtClean="0"/>
              <a:t>In </a:t>
            </a:r>
            <a:r>
              <a:rPr lang="en-US" sz="2400" dirty="0"/>
              <a:t>other words, the </a:t>
            </a:r>
            <a:r>
              <a:rPr lang="en-US" sz="2400" b="1" dirty="0"/>
              <a:t>switch divides the collision domain of hosts</a:t>
            </a:r>
            <a:r>
              <a:rPr lang="en-US" sz="2400" dirty="0"/>
              <a:t>, but the broadcast domain remains the same</a:t>
            </a:r>
            <a:r>
              <a:rPr lang="en-US" sz="2600" dirty="0"/>
              <a:t>. </a:t>
            </a:r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20871788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127" y="646546"/>
            <a:ext cx="9716655" cy="5652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Router:</a:t>
            </a:r>
          </a:p>
          <a:p>
            <a:pPr lvl="3"/>
            <a:r>
              <a:rPr lang="en-US" sz="2400" dirty="0"/>
              <a:t>A router is a device like a switch that routes data packets based on their IP addresses. The router is mainly a </a:t>
            </a:r>
            <a:r>
              <a:rPr lang="en-US" sz="2400" b="1" dirty="0"/>
              <a:t>Network Layer device</a:t>
            </a:r>
            <a:r>
              <a:rPr lang="en-US" sz="2400" dirty="0"/>
              <a:t>. </a:t>
            </a:r>
          </a:p>
          <a:p>
            <a:pPr lvl="3"/>
            <a:r>
              <a:rPr lang="en-US" sz="2400" dirty="0"/>
              <a:t>Routers normally </a:t>
            </a:r>
            <a:r>
              <a:rPr lang="en-US" sz="2400" b="1" dirty="0"/>
              <a:t>connect LANs and WANs </a:t>
            </a:r>
            <a:r>
              <a:rPr lang="en-US" sz="2400" dirty="0"/>
              <a:t>and have a dynamically </a:t>
            </a:r>
            <a:r>
              <a:rPr lang="en-US" sz="2400" b="1" dirty="0"/>
              <a:t>updating routing table </a:t>
            </a:r>
            <a:r>
              <a:rPr lang="en-US" sz="2400" dirty="0"/>
              <a:t>based on which they make decisions on routing the data packets. </a:t>
            </a:r>
            <a:endParaRPr lang="en-US" sz="2800" b="1" dirty="0" smtClean="0"/>
          </a:p>
          <a:p>
            <a:pPr marL="0" indent="0">
              <a:buNone/>
            </a:pPr>
            <a:r>
              <a:rPr lang="en-US" sz="2800" b="1" dirty="0" smtClean="0"/>
              <a:t>Firewall:</a:t>
            </a:r>
          </a:p>
          <a:p>
            <a:pPr lvl="3"/>
            <a:r>
              <a:rPr lang="en-US" sz="2400" dirty="0" smtClean="0"/>
              <a:t>It is </a:t>
            </a:r>
            <a:r>
              <a:rPr lang="en-US" sz="2400" dirty="0"/>
              <a:t>a </a:t>
            </a:r>
            <a:r>
              <a:rPr lang="en-US" sz="2400" b="1" dirty="0"/>
              <a:t>network security device</a:t>
            </a:r>
            <a:r>
              <a:rPr lang="en-US" sz="2400" dirty="0"/>
              <a:t>, either hardware or </a:t>
            </a:r>
            <a:r>
              <a:rPr lang="en-US" sz="2400" dirty="0" smtClean="0"/>
              <a:t>software based</a:t>
            </a:r>
            <a:r>
              <a:rPr lang="en-US" sz="2400" dirty="0"/>
              <a:t>, which </a:t>
            </a:r>
            <a:r>
              <a:rPr lang="en-US" sz="2400" b="1" dirty="0"/>
              <a:t>monitors all incoming and outgoing traffic </a:t>
            </a:r>
            <a:r>
              <a:rPr lang="en-US" sz="2400" dirty="0"/>
              <a:t>and based on a defined set of </a:t>
            </a:r>
            <a:r>
              <a:rPr lang="en-US" sz="2400" b="1" dirty="0"/>
              <a:t>security rules accepts, rejects, or drops </a:t>
            </a:r>
            <a:r>
              <a:rPr lang="en-US" sz="2400" dirty="0"/>
              <a:t>that specific traffic</a:t>
            </a:r>
            <a:r>
              <a:rPr lang="en-US" sz="2400" dirty="0" smtClean="0"/>
              <a:t>.</a:t>
            </a:r>
          </a:p>
          <a:p>
            <a:pPr lvl="3"/>
            <a:r>
              <a:rPr lang="en-US" sz="2400" dirty="0"/>
              <a:t>A firewall is essentially the wall that separates a private internal network from the open Internet at its very basic level.</a:t>
            </a:r>
            <a:endParaRPr lang="en-US" sz="4800" dirty="0" smtClean="0"/>
          </a:p>
          <a:p>
            <a:pPr marL="685800" lvl="3" indent="0"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03352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494" y="1029347"/>
            <a:ext cx="8021228" cy="891818"/>
          </a:xfrm>
        </p:spPr>
        <p:txBody>
          <a:bodyPr/>
          <a:lstStyle/>
          <a:p>
            <a:r>
              <a:rPr lang="en-US" b="1" dirty="0" smtClean="0"/>
              <a:t>network </a:t>
            </a:r>
            <a:r>
              <a:rPr lang="en-US" b="1" dirty="0"/>
              <a:t>interface </a:t>
            </a:r>
            <a:r>
              <a:rPr lang="en-US" b="1" dirty="0" smtClean="0"/>
              <a:t>card[NIC]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6622" y="2299855"/>
            <a:ext cx="9018755" cy="398087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It is </a:t>
            </a:r>
            <a:r>
              <a:rPr lang="en-US" sz="2400" dirty="0"/>
              <a:t>a </a:t>
            </a:r>
            <a:r>
              <a:rPr lang="en-US" sz="2400" b="1" dirty="0"/>
              <a:t>network adapter </a:t>
            </a:r>
            <a:r>
              <a:rPr lang="en-US" sz="2400" dirty="0"/>
              <a:t>that is used to connect the computer to the network.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is installed in the computer to establish a LAN.  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has a </a:t>
            </a:r>
            <a:r>
              <a:rPr lang="en-US" sz="2400" b="1" dirty="0"/>
              <a:t>unique id </a:t>
            </a:r>
            <a:r>
              <a:rPr lang="en-US" sz="2400" dirty="0"/>
              <a:t>that is written on the chip, and it has a connector to connect the cable to it. </a:t>
            </a:r>
            <a:endParaRPr lang="en-US" sz="2400" dirty="0" smtClean="0"/>
          </a:p>
          <a:p>
            <a:r>
              <a:rPr lang="en-US" sz="2400" dirty="0" smtClean="0"/>
              <a:t>NIC </a:t>
            </a:r>
            <a:r>
              <a:rPr lang="en-US" sz="2400" dirty="0"/>
              <a:t>card is a layer 2 device which means that it works on both the </a:t>
            </a:r>
            <a:r>
              <a:rPr lang="en-US" sz="2400" b="1" dirty="0"/>
              <a:t>physical and data link layers </a:t>
            </a:r>
            <a:r>
              <a:rPr lang="en-US" sz="2400" dirty="0"/>
              <a:t>of the network model. </a:t>
            </a:r>
          </a:p>
        </p:txBody>
      </p:sp>
    </p:spTree>
    <p:extLst>
      <p:ext uri="{BB962C8B-B14F-4D97-AF65-F5344CB8AC3E}">
        <p14:creationId xmlns:p14="http://schemas.microsoft.com/office/powerpoint/2010/main" val="105157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7131" y="704810"/>
            <a:ext cx="7729728" cy="787106"/>
          </a:xfrm>
        </p:spPr>
        <p:txBody>
          <a:bodyPr/>
          <a:lstStyle/>
          <a:p>
            <a:r>
              <a:rPr lang="en-US" b="1" dirty="0" smtClean="0"/>
              <a:t>OSI model</a:t>
            </a:r>
            <a:endParaRPr lang="en-US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7967" y="1712060"/>
            <a:ext cx="9598312" cy="480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19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849189"/>
            <a:ext cx="7729728" cy="796731"/>
          </a:xfrm>
        </p:spPr>
        <p:txBody>
          <a:bodyPr/>
          <a:lstStyle/>
          <a:p>
            <a:r>
              <a:rPr lang="en-US" b="1" dirty="0" smtClean="0"/>
              <a:t>TCP / </a:t>
            </a:r>
            <a:r>
              <a:rPr lang="en-US" b="1" dirty="0" err="1" smtClean="0"/>
              <a:t>Ip</a:t>
            </a:r>
            <a:endParaRPr lang="en-US" b="1" dirty="0"/>
          </a:p>
        </p:txBody>
      </p:sp>
      <p:pic>
        <p:nvPicPr>
          <p:cNvPr id="9224" name="Picture 8" descr="Best Guide To Understand What Is TCP/IP Model | Simplilear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004" y="2003340"/>
            <a:ext cx="8835992" cy="4342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27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7749" y="966539"/>
            <a:ext cx="7729728" cy="806356"/>
          </a:xfrm>
        </p:spPr>
        <p:txBody>
          <a:bodyPr/>
          <a:lstStyle/>
          <a:p>
            <a:r>
              <a:rPr lang="en-US" b="1" dirty="0" smtClean="0"/>
              <a:t>Network Protocol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139" y="2096655"/>
            <a:ext cx="9823544" cy="4238323"/>
          </a:xfrm>
        </p:spPr>
        <p:txBody>
          <a:bodyPr>
            <a:normAutofit/>
          </a:bodyPr>
          <a:lstStyle/>
          <a:p>
            <a:r>
              <a:rPr lang="en-US" sz="2600" dirty="0" smtClean="0"/>
              <a:t>It </a:t>
            </a:r>
            <a:r>
              <a:rPr lang="en-US" sz="2600" dirty="0"/>
              <a:t>determines </a:t>
            </a:r>
            <a:r>
              <a:rPr lang="en-US" sz="2600" b="1" dirty="0"/>
              <a:t>what is being communicated, how it is being communicated, and when it is being communicated</a:t>
            </a:r>
            <a:r>
              <a:rPr lang="en-US" sz="2600" dirty="0"/>
              <a:t>. </a:t>
            </a:r>
            <a:endParaRPr lang="en-US" sz="2600" dirty="0" smtClean="0"/>
          </a:p>
          <a:p>
            <a:r>
              <a:rPr lang="en-US" sz="2600" dirty="0" smtClean="0"/>
              <a:t>It </a:t>
            </a:r>
            <a:r>
              <a:rPr lang="en-US" sz="2600" dirty="0"/>
              <a:t>permits connected </a:t>
            </a:r>
            <a:r>
              <a:rPr lang="en-US" sz="2600" b="1" dirty="0"/>
              <a:t>devices to communicate </a:t>
            </a:r>
            <a:r>
              <a:rPr lang="en-US" sz="2600" dirty="0"/>
              <a:t>with each other, irrespective of internal and structural differences</a:t>
            </a:r>
            <a:r>
              <a:rPr lang="en-US" sz="2600" dirty="0" smtClean="0"/>
              <a:t>.</a:t>
            </a:r>
          </a:p>
          <a:p>
            <a:pPr fontAlgn="base"/>
            <a:r>
              <a:rPr lang="en-US" sz="2600" dirty="0"/>
              <a:t>The protocols can be broadly classified into three major categories:</a:t>
            </a:r>
          </a:p>
          <a:p>
            <a:pPr lvl="8" fontAlgn="base"/>
            <a:r>
              <a:rPr lang="en-US" sz="2600" b="1" dirty="0"/>
              <a:t>Network Communication</a:t>
            </a:r>
          </a:p>
          <a:p>
            <a:pPr lvl="8" fontAlgn="base"/>
            <a:r>
              <a:rPr lang="en-US" sz="2600" b="1" dirty="0"/>
              <a:t>Network Management</a:t>
            </a:r>
          </a:p>
          <a:p>
            <a:pPr lvl="8" fontAlgn="base"/>
            <a:r>
              <a:rPr lang="en-US" sz="2600" b="1" dirty="0"/>
              <a:t>Network </a:t>
            </a:r>
            <a:r>
              <a:rPr lang="en-US" sz="2600" b="1" dirty="0" smtClean="0"/>
              <a:t>Security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488684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906940"/>
            <a:ext cx="7729728" cy="748605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b="1" dirty="0"/>
              <a:t>Network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639" y="1973178"/>
            <a:ext cx="9296721" cy="4475747"/>
          </a:xfrm>
        </p:spPr>
        <p:txBody>
          <a:bodyPr>
            <a:normAutofit/>
          </a:bodyPr>
          <a:lstStyle/>
          <a:p>
            <a:r>
              <a:rPr lang="en-US" sz="2400" dirty="0"/>
              <a:t>These protocols </a:t>
            </a:r>
            <a:r>
              <a:rPr lang="en-US" sz="2400" b="1" dirty="0"/>
              <a:t>formally set out the rules and formats </a:t>
            </a:r>
            <a:r>
              <a:rPr lang="en-US" sz="2400" dirty="0"/>
              <a:t>through which </a:t>
            </a:r>
            <a:r>
              <a:rPr lang="en-US" sz="2400" b="1" dirty="0"/>
              <a:t>data is transferred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These </a:t>
            </a:r>
            <a:r>
              <a:rPr lang="en-US" sz="2400" dirty="0"/>
              <a:t>protocols handle </a:t>
            </a:r>
            <a:r>
              <a:rPr lang="en-US" sz="2400" b="1" dirty="0"/>
              <a:t>syntax, semantics, error detection, synchronization, and authentication</a:t>
            </a:r>
            <a:r>
              <a:rPr lang="en-US" sz="2400" dirty="0" smtClean="0"/>
              <a:t>.</a:t>
            </a:r>
          </a:p>
          <a:p>
            <a:pPr marL="0" indent="0" fontAlgn="base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Hypertext Transfer Protocol(HTTP)</a:t>
            </a:r>
          </a:p>
          <a:p>
            <a:pPr fontAlgn="base"/>
            <a:r>
              <a:rPr lang="en-US" sz="2400" dirty="0"/>
              <a:t>It is </a:t>
            </a:r>
            <a:r>
              <a:rPr lang="en-US" sz="2400" b="1" dirty="0"/>
              <a:t>a layer 7 protoco</a:t>
            </a:r>
            <a:r>
              <a:rPr lang="en-US" sz="2400" dirty="0"/>
              <a:t>l that is designed for </a:t>
            </a:r>
            <a:r>
              <a:rPr lang="en-US" sz="2400" b="1" dirty="0"/>
              <a:t>transferring a hypertext </a:t>
            </a:r>
            <a:r>
              <a:rPr lang="en-US" sz="2400" dirty="0"/>
              <a:t>between two or more systems.</a:t>
            </a:r>
            <a:r>
              <a:rPr lang="en-US" sz="2400" u="sng" dirty="0">
                <a:hlinkClick r:id="rId2"/>
              </a:rPr>
              <a:t> </a:t>
            </a:r>
            <a:endParaRPr lang="en-US" sz="2400" u="sng" dirty="0"/>
          </a:p>
          <a:p>
            <a:pPr fontAlgn="base"/>
            <a:r>
              <a:rPr lang="en-US" sz="2400" dirty="0" smtClean="0"/>
              <a:t>HTTP</a:t>
            </a:r>
            <a:r>
              <a:rPr lang="en-US" sz="2400" dirty="0"/>
              <a:t> works on a </a:t>
            </a:r>
            <a:r>
              <a:rPr lang="en-US" sz="2400" b="1" dirty="0" smtClean="0"/>
              <a:t>client-server model</a:t>
            </a:r>
            <a:r>
              <a:rPr lang="en-US" sz="2400" dirty="0" smtClean="0"/>
              <a:t>, </a:t>
            </a:r>
            <a:r>
              <a:rPr lang="en-US" sz="2400" dirty="0"/>
              <a:t>most of the data sharing over the web is done through using HTTP.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00819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6982" y="600363"/>
            <a:ext cx="9208654" cy="5938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Transmission Control Protocol(TCP)</a:t>
            </a:r>
          </a:p>
          <a:p>
            <a:r>
              <a:rPr lang="en-US" sz="2400" dirty="0"/>
              <a:t>TCP layouts a </a:t>
            </a:r>
            <a:r>
              <a:rPr lang="en-US" sz="2400" b="1" dirty="0"/>
              <a:t>reliable stream delivery </a:t>
            </a:r>
            <a:r>
              <a:rPr lang="en-US" sz="2400" dirty="0"/>
              <a:t>by using </a:t>
            </a:r>
            <a:r>
              <a:rPr lang="en-US" sz="2400" b="1" dirty="0"/>
              <a:t>sequenced acknowledgment.</a:t>
            </a:r>
            <a:r>
              <a:rPr lang="en-US" sz="2400" dirty="0"/>
              <a:t>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is a </a:t>
            </a:r>
            <a:r>
              <a:rPr lang="en-US" sz="2400" b="1" dirty="0"/>
              <a:t>connection-oriented protocol </a:t>
            </a:r>
            <a:r>
              <a:rPr lang="en-US" sz="2400" dirty="0"/>
              <a:t>i.e., it establishes a connection between applications </a:t>
            </a:r>
            <a:r>
              <a:rPr lang="en-US" sz="2400" b="1" dirty="0"/>
              <a:t>before sending any data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has many applications such as </a:t>
            </a:r>
            <a:r>
              <a:rPr lang="en-US" sz="2400" b="1" dirty="0"/>
              <a:t>emails, FTP, streaming media</a:t>
            </a:r>
            <a:r>
              <a:rPr lang="en-US" sz="2400" dirty="0"/>
              <a:t>, etc</a:t>
            </a:r>
            <a:r>
              <a:rPr lang="en-US" sz="2400" dirty="0" smtClean="0"/>
              <a:t>.</a:t>
            </a:r>
            <a:endParaRPr lang="en-US" sz="2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User Datagram Protocol(UDP)</a:t>
            </a:r>
          </a:p>
          <a:p>
            <a:r>
              <a:rPr lang="en-US" sz="2400" dirty="0"/>
              <a:t>It is a </a:t>
            </a:r>
            <a:r>
              <a:rPr lang="en-US" sz="2400" b="1" dirty="0"/>
              <a:t>connectionless protocol</a:t>
            </a:r>
            <a:r>
              <a:rPr lang="en-US" sz="2400" dirty="0"/>
              <a:t> that lay-out a basic but </a:t>
            </a:r>
            <a:r>
              <a:rPr lang="en-US" sz="2400" b="1" dirty="0"/>
              <a:t>unreliable message service. </a:t>
            </a:r>
            <a:endParaRPr lang="en-US" sz="2400" b="1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adds </a:t>
            </a:r>
            <a:r>
              <a:rPr lang="en-US" sz="2400" b="1" dirty="0"/>
              <a:t>no flow control, reliability, or error-recovery</a:t>
            </a:r>
            <a:r>
              <a:rPr lang="en-US" sz="2400" dirty="0"/>
              <a:t> functions.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is used when </a:t>
            </a:r>
            <a:r>
              <a:rPr lang="en-US" sz="2400" b="1" dirty="0"/>
              <a:t>we want faster transmission</a:t>
            </a:r>
            <a:r>
              <a:rPr lang="en-US" sz="2400" dirty="0"/>
              <a:t>, for </a:t>
            </a:r>
            <a:r>
              <a:rPr lang="en-US" sz="2400" b="1" dirty="0"/>
              <a:t>multicasting and broadcasting connections,</a:t>
            </a:r>
            <a:r>
              <a:rPr lang="en-US" sz="2400" dirty="0"/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38047703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7245" y="835383"/>
            <a:ext cx="7729728" cy="1188720"/>
          </a:xfrm>
        </p:spPr>
        <p:txBody>
          <a:bodyPr/>
          <a:lstStyle/>
          <a:p>
            <a:pPr marL="0" indent="0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Dynamic Host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Configration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Protocol(DHCP)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6218" y="2235201"/>
            <a:ext cx="9291782" cy="4100944"/>
          </a:xfrm>
        </p:spPr>
        <p:txBody>
          <a:bodyPr>
            <a:normAutofit/>
          </a:bodyPr>
          <a:lstStyle/>
          <a:p>
            <a:r>
              <a:rPr lang="en-US" sz="2600" dirty="0" smtClean="0"/>
              <a:t>it’s </a:t>
            </a:r>
            <a:r>
              <a:rPr lang="en-US" sz="2600" dirty="0"/>
              <a:t>a protocol for </a:t>
            </a:r>
            <a:r>
              <a:rPr lang="en-US" sz="2600" b="1" dirty="0"/>
              <a:t>network management </a:t>
            </a:r>
            <a:r>
              <a:rPr lang="en-US" sz="2600" dirty="0"/>
              <a:t>and it’s used for the method of </a:t>
            </a:r>
            <a:r>
              <a:rPr lang="en-US" sz="2600" b="1" dirty="0"/>
              <a:t>automating the process of configuring devices </a:t>
            </a:r>
            <a:r>
              <a:rPr lang="en-US" sz="2600" dirty="0"/>
              <a:t>on IP networks. </a:t>
            </a:r>
            <a:endParaRPr lang="en-US" sz="2600" dirty="0" smtClean="0"/>
          </a:p>
          <a:p>
            <a:r>
              <a:rPr lang="en-US" sz="2600" dirty="0" smtClean="0"/>
              <a:t>A </a:t>
            </a:r>
            <a:r>
              <a:rPr lang="en-US" sz="2600" dirty="0"/>
              <a:t>DHCP server </a:t>
            </a:r>
            <a:r>
              <a:rPr lang="en-US" sz="2600" b="1" dirty="0"/>
              <a:t>automatically assigns an IP address</a:t>
            </a:r>
            <a:r>
              <a:rPr lang="en-US" sz="2600" dirty="0"/>
              <a:t> and various other </a:t>
            </a:r>
            <a:r>
              <a:rPr lang="en-US" sz="2600" b="1" dirty="0"/>
              <a:t>configurational changes </a:t>
            </a:r>
            <a:r>
              <a:rPr lang="en-US" sz="2600" dirty="0"/>
              <a:t>to devices on a network so they can communicate with other IP networks. </a:t>
            </a:r>
            <a:endParaRPr lang="en-US" sz="2600" dirty="0" smtClean="0"/>
          </a:p>
          <a:p>
            <a:r>
              <a:rPr lang="en-US" sz="2600" dirty="0"/>
              <a:t>I</a:t>
            </a:r>
            <a:r>
              <a:rPr lang="en-US" sz="2600" dirty="0" smtClean="0"/>
              <a:t>t </a:t>
            </a:r>
            <a:r>
              <a:rPr lang="en-US" sz="2600" dirty="0"/>
              <a:t>also allows devices to use various services such as </a:t>
            </a:r>
            <a:r>
              <a:rPr lang="en-US" sz="2600" b="1" dirty="0"/>
              <a:t>NTP, DNS</a:t>
            </a:r>
            <a:r>
              <a:rPr lang="en-US" sz="2600" dirty="0"/>
              <a:t>, or any other protocol based on </a:t>
            </a:r>
            <a:r>
              <a:rPr lang="en-US" sz="2600" b="1" dirty="0"/>
              <a:t>TCP or UDP.</a:t>
            </a:r>
          </a:p>
        </p:txBody>
      </p:sp>
    </p:spTree>
    <p:extLst>
      <p:ext uri="{BB962C8B-B14F-4D97-AF65-F5344CB8AC3E}">
        <p14:creationId xmlns:p14="http://schemas.microsoft.com/office/powerpoint/2010/main" val="42730427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853855"/>
            <a:ext cx="7729728" cy="864108"/>
          </a:xfrm>
        </p:spPr>
        <p:txBody>
          <a:bodyPr/>
          <a:lstStyle/>
          <a:p>
            <a:pPr fontAlgn="base"/>
            <a:r>
              <a:rPr lang="en-US" b="1" dirty="0"/>
              <a:t>Network Management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1019" y="2105892"/>
            <a:ext cx="9019308" cy="4304144"/>
          </a:xfrm>
        </p:spPr>
        <p:txBody>
          <a:bodyPr>
            <a:normAutofit/>
          </a:bodyPr>
          <a:lstStyle/>
          <a:p>
            <a:r>
              <a:rPr lang="en-US" sz="2400" dirty="0"/>
              <a:t>These protocols assist in </a:t>
            </a:r>
            <a:r>
              <a:rPr lang="en-US" sz="2400" b="1" dirty="0"/>
              <a:t>describing the procedures and policies </a:t>
            </a:r>
            <a:r>
              <a:rPr lang="en-US" sz="2400" dirty="0"/>
              <a:t>that are used in </a:t>
            </a:r>
            <a:r>
              <a:rPr lang="en-US" sz="2400" b="1" dirty="0"/>
              <a:t>monitoring, maintaining, and managing </a:t>
            </a:r>
            <a:r>
              <a:rPr lang="en-US" sz="2400" dirty="0"/>
              <a:t>the computer network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Network management protocols can also be </a:t>
            </a:r>
            <a:r>
              <a:rPr lang="en-US" sz="2400" b="1" dirty="0"/>
              <a:t>used </a:t>
            </a:r>
            <a:r>
              <a:rPr lang="en-US" sz="2400" b="1" dirty="0" smtClean="0"/>
              <a:t>for troubleshooting</a:t>
            </a:r>
            <a:r>
              <a:rPr lang="en-US" sz="2400" b="1" dirty="0"/>
              <a:t> </a:t>
            </a:r>
            <a:r>
              <a:rPr lang="en-US" sz="2400" b="1" dirty="0" smtClean="0"/>
              <a:t>connections </a:t>
            </a:r>
            <a:r>
              <a:rPr lang="en-US" sz="2400" dirty="0"/>
              <a:t>between a host and a client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File Transfer Protocol(FTP)</a:t>
            </a:r>
          </a:p>
          <a:p>
            <a:r>
              <a:rPr lang="en-US" sz="2400" dirty="0"/>
              <a:t>FTP is a </a:t>
            </a:r>
            <a:r>
              <a:rPr lang="en-US" sz="2400" b="1" dirty="0"/>
              <a:t>Client/server protocol </a:t>
            </a:r>
            <a:r>
              <a:rPr lang="en-US" sz="2400" dirty="0"/>
              <a:t>that is used for </a:t>
            </a:r>
            <a:r>
              <a:rPr lang="en-US" sz="2400" b="1" dirty="0"/>
              <a:t>moving files </a:t>
            </a:r>
            <a:r>
              <a:rPr lang="en-US" sz="2400" dirty="0"/>
              <a:t>to or from a host computer, it allows users to </a:t>
            </a:r>
            <a:r>
              <a:rPr lang="en-US" sz="2400" b="1" dirty="0"/>
              <a:t>download files, programs, web pages, and other things</a:t>
            </a:r>
            <a:r>
              <a:rPr lang="en-US" sz="2400" dirty="0"/>
              <a:t> that are available on other services.</a:t>
            </a:r>
          </a:p>
        </p:txBody>
      </p:sp>
    </p:spTree>
    <p:extLst>
      <p:ext uri="{BB962C8B-B14F-4D97-AF65-F5344CB8AC3E}">
        <p14:creationId xmlns:p14="http://schemas.microsoft.com/office/powerpoint/2010/main" val="4725487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9609" y="1214073"/>
            <a:ext cx="7729728" cy="697853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b="1" dirty="0"/>
              <a:t> Network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7891" y="2281381"/>
            <a:ext cx="9190182" cy="4156363"/>
          </a:xfrm>
        </p:spPr>
        <p:txBody>
          <a:bodyPr>
            <a:normAutofit/>
          </a:bodyPr>
          <a:lstStyle/>
          <a:p>
            <a:r>
              <a:rPr lang="en-US" sz="2400" dirty="0"/>
              <a:t>These protocols make sure </a:t>
            </a:r>
            <a:r>
              <a:rPr lang="en-US" sz="2400" b="1" dirty="0"/>
              <a:t>that no unauthorized devices, users, or services can access the network data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Primarily</a:t>
            </a:r>
            <a:r>
              <a:rPr lang="en-US" sz="2400" dirty="0"/>
              <a:t>, these protocols </a:t>
            </a:r>
            <a:r>
              <a:rPr lang="en-US" sz="2400" b="1" dirty="0"/>
              <a:t>depend on encryption </a:t>
            </a:r>
            <a:r>
              <a:rPr lang="en-US" sz="2400" dirty="0"/>
              <a:t>to secure data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Hypertext Transfer Protocol(HTTPS)</a:t>
            </a:r>
          </a:p>
          <a:p>
            <a:r>
              <a:rPr lang="en-US" sz="2400" dirty="0"/>
              <a:t>It is the </a:t>
            </a:r>
            <a:r>
              <a:rPr lang="en-US" sz="2400" b="1" dirty="0"/>
              <a:t>secured version of HTTP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/>
              <a:t>T</a:t>
            </a:r>
            <a:r>
              <a:rPr lang="en-US" sz="2400" dirty="0" smtClean="0"/>
              <a:t>his </a:t>
            </a:r>
            <a:r>
              <a:rPr lang="en-US" sz="2400" dirty="0"/>
              <a:t>protocol </a:t>
            </a:r>
            <a:r>
              <a:rPr lang="en-US" sz="2400" b="1" dirty="0"/>
              <a:t>ensures secure communication </a:t>
            </a:r>
            <a:r>
              <a:rPr lang="en-US" sz="2400" dirty="0"/>
              <a:t>between two computers where one sends the request through the browser and the other fetches the data from the web server.</a:t>
            </a:r>
          </a:p>
        </p:txBody>
      </p:sp>
    </p:spTree>
    <p:extLst>
      <p:ext uri="{BB962C8B-B14F-4D97-AF65-F5344CB8AC3E}">
        <p14:creationId xmlns:p14="http://schemas.microsoft.com/office/powerpoint/2010/main" val="37439455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816910"/>
            <a:ext cx="7729728" cy="817926"/>
          </a:xfrm>
        </p:spPr>
        <p:txBody>
          <a:bodyPr/>
          <a:lstStyle/>
          <a:p>
            <a:r>
              <a:rPr lang="en-US" b="1" dirty="0" smtClean="0"/>
              <a:t>VPN &amp; SMTP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0945" y="1939636"/>
            <a:ext cx="9328727" cy="44426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V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irtual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P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rivate Network(VPN)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:  </a:t>
            </a:r>
          </a:p>
          <a:p>
            <a:pPr lvl="1"/>
            <a:r>
              <a:rPr lang="en-US" sz="2400" dirty="0" smtClean="0"/>
              <a:t>A </a:t>
            </a:r>
            <a:r>
              <a:rPr lang="en-US" sz="2400" dirty="0"/>
              <a:t>service that helps you </a:t>
            </a:r>
            <a:r>
              <a:rPr lang="en-US" sz="2400" b="1" dirty="0"/>
              <a:t>stay private online </a:t>
            </a:r>
            <a:r>
              <a:rPr lang="en-US" sz="2400" dirty="0"/>
              <a:t>by </a:t>
            </a:r>
            <a:r>
              <a:rPr lang="en-US" sz="2400" b="1" dirty="0"/>
              <a:t>encrypting the connection between your device and the internet</a:t>
            </a:r>
            <a:r>
              <a:rPr lang="en-US" sz="2400" dirty="0"/>
              <a:t>. </a:t>
            </a:r>
            <a:endParaRPr lang="en-US" sz="2400" dirty="0" smtClean="0"/>
          </a:p>
          <a:p>
            <a:pPr lvl="1"/>
            <a:r>
              <a:rPr lang="en-US" sz="2400" dirty="0" smtClean="0"/>
              <a:t>This </a:t>
            </a:r>
            <a:r>
              <a:rPr lang="en-US" sz="2400" dirty="0"/>
              <a:t>secure connection provides a </a:t>
            </a:r>
            <a:r>
              <a:rPr lang="en-US" sz="2400" b="1" dirty="0"/>
              <a:t>private tunnel for your data </a:t>
            </a:r>
            <a:r>
              <a:rPr lang="en-US" sz="2400" dirty="0"/>
              <a:t>and communications while you use public networks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Simple Mail Transfer Protocol (SMTP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): </a:t>
            </a:r>
          </a:p>
          <a:p>
            <a:pPr lvl="1"/>
            <a:r>
              <a:rPr lang="en-US" sz="2400" dirty="0" smtClean="0"/>
              <a:t>It</a:t>
            </a:r>
            <a:r>
              <a:rPr lang="en-US" sz="2400" b="1" dirty="0" smtClean="0"/>
              <a:t> </a:t>
            </a:r>
            <a:r>
              <a:rPr lang="en-US" sz="2400" dirty="0" smtClean="0"/>
              <a:t>is</a:t>
            </a:r>
            <a:r>
              <a:rPr lang="en-US" sz="2400" dirty="0"/>
              <a:t> a technical standard for </a:t>
            </a:r>
            <a:r>
              <a:rPr lang="en-US" sz="2400" b="1" dirty="0"/>
              <a:t>transmitting electronic mail </a:t>
            </a:r>
            <a:r>
              <a:rPr lang="en-US" sz="2400" dirty="0"/>
              <a:t>(email) over a network. </a:t>
            </a:r>
            <a:endParaRPr lang="en-US" sz="2400" dirty="0" smtClean="0"/>
          </a:p>
          <a:p>
            <a:pPr lvl="1"/>
            <a:r>
              <a:rPr lang="en-US" sz="2400" dirty="0" smtClean="0"/>
              <a:t>SMTP </a:t>
            </a:r>
            <a:r>
              <a:rPr lang="en-US" sz="2400" dirty="0"/>
              <a:t>allows </a:t>
            </a:r>
            <a:r>
              <a:rPr lang="en-US" sz="2400" b="1" dirty="0"/>
              <a:t>computers and servers to exchange data </a:t>
            </a:r>
            <a:r>
              <a:rPr lang="en-US" sz="2400" dirty="0"/>
              <a:t>regardless of their underlying hardware or software.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794866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NAT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Network Address Translation (NAT) </a:t>
            </a:r>
            <a:r>
              <a:rPr lang="en-US" sz="2400" dirty="0"/>
              <a:t>is a service that enables private IP networks to use the internet and cloud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NAT </a:t>
            </a:r>
            <a:r>
              <a:rPr lang="en-US" sz="2400" dirty="0"/>
              <a:t>translates </a:t>
            </a:r>
            <a:r>
              <a:rPr lang="en-US" sz="2400" b="1" dirty="0"/>
              <a:t>private IP addresses </a:t>
            </a:r>
            <a:r>
              <a:rPr lang="en-US" sz="2400" dirty="0"/>
              <a:t>in an internal network </a:t>
            </a:r>
            <a:r>
              <a:rPr lang="en-US" sz="2400" b="1" dirty="0"/>
              <a:t>to a public IP address </a:t>
            </a:r>
            <a:r>
              <a:rPr lang="en-US" sz="2400" dirty="0"/>
              <a:t>before packets are sent to an external network.</a:t>
            </a:r>
          </a:p>
        </p:txBody>
      </p:sp>
    </p:spTree>
    <p:extLst>
      <p:ext uri="{BB962C8B-B14F-4D97-AF65-F5344CB8AC3E}">
        <p14:creationId xmlns:p14="http://schemas.microsoft.com/office/powerpoint/2010/main" val="7088294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048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9536" y="604474"/>
            <a:ext cx="7729728" cy="817926"/>
          </a:xfrm>
        </p:spPr>
        <p:txBody>
          <a:bodyPr/>
          <a:lstStyle/>
          <a:p>
            <a:pPr lvl="0" fontAlgn="base"/>
            <a:r>
              <a:rPr lang="en-US" b="1" dirty="0"/>
              <a:t>INTERNET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9454" y="1681019"/>
            <a:ext cx="9379527" cy="4765964"/>
          </a:xfrm>
        </p:spPr>
        <p:txBody>
          <a:bodyPr>
            <a:normAutofit/>
          </a:bodyPr>
          <a:lstStyle/>
          <a:p>
            <a:pPr lvl="0" fontAlgn="base"/>
            <a:r>
              <a:rPr lang="en-US" sz="2400" dirty="0" smtClean="0"/>
              <a:t>Internet </a:t>
            </a:r>
            <a:r>
              <a:rPr lang="en-US" sz="2400" dirty="0"/>
              <a:t>stands for </a:t>
            </a:r>
            <a:r>
              <a:rPr lang="en-US" sz="2400" b="1" dirty="0"/>
              <a:t>Interconnected Network</a:t>
            </a:r>
            <a:r>
              <a:rPr lang="en-US" sz="2400" dirty="0"/>
              <a:t>. </a:t>
            </a:r>
            <a:endParaRPr lang="en-US" sz="2400" dirty="0" smtClean="0"/>
          </a:p>
          <a:p>
            <a:pPr lvl="0" fontAlgn="base"/>
            <a:r>
              <a:rPr lang="en-US" sz="2400" dirty="0" smtClean="0"/>
              <a:t>It </a:t>
            </a:r>
            <a:r>
              <a:rPr lang="en-US" sz="2400" dirty="0"/>
              <a:t>is a network system that connects millions of web servers. </a:t>
            </a:r>
          </a:p>
          <a:p>
            <a:pPr lvl="0" fontAlgn="base"/>
            <a:r>
              <a:rPr lang="en-US" sz="2400" dirty="0"/>
              <a:t>Internet is a vast network that connects computer all over the world. </a:t>
            </a:r>
            <a:endParaRPr lang="en-US" sz="2400" dirty="0" smtClean="0"/>
          </a:p>
          <a:p>
            <a:pPr lvl="0" fontAlgn="base"/>
            <a:r>
              <a:rPr lang="en-US" sz="2400" dirty="0" smtClean="0"/>
              <a:t>Through </a:t>
            </a:r>
            <a:r>
              <a:rPr lang="en-US" sz="2400" dirty="0"/>
              <a:t>the internet people can share information and communicate from anywhere. </a:t>
            </a:r>
          </a:p>
          <a:p>
            <a:pPr lvl="0" fontAlgn="base"/>
            <a:r>
              <a:rPr lang="en-US" sz="2400" dirty="0"/>
              <a:t>Inventors of internet is </a:t>
            </a:r>
            <a:r>
              <a:rPr lang="en-US" sz="2400" b="1" dirty="0"/>
              <a:t>John Kahn and Vint Cerf</a:t>
            </a:r>
            <a:r>
              <a:rPr lang="en-US" sz="2400" dirty="0"/>
              <a:t>. </a:t>
            </a:r>
            <a:endParaRPr lang="en-US" sz="2400" dirty="0" smtClean="0"/>
          </a:p>
          <a:p>
            <a:pPr marL="0" lvl="0" indent="0" fontAlgn="base">
              <a:buNone/>
            </a:pPr>
            <a:r>
              <a:rPr lang="en-US" sz="2600" b="1" dirty="0"/>
              <a:t> </a:t>
            </a:r>
            <a:r>
              <a:rPr lang="en-US" sz="2600" b="1" dirty="0" smtClean="0"/>
              <a:t>  Features of Internet:</a:t>
            </a:r>
          </a:p>
          <a:p>
            <a:pPr lvl="5" fontAlgn="base"/>
            <a:r>
              <a:rPr lang="en-US" sz="2200" dirty="0"/>
              <a:t>I</a:t>
            </a:r>
            <a:r>
              <a:rPr lang="en-US" sz="2200" dirty="0" smtClean="0"/>
              <a:t>nternet is a global service and accessible to all. </a:t>
            </a:r>
          </a:p>
          <a:p>
            <a:pPr lvl="5" fontAlgn="base"/>
            <a:r>
              <a:rPr lang="en-US" sz="2200" dirty="0" smtClean="0"/>
              <a:t>Easy </a:t>
            </a:r>
            <a:r>
              <a:rPr lang="en-US" sz="2200" dirty="0"/>
              <a:t>to </a:t>
            </a:r>
            <a:r>
              <a:rPr lang="en-US" sz="2200" dirty="0" smtClean="0"/>
              <a:t>use, Low cost, </a:t>
            </a:r>
            <a:r>
              <a:rPr lang="en-US" sz="2200" dirty="0"/>
              <a:t>Security </a:t>
            </a:r>
          </a:p>
          <a:p>
            <a:pPr lvl="5" fontAlgn="base"/>
            <a:r>
              <a:rPr lang="en-US" sz="2200" dirty="0"/>
              <a:t>Flexibility in communication. </a:t>
            </a:r>
          </a:p>
        </p:txBody>
      </p:sp>
    </p:spTree>
    <p:extLst>
      <p:ext uri="{BB962C8B-B14F-4D97-AF65-F5344CB8AC3E}">
        <p14:creationId xmlns:p14="http://schemas.microsoft.com/office/powerpoint/2010/main" val="4110083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622945"/>
            <a:ext cx="7729728" cy="799453"/>
          </a:xfrm>
        </p:spPr>
        <p:txBody>
          <a:bodyPr>
            <a:normAutofit/>
          </a:bodyPr>
          <a:lstStyle/>
          <a:p>
            <a:r>
              <a:rPr lang="en-US" b="1" dirty="0" smtClean="0"/>
              <a:t>Ethernet Cables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949" y="1736435"/>
            <a:ext cx="9672505" cy="4738255"/>
          </a:xfrm>
        </p:spPr>
        <p:txBody>
          <a:bodyPr>
            <a:normAutofit/>
          </a:bodyPr>
          <a:lstStyle/>
          <a:p>
            <a:r>
              <a:rPr lang="en-US" sz="2400" dirty="0"/>
              <a:t>An </a:t>
            </a:r>
            <a:r>
              <a:rPr lang="en-US" sz="2400" dirty="0" err="1"/>
              <a:t>ethernet</a:t>
            </a:r>
            <a:r>
              <a:rPr lang="en-US" sz="2400" dirty="0"/>
              <a:t> cable allows the user to connect their devices such as computers, mobile phones, routers, </a:t>
            </a:r>
            <a:r>
              <a:rPr lang="en-US" sz="2400" dirty="0" smtClean="0"/>
              <a:t>etc.</a:t>
            </a:r>
          </a:p>
          <a:p>
            <a:r>
              <a:rPr lang="en-US" sz="2400" dirty="0"/>
              <a:t>Mainly there are three types of </a:t>
            </a:r>
            <a:r>
              <a:rPr lang="en-US" sz="2400" dirty="0" err="1"/>
              <a:t>ethernet</a:t>
            </a:r>
            <a:r>
              <a:rPr lang="en-US" sz="2400" dirty="0"/>
              <a:t> cables used in </a:t>
            </a:r>
            <a:r>
              <a:rPr lang="en-US" sz="2400" dirty="0" smtClean="0"/>
              <a:t>LANs.</a:t>
            </a:r>
            <a:endParaRPr lang="en-US" sz="3200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sz="2600" b="1" dirty="0" smtClean="0"/>
              <a:t>Twisted </a:t>
            </a:r>
            <a:r>
              <a:rPr lang="en-US" sz="2600" b="1" dirty="0"/>
              <a:t>Pair </a:t>
            </a:r>
            <a:r>
              <a:rPr lang="en-US" sz="2600" b="1" dirty="0" smtClean="0"/>
              <a:t>cables:</a:t>
            </a:r>
          </a:p>
          <a:p>
            <a:pPr lvl="4" fontAlgn="base"/>
            <a:r>
              <a:rPr lang="en-US" sz="2400" dirty="0"/>
              <a:t>Twisted pair is a copper wire cable in which two insulated copper wires are twisted around each other to reduce interference or crosstalk. </a:t>
            </a:r>
            <a:endParaRPr lang="en-US" sz="2400" dirty="0" smtClean="0"/>
          </a:p>
          <a:p>
            <a:pPr lvl="4" fontAlgn="base"/>
            <a:r>
              <a:rPr lang="en-US" sz="2400" dirty="0" smtClean="0"/>
              <a:t>It </a:t>
            </a:r>
            <a:r>
              <a:rPr lang="en-US" sz="2400" dirty="0"/>
              <a:t>uses </a:t>
            </a:r>
            <a:r>
              <a:rPr lang="en-US" sz="2400" b="1" dirty="0"/>
              <a:t>10BASE-T, 100BASE-T, </a:t>
            </a:r>
            <a:r>
              <a:rPr lang="en-US" sz="2400" dirty="0"/>
              <a:t>and some other newer </a:t>
            </a:r>
            <a:r>
              <a:rPr lang="en-US" sz="2400" dirty="0" err="1"/>
              <a:t>ethernet</a:t>
            </a:r>
            <a:r>
              <a:rPr lang="en-US" sz="2400" dirty="0"/>
              <a:t> variants. </a:t>
            </a:r>
            <a:endParaRPr lang="en-US" sz="2400" dirty="0" smtClean="0"/>
          </a:p>
          <a:p>
            <a:pPr lvl="4" fontAlgn="base"/>
            <a:r>
              <a:rPr lang="en-US" sz="2400" b="1" dirty="0" smtClean="0"/>
              <a:t>Two Types: </a:t>
            </a:r>
            <a:r>
              <a:rPr lang="en-US" sz="2400" dirty="0" err="1" smtClean="0"/>
              <a:t>Unshield</a:t>
            </a:r>
            <a:r>
              <a:rPr lang="en-US" sz="2400" dirty="0" smtClean="0"/>
              <a:t> &amp; Shielded Twisted Pair Cable</a:t>
            </a:r>
            <a:endParaRPr lang="en-US" sz="36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23945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4618" y="415636"/>
            <a:ext cx="9458037" cy="5689601"/>
          </a:xfrm>
        </p:spPr>
        <p:txBody>
          <a:bodyPr>
            <a:normAutofit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en-US" sz="2800" b="1" dirty="0"/>
              <a:t>.</a:t>
            </a:r>
            <a:endParaRPr lang="en-US" sz="2800" b="1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sz="2800" b="1" dirty="0" smtClean="0"/>
              <a:t>Coaxial cables:</a:t>
            </a:r>
          </a:p>
          <a:p>
            <a:pPr lvl="4" fontAlgn="base"/>
            <a:r>
              <a:rPr lang="en-US" sz="2400" dirty="0"/>
              <a:t>A coaxial cable is used to </a:t>
            </a:r>
            <a:r>
              <a:rPr lang="en-US" sz="2400" b="1" dirty="0"/>
              <a:t>carry high-frequency </a:t>
            </a:r>
            <a:r>
              <a:rPr lang="en-US" sz="2400" dirty="0"/>
              <a:t>electrical signals with low losses. </a:t>
            </a:r>
            <a:endParaRPr lang="en-US" sz="2400" dirty="0" smtClean="0"/>
          </a:p>
          <a:p>
            <a:pPr lvl="4" fontAlgn="base"/>
            <a:r>
              <a:rPr lang="en-US" sz="2400" dirty="0" smtClean="0"/>
              <a:t>It </a:t>
            </a:r>
            <a:r>
              <a:rPr lang="en-US" sz="2400" dirty="0"/>
              <a:t>uses </a:t>
            </a:r>
            <a:r>
              <a:rPr lang="en-US" sz="2400" b="1" dirty="0"/>
              <a:t>10Base2 and 10Base5 </a:t>
            </a:r>
            <a:r>
              <a:rPr lang="en-US" sz="2400" dirty="0"/>
              <a:t>Ethernet variants</a:t>
            </a:r>
            <a:r>
              <a:rPr lang="en-US" sz="2400" dirty="0" smtClean="0"/>
              <a:t>.</a:t>
            </a:r>
          </a:p>
          <a:p>
            <a:pPr lvl="4" fontAlgn="base"/>
            <a:r>
              <a:rPr lang="en-US" sz="2400" dirty="0" smtClean="0"/>
              <a:t>It </a:t>
            </a:r>
            <a:r>
              <a:rPr lang="en-US" sz="2400" dirty="0"/>
              <a:t>is usually used in telephone systems, cable TV, etc.</a:t>
            </a:r>
            <a:endParaRPr lang="en-US" sz="4800" b="1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sz="2800" b="1" dirty="0" smtClean="0"/>
              <a:t>Fiber </a:t>
            </a:r>
            <a:r>
              <a:rPr lang="en-US" sz="2800" b="1" dirty="0"/>
              <a:t>optic cables</a:t>
            </a:r>
            <a:r>
              <a:rPr lang="en-US" sz="2800" b="1" dirty="0" smtClean="0"/>
              <a:t>.</a:t>
            </a:r>
          </a:p>
          <a:p>
            <a:pPr lvl="4" fontAlgn="base"/>
            <a:r>
              <a:rPr lang="en-US" sz="2400" dirty="0"/>
              <a:t>Fiber optics can transmit signals over a </a:t>
            </a:r>
            <a:r>
              <a:rPr lang="en-US" sz="2400" b="1" dirty="0"/>
              <a:t>very long distance </a:t>
            </a:r>
            <a:r>
              <a:rPr lang="en-US" sz="2400" dirty="0"/>
              <a:t>as compared to twisted pairs or coaxial cables. </a:t>
            </a:r>
            <a:endParaRPr lang="en-US" sz="2400" dirty="0" smtClean="0"/>
          </a:p>
          <a:p>
            <a:pPr lvl="4" fontAlgn="base"/>
            <a:r>
              <a:rPr lang="en-US" sz="2400" dirty="0" smtClean="0"/>
              <a:t>It </a:t>
            </a:r>
            <a:r>
              <a:rPr lang="en-US" sz="2400" dirty="0"/>
              <a:t>uses 10BaseF, 100BaseFX, 100BaseBX, 100BaseSX, 1000BaseFx, 1000BaseSX, and 1000BaseBx </a:t>
            </a:r>
            <a:r>
              <a:rPr lang="en-US" sz="2400" dirty="0" err="1"/>
              <a:t>ethernet</a:t>
            </a:r>
            <a:r>
              <a:rPr lang="en-US" sz="2400" dirty="0"/>
              <a:t> variants. </a:t>
            </a:r>
            <a:endParaRPr lang="en-US" sz="2400" dirty="0" smtClean="0"/>
          </a:p>
          <a:p>
            <a:pPr lvl="4" fontAlgn="base"/>
            <a:r>
              <a:rPr lang="en-US" sz="2400" dirty="0" smtClean="0"/>
              <a:t>Hence</a:t>
            </a:r>
            <a:r>
              <a:rPr lang="en-US" sz="2400" dirty="0"/>
              <a:t>, it is capable of carrying information at a </a:t>
            </a:r>
            <a:r>
              <a:rPr lang="en-US" sz="2400" b="1" dirty="0"/>
              <a:t>great speed</a:t>
            </a:r>
            <a:r>
              <a:rPr lang="en-US" sz="2400" dirty="0"/>
              <a:t>.</a:t>
            </a:r>
            <a:endParaRPr lang="en-US" sz="36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1200727" y="517236"/>
            <a:ext cx="1357746" cy="4341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48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media.geeksforgeeks.org/wp-content/uploads/20230329171632/Cable-Different-Layers-1-500x302-3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301" y="3711961"/>
            <a:ext cx="4518025" cy="272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media.geeksforgeeks.org/wp-content/uploads/20230329171253/shielded-twisted-pair-construction-1-300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859" y="701964"/>
            <a:ext cx="5748153" cy="180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media.geeksforgeeks.org/wp-content/uploads/20230329170921/coaxial-cable-300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85" y="430303"/>
            <a:ext cx="5026024" cy="2848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73818" y="2645842"/>
            <a:ext cx="3731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1" i="1" dirty="0" smtClean="0"/>
              <a:t>Twisted </a:t>
            </a:r>
            <a:r>
              <a:rPr lang="en-US" sz="2400" b="1" i="1" dirty="0"/>
              <a:t>Pair </a:t>
            </a:r>
            <a:r>
              <a:rPr lang="en-US" sz="2400" b="1" i="1" dirty="0" smtClean="0"/>
              <a:t>Cable</a:t>
            </a:r>
            <a:endParaRPr lang="en-US" sz="2400" b="1" i="1" dirty="0"/>
          </a:p>
        </p:txBody>
      </p:sp>
      <p:sp>
        <p:nvSpPr>
          <p:cNvPr id="9" name="TextBox 8"/>
          <p:cNvSpPr txBox="1"/>
          <p:nvPr/>
        </p:nvSpPr>
        <p:spPr>
          <a:xfrm>
            <a:off x="992909" y="4710170"/>
            <a:ext cx="3731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1" i="1" dirty="0" smtClean="0"/>
              <a:t>Fiber Optic Cable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26374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2499</TotalTime>
  <Words>2883</Words>
  <Application>Microsoft Office PowerPoint</Application>
  <PresentationFormat>Widescreen</PresentationFormat>
  <Paragraphs>277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Gill Sans MT</vt:lpstr>
      <vt:lpstr>Wingdings</vt:lpstr>
      <vt:lpstr>Parcel</vt:lpstr>
      <vt:lpstr>Networking(N+)</vt:lpstr>
      <vt:lpstr>Introduction</vt:lpstr>
      <vt:lpstr>Network &amp; Networking</vt:lpstr>
      <vt:lpstr>Characteristics</vt:lpstr>
      <vt:lpstr>Data Communication</vt:lpstr>
      <vt:lpstr>Types of computer network</vt:lpstr>
      <vt:lpstr>Local Area Network </vt:lpstr>
      <vt:lpstr>PowerPoint Presentation</vt:lpstr>
      <vt:lpstr>Campus Area Network ( CAN ) </vt:lpstr>
      <vt:lpstr>PowerPoint Presentation</vt:lpstr>
      <vt:lpstr>Metropolitan Area Network (MAN) </vt:lpstr>
      <vt:lpstr>PowerPoint Presentation</vt:lpstr>
      <vt:lpstr>Wide Area Network (WAN) </vt:lpstr>
      <vt:lpstr>PowerPoint Presentation</vt:lpstr>
      <vt:lpstr>Personal Area Network </vt:lpstr>
      <vt:lpstr>PowerPoint Presentation</vt:lpstr>
      <vt:lpstr>Network topologies</vt:lpstr>
      <vt:lpstr>Bus Topology</vt:lpstr>
      <vt:lpstr>Ring topology</vt:lpstr>
      <vt:lpstr>Mesh topology</vt:lpstr>
      <vt:lpstr>Star topology</vt:lpstr>
      <vt:lpstr>Hybrid topology</vt:lpstr>
      <vt:lpstr>Ip address</vt:lpstr>
      <vt:lpstr>Classes of IP</vt:lpstr>
      <vt:lpstr>PowerPoint Presentation</vt:lpstr>
      <vt:lpstr>IPv6</vt:lpstr>
      <vt:lpstr>Subnetting</vt:lpstr>
      <vt:lpstr>Subnet of Class C </vt:lpstr>
      <vt:lpstr>Subnet of class B</vt:lpstr>
      <vt:lpstr>Subnet of class A</vt:lpstr>
      <vt:lpstr>Network devices</vt:lpstr>
      <vt:lpstr>PowerPoint Presentation</vt:lpstr>
      <vt:lpstr>PowerPoint Presentation</vt:lpstr>
      <vt:lpstr>PowerPoint Presentation</vt:lpstr>
      <vt:lpstr>network interface card[NIC]</vt:lpstr>
      <vt:lpstr>OSI model</vt:lpstr>
      <vt:lpstr>TCP / Ip</vt:lpstr>
      <vt:lpstr>Network Protocol</vt:lpstr>
      <vt:lpstr>Network Communication</vt:lpstr>
      <vt:lpstr>PowerPoint Presentation</vt:lpstr>
      <vt:lpstr>Dynamic Host Configration Protocol(DHCP)</vt:lpstr>
      <vt:lpstr>Network Management </vt:lpstr>
      <vt:lpstr> Network Security</vt:lpstr>
      <vt:lpstr>VPN &amp; SMTP</vt:lpstr>
      <vt:lpstr>NAT</vt:lpstr>
      <vt:lpstr>PowerPoint Presentation</vt:lpstr>
      <vt:lpstr>INTERNET </vt:lpstr>
      <vt:lpstr>Ethernet Cables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Networking(N+)</dc:title>
  <dc:creator>HP-PC</dc:creator>
  <cp:lastModifiedBy>Admin</cp:lastModifiedBy>
  <cp:revision>336</cp:revision>
  <dcterms:created xsi:type="dcterms:W3CDTF">2024-04-17T11:11:34Z</dcterms:created>
  <dcterms:modified xsi:type="dcterms:W3CDTF">2025-02-18T07:27:32Z</dcterms:modified>
</cp:coreProperties>
</file>