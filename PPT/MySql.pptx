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81" r:id="rId2"/>
    <p:sldId id="257" r:id="rId3"/>
    <p:sldId id="258" r:id="rId4"/>
    <p:sldId id="260" r:id="rId5"/>
    <p:sldId id="262" r:id="rId6"/>
    <p:sldId id="266" r:id="rId7"/>
    <p:sldId id="267" r:id="rId8"/>
    <p:sldId id="269" r:id="rId9"/>
    <p:sldId id="272" r:id="rId10"/>
    <p:sldId id="276" r:id="rId11"/>
    <p:sldId id="271" r:id="rId12"/>
    <p:sldId id="279" r:id="rId13"/>
    <p:sldId id="280" r:id="rId14"/>
    <p:sldId id="278" r:id="rId15"/>
    <p:sldId id="294" r:id="rId16"/>
    <p:sldId id="295" r:id="rId17"/>
    <p:sldId id="296" r:id="rId18"/>
    <p:sldId id="297" r:id="rId19"/>
    <p:sldId id="281" r:id="rId20"/>
    <p:sldId id="325" r:id="rId21"/>
    <p:sldId id="282" r:id="rId22"/>
    <p:sldId id="298" r:id="rId23"/>
    <p:sldId id="283" r:id="rId24"/>
    <p:sldId id="299" r:id="rId25"/>
    <p:sldId id="285" r:id="rId26"/>
    <p:sldId id="385" r:id="rId27"/>
    <p:sldId id="300" r:id="rId28"/>
    <p:sldId id="312" r:id="rId29"/>
    <p:sldId id="313" r:id="rId30"/>
    <p:sldId id="302" r:id="rId31"/>
    <p:sldId id="286" r:id="rId32"/>
    <p:sldId id="287" r:id="rId33"/>
    <p:sldId id="289" r:id="rId34"/>
    <p:sldId id="316" r:id="rId35"/>
    <p:sldId id="291" r:id="rId36"/>
    <p:sldId id="305" r:id="rId37"/>
    <p:sldId id="310" r:id="rId38"/>
    <p:sldId id="292" r:id="rId39"/>
    <p:sldId id="318" r:id="rId40"/>
    <p:sldId id="293" r:id="rId41"/>
    <p:sldId id="326" r:id="rId42"/>
    <p:sldId id="328" r:id="rId43"/>
    <p:sldId id="327" r:id="rId44"/>
    <p:sldId id="331" r:id="rId45"/>
    <p:sldId id="333" r:id="rId46"/>
    <p:sldId id="290" r:id="rId47"/>
    <p:sldId id="322" r:id="rId48"/>
    <p:sldId id="335" r:id="rId49"/>
    <p:sldId id="338" r:id="rId50"/>
    <p:sldId id="371" r:id="rId51"/>
    <p:sldId id="372" r:id="rId52"/>
    <p:sldId id="374" r:id="rId53"/>
    <p:sldId id="376" r:id="rId54"/>
    <p:sldId id="377" r:id="rId55"/>
    <p:sldId id="379" r:id="rId56"/>
    <p:sldId id="380" r:id="rId57"/>
    <p:sldId id="341" r:id="rId58"/>
    <p:sldId id="342" r:id="rId59"/>
    <p:sldId id="344" r:id="rId60"/>
    <p:sldId id="345" r:id="rId61"/>
    <p:sldId id="346" r:id="rId62"/>
    <p:sldId id="347" r:id="rId63"/>
    <p:sldId id="350" r:id="rId64"/>
    <p:sldId id="351" r:id="rId65"/>
    <p:sldId id="354" r:id="rId66"/>
    <p:sldId id="357" r:id="rId67"/>
    <p:sldId id="356" r:id="rId68"/>
    <p:sldId id="359" r:id="rId69"/>
    <p:sldId id="362" r:id="rId70"/>
    <p:sldId id="363" r:id="rId71"/>
    <p:sldId id="365" r:id="rId72"/>
    <p:sldId id="367" r:id="rId73"/>
    <p:sldId id="366" r:id="rId74"/>
    <p:sldId id="369" r:id="rId75"/>
    <p:sldId id="375" r:id="rId76"/>
    <p:sldId id="382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343" autoAdjust="0"/>
  </p:normalViewPr>
  <p:slideViewPr>
    <p:cSldViewPr snapToGrid="0">
      <p:cViewPr varScale="1">
        <p:scale>
          <a:sx n="73" d="100"/>
          <a:sy n="73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19749" y="2099733"/>
            <a:ext cx="5460864" cy="1753810"/>
          </a:xfrm>
        </p:spPr>
        <p:txBody>
          <a:bodyPr/>
          <a:lstStyle/>
          <a:p>
            <a:r>
              <a:rPr lang="en-US" sz="6600" b="1" dirty="0" smtClean="0"/>
              <a:t>MySQL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81497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799" y="919347"/>
            <a:ext cx="8761413" cy="706964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754" y="2347028"/>
            <a:ext cx="9764172" cy="41452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refers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facts or information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processed or used for various purposes. It can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numbers, text, images, audio,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is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collection of data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organized in a way that allows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storage, retrieval, and manipulation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mechanism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volumes of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ensuring data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designed to manage databases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provides an interface for users to interact with the database by performing tasks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storing, retrieving, updating,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51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010" y="1050203"/>
            <a:ext cx="9554227" cy="64853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896" y="2425423"/>
            <a:ext cx="10058659" cy="4014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(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RDBMS):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RDBMS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DBMS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based on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 of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an RDBMS,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into tables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each table consisting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and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tables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through keys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and foreign keys.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RDBMSs are widely used in various applications and industries due to their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flexibility, scalability, and ease of use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collection of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and columns.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table represents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attribute,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record or entry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930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601" y="937454"/>
            <a:ext cx="8761413" cy="7069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669" y="2322843"/>
            <a:ext cx="9522821" cy="4221648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– Owned by Oracle – Licensed ORDBMS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– Microsoft- Licensed RDBMS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Databases-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Enterprise DB-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Opensource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ORDBMS(Free)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Oracle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Edition- Open Source(Free to use)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embedded in some application and you are selling that application then you need to pay licensing to oracle for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Edition- Licensed by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658" y="2551249"/>
            <a:ext cx="8761412" cy="34163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to MySQL Database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is a command line utility to connect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Port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3306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Port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Oracle- 1521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Port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Server- 1433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Port for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5432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20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495006"/>
            <a:ext cx="10171309" cy="4075610"/>
          </a:xfrm>
        </p:spPr>
        <p:txBody>
          <a:bodyPr>
            <a:no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–u root –p  after this enter password       # use to get into data base 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databases;                           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 to list the databases present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database();                           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 shows the current data base in use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 to create the new database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 to select the database of our choice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 to delete the database 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tables;                    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will show the tables present in database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20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973" y="2577375"/>
            <a:ext cx="8761412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Table: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datatype constraints, ….);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t1(c1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,c2 varchar(100),c3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date, c4 double);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formate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t1;  -- gives description of table</a:t>
            </a:r>
          </a:p>
        </p:txBody>
      </p:sp>
    </p:spTree>
    <p:extLst>
      <p:ext uri="{BB962C8B-B14F-4D97-AF65-F5344CB8AC3E}">
        <p14:creationId xmlns:p14="http://schemas.microsoft.com/office/powerpoint/2010/main" val="15402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Insert- is used to add the records to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9454" y="2495006"/>
            <a:ext cx="9345998" cy="4034482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(c1,c2,c3…) values(give values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t1(c1,c2,c3,c4)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values(1,’a’,’2022-01-31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’,23.567);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t1 values(10,'arun',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'2022-01-01‘, 5.67);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 row insert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t1(c1,c2,c3,c4)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values(1,’a’,’2022-01-31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 2.3),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2,’b’,’2022-01-31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 3.56), 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3,’c’,’2022-01-31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 4.56), 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4,’d’,’2022-01-31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’, 6.8);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1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09" y="339051"/>
            <a:ext cx="5586734" cy="26944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66" y="1929318"/>
            <a:ext cx="5080261" cy="28703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86" y="2925210"/>
            <a:ext cx="5887140" cy="374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2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Delete command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658" y="2577373"/>
            <a:ext cx="8761412" cy="3679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UPDATE: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column1 =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value1, ... WHERE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“San Jose”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cnum</a:t>
            </a:r>
            <a:r>
              <a:rPr lang="en-US" sz="2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=2004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salespeople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snum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=“1003”;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5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500" y="2280994"/>
            <a:ext cx="4038600" cy="4374894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 or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 &gt;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</a:t>
            </a:r>
          </a:p>
          <a:p>
            <a:pPr lvl="1"/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</a:p>
          <a:p>
            <a:pPr lvl="1"/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between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665508" y="2280994"/>
            <a:ext cx="4538793" cy="4180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null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not null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&gt;any or &gt;all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 any or &lt;all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&lt;= any or &lt; all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&gt;=any or &gt;= all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=any or =all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Like</a:t>
            </a:r>
          </a:p>
        </p:txBody>
      </p:sp>
    </p:spTree>
    <p:extLst>
      <p:ext uri="{BB962C8B-B14F-4D97-AF65-F5344CB8AC3E}">
        <p14:creationId xmlns:p14="http://schemas.microsoft.com/office/powerpoint/2010/main" val="258681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 Commands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833" y="2560318"/>
            <a:ext cx="10000727" cy="39972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Column: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 a new column to an existing table using ADD keyword.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Column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datatype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Column: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odify the data type or other properties of an existing column.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Column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datatype;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Column: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emove an existing column from a table.</a:t>
            </a:r>
          </a:p>
          <a:p>
            <a:pPr lvl="1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0907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216" y="2424974"/>
            <a:ext cx="9086327" cy="40440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new constraint, such as a foreign key, check constraint, to an existing table.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CONSTRAINT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constraint_name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constraint_definition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Table: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rename an existing table.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old_table_name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TO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new_table_name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Column: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rename an existing column in a table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COLUMN </a:t>
            </a:r>
            <a:endParaRPr lang="en-US" sz="2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old_column_name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new_column_name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5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671" y="2429691"/>
            <a:ext cx="10214019" cy="408722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sort of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restrictions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enforce integrity of the data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Key, Primary Key, Not Null …etc.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Constraint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define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range of values will be allowed/not allowed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(rating &gt;= 100);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will take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explicit value for the column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provided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inserting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  <a:r>
              <a:rPr 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Varchar(10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‘London';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7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different keys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211" y="2338253"/>
            <a:ext cx="9151639" cy="43107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primary key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in a table.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contain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contain NULL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</a:p>
          <a:p>
            <a:pPr lvl="1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used as the basis for foreign key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with other tables. There can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be one primary key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table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cases, a primary key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auto-incremented integer column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 can also be a composite key or a natural key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Key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key ensures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value in a column is unique.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the primary key, 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NULL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 but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NULL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per column.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unique keys can exist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7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491" y="2427104"/>
            <a:ext cx="9516744" cy="39606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foreign key establishes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two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primary key or a unique key in another table,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parent-child relationship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by enforcing data consistency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related tables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Key: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candidate key is a column or a set of columns that could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potentially serve as a primary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and non-null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table,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candidate keys can exist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is chosen as the primary key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2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989" y="2377440"/>
            <a:ext cx="9736873" cy="4190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Key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natural key is a key that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the data itself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often based on real-world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attributes. 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column or a combination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columns.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security numbers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addresses, or unique identifiers inherent to the domain.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Surrogate Key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surrogate key is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system-generated key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for a natural key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Surrogate keys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auto-incremented integers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intrinsic meaning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solely used for database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72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2704" y="2285999"/>
            <a:ext cx="9791719" cy="4258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Key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 key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one or more columns that uniquely identifies each record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table. 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contain more columns than necessary to uniquely identify each record.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 key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candidate keys, primary keys, or even non-key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broader concept than candidate keys because it encompasses all possible keys, including keys that are not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minimal.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 Key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key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two or more columns that together uniquely identify each record in a table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precise data uniqueness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compared to single-column keys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16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DDL- Data Definition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24099"/>
            <a:ext cx="10045095" cy="423635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 of SQL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define, modify, and manage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of database objects.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are responsible for defining the organization of data in the database.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 statements include:</a:t>
            </a:r>
          </a:p>
          <a:p>
            <a:pPr lvl="3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 database demo;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ALTER: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 table t1 add column c5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null;</a:t>
            </a:r>
          </a:p>
          <a:p>
            <a:pPr lvl="3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RENAME: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 table t1 rename to table1;</a:t>
            </a:r>
          </a:p>
          <a:p>
            <a:pPr lvl="3"/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TRUNCATE: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truncate table t1</a:t>
            </a:r>
          </a:p>
          <a:p>
            <a:pPr lvl="3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DROP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drop table t1;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demo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1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vs.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85053"/>
            <a:ext cx="10045336" cy="4211690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also delete data from the table but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doesn’t have any where clause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means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will remove all the records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whereas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can delete specific records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where clause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rollback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can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rollback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in performance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delete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resets the auto increment value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initial value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as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doesn’t reset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auto increment value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can have a trigger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cannot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trigger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can be executed on parent table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a foreign key but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14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DML- Data Manipulation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64377"/>
            <a:ext cx="9933959" cy="411770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subset of SQL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manipulate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in the database. 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which deals with the structure of the database objects, DML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the actual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those objects: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INSERT: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new rows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 into a table.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existing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table.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one or more rows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data from a table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DRL- Data Read Language: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one or more tables in the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89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DCL- Data Control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458356"/>
            <a:ext cx="9846874" cy="39424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Control Language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subset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SQL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access to data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the database. 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DCL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statements are primarily concerned with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and managing permissions and privileges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database users.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give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privileges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permissions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</a:p>
          <a:p>
            <a:pPr lvl="1"/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Giving permission to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plummer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access the kitchen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REVOKE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revoke previously granted privileges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task complete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permission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55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TCL- Transaction Control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521131"/>
            <a:ext cx="9817845" cy="386515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Control Language (TCL) is a subset of SQL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manage transactions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database. 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TCL statements are responsible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controlling the transactional behavior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SQL operations,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integrity and consistency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Transaction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start the transaction without this command rollback will not work.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permanently save the changes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during the current transaction to the database.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 all the changes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during the current transaction and restore the database to its previous state.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9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1189" y="2125859"/>
            <a:ext cx="5369424" cy="1923627"/>
          </a:xfrm>
        </p:spPr>
        <p:txBody>
          <a:bodyPr/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321256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54434" y="973668"/>
            <a:ext cx="5461932" cy="706964"/>
          </a:xfrm>
        </p:spPr>
        <p:txBody>
          <a:bodyPr/>
          <a:lstStyle/>
          <a:p>
            <a:r>
              <a:rPr lang="en-US" sz="4000" b="1" dirty="0" smtClean="0"/>
              <a:t>Inner Join</a:t>
            </a: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42348" y="2429691"/>
            <a:ext cx="10284175" cy="4075614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Returns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only the </a:t>
            </a: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rows where there is a match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both tables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based on the specified condition. </a:t>
            </a:r>
            <a:endParaRPr lang="en-US" sz="20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It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selects rows that have </a:t>
            </a:r>
            <a:r>
              <a:rPr 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matching values </a:t>
            </a:r>
            <a:r>
              <a:rPr 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in both tables' columns</a:t>
            </a:r>
            <a:r>
              <a:rPr lang="en-US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SQL </a:t>
            </a:r>
            <a:r>
              <a:rPr lang="en-IN" sz="2000" dirty="0">
                <a:solidFill>
                  <a:schemeClr val="tx1"/>
                </a:solidFill>
              </a:rPr>
              <a:t>Inner Join is a type of join that </a:t>
            </a:r>
            <a:r>
              <a:rPr lang="en-IN" sz="2000" b="1" dirty="0">
                <a:solidFill>
                  <a:schemeClr val="tx1"/>
                </a:solidFill>
              </a:rPr>
              <a:t>combines multiple tables by retrieving records </a:t>
            </a:r>
            <a:r>
              <a:rPr lang="en-IN" sz="2000" dirty="0">
                <a:solidFill>
                  <a:schemeClr val="tx1"/>
                </a:solidFill>
              </a:rPr>
              <a:t>that have matching values in both tables (in the common column).</a:t>
            </a:r>
          </a:p>
          <a:p>
            <a:pPr marL="0" indent="0">
              <a:buNone/>
            </a:pPr>
            <a:r>
              <a:rPr lang="en-IN" sz="2400" b="1" dirty="0" smtClean="0">
                <a:solidFill>
                  <a:schemeClr val="tx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1900" dirty="0" smtClean="0">
                <a:solidFill>
                  <a:schemeClr val="tx1"/>
                </a:solidFill>
              </a:rPr>
              <a:t>SELECT </a:t>
            </a:r>
            <a:r>
              <a:rPr lang="en-IN" sz="1900" dirty="0" err="1">
                <a:solidFill>
                  <a:schemeClr val="tx1"/>
                </a:solidFill>
              </a:rPr>
              <a:t>column_name</a:t>
            </a:r>
            <a:r>
              <a:rPr lang="en-IN" sz="1900" dirty="0">
                <a:solidFill>
                  <a:schemeClr val="tx1"/>
                </a:solidFill>
              </a:rPr>
              <a:t>(s) 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900" dirty="0" smtClean="0">
                <a:solidFill>
                  <a:schemeClr val="tx1"/>
                </a:solidFill>
              </a:rPr>
              <a:t>		FROM </a:t>
            </a:r>
            <a:r>
              <a:rPr lang="en-IN" sz="1900" dirty="0">
                <a:solidFill>
                  <a:schemeClr val="tx1"/>
                </a:solidFill>
              </a:rPr>
              <a:t>table1 </a:t>
            </a:r>
            <a:r>
              <a:rPr lang="en-IN" sz="1900" b="1" dirty="0">
                <a:solidFill>
                  <a:schemeClr val="tx1"/>
                </a:solidFill>
              </a:rPr>
              <a:t>INNER JOIN </a:t>
            </a:r>
            <a:r>
              <a:rPr lang="en-IN" sz="1900" dirty="0" smtClean="0">
                <a:solidFill>
                  <a:schemeClr val="tx1"/>
                </a:solidFill>
              </a:rPr>
              <a:t>table2 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/>
                </a:solidFill>
              </a:rPr>
              <a:t>	</a:t>
            </a:r>
            <a:r>
              <a:rPr lang="en-IN" sz="1900" dirty="0" smtClean="0">
                <a:solidFill>
                  <a:schemeClr val="tx1"/>
                </a:solidFill>
              </a:rPr>
              <a:t>	ON </a:t>
            </a:r>
            <a:r>
              <a:rPr lang="en-IN" sz="1900" b="1" dirty="0" smtClean="0">
                <a:solidFill>
                  <a:schemeClr val="tx1"/>
                </a:solidFill>
              </a:rPr>
              <a:t>table1.col_name = table2.col_name</a:t>
            </a:r>
            <a:r>
              <a:rPr lang="en-IN" sz="1900" dirty="0">
                <a:solidFill>
                  <a:schemeClr val="tx1"/>
                </a:solidFill>
              </a:rPr>
              <a:t>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043" y="4447618"/>
            <a:ext cx="3359368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6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70217" y="1059954"/>
            <a:ext cx="6454709" cy="706964"/>
          </a:xfrm>
        </p:spPr>
        <p:txBody>
          <a:bodyPr/>
          <a:lstStyle/>
          <a:p>
            <a:r>
              <a:rPr lang="en-US" sz="4000" b="1" dirty="0" smtClean="0"/>
              <a:t>Left and Right Join</a:t>
            </a:r>
            <a:endParaRPr lang="en-US" sz="40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2572" y="2424948"/>
            <a:ext cx="8196295" cy="3936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(or LEFT OUTER JOIN)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all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from the left table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matching rows from the right table. 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 match,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returns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columns from the right table.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JOIN (or RIGHT OUTER JOIN)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all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from the right table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matching rows from the left table. 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 match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returns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columns from the left table.</a:t>
            </a:r>
          </a:p>
          <a:p>
            <a:pPr marL="0" indent="0">
              <a:buNone/>
            </a:pPr>
            <a:r>
              <a:rPr lang="en-IN" sz="2400" b="1" dirty="0" smtClean="0">
                <a:solidFill>
                  <a:schemeClr val="tx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1900" dirty="0" smtClean="0">
                <a:solidFill>
                  <a:schemeClr val="tx1"/>
                </a:solidFill>
              </a:rPr>
              <a:t>SELECT t1.c1, t2.c2 </a:t>
            </a:r>
            <a:r>
              <a:rPr lang="en-IN" sz="1900" dirty="0">
                <a:solidFill>
                  <a:schemeClr val="tx1"/>
                </a:solidFill>
              </a:rPr>
              <a:t>FROM </a:t>
            </a:r>
            <a:r>
              <a:rPr lang="en-IN" sz="1900" dirty="0" smtClean="0">
                <a:solidFill>
                  <a:schemeClr val="tx1"/>
                </a:solidFill>
              </a:rPr>
              <a:t>t1 </a:t>
            </a:r>
            <a:r>
              <a:rPr lang="en-IN" sz="1900" b="1" dirty="0" smtClean="0">
                <a:solidFill>
                  <a:schemeClr val="tx1"/>
                </a:solidFill>
              </a:rPr>
              <a:t>LEFT </a:t>
            </a:r>
            <a:r>
              <a:rPr lang="en-IN" sz="1900" b="1" dirty="0">
                <a:solidFill>
                  <a:schemeClr val="tx1"/>
                </a:solidFill>
              </a:rPr>
              <a:t>JOIN </a:t>
            </a:r>
            <a:r>
              <a:rPr lang="en-IN" sz="1900" dirty="0" smtClean="0">
                <a:solidFill>
                  <a:schemeClr val="tx1"/>
                </a:solidFill>
              </a:rPr>
              <a:t>t2 ON </a:t>
            </a:r>
            <a:r>
              <a:rPr lang="en-IN" sz="1900" b="1" dirty="0" smtClean="0">
                <a:solidFill>
                  <a:schemeClr val="tx1"/>
                </a:solidFill>
              </a:rPr>
              <a:t>t1.c1 = t2.c2</a:t>
            </a:r>
            <a:r>
              <a:rPr lang="en-IN" sz="1900" dirty="0" smtClean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/>
                </a:solidFill>
              </a:rPr>
              <a:t>SELECT t1.c1, t2.c2 FROM t1 </a:t>
            </a:r>
            <a:r>
              <a:rPr lang="en-IN" sz="1900" b="1" dirty="0" smtClean="0">
                <a:solidFill>
                  <a:schemeClr val="tx1"/>
                </a:solidFill>
              </a:rPr>
              <a:t>RIGHT </a:t>
            </a:r>
            <a:r>
              <a:rPr lang="en-IN" sz="1900" b="1" dirty="0">
                <a:solidFill>
                  <a:schemeClr val="tx1"/>
                </a:solidFill>
              </a:rPr>
              <a:t>JOIN </a:t>
            </a:r>
            <a:r>
              <a:rPr lang="en-IN" sz="1900" dirty="0">
                <a:solidFill>
                  <a:schemeClr val="tx1"/>
                </a:solidFill>
              </a:rPr>
              <a:t>t2 ON </a:t>
            </a:r>
            <a:r>
              <a:rPr lang="en-IN" sz="1900" b="1" dirty="0">
                <a:solidFill>
                  <a:schemeClr val="tx1"/>
                </a:solidFill>
              </a:rPr>
              <a:t>t1.c1 = t2.c2</a:t>
            </a:r>
            <a:r>
              <a:rPr lang="en-IN" sz="1900" dirty="0" smtClean="0">
                <a:solidFill>
                  <a:schemeClr val="tx1"/>
                </a:solidFill>
              </a:rPr>
              <a:t>;</a:t>
            </a:r>
            <a:endParaRPr lang="en-IN" sz="19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051" y="4447973"/>
            <a:ext cx="3254829" cy="2005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867" y="2446914"/>
            <a:ext cx="3085013" cy="200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6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Right Join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57" y="705396"/>
            <a:ext cx="7720149" cy="579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33703" y="2431764"/>
            <a:ext cx="4415246" cy="2207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702" y="2771012"/>
            <a:ext cx="4317275" cy="166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9202782" y="3535575"/>
            <a:ext cx="1365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Inner Join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0079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386" y="946508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Alias: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031" y="2377440"/>
            <a:ext cx="9998649" cy="428461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column alias is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given to a column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an expression in the result set of a SQL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query. It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the output of a column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an expression to make it more meaningful or readable.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aliases are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used when the result set includes calculated fields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provide a descriptive name for the calculated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value. Column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aliases are specified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AS keyword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by the desired name.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"First Name",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"Last Name",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salary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12 AS "Annual Salary“ FROM employees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69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544" y="1000828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Alias: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53" y="2412230"/>
            <a:ext cx="10072627" cy="4027759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table alias is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shorthand notation used to reference a table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SQL query.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or more convenient way to reference a table,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especially when the table name is long or when multiple tables are involved in a query.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aliases are specified after the table name in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FROM clause, using the AS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 followed by the desired alias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SELECT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e.first_name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e.last_name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d.department_name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FROM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AS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JOIN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departments AS 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e.department_id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d.department_id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9750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09406" y="1091233"/>
            <a:ext cx="6506960" cy="706964"/>
          </a:xfrm>
        </p:spPr>
        <p:txBody>
          <a:bodyPr/>
          <a:lstStyle/>
          <a:p>
            <a:r>
              <a:rPr lang="en-US" b="1" dirty="0" smtClean="0"/>
              <a:t>Cross &amp; Self Join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54953" y="2455817"/>
            <a:ext cx="9817845" cy="4258491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solidFill>
                  <a:schemeClr val="tx1"/>
                </a:solidFill>
              </a:rPr>
              <a:t>Cross </a:t>
            </a:r>
            <a:r>
              <a:rPr lang="en-IN" sz="2000" b="1" dirty="0">
                <a:solidFill>
                  <a:schemeClr val="tx1"/>
                </a:solidFill>
              </a:rPr>
              <a:t>Join</a:t>
            </a:r>
            <a:r>
              <a:rPr lang="en-IN" sz="2000" dirty="0">
                <a:solidFill>
                  <a:schemeClr val="tx1"/>
                </a:solidFill>
              </a:rPr>
              <a:t> is a </a:t>
            </a:r>
            <a:r>
              <a:rPr lang="en-IN" sz="2000" b="1" dirty="0">
                <a:solidFill>
                  <a:schemeClr val="tx1"/>
                </a:solidFill>
              </a:rPr>
              <a:t>basic type of inner join </a:t>
            </a:r>
            <a:r>
              <a:rPr lang="en-IN" sz="2000" dirty="0">
                <a:solidFill>
                  <a:schemeClr val="tx1"/>
                </a:solidFill>
              </a:rPr>
              <a:t>that is used to retrieve the </a:t>
            </a:r>
            <a:r>
              <a:rPr lang="en-IN" sz="2000" b="1" dirty="0">
                <a:solidFill>
                  <a:schemeClr val="tx1"/>
                </a:solidFill>
              </a:rPr>
              <a:t>Cartesian product </a:t>
            </a:r>
            <a:r>
              <a:rPr lang="en-IN" sz="2000" dirty="0">
                <a:solidFill>
                  <a:schemeClr val="tx1"/>
                </a:solidFill>
              </a:rPr>
              <a:t>(or cross product) of two individual tables.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   </a:t>
            </a:r>
            <a:r>
              <a:rPr lang="en-US" sz="2400" b="1" dirty="0" smtClean="0">
                <a:solidFill>
                  <a:schemeClr val="tx2"/>
                </a:solidFill>
              </a:rPr>
              <a:t>Example:   </a:t>
            </a:r>
            <a:endParaRPr lang="en-US" sz="2000" b="1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SELECT </a:t>
            </a:r>
            <a:r>
              <a:rPr lang="en-IN" dirty="0">
                <a:solidFill>
                  <a:schemeClr val="tx1"/>
                </a:solidFill>
              </a:rPr>
              <a:t>ID, NAME, AMOUNT, DATE </a:t>
            </a:r>
            <a:r>
              <a:rPr lang="en-IN" dirty="0" smtClean="0">
                <a:solidFill>
                  <a:schemeClr val="tx1"/>
                </a:solidFill>
              </a:rPr>
              <a:t> FROM </a:t>
            </a:r>
            <a:r>
              <a:rPr lang="en-IN" dirty="0">
                <a:solidFill>
                  <a:schemeClr val="tx1"/>
                </a:solidFill>
              </a:rPr>
              <a:t>CUSTOMERS </a:t>
            </a:r>
            <a:r>
              <a:rPr lang="en-IN" b="1" dirty="0">
                <a:solidFill>
                  <a:schemeClr val="tx1"/>
                </a:solidFill>
              </a:rPr>
              <a:t>CROSS JOIN </a:t>
            </a:r>
            <a:r>
              <a:rPr lang="en-IN" dirty="0">
                <a:solidFill>
                  <a:schemeClr val="tx1"/>
                </a:solidFill>
              </a:rPr>
              <a:t>ORDERS;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Self Join, </a:t>
            </a:r>
            <a:r>
              <a:rPr lang="en-IN" sz="2000" dirty="0" smtClean="0">
                <a:solidFill>
                  <a:schemeClr val="tx1"/>
                </a:solidFill>
              </a:rPr>
              <a:t>is </a:t>
            </a:r>
            <a:r>
              <a:rPr lang="en-IN" sz="2000" dirty="0">
                <a:solidFill>
                  <a:schemeClr val="tx1"/>
                </a:solidFill>
              </a:rPr>
              <a:t>a type of join </a:t>
            </a:r>
            <a:r>
              <a:rPr lang="en-IN" sz="2000" b="1" dirty="0">
                <a:solidFill>
                  <a:schemeClr val="tx1"/>
                </a:solidFill>
              </a:rPr>
              <a:t>that combines the records of a table with itself</a:t>
            </a:r>
            <a:r>
              <a:rPr lang="en-IN" sz="20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tx2"/>
                </a:solidFill>
              </a:rPr>
              <a:t>   </a:t>
            </a:r>
            <a:r>
              <a:rPr lang="en-US" sz="2400" b="1" dirty="0" smtClean="0">
                <a:solidFill>
                  <a:schemeClr val="tx2"/>
                </a:solidFill>
              </a:rPr>
              <a:t>Example</a:t>
            </a:r>
            <a:r>
              <a:rPr lang="en-US" sz="2400" b="1" dirty="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IN" dirty="0">
                <a:solidFill>
                  <a:schemeClr val="tx1"/>
                </a:solidFill>
              </a:rPr>
              <a:t>SELECT a.ID, b.NAME as EARNS_HIGHER, </a:t>
            </a:r>
            <a:r>
              <a:rPr lang="en-IN" dirty="0" smtClean="0">
                <a:solidFill>
                  <a:schemeClr val="tx1"/>
                </a:solidFill>
              </a:rPr>
              <a:t>a.NAME </a:t>
            </a:r>
            <a:r>
              <a:rPr lang="en-IN" dirty="0">
                <a:solidFill>
                  <a:schemeClr val="tx1"/>
                </a:solidFill>
              </a:rPr>
              <a:t>as EARNS_LESS, </a:t>
            </a:r>
            <a:endParaRPr lang="en-I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		</a:t>
            </a:r>
            <a:r>
              <a:rPr lang="en-IN" dirty="0" err="1" smtClean="0">
                <a:solidFill>
                  <a:schemeClr val="tx1"/>
                </a:solidFill>
              </a:rPr>
              <a:t>a.SALARY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as LOWER_SALARY </a:t>
            </a:r>
            <a:r>
              <a:rPr lang="en-IN" dirty="0" smtClean="0">
                <a:solidFill>
                  <a:schemeClr val="tx1"/>
                </a:solidFill>
              </a:rPr>
              <a:t>FROM </a:t>
            </a:r>
            <a:r>
              <a:rPr lang="en-IN" b="1" dirty="0">
                <a:solidFill>
                  <a:schemeClr val="tx1"/>
                </a:solidFill>
              </a:rPr>
              <a:t>CUSTOMERS a, CUSTOMERS b </a:t>
            </a:r>
            <a:endParaRPr lang="en-IN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	</a:t>
            </a:r>
            <a:r>
              <a:rPr lang="en-IN" b="1" dirty="0" smtClean="0">
                <a:solidFill>
                  <a:schemeClr val="tx1"/>
                </a:solidFill>
              </a:rPr>
              <a:t>		</a:t>
            </a:r>
            <a:r>
              <a:rPr lang="en-IN" dirty="0" smtClean="0">
                <a:solidFill>
                  <a:schemeClr val="tx1"/>
                </a:solidFill>
              </a:rPr>
              <a:t>WHERE </a:t>
            </a:r>
            <a:r>
              <a:rPr lang="en-IN" dirty="0" err="1">
                <a:solidFill>
                  <a:schemeClr val="tx1"/>
                </a:solidFill>
              </a:rPr>
              <a:t>a.SALARY</a:t>
            </a:r>
            <a:r>
              <a:rPr lang="en-IN" dirty="0">
                <a:solidFill>
                  <a:schemeClr val="tx1"/>
                </a:solidFill>
              </a:rPr>
              <a:t> &lt; </a:t>
            </a:r>
            <a:r>
              <a:rPr lang="en-IN" dirty="0" err="1">
                <a:solidFill>
                  <a:schemeClr val="tx1"/>
                </a:solidFill>
              </a:rPr>
              <a:t>b.SALARY</a:t>
            </a:r>
            <a:r>
              <a:rPr lang="en-IN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4618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022" y="2420619"/>
            <a:ext cx="9922348" cy="4058557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 all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Not Supported in MySQL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 Supported in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Pre-requisites for using Set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queries should have same number of columns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data types of the columns in both the queries should be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same/compatible</a:t>
            </a:r>
          </a:p>
        </p:txBody>
      </p:sp>
    </p:spTree>
    <p:extLst>
      <p:ext uri="{BB962C8B-B14F-4D97-AF65-F5344CB8AC3E}">
        <p14:creationId xmlns:p14="http://schemas.microsoft.com/office/powerpoint/2010/main" val="39986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078" y="869165"/>
            <a:ext cx="8761413" cy="11033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Sets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={1,2,3}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={3,4,5}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3960" y="2485934"/>
            <a:ext cx="9700279" cy="4006306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Union B= {1,2,3,4,5}– Need to perform sort to remove duplicates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Union A= {3,4,5,1,2} – Need to perform sort to remove duplicates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Union All B={1,2,3,3,4,5}- Doesn’t remove duplicates so no sort is required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Union All A={3,4,5,1,2,3}-- Doesn’t remove duplicates so no sort is required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Intersect B={3}– just the common elements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Intersect A={3} – just the common elements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minus B={1,2}– Elements of A which are not in B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Minus A= {4,5}- Elements of B which are not in A</a:t>
            </a:r>
          </a:p>
        </p:txBody>
      </p:sp>
    </p:spTree>
    <p:extLst>
      <p:ext uri="{BB962C8B-B14F-4D97-AF65-F5344CB8AC3E}">
        <p14:creationId xmlns:p14="http://schemas.microsoft.com/office/powerpoint/2010/main" val="111202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450" y="973668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247" y="2402125"/>
            <a:ext cx="10708319" cy="4207682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in SQL are functions that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 on a set of values and return a single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summarizing the data in that set. These functions are commonly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with the GROUP BY clause to perform calculations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groups of rows rather than individual rows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Count-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 on all data types</a:t>
            </a:r>
          </a:p>
          <a:p>
            <a:pPr lvl="2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Count(*)/count(1)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count number of records in the table</a:t>
            </a:r>
          </a:p>
          <a:p>
            <a:pPr lvl="2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</a:t>
            </a:r>
            <a:r>
              <a:rPr lang="en-US" sz="2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count the number of not null values in the column of that table</a:t>
            </a:r>
          </a:p>
          <a:p>
            <a:pPr lvl="1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Sum-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 only with numeric data types, Calculates the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values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column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Max-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column.(recommended for Numeric)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minimum value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column.(recommended for Numeric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 numeric fields, Calculates the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of values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column.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3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Query Syntax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8355" y="2873827"/>
            <a:ext cx="4167052" cy="3331027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Column List(c1,c2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Clr>
                <a:schemeClr val="tx2"/>
              </a:buClr>
              <a:buFont typeface="+mj-lt"/>
              <a:buAutoNum type="arabicPeriod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>
              <a:buClr>
                <a:schemeClr val="tx2"/>
              </a:buClr>
              <a:buFont typeface="+mj-lt"/>
              <a:buAutoNum type="arabicPeriod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Table_List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(t1,t2,t3) (join)</a:t>
            </a:r>
          </a:p>
          <a:p>
            <a:pPr>
              <a:buClr>
                <a:schemeClr val="tx2"/>
              </a:buClr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  <a:p>
            <a:pPr>
              <a:buClr>
                <a:schemeClr val="tx2"/>
              </a:buClr>
              <a:buFont typeface="+mj-lt"/>
              <a:buAutoNum type="arabicPeriod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40731" y="2873827"/>
            <a:ext cx="4167052" cy="3592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2"/>
              </a:buCl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Group by Clause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Clause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ffset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7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759" y="999793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091" y="2397988"/>
            <a:ext cx="10254343" cy="4120378"/>
          </a:xfrm>
        </p:spPr>
        <p:txBody>
          <a:bodyPr>
            <a:normAutofit/>
          </a:bodyPr>
          <a:lstStyle/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use GROUP BY in a query,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set is divided into groups of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the values of the specified column(s) are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rows are grouped,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 can be applied to each group to calculate summary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 or perform calculations based on the grouped data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aggregation, each group is represented by a single summary row in the result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aggregate function applied to the group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sz="24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(amount)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total_amt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GROUP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41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387" y="973668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455817"/>
            <a:ext cx="10079104" cy="4219302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HAVING clause in SQL is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filter the results of a GROUP BY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clause based on specified conditions.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clause filters individual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they are grouped, the HAVING clause filters groups of rows after they have been grouped by the GROUP BY clause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after the aggregate functions have been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applied.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SUM(amount)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total_amt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_name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HAVING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SUM(amount)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50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083" y="946507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Clause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Having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3" y="2446746"/>
            <a:ext cx="5170831" cy="3993243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clause is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filter rows from the result set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specified conditions.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before the rows are grouped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(if using GROUP BY) and before any aggregate functions are calculated.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WHERE clause is typically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filter individual rows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column values.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used to filter based on aggregated results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calculated fields.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08915" y="2469510"/>
            <a:ext cx="5421086" cy="4052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HAVING clause is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filter grouped rows from the result set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specified conditions.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applied after the rows are grouped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(if using GROUP BY) and after any aggregate functions are calculated.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HAVING clause is typically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filter groups of rows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aggregated results or calculated fields.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be used in conjunction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GROUP BY clause.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5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194" y="973668"/>
            <a:ext cx="8761413" cy="70696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Clause: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5892" y="2429693"/>
            <a:ext cx="9605468" cy="4153989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ORDER BY clause in SQL is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sort the result set of a query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one or more columns.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the order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which the rows should appear in the final result set. If no sort order is specified,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is ascending order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specified in the ORDER BY clause can be followed by an optional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 (ascending) or DESC (descending) keyword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specify the sort order.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FROM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salesperson_name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DESC;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FROM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DESC, </a:t>
            </a:r>
            <a:r>
              <a:rPr lang="en-US" sz="2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sp_name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1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136" y="975607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338" y="2403566"/>
            <a:ext cx="9338141" cy="4140925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DISTINCT in a SELECT statement, it instructs the database to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rows from the result set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returning the data to the user.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to all columns specified in the SELECT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clause, not just one specific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column.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keyword is often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when you want to retrieve unique values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 column or a combination of columns in a table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category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products;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SELECT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city, state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customers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COUNT(DISTINCT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unique_orders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orders;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orders  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WHERE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= 'North America' ORDER BY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registration_date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32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and Offset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135" y="2436399"/>
            <a:ext cx="9605478" cy="4055841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LIMIT and OFFSET clauses in SQL are used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the number of rows returned by a query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specify a starting point for retrieving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result set, respectively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clauses are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together to implement pagination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applications where data needs to be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displayed in smaller, manageable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Limit: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How many rows to fetch 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FROM employees LIMIT 10;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Offset: ( starting point )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FROM employees LIMIT 10 OFFSET 20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14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162" y="1007813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in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1" y="2331656"/>
            <a:ext cx="9405256" cy="42389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ASCII value for the specific character.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CHAR_LENGTH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string (in characters).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CHARACTER_LENGTH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string (in characters).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expressions together.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number to a format like "#,###,###.##", rounded to a specified number of decimal places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Inserts a string within a string at the specified position and for a certain number of characters.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LCASE: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a string to lower-case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a number of characters from a string (starting from left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5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693" y="2385717"/>
            <a:ext cx="10165489" cy="42502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length of a string (in bytes).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position of the first occurrence of a substring in a string.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Converts a string to lower-case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LPAD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Left-pads a string with another string, to a certain length.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LTRIM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Removes leading spaces from a string.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a substring from a string (starting at any position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position of the first occurrence of a substring in a string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Repeats a string as many times as specified.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Converts a string to upper-case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5031" y="994750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in MySQL</a:t>
            </a:r>
          </a:p>
        </p:txBody>
      </p:sp>
    </p:spTree>
    <p:extLst>
      <p:ext uri="{BB962C8B-B14F-4D97-AF65-F5344CB8AC3E}">
        <p14:creationId xmlns:p14="http://schemas.microsoft.com/office/powerpoint/2010/main" val="419253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817" y="2338251"/>
            <a:ext cx="11260183" cy="4062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Reverses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string and returns the result.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a number of characters from a string (starting from right).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RTRIM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Removes trailing spaces from a string.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a string of the specified number of space characters.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a substring from a string (starting at any position).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a substring from a string (starting at any position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Removes leading and trailing spaces from a string.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25.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Converts a string to upper-case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REPLACE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Replaces all occurrences of a substring within a string, with a new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3591" y="981687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functions in MySQL</a:t>
            </a:r>
          </a:p>
        </p:txBody>
      </p:sp>
    </p:spTree>
    <p:extLst>
      <p:ext uri="{BB962C8B-B14F-4D97-AF65-F5344CB8AC3E}">
        <p14:creationId xmlns:p14="http://schemas.microsoft.com/office/powerpoint/2010/main" val="37846199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029" y="1013988"/>
            <a:ext cx="9246411" cy="6666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Functions MySQL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538" y="2455816"/>
            <a:ext cx="9910960" cy="4075611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maximum value in a set of values.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the minimum value in a set of values.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remainder of a number divided by another number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which is 3.14.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number raised to the power of another number.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absolute value of a number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value of an expression.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CEIL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integer value that is &gt;= to a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number.</a:t>
            </a:r>
          </a:p>
        </p:txBody>
      </p:sp>
    </p:spTree>
    <p:extLst>
      <p:ext uri="{BB962C8B-B14F-4D97-AF65-F5344CB8AC3E}">
        <p14:creationId xmlns:p14="http://schemas.microsoft.com/office/powerpoint/2010/main" val="426537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673" y="976643"/>
            <a:ext cx="8761413" cy="7069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Functions MySQL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182" y="2364377"/>
            <a:ext cx="9511053" cy="4245557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integer division.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largest integer value that is &lt;= to a number.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 of a number.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square root of a number.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sum of a set of values.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CEILING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smallest integer value that is &gt;= to a number.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number of records returned by a select query.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value of a number raised to the power of another number.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Rounds a number to a specified number of decimal places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92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1" y="973667"/>
            <a:ext cx="8761413" cy="77675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1" y="2416628"/>
            <a:ext cx="10136779" cy="4140926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queries, also known as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queries or inner queries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within the context of another query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Depending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context and requirement, subqueries can return either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value or multiple rows of data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you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result of one query as a part of another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Structure: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 are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enclosed within parentheses ()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are typically placed within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WHERE, FROM, or SELECT clauses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another query.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Order: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query is executed first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its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set is then used by the outer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query.</a:t>
            </a:r>
          </a:p>
        </p:txBody>
      </p:sp>
    </p:spTree>
    <p:extLst>
      <p:ext uri="{BB962C8B-B14F-4D97-AF65-F5344CB8AC3E}">
        <p14:creationId xmlns:p14="http://schemas.microsoft.com/office/powerpoint/2010/main" val="309147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7"/>
            <a:ext cx="8761413" cy="776755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897" y="2427234"/>
            <a:ext cx="9412898" cy="4117258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CASE statement in SQL is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expression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you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more complex queries by applying different conditions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returning specific values based on those conditions.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It's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IF-THEN-ELSE logic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programming languages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of CASE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</a:p>
          <a:p>
            <a:pPr marL="1257300" lvl="3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value1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result1</a:t>
            </a:r>
          </a:p>
          <a:p>
            <a:pPr marL="1257300" lvl="3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value2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result2 ….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default_result</a:t>
            </a:r>
          </a:p>
          <a:p>
            <a:pPr marL="1257300" lvl="3" indent="0">
              <a:buNone/>
            </a:pP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86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9608839" cy="399324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ROW_NUMBER():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sequential integer to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partition of a result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 Each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gets a unique number,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1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first row in each partition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a rank to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partition of a result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values receive the same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rank(s) will have a gap. For example,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two rows share rank 1, the next rank will be 3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DENSE_RANK</a:t>
            </a: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ranks to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a partition of a result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 Rows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values receive the same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rank is the next consecutive number, without gaps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8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Operator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77441"/>
            <a:ext cx="10183606" cy="4219302"/>
          </a:xfrm>
        </p:spPr>
        <p:txBody>
          <a:bodyPr>
            <a:noAutofit/>
          </a:bodyPr>
          <a:lstStyle/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existence of any record in a subquery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if the subquery returns one or more records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if the subquery returns no records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typically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the WHERE clause to filter records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results of another query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queries to quickly determine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rows without needing to count them. Avoiding joins when only a simple existence check is needed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column1, column2,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FROM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WHERE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 (</a:t>
            </a: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subqueSry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69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472870"/>
            <a:ext cx="9726405" cy="3993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Procedures:</a:t>
            </a: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routines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encapsulate a series of SQL statements. They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perform operations like inserting, updating, deleting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records, 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complex business logic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 can take parameters and return result sets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similar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procedures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are designed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a single value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be used in SQL statements. Functions can also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parameters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Triggers: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special types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procedures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execute in response to certain events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particular table,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 UPDATE, or DELETE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Triggers are useful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business rules, maintaining audit trails, and synchronizing tables.</a:t>
            </a:r>
          </a:p>
        </p:txBody>
      </p:sp>
    </p:spTree>
    <p:extLst>
      <p:ext uri="{BB962C8B-B14F-4D97-AF65-F5344CB8AC3E}">
        <p14:creationId xmlns:p14="http://schemas.microsoft.com/office/powerpoint/2010/main" val="29734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6369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5659" y="2427621"/>
            <a:ext cx="6152606" cy="43368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Example:</a:t>
            </a:r>
          </a:p>
          <a:p>
            <a:pPr marL="80010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//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FUNCTION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CheckEvenOrOdd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INT)</a:t>
            </a:r>
          </a:p>
          <a:p>
            <a:pPr marL="800100" lvl="2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VARCHAR(40)</a:t>
            </a:r>
          </a:p>
          <a:p>
            <a:pPr marL="800100" lvl="2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</a:p>
          <a:p>
            <a:pPr marL="800100" lvl="2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8001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IF(num%2 = 0, 'Even Number', 'Odd Number');</a:t>
            </a:r>
          </a:p>
          <a:p>
            <a:pPr marL="800100" lvl="2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05840" y="2451676"/>
            <a:ext cx="5251270" cy="4094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call functions inside queries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types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function: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Deterministic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the function is expected to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same output for the same input value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time.</a:t>
            </a:r>
          </a:p>
          <a:p>
            <a:pPr marL="400050" lvl="1" indent="0">
              <a:buNone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Reads SQL Data-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function is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having select from table command</a:t>
            </a:r>
          </a:p>
          <a:p>
            <a:pPr marL="400050" lvl="1" indent="0">
              <a:buNone/>
            </a:pP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NO SQL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if the function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read data from SQL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24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313" y="962641"/>
            <a:ext cx="9032619" cy="853096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314" y="2455817"/>
            <a:ext cx="10219681" cy="404948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code/program which can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input through some parameters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can also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values through out parameters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You cannot call procedures inside queries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57300" lvl="3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$$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PROCEDURE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sp_greeting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 VARCHAR(100))</a:t>
            </a:r>
          </a:p>
          <a:p>
            <a:pPr marL="1257300" lvl="3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1257300" lvl="3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CONCAT('hello ', name) AS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greeting;</a:t>
            </a:r>
          </a:p>
          <a:p>
            <a:pPr marL="1257300" lvl="3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END;  </a:t>
            </a:r>
          </a:p>
          <a:p>
            <a:pPr marL="1257300" lvl="3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$$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385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759" y="947542"/>
            <a:ext cx="8761413" cy="706964"/>
          </a:xfrm>
        </p:spPr>
        <p:txBody>
          <a:bodyPr/>
          <a:lstStyle/>
          <a:p>
            <a:r>
              <a:rPr lang="en-US" b="1" dirty="0"/>
              <a:t>Functions </a:t>
            </a:r>
            <a:r>
              <a:rPr lang="en-US" b="1" dirty="0" err="1"/>
              <a:t>vs</a:t>
            </a:r>
            <a:r>
              <a:rPr lang="en-US" b="1" dirty="0"/>
              <a:t> Procedure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8646" y="2377439"/>
            <a:ext cx="9648029" cy="4219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Value: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return a single value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(scalar value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 can be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data type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INT, VARCHAR, DATE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procedure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need to return a value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return multiple values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output parameters or result sets.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return zero or more result sets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 a series of SELECT statements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Functions: Less flexible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performing multiple operations.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Procedures: More flexible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for complex logic and multiple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68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507" y="973668"/>
            <a:ext cx="8761413" cy="706964"/>
          </a:xfrm>
        </p:spPr>
        <p:txBody>
          <a:bodyPr/>
          <a:lstStyle/>
          <a:p>
            <a:r>
              <a:rPr lang="en-US" b="1" dirty="0"/>
              <a:t>Functions </a:t>
            </a:r>
            <a:r>
              <a:rPr lang="en-US" b="1" dirty="0" err="1"/>
              <a:t>vs</a:t>
            </a:r>
            <a:r>
              <a:rPr lang="en-US" b="1" dirty="0"/>
              <a:t> Procedure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721" y="2312495"/>
            <a:ext cx="10496718" cy="4349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Usage:</a:t>
            </a:r>
          </a:p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SQL statements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SELECT, WHERE, HAVING, etc.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from within other SQL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often used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 and to return single values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input parameters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invoked using the CALL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typically used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that require multiple steps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complex logic,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 UPDATE, DELETE) or administrative tasks.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 can contain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procedural logic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(loops, conditionals)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statements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99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38250"/>
            <a:ext cx="9961537" cy="4402183"/>
          </a:xfrm>
        </p:spPr>
        <p:txBody>
          <a:bodyPr>
            <a:no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trigger in SQL is a set of actions that are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executed in response to certain events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specified table.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invoked before or after an INSERT, UPDATE, or DELETE operation. </a:t>
            </a: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enforce business rules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 data, maintain audit trails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complex default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</a:p>
          <a:p>
            <a:pPr marL="0" indent="0">
              <a:buNone/>
            </a:pP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trigger_name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| AFTER} {INSERT | UPDATE | DELETE}</a:t>
            </a:r>
          </a:p>
          <a:p>
            <a:pPr marL="1257300" lvl="3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</a:t>
            </a:r>
          </a:p>
          <a:p>
            <a:pPr marL="1257300" lvl="3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BEGIN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SQL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</a:p>
          <a:p>
            <a:pPr marL="1257300" lvl="3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END;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20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589" y="2525123"/>
            <a:ext cx="9308394" cy="364054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view in SQL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a way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 data from one or more tables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specific format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altering the underlying tables.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simplify complex queries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security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restricting access to certain data,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data in a more convenient form for users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smtClean="0">
                <a:solidFill>
                  <a:schemeClr val="tx2"/>
                </a:solidFill>
              </a:rPr>
              <a:t>Syntax:</a:t>
            </a:r>
            <a:endParaRPr lang="en-US" sz="2400" b="1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en-US" sz="2200" b="1" dirty="0" smtClean="0"/>
              <a:t>CREATE </a:t>
            </a:r>
            <a:r>
              <a:rPr lang="en-US" sz="2200" b="1" dirty="0"/>
              <a:t>VIEW </a:t>
            </a:r>
            <a:r>
              <a:rPr lang="en-US" sz="2200" dirty="0" err="1"/>
              <a:t>view_name</a:t>
            </a:r>
            <a:r>
              <a:rPr lang="en-US" sz="2200" dirty="0"/>
              <a:t> </a:t>
            </a:r>
            <a:r>
              <a:rPr lang="en-US" sz="2200" b="1" dirty="0"/>
              <a:t>AS SELECT </a:t>
            </a:r>
            <a:r>
              <a:rPr lang="en-US" sz="2200" dirty="0"/>
              <a:t>column1, column2, ... </a:t>
            </a:r>
            <a:r>
              <a:rPr lang="en-US" sz="2200" dirty="0" smtClean="0"/>
              <a:t>			</a:t>
            </a:r>
            <a:r>
              <a:rPr lang="en-US" sz="2200" b="1" dirty="0" smtClean="0"/>
              <a:t>FROM</a:t>
            </a:r>
            <a:r>
              <a:rPr lang="en-US" sz="2200" dirty="0" smtClean="0"/>
              <a:t> </a:t>
            </a:r>
            <a:r>
              <a:rPr lang="en-US" sz="2200" dirty="0" err="1"/>
              <a:t>table_name</a:t>
            </a:r>
            <a:r>
              <a:rPr lang="en-US" sz="2200" dirty="0"/>
              <a:t> </a:t>
            </a:r>
            <a:r>
              <a:rPr lang="en-US" sz="2200" b="1" dirty="0"/>
              <a:t>WHERE</a:t>
            </a:r>
            <a:r>
              <a:rPr lang="en-US" sz="2200" dirty="0"/>
              <a:t> condition;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9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83" y="2446745"/>
            <a:ext cx="9334519" cy="4032431"/>
          </a:xfrm>
        </p:spPr>
        <p:txBody>
          <a:bodyPr>
            <a:normAutofit/>
          </a:bodyPr>
          <a:lstStyle/>
          <a:p>
            <a:pPr marL="533400" indent="-5334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process which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you to </a:t>
            </a:r>
            <a:r>
              <a:rPr lang="en-US" alt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redundant data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within your database. </a:t>
            </a:r>
          </a:p>
          <a:p>
            <a:pPr marL="533400" indent="-5334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restructuring the tables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successively meeting higher forms of Normalization. </a:t>
            </a:r>
          </a:p>
          <a:p>
            <a:pPr marL="533400" indent="-5334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properly </a:t>
            </a: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database should have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characteristics</a:t>
            </a:r>
          </a:p>
          <a:p>
            <a:pPr marL="1023938" lvl="1" indent="-4572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 values in each fields</a:t>
            </a:r>
          </a:p>
          <a:p>
            <a:pPr marL="1023938" lvl="1" indent="-4572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redundancy.</a:t>
            </a:r>
          </a:p>
          <a:p>
            <a:pPr marL="1023938" lvl="1" indent="-4572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use of null values.</a:t>
            </a:r>
          </a:p>
          <a:p>
            <a:pPr marL="1023938" lvl="1" indent="-457200"/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loss of information. </a:t>
            </a:r>
          </a:p>
        </p:txBody>
      </p:sp>
    </p:spTree>
    <p:extLst>
      <p:ext uri="{BB962C8B-B14F-4D97-AF65-F5344CB8AC3E}">
        <p14:creationId xmlns:p14="http://schemas.microsoft.com/office/powerpoint/2010/main" val="348337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Normalization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53901"/>
            <a:ext cx="9243079" cy="3824829"/>
          </a:xfrm>
        </p:spPr>
        <p:txBody>
          <a:bodyPr>
            <a:noAutofit/>
          </a:bodyPr>
          <a:lstStyle/>
          <a:p>
            <a:pPr algn="just"/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Levels of normalization based on the amount of redundancy in the database.</a:t>
            </a:r>
          </a:p>
          <a:p>
            <a:pPr algn="just"/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Various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levels of normalization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are: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Normal Form (1NF)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 (2NF)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 (3NF)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Boyce-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(BCNF)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Normal Form (4NF)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Normal Form (5NF)</a:t>
            </a:r>
          </a:p>
          <a:p>
            <a:pPr marL="1023938" lvl="1" indent="-457200" algn="just">
              <a:buClr>
                <a:schemeClr val="tx2"/>
              </a:buClr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Key Normal Form (DKNF) 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6478648" y="3359418"/>
            <a:ext cx="627901" cy="2726539"/>
          </a:xfrm>
          <a:prstGeom prst="downArrow">
            <a:avLst>
              <a:gd name="adj1" fmla="val 49167"/>
              <a:gd name="adj2" fmla="val 120826"/>
            </a:avLst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Redundancy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 flipV="1">
            <a:off x="7384097" y="3313018"/>
            <a:ext cx="597529" cy="2757472"/>
          </a:xfrm>
          <a:prstGeom prst="downArrow">
            <a:avLst>
              <a:gd name="adj1" fmla="val 49167"/>
              <a:gd name="adj2" fmla="val 120826"/>
            </a:avLst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Number of Tables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 flipV="1">
            <a:off x="8233133" y="3343952"/>
            <a:ext cx="576313" cy="2726538"/>
          </a:xfrm>
          <a:prstGeom prst="downArrow">
            <a:avLst>
              <a:gd name="adj1" fmla="val 49167"/>
              <a:gd name="adj2" fmla="val 120826"/>
            </a:avLst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rgbClr val="0000FF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Complexity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4725" y="6339861"/>
            <a:ext cx="10774132" cy="40011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66"/>
                </a:solidFill>
                <a:cs typeface="Times New Roman" panose="02020603050405020304" pitchFamily="18" charset="0"/>
              </a:rPr>
              <a:t>Most databases should be 3NF or BCNF in order to avoid the database anomalies.</a:t>
            </a:r>
            <a:r>
              <a:rPr lang="en-US" altLang="en-US" sz="2000" dirty="0">
                <a:solidFill>
                  <a:srgbClr val="000066"/>
                </a:solidFill>
              </a:rPr>
              <a:t> 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9060953" y="3513909"/>
            <a:ext cx="2695618" cy="2664821"/>
            <a:chOff x="1440" y="912"/>
            <a:chExt cx="2736" cy="2592"/>
          </a:xfrm>
        </p:grpSpPr>
        <p:grpSp>
          <p:nvGrpSpPr>
            <p:cNvPr id="9" name="Group 10"/>
            <p:cNvGrpSpPr>
              <a:grpSpLocks/>
            </p:cNvGrpSpPr>
            <p:nvPr/>
          </p:nvGrpSpPr>
          <p:grpSpPr bwMode="auto">
            <a:xfrm>
              <a:off x="1440" y="912"/>
              <a:ext cx="2736" cy="2592"/>
              <a:chOff x="1632" y="1056"/>
              <a:chExt cx="2496" cy="2304"/>
            </a:xfrm>
          </p:grpSpPr>
          <p:sp>
            <p:nvSpPr>
              <p:cNvPr id="15" name="Oval 11"/>
              <p:cNvSpPr>
                <a:spLocks noChangeArrowheads="1"/>
              </p:cNvSpPr>
              <p:nvPr/>
            </p:nvSpPr>
            <p:spPr bwMode="auto">
              <a:xfrm>
                <a:off x="2736" y="211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 dirty="0"/>
                  <a:t>DKNF</a:t>
                </a:r>
              </a:p>
            </p:txBody>
          </p:sp>
          <p:sp>
            <p:nvSpPr>
              <p:cNvPr id="16" name="Oval 12"/>
              <p:cNvSpPr>
                <a:spLocks noChangeArrowheads="1"/>
              </p:cNvSpPr>
              <p:nvPr/>
            </p:nvSpPr>
            <p:spPr bwMode="auto">
              <a:xfrm>
                <a:off x="2544" y="1920"/>
                <a:ext cx="720" cy="62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</p:txBody>
          </p:sp>
          <p:sp>
            <p:nvSpPr>
              <p:cNvPr id="17" name="Oval 13"/>
              <p:cNvSpPr>
                <a:spLocks noChangeArrowheads="1"/>
              </p:cNvSpPr>
              <p:nvPr/>
            </p:nvSpPr>
            <p:spPr bwMode="auto">
              <a:xfrm>
                <a:off x="2304" y="1680"/>
                <a:ext cx="1200" cy="11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</p:txBody>
          </p:sp>
          <p:sp>
            <p:nvSpPr>
              <p:cNvPr id="18" name="Oval 14"/>
              <p:cNvSpPr>
                <a:spLocks noChangeArrowheads="1"/>
              </p:cNvSpPr>
              <p:nvPr/>
            </p:nvSpPr>
            <p:spPr bwMode="auto">
              <a:xfrm>
                <a:off x="2064" y="1488"/>
                <a:ext cx="1680" cy="14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 dirty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 dirty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 dirty="0"/>
              </a:p>
            </p:txBody>
          </p:sp>
          <p:sp>
            <p:nvSpPr>
              <p:cNvPr id="19" name="Oval 15"/>
              <p:cNvSpPr>
                <a:spLocks noChangeArrowheads="1"/>
              </p:cNvSpPr>
              <p:nvPr/>
            </p:nvSpPr>
            <p:spPr bwMode="auto">
              <a:xfrm>
                <a:off x="1824" y="1296"/>
                <a:ext cx="2112" cy="187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632" y="1056"/>
                <a:ext cx="2496" cy="2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 anchorCtr="1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 b="0"/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 b="0"/>
              </a:p>
            </p:txBody>
          </p:sp>
        </p:grp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2585" y="928"/>
              <a:ext cx="75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Arial" panose="020B0604020202020204" pitchFamily="34" charset="0"/>
                </a:rPr>
                <a:t>1NF</a:t>
              </a:r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2585" y="1160"/>
              <a:ext cx="75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Arial" panose="020B0604020202020204" pitchFamily="34" charset="0"/>
                </a:rPr>
                <a:t>2NF</a:t>
              </a: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2585" y="1376"/>
              <a:ext cx="75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Arial" panose="020B0604020202020204" pitchFamily="34" charset="0"/>
                </a:rPr>
                <a:t>3NF</a:t>
              </a: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2585" y="1640"/>
              <a:ext cx="75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Arial" panose="020B0604020202020204" pitchFamily="34" charset="0"/>
                </a:rPr>
                <a:t>4NF</a:t>
              </a:r>
            </a:p>
          </p:txBody>
        </p:sp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2593" y="1872"/>
              <a:ext cx="750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1400" dirty="0">
                  <a:solidFill>
                    <a:srgbClr val="0000FF"/>
                  </a:solidFill>
                  <a:latin typeface="Arial" panose="020B0604020202020204" pitchFamily="34" charset="0"/>
                </a:rPr>
                <a:t>5NF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91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217890" y="2302676"/>
            <a:ext cx="10092717" cy="13288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 algn="just">
              <a:buFontTx/>
              <a:buNone/>
            </a:pPr>
            <a:r>
              <a:rPr lang="en-US" altLang="en-US" sz="2200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A table is considered to be in 1NF if </a:t>
            </a:r>
            <a:r>
              <a:rPr lang="en-US" altLang="en-US" sz="22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all the fields contain</a:t>
            </a:r>
          </a:p>
          <a:p>
            <a:pPr marL="533400" indent="-533400" algn="just">
              <a:buFontTx/>
              <a:buNone/>
            </a:pPr>
            <a:r>
              <a:rPr lang="en-US" altLang="en-US" sz="22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only scalar values </a:t>
            </a:r>
            <a:r>
              <a:rPr lang="en-US" altLang="en-US" sz="2200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(as opposed to list of values). </a:t>
            </a:r>
          </a:p>
          <a:p>
            <a:pPr marL="533400" indent="-533400" algn="just">
              <a:buFontTx/>
              <a:buNone/>
            </a:pPr>
            <a:r>
              <a:rPr lang="en-US" altLang="en-US" sz="2200" b="1" dirty="0">
                <a:solidFill>
                  <a:srgbClr val="CC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(Not 1NF)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92331" y="702476"/>
            <a:ext cx="755914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cs typeface="Times New Roman" panose="02020603050405020304" pitchFamily="18" charset="0"/>
              </a:rPr>
              <a:t>First Normal </a:t>
            </a:r>
            <a:r>
              <a:rPr lang="en-US" altLang="en-US" sz="4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Form(1NF</a:t>
            </a:r>
            <a:r>
              <a:rPr lang="en-US" altLang="en-US" sz="4400" dirty="0">
                <a:solidFill>
                  <a:schemeClr val="bg1"/>
                </a:solidFill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67137" y="6209923"/>
            <a:ext cx="80010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</a:rPr>
              <a:t>Author and </a:t>
            </a:r>
            <a:r>
              <a:rPr lang="en-US" altLang="en-US" sz="2400" dirty="0" err="1">
                <a:solidFill>
                  <a:srgbClr val="000066"/>
                </a:solidFill>
              </a:rPr>
              <a:t>AuPhone</a:t>
            </a:r>
            <a:r>
              <a:rPr lang="en-US" altLang="en-US" sz="2400" dirty="0">
                <a:solidFill>
                  <a:srgbClr val="000066"/>
                </a:solidFill>
              </a:rPr>
              <a:t> columns are not scalar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11" y="3558904"/>
            <a:ext cx="7207652" cy="265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27462" y="2282826"/>
            <a:ext cx="8583066" cy="4338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FontTx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all items that appear in the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repeating group in a new table</a:t>
            </a:r>
          </a:p>
          <a:p>
            <a:pPr marL="609600" indent="-609600" algn="just">
              <a:buFontTx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Designate a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for each new table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produced. </a:t>
            </a:r>
          </a:p>
          <a:p>
            <a:pPr marL="609600" indent="-609600" algn="just">
              <a:buFontTx/>
              <a:buAutoNum type="arabicPeriod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in the new table the primary key of the table from which the repeating group was extracted or vice versa. </a:t>
            </a:r>
            <a:endParaRPr lang="en-US" altLang="en-US" sz="220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buFontTx/>
              <a:buNone/>
            </a:pPr>
            <a:r>
              <a:rPr lang="en-US" altLang="en-US" sz="22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(1NF)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27462" y="770190"/>
            <a:ext cx="63427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cs typeface="Times New Roman" panose="02020603050405020304" pitchFamily="18" charset="0"/>
              </a:rPr>
              <a:t>1NF - Decomposition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30" y="4452041"/>
            <a:ext cx="5517699" cy="22899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714" y="3617795"/>
            <a:ext cx="380284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1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21445" y="2376233"/>
            <a:ext cx="9886041" cy="16601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</a:t>
            </a:r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 set of attributes 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a table </a:t>
            </a:r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determines another set 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of attributes in the table, then the </a:t>
            </a:r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second set of attributes 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said to be </a:t>
            </a:r>
            <a:r>
              <a:rPr lang="en-US" alt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functionally dependent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 the first set of attributes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endParaRPr lang="en-US" altLang="en-US" sz="2400" dirty="0">
              <a:solidFill>
                <a:srgbClr val="CC0000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609600" indent="-609600" algn="just"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1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60149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 dirty="0">
                <a:solidFill>
                  <a:schemeClr val="bg1"/>
                </a:solidFill>
                <a:cs typeface="Times New Roman" panose="02020603050405020304" pitchFamily="18" charset="0"/>
              </a:rPr>
              <a:t>Functional Dependencies</a:t>
            </a:r>
          </a:p>
        </p:txBody>
      </p:sp>
      <p:sp>
        <p:nvSpPr>
          <p:cNvPr id="51" name="Rectangle 241"/>
          <p:cNvSpPr>
            <a:spLocks noChangeArrowheads="1"/>
          </p:cNvSpPr>
          <p:nvPr/>
        </p:nvSpPr>
        <p:spPr bwMode="auto">
          <a:xfrm>
            <a:off x="6068967" y="3781477"/>
            <a:ext cx="5334000" cy="263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1100138" indent="-5334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366838" indent="-4572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3353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191928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3764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8336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2908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7480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Table Scheme: </a:t>
            </a:r>
            <a:endParaRPr lang="en-US" altLang="en-US" sz="2000" dirty="0" smtClean="0">
              <a:solidFill>
                <a:schemeClr val="tx2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ISBN, Title, Price}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Functional Dependencies: </a:t>
            </a:r>
            <a:endParaRPr lang="en-US" altLang="en-US" sz="2000" dirty="0" smtClean="0">
              <a:solidFill>
                <a:schemeClr val="tx2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ISBN}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 {Title}</a:t>
            </a: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ISBN}  {Price}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62" y="3879669"/>
            <a:ext cx="3392061" cy="249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5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92922" y="2876453"/>
            <a:ext cx="1767458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2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86549" y="823203"/>
            <a:ext cx="96123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cs typeface="Times New Roman" panose="02020603050405020304" pitchFamily="18" charset="0"/>
              </a:rPr>
              <a:t>Functional </a:t>
            </a:r>
            <a:r>
              <a:rPr lang="en-US" altLang="en-US" sz="4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Dependencies Examples</a:t>
            </a:r>
            <a:endParaRPr lang="en-US" altLang="en-US" sz="4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42" name="Rectangle 49"/>
          <p:cNvSpPr>
            <a:spLocks noChangeArrowheads="1"/>
          </p:cNvSpPr>
          <p:nvPr/>
        </p:nvSpPr>
        <p:spPr bwMode="auto">
          <a:xfrm>
            <a:off x="5669280" y="2471219"/>
            <a:ext cx="6264997" cy="2153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1100138" indent="-5334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366838" indent="-4572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3353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191928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3764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8336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2908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7480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Table Scheme: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Functional Dependencies: </a:t>
            </a:r>
            <a:endParaRPr lang="en-US" altLang="en-US" sz="2000" dirty="0" smtClean="0">
              <a:solidFill>
                <a:schemeClr val="tx2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}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 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    	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 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PubID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5" name="Rectangle 122"/>
          <p:cNvSpPr>
            <a:spLocks noChangeArrowheads="1"/>
          </p:cNvSpPr>
          <p:nvPr/>
        </p:nvSpPr>
        <p:spPr bwMode="auto">
          <a:xfrm>
            <a:off x="292922" y="4783131"/>
            <a:ext cx="20751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1100138" indent="-5334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366838" indent="-4572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3353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191928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3764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8336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2908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7480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altLang="en-US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3</a:t>
            </a:r>
          </a:p>
        </p:txBody>
      </p:sp>
      <p:sp>
        <p:nvSpPr>
          <p:cNvPr id="116" name="Rectangle 123"/>
          <p:cNvSpPr>
            <a:spLocks noChangeArrowheads="1"/>
          </p:cNvSpPr>
          <p:nvPr/>
        </p:nvSpPr>
        <p:spPr bwMode="auto">
          <a:xfrm>
            <a:off x="5604782" y="4624251"/>
            <a:ext cx="5752702" cy="197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1100138" indent="-5334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366838" indent="-4572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3353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1919288" indent="-381000"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3764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8336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2908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748088" indent="-381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Table Scheme: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AuName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AuPhone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Functional Dependencies: </a:t>
            </a:r>
            <a:endParaRPr lang="en-US" altLang="en-US" sz="2000" dirty="0" smtClean="0">
              <a:solidFill>
                <a:schemeClr val="tx2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}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 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AuName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AuPhone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  {</a:t>
            </a:r>
            <a:r>
              <a:rPr lang="en-US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AuID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629" y="2443195"/>
            <a:ext cx="3300114" cy="14775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629" y="4064629"/>
            <a:ext cx="3218239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7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  (2NF)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9735" y="2383001"/>
            <a:ext cx="9754503" cy="1065593"/>
          </a:xfrm>
        </p:spPr>
        <p:txBody>
          <a:bodyPr>
            <a:normAutofit/>
          </a:bodyPr>
          <a:lstStyle/>
          <a:p>
            <a:pPr algn="just"/>
            <a:r>
              <a:rPr lang="en-US" altLang="en-US" sz="22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database is in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first normal form 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and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non-key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table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functionally dependent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entire primary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080069" y="3316783"/>
            <a:ext cx="4885509" cy="337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3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 (Convert to 2NF) </a:t>
            </a:r>
          </a:p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Old Scheme:</a:t>
            </a:r>
          </a:p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	{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Title, </a:t>
            </a:r>
            <a:r>
              <a:rPr lang="en-US" altLang="en-US" sz="20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Price, </a:t>
            </a:r>
            <a:r>
              <a:rPr lang="en-US" altLang="en-US" sz="2000" b="1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AuAddress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New Schema:</a:t>
            </a:r>
          </a:p>
          <a:p>
            <a:pPr marL="1100138" lvl="1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Title, </a:t>
            </a:r>
            <a:r>
              <a:rPr lang="en-US" altLang="en-US" sz="20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Price}</a:t>
            </a:r>
          </a:p>
          <a:p>
            <a:pPr marL="1100138" lvl="1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AuAddress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3" y="3316783"/>
            <a:ext cx="5630091" cy="3373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None/>
            </a:pPr>
            <a:r>
              <a:rPr lang="en-US" altLang="en-US" sz="2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1 (Not 2NF) </a:t>
            </a:r>
          </a:p>
          <a:p>
            <a:pPr marL="609600" indent="-609600"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Scheme: 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{Title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AuId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Price,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AuAddress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1100138" lvl="1" indent="-533400"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{Title,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100138" lvl="1" indent="-533400"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{Title,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{Price}</a:t>
            </a:r>
          </a:p>
          <a:p>
            <a:pPr marL="1100138" lvl="1" indent="-533400"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AuAddress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0138" lvl="1" indent="-533400">
              <a:buFontTx/>
              <a:buAutoNum type="arabicPeriod"/>
            </a:pP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AuAddress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belong to a key</a:t>
            </a:r>
          </a:p>
          <a:p>
            <a:pPr marL="1100138" lvl="1" indent="-533400">
              <a:buFontTx/>
              <a:buAutoNum type="arabicPeriod"/>
            </a:pP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AuAddress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functionally depends on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is a subset of a key</a:t>
            </a:r>
          </a:p>
        </p:txBody>
      </p:sp>
    </p:spTree>
    <p:extLst>
      <p:ext uri="{BB962C8B-B14F-4D97-AF65-F5344CB8AC3E}">
        <p14:creationId xmlns:p14="http://schemas.microsoft.com/office/powerpoint/2010/main" val="263309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  (2NF)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848" y="2416627"/>
            <a:ext cx="5905964" cy="4219305"/>
          </a:xfrm>
        </p:spPr>
        <p:txBody>
          <a:bodyPr>
            <a:normAutofit/>
          </a:bodyPr>
          <a:lstStyle/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2 (Not 2NF) </a:t>
            </a:r>
          </a:p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Scheme:</a:t>
            </a:r>
          </a:p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{City</a:t>
            </a:r>
            <a:r>
              <a:rPr lang="en-US" altLang="en-US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Street, </a:t>
            </a:r>
            <a:r>
              <a:rPr lang="en-US" altLang="en-US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HouseNumber</a:t>
            </a:r>
            <a:r>
              <a:rPr lang="en-US" altLang="en-US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HouseColor</a:t>
            </a:r>
            <a:r>
              <a:rPr lang="en-US" altLang="en-US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CityPopulation</a:t>
            </a:r>
            <a:r>
              <a:rPr lang="en-US" altLang="en-US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623888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{City, Street,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HouseNumber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623888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{City, Street,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HouseNumber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HouseColor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{City}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CityPopulation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 </a:t>
            </a:r>
          </a:p>
          <a:p>
            <a:pPr marL="623888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CityPopulation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belong to any key.</a:t>
            </a:r>
          </a:p>
          <a:p>
            <a:pPr marL="623888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CityPopulation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functionally dependent on the City which is a proper subset of  the key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915675" y="2760254"/>
            <a:ext cx="4867022" cy="3875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2 (Convert to  2NF) 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Old Scheme :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City, Street, </a:t>
            </a:r>
            <a:r>
              <a:rPr lang="en-US" altLang="en-US" sz="22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HouseNumber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2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HouseColor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2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CityPopulation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2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New Scheme:</a:t>
            </a:r>
            <a:endParaRPr lang="en-US" altLang="en-US" sz="2200" b="1" dirty="0" smtClean="0">
              <a:solidFill>
                <a:schemeClr val="tx2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2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city, Street, </a:t>
            </a:r>
            <a:r>
              <a:rPr lang="en-US" altLang="en-US" sz="22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HouseNumber</a:t>
            </a:r>
            <a:r>
              <a:rPr lang="en-US" altLang="en-US" sz="22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2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HouseColor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2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city, </a:t>
            </a:r>
            <a:r>
              <a:rPr lang="en-US" altLang="en-US" sz="2200" b="1" u="sng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cityPopulation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  <a:endParaRPr lang="en-US" altLang="en-US" sz="22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4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  (3NF)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199" y="2390503"/>
            <a:ext cx="10066039" cy="40734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2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table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should be second normal 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form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is transitively dependent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primary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key.</a:t>
            </a:r>
            <a:endParaRPr lang="en-US" altLang="en-US" sz="220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Example (Not in 3NF)</a:t>
            </a:r>
          </a:p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Title,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PageCount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Price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}</a:t>
            </a:r>
          </a:p>
          <a:p>
            <a:pPr marL="1100138" lvl="1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{Title,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100138" lvl="1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{Title,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PageCount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marL="1100138" lvl="1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PageCount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{Price}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0138" lvl="1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Price and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PageCount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 on a key hence 2NF</a:t>
            </a:r>
          </a:p>
          <a:p>
            <a:pPr marL="1100138" lvl="1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Transitively {Title,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PubID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{Price} hence not in 3NF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97945" y="2930070"/>
            <a:ext cx="3991811" cy="3745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Transitively Dependent:</a:t>
            </a:r>
          </a:p>
          <a:p>
            <a:pPr marL="0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Table1:</a:t>
            </a:r>
          </a:p>
          <a:p>
            <a:pPr marL="457200" lvl="1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– Key Column</a:t>
            </a:r>
          </a:p>
          <a:p>
            <a:pPr marL="457200" lvl="1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B, C, D – non-key Columns</a:t>
            </a:r>
          </a:p>
          <a:p>
            <a:pPr marL="400050" lvl="1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D-&gt;C</a:t>
            </a:r>
          </a:p>
          <a:p>
            <a:pPr marL="400050" lvl="1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C-&gt;A</a:t>
            </a:r>
          </a:p>
          <a:p>
            <a:pPr marL="400050" lvl="1" indent="0"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is transitively dependent on A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6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3NF -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685" y="2416222"/>
            <a:ext cx="8945349" cy="3958453"/>
          </a:xfrm>
        </p:spPr>
        <p:txBody>
          <a:bodyPr>
            <a:normAutofit/>
          </a:bodyPr>
          <a:lstStyle/>
          <a:p>
            <a:r>
              <a:rPr lang="en-US" alt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 all items involved in transitive dependencies to a new entity.</a:t>
            </a:r>
          </a:p>
          <a:p>
            <a:r>
              <a:rPr lang="en-US" alt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Identify a primary key for the new entity.</a:t>
            </a:r>
          </a:p>
          <a:p>
            <a:r>
              <a:rPr lang="en-US" altLang="en-US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Place the primary key for the new entity as a foreign key on the original entity. </a:t>
            </a:r>
          </a:p>
          <a:p>
            <a:pPr marL="609600" indent="-609600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1 (Convert to 3NF)</a:t>
            </a:r>
            <a:r>
              <a:rPr lang="en-US" altLang="en-US" sz="2400" b="1" dirty="0">
                <a:solidFill>
                  <a:srgbClr val="CC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Old Scheme </a:t>
            </a:r>
            <a:r>
              <a:rPr lang="en-US" alt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Title, 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PageCount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, Price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New Scheme </a:t>
            </a:r>
            <a:r>
              <a:rPr lang="en-US" alt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PageCount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, Price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New Scheme </a:t>
            </a:r>
            <a:r>
              <a:rPr lang="en-US" altLang="en-US" sz="2000" b="1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Title, 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PubID</a:t>
            </a:r>
            <a:r>
              <a:rPr lang="en-US" altLang="en-US" sz="2000" b="1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Arial Unicode MS" panose="020B0604020202020204" pitchFamily="34" charset="-128"/>
                <a:cs typeface="Times New Roman" panose="02020603050405020304" pitchFamily="18" charset="0"/>
              </a:rPr>
              <a:t>PageCount</a:t>
            </a:r>
            <a:r>
              <a:rPr lang="en-US" alt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98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  (3NF)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3843" y="2437071"/>
            <a:ext cx="5347347" cy="3972914"/>
          </a:xfrm>
        </p:spPr>
        <p:txBody>
          <a:bodyPr>
            <a:noAutofit/>
          </a:bodyPr>
          <a:lstStyle/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2 (Not in 3NF) </a:t>
            </a:r>
          </a:p>
          <a:p>
            <a:pPr marL="609600" indent="-60960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000" b="1" u="sng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	</a:t>
            </a: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Primary Key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{Studio}</a:t>
            </a: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{Studio}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{Studio} 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CityTemp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Both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depend on the entire key hence 2NF</a:t>
            </a:r>
          </a:p>
          <a:p>
            <a:pPr marL="700088" indent="-533400" algn="just">
              <a:lnSpc>
                <a:spcPct val="90000"/>
              </a:lnSpc>
              <a:buFontTx/>
              <a:buAutoNum type="arabicPeriod"/>
            </a:pPr>
            <a:r>
              <a:rPr lang="en-US" altLang="en-US" sz="20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transitively depends on Studio hence violates 3NF </a:t>
            </a:r>
          </a:p>
        </p:txBody>
      </p:sp>
      <p:sp>
        <p:nvSpPr>
          <p:cNvPr id="58" name="Content Placeholder 2"/>
          <p:cNvSpPr txBox="1">
            <a:spLocks/>
          </p:cNvSpPr>
          <p:nvPr/>
        </p:nvSpPr>
        <p:spPr>
          <a:xfrm>
            <a:off x="6700090" y="2871044"/>
            <a:ext cx="4323318" cy="3104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Bef>
                <a:spcPct val="50000"/>
              </a:spcBef>
              <a:buFont typeface="Wingdings 3" charset="2"/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2 (Convert to  3NF) 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Old Scheme </a:t>
            </a:r>
            <a:endParaRPr lang="en-US" altLang="en-US" sz="2000" b="1" dirty="0" smtClean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New Scheme </a:t>
            </a:r>
            <a:endParaRPr lang="en-US" altLang="en-US" sz="2000" b="1" dirty="0" smtClean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StudioCity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>
              <a:spcBef>
                <a:spcPct val="50000"/>
              </a:spcBef>
              <a:buFont typeface="Wingdings 3" charset="2"/>
              <a:buNone/>
            </a:pP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lang="en-US" altLang="en-US" sz="2000" b="1" u="sng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Studio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b="1" dirty="0" err="1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CityTemp</a:t>
            </a:r>
            <a:r>
              <a:rPr lang="en-US" altLang="en-US" sz="20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793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Boyce-</a:t>
            </a:r>
            <a:r>
              <a:rPr lang="en-US" alt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Codd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Normal Form  (BCNF)</a:t>
            </a:r>
            <a:r>
              <a:rPr lang="en-US" alt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428" y="2404110"/>
            <a:ext cx="10508343" cy="4170862"/>
          </a:xfrm>
        </p:spPr>
        <p:txBody>
          <a:bodyPr>
            <a:noAutofit/>
          </a:bodyPr>
          <a:lstStyle/>
          <a:p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BCNF does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not allow dependencies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between attributes that belong to candidate keys.</a:t>
            </a:r>
          </a:p>
          <a:p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BCNF is a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refinement of the third normal form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in which it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drops the restriction of a non-key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attribute from the 3rd normal form.</a:t>
            </a:r>
            <a:r>
              <a:rPr lang="en-US" altLang="en-US" sz="23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Third normal form and BCNF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are not same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if the following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conditions are true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:</a:t>
            </a:r>
          </a:p>
          <a:p>
            <a:pPr marL="852488" lvl="1"/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table has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two or more candidate keys</a:t>
            </a:r>
          </a:p>
          <a:p>
            <a:pPr marL="852488" lvl="1"/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 least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two of the candidate keys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are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composed of more than one attribute</a:t>
            </a:r>
          </a:p>
          <a:p>
            <a:pPr marL="852488" lvl="1"/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keys are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not disjoint </a:t>
            </a:r>
            <a:r>
              <a:rPr lang="en-US" altLang="en-US" sz="23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i.e. The </a:t>
            </a:r>
            <a:r>
              <a:rPr lang="en-US" altLang="en-US" sz="23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composite candidate keys share some </a:t>
            </a:r>
            <a:r>
              <a:rPr lang="en-US" altLang="en-US" sz="23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attributes</a:t>
            </a:r>
            <a:endParaRPr lang="en-US" altLang="en-US" sz="2300" b="1" dirty="0">
              <a:solidFill>
                <a:srgbClr val="CC0000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17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BCNF -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010" y="2384333"/>
            <a:ext cx="5213933" cy="4332878"/>
          </a:xfrm>
        </p:spPr>
        <p:txBody>
          <a:bodyPr>
            <a:noAutofit/>
          </a:bodyPr>
          <a:lstStyle/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(Convert to BCNF) </a:t>
            </a: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Scheme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City, Street,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Scheme1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Street}</a:t>
            </a: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{City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Street}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relation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{City}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Alternate New Scheme1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 }</a:t>
            </a:r>
          </a:p>
          <a:p>
            <a:pPr marL="1100138" lvl="1" indent="-533400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30515" y="2359295"/>
            <a:ext cx="5091610" cy="4245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 3" charset="2"/>
              <a:buNone/>
            </a:pP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Example 1 - Address (Not in BCNF)</a:t>
            </a:r>
          </a:p>
          <a:p>
            <a:pPr marL="609600" indent="-609600" algn="just">
              <a:buFont typeface="Wingdings 3" charset="2"/>
              <a:buNone/>
            </a:pP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 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City, Street,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}</a:t>
            </a: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Key1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{City, Street }</a:t>
            </a: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Key2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Street}</a:t>
            </a: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non-key attribute hence 3NF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{City, Street}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ZipCode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}</a:t>
            </a: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{City}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0088" indent="-533400" algn="just">
              <a:buFontTx/>
              <a:buAutoNum type="arabicPeriod"/>
            </a:pP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between attributes belonging to a key</a:t>
            </a:r>
          </a:p>
        </p:txBody>
      </p:sp>
    </p:spTree>
    <p:extLst>
      <p:ext uri="{BB962C8B-B14F-4D97-AF65-F5344CB8AC3E}">
        <p14:creationId xmlns:p14="http://schemas.microsoft.com/office/powerpoint/2010/main" val="383989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– Loss of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771" y="2360885"/>
            <a:ext cx="9917030" cy="3711166"/>
          </a:xfrm>
        </p:spPr>
        <p:txBody>
          <a:bodyPr>
            <a:no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If decomposition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does not cause any loss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of information it is called a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lossless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decomposition. 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If a decomposition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does not cause any dependencies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to be lost it is called a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dependency-preserving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decomposition. 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Any table scheme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can be decomposed in a lossless way into a collection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of smaller schemas that are in BCNF form. </a:t>
            </a:r>
            <a:r>
              <a:rPr lang="en-US" altLang="en-US" sz="22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However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dependency preservation is not guaranteed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Any table can be decomposed in a lossless way into </a:t>
            </a:r>
            <a:r>
              <a:rPr lang="en-US" altLang="en-US" sz="22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3NF that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also preserves the </a:t>
            </a:r>
            <a:r>
              <a:rPr lang="en-US" altLang="en-US" sz="22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dependencies. </a:t>
            </a:r>
            <a:r>
              <a:rPr lang="en-US" altLang="en-US" sz="22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3NF </a:t>
            </a:r>
            <a:r>
              <a:rPr lang="en-US" altLang="en-US" sz="2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may be better than BCNF </a:t>
            </a:r>
            <a:r>
              <a:rPr lang="en-US" altLang="en-US" sz="2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in some cases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15366" y="6072051"/>
            <a:ext cx="80010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66"/>
                </a:solidFill>
              </a:rPr>
              <a:t>Use your own judgment when decomposing schemas</a:t>
            </a:r>
          </a:p>
        </p:txBody>
      </p:sp>
    </p:spTree>
    <p:extLst>
      <p:ext uri="{BB962C8B-B14F-4D97-AF65-F5344CB8AC3E}">
        <p14:creationId xmlns:p14="http://schemas.microsoft.com/office/powerpoint/2010/main" val="208330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Normal Form  (4NF)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711" y="2338452"/>
            <a:ext cx="10667060" cy="4284590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Fourth normal form </a:t>
            </a:r>
            <a:r>
              <a:rPr lang="en-US" altLang="en-US" sz="24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eliminates independent many-to-one relationships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between columns.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To be in Fourth Normal </a:t>
            </a:r>
            <a:r>
              <a:rPr lang="en-US" altLang="en-US" sz="24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Form,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 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relation </a:t>
            </a:r>
            <a:r>
              <a:rPr lang="en-US" altLang="en-US" sz="24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must first be in Boyce-</a:t>
            </a:r>
            <a:r>
              <a:rPr lang="en-US" altLang="en-US" sz="2400" b="1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Codd</a:t>
            </a:r>
            <a:r>
              <a:rPr lang="en-US" altLang="en-US" sz="24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Normal Form.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 A</a:t>
            </a:r>
            <a:r>
              <a:rPr lang="en-US" altLang="en-US" sz="24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given relation </a:t>
            </a:r>
            <a:r>
              <a:rPr lang="en-US" altLang="en-US" sz="2400" b="1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may not contain more than one multi-valued </a:t>
            </a:r>
            <a:r>
              <a:rPr lang="en-US" altLang="en-US" sz="2400" dirty="0" smtClean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attribute.</a:t>
            </a:r>
            <a:endParaRPr lang="en-US" altLang="en-US" sz="2400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algn="just"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Example (Not in 4NF</a:t>
            </a: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en-US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700088" indent="-533400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Scheme 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{</a:t>
            </a:r>
            <a:r>
              <a:rPr lang="en-US" altLang="en-US" sz="20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MovieName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ScreeningCity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Genre)</a:t>
            </a:r>
          </a:p>
          <a:p>
            <a:pPr marL="700088" indent="-533400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Primary Key: {</a:t>
            </a:r>
            <a:r>
              <a:rPr lang="en-US" altLang="en-US" sz="20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MovieName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ScreeningCity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Genre)</a:t>
            </a:r>
          </a:p>
          <a:p>
            <a:pPr marL="166688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columns are a part of the only candidate key, hence BCNF</a:t>
            </a:r>
          </a:p>
          <a:p>
            <a:pPr marL="166688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Movies can have the same Genre </a:t>
            </a:r>
          </a:p>
          <a:p>
            <a:pPr marL="166688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Cities can have the same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movie, Violates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4NF</a:t>
            </a:r>
            <a:r>
              <a:rPr lang="en-US" altLang="en-US" sz="2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endParaRPr lang="en-US" altLang="en-US" sz="2600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7622911" y="4049487"/>
            <a:ext cx="4220746" cy="2468612"/>
            <a:chOff x="3408" y="3156"/>
            <a:chExt cx="2208" cy="1116"/>
          </a:xfrm>
        </p:grpSpPr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3408" y="3156"/>
              <a:ext cx="851" cy="191"/>
              <a:chOff x="0" y="403"/>
              <a:chExt cx="963" cy="403"/>
            </a:xfrm>
          </p:grpSpPr>
          <p:sp>
            <p:nvSpPr>
              <p:cNvPr id="57" name="Rectangle 5"/>
              <p:cNvSpPr>
                <a:spLocks noChangeArrowheads="1"/>
              </p:cNvSpPr>
              <p:nvPr/>
            </p:nvSpPr>
            <p:spPr bwMode="auto">
              <a:xfrm>
                <a:off x="43" y="403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Movie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200" dirty="0"/>
              </a:p>
            </p:txBody>
          </p:sp>
          <p:sp>
            <p:nvSpPr>
              <p:cNvPr id="58" name="Rectangle 23"/>
              <p:cNvSpPr>
                <a:spLocks noChangeArrowheads="1"/>
              </p:cNvSpPr>
              <p:nvPr/>
            </p:nvSpPr>
            <p:spPr bwMode="auto">
              <a:xfrm>
                <a:off x="0" y="403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" name="Group 26"/>
            <p:cNvGrpSpPr>
              <a:grpSpLocks/>
            </p:cNvGrpSpPr>
            <p:nvPr/>
          </p:nvGrpSpPr>
          <p:grpSpPr bwMode="auto">
            <a:xfrm>
              <a:off x="4259" y="3156"/>
              <a:ext cx="797" cy="191"/>
              <a:chOff x="963" y="403"/>
              <a:chExt cx="797" cy="403"/>
            </a:xfrm>
          </p:grpSpPr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1006" y="403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dirty="0" err="1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</a:t>
                </a:r>
                <a:r>
                  <a:rPr lang="en-US" altLang="en-US" sz="1200" dirty="0" err="1" smtClean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creeningCity</a:t>
                </a:r>
                <a:endParaRPr lang="en-US" altLang="en-US" sz="12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200" dirty="0"/>
              </a:p>
            </p:txBody>
          </p:sp>
          <p:sp>
            <p:nvSpPr>
              <p:cNvPr id="56" name="Rectangle 25"/>
              <p:cNvSpPr>
                <a:spLocks noChangeArrowheads="1"/>
              </p:cNvSpPr>
              <p:nvPr/>
            </p:nvSpPr>
            <p:spPr bwMode="auto">
              <a:xfrm>
                <a:off x="963" y="403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5056" y="3156"/>
              <a:ext cx="560" cy="191"/>
              <a:chOff x="1760" y="403"/>
              <a:chExt cx="558" cy="403"/>
            </a:xfrm>
          </p:grpSpPr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1803" y="403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Genre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200"/>
              </a:p>
            </p:txBody>
          </p:sp>
          <p:sp>
            <p:nvSpPr>
              <p:cNvPr id="54" name="Rectangle 27"/>
              <p:cNvSpPr>
                <a:spLocks noChangeArrowheads="1"/>
              </p:cNvSpPr>
              <p:nvPr/>
            </p:nvSpPr>
            <p:spPr bwMode="auto">
              <a:xfrm>
                <a:off x="1760" y="403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Group 30"/>
            <p:cNvGrpSpPr>
              <a:grpSpLocks/>
            </p:cNvGrpSpPr>
            <p:nvPr/>
          </p:nvGrpSpPr>
          <p:grpSpPr bwMode="auto">
            <a:xfrm>
              <a:off x="3408" y="3348"/>
              <a:ext cx="851" cy="162"/>
              <a:chOff x="0" y="806"/>
              <a:chExt cx="963" cy="403"/>
            </a:xfrm>
          </p:grpSpPr>
          <p:sp>
            <p:nvSpPr>
              <p:cNvPr id="51" name="Rectangle 8"/>
              <p:cNvSpPr>
                <a:spLocks noChangeArrowheads="1"/>
              </p:cNvSpPr>
              <p:nvPr/>
            </p:nvSpPr>
            <p:spPr bwMode="auto">
              <a:xfrm>
                <a:off x="43" y="806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Hard Code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52" name="Rectangle 29"/>
              <p:cNvSpPr>
                <a:spLocks noChangeArrowheads="1"/>
              </p:cNvSpPr>
              <p:nvPr/>
            </p:nvSpPr>
            <p:spPr bwMode="auto">
              <a:xfrm>
                <a:off x="0" y="806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" name="Group 32"/>
            <p:cNvGrpSpPr>
              <a:grpSpLocks/>
            </p:cNvGrpSpPr>
            <p:nvPr/>
          </p:nvGrpSpPr>
          <p:grpSpPr bwMode="auto">
            <a:xfrm>
              <a:off x="4259" y="3348"/>
              <a:ext cx="797" cy="162"/>
              <a:chOff x="963" y="806"/>
              <a:chExt cx="797" cy="403"/>
            </a:xfrm>
          </p:grpSpPr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1006" y="806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Los Angles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 dirty="0"/>
              </a:p>
            </p:txBody>
          </p:sp>
          <p:sp>
            <p:nvSpPr>
              <p:cNvPr id="50" name="Rectangle 31"/>
              <p:cNvSpPr>
                <a:spLocks noChangeArrowheads="1"/>
              </p:cNvSpPr>
              <p:nvPr/>
            </p:nvSpPr>
            <p:spPr bwMode="auto">
              <a:xfrm>
                <a:off x="963" y="806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" name="Group 34"/>
            <p:cNvGrpSpPr>
              <a:grpSpLocks/>
            </p:cNvGrpSpPr>
            <p:nvPr/>
          </p:nvGrpSpPr>
          <p:grpSpPr bwMode="auto">
            <a:xfrm>
              <a:off x="5056" y="3348"/>
              <a:ext cx="560" cy="162"/>
              <a:chOff x="1760" y="806"/>
              <a:chExt cx="558" cy="403"/>
            </a:xfrm>
          </p:grpSpPr>
          <p:sp>
            <p:nvSpPr>
              <p:cNvPr id="47" name="Rectangle 10"/>
              <p:cNvSpPr>
                <a:spLocks noChangeArrowheads="1"/>
              </p:cNvSpPr>
              <p:nvPr/>
            </p:nvSpPr>
            <p:spPr bwMode="auto">
              <a:xfrm>
                <a:off x="1803" y="806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Comedy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48" name="Rectangle 33"/>
              <p:cNvSpPr>
                <a:spLocks noChangeArrowheads="1"/>
              </p:cNvSpPr>
              <p:nvPr/>
            </p:nvSpPr>
            <p:spPr bwMode="auto">
              <a:xfrm>
                <a:off x="1760" y="806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3408" y="3510"/>
              <a:ext cx="851" cy="181"/>
              <a:chOff x="0" y="1209"/>
              <a:chExt cx="963" cy="403"/>
            </a:xfrm>
          </p:grpSpPr>
          <p:sp>
            <p:nvSpPr>
              <p:cNvPr id="45" name="Rectangle 11"/>
              <p:cNvSpPr>
                <a:spLocks noChangeArrowheads="1"/>
              </p:cNvSpPr>
              <p:nvPr/>
            </p:nvSpPr>
            <p:spPr bwMode="auto">
              <a:xfrm>
                <a:off x="43" y="1209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Hard Code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46" name="Rectangle 35"/>
              <p:cNvSpPr>
                <a:spLocks noChangeArrowheads="1"/>
              </p:cNvSpPr>
              <p:nvPr/>
            </p:nvSpPr>
            <p:spPr bwMode="auto">
              <a:xfrm>
                <a:off x="0" y="1209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" name="Group 38"/>
            <p:cNvGrpSpPr>
              <a:grpSpLocks/>
            </p:cNvGrpSpPr>
            <p:nvPr/>
          </p:nvGrpSpPr>
          <p:grpSpPr bwMode="auto">
            <a:xfrm>
              <a:off x="4259" y="3510"/>
              <a:ext cx="797" cy="181"/>
              <a:chOff x="963" y="1209"/>
              <a:chExt cx="797" cy="403"/>
            </a:xfrm>
          </p:grpSpPr>
          <p:sp>
            <p:nvSpPr>
              <p:cNvPr id="43" name="Rectangle 12"/>
              <p:cNvSpPr>
                <a:spLocks noChangeArrowheads="1"/>
              </p:cNvSpPr>
              <p:nvPr/>
            </p:nvSpPr>
            <p:spPr bwMode="auto">
              <a:xfrm>
                <a:off x="1006" y="1209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New York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44" name="Rectangle 37"/>
              <p:cNvSpPr>
                <a:spLocks noChangeArrowheads="1"/>
              </p:cNvSpPr>
              <p:nvPr/>
            </p:nvSpPr>
            <p:spPr bwMode="auto">
              <a:xfrm>
                <a:off x="963" y="1209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Group 40"/>
            <p:cNvGrpSpPr>
              <a:grpSpLocks/>
            </p:cNvGrpSpPr>
            <p:nvPr/>
          </p:nvGrpSpPr>
          <p:grpSpPr bwMode="auto">
            <a:xfrm>
              <a:off x="5056" y="3510"/>
              <a:ext cx="560" cy="181"/>
              <a:chOff x="1760" y="1209"/>
              <a:chExt cx="558" cy="403"/>
            </a:xfrm>
          </p:grpSpPr>
          <p:sp>
            <p:nvSpPr>
              <p:cNvPr id="41" name="Rectangle 13"/>
              <p:cNvSpPr>
                <a:spLocks noChangeArrowheads="1"/>
              </p:cNvSpPr>
              <p:nvPr/>
            </p:nvSpPr>
            <p:spPr bwMode="auto">
              <a:xfrm>
                <a:off x="1803" y="1209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Comedy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42" name="Rectangle 39"/>
              <p:cNvSpPr>
                <a:spLocks noChangeArrowheads="1"/>
              </p:cNvSpPr>
              <p:nvPr/>
            </p:nvSpPr>
            <p:spPr bwMode="auto">
              <a:xfrm>
                <a:off x="1760" y="1209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" name="Group 42"/>
            <p:cNvGrpSpPr>
              <a:grpSpLocks/>
            </p:cNvGrpSpPr>
            <p:nvPr/>
          </p:nvGrpSpPr>
          <p:grpSpPr bwMode="auto">
            <a:xfrm>
              <a:off x="3408" y="3690"/>
              <a:ext cx="851" cy="200"/>
              <a:chOff x="0" y="1612"/>
              <a:chExt cx="963" cy="403"/>
            </a:xfrm>
          </p:grpSpPr>
          <p:sp>
            <p:nvSpPr>
              <p:cNvPr id="39" name="Rectangle 14"/>
              <p:cNvSpPr>
                <a:spLocks noChangeArrowheads="1"/>
              </p:cNvSpPr>
              <p:nvPr/>
            </p:nvSpPr>
            <p:spPr bwMode="auto">
              <a:xfrm>
                <a:off x="43" y="1612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Bill Durham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0" y="1612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4259" y="3690"/>
              <a:ext cx="797" cy="200"/>
              <a:chOff x="963" y="1612"/>
              <a:chExt cx="797" cy="403"/>
            </a:xfrm>
          </p:grpSpPr>
          <p:sp>
            <p:nvSpPr>
              <p:cNvPr id="37" name="Rectangle 15"/>
              <p:cNvSpPr>
                <a:spLocks noChangeArrowheads="1"/>
              </p:cNvSpPr>
              <p:nvPr/>
            </p:nvSpPr>
            <p:spPr bwMode="auto">
              <a:xfrm>
                <a:off x="1006" y="1612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Santa Cruz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 dirty="0"/>
              </a:p>
            </p:txBody>
          </p:sp>
          <p:sp>
            <p:nvSpPr>
              <p:cNvPr id="38" name="Rectangle 43"/>
              <p:cNvSpPr>
                <a:spLocks noChangeArrowheads="1"/>
              </p:cNvSpPr>
              <p:nvPr/>
            </p:nvSpPr>
            <p:spPr bwMode="auto">
              <a:xfrm>
                <a:off x="963" y="1612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46"/>
            <p:cNvGrpSpPr>
              <a:grpSpLocks/>
            </p:cNvGrpSpPr>
            <p:nvPr/>
          </p:nvGrpSpPr>
          <p:grpSpPr bwMode="auto">
            <a:xfrm>
              <a:off x="5056" y="3690"/>
              <a:ext cx="560" cy="200"/>
              <a:chOff x="1760" y="1612"/>
              <a:chExt cx="558" cy="403"/>
            </a:xfrm>
          </p:grpSpPr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1803" y="1612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Drama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36" name="Rectangle 45"/>
              <p:cNvSpPr>
                <a:spLocks noChangeArrowheads="1"/>
              </p:cNvSpPr>
              <p:nvPr/>
            </p:nvSpPr>
            <p:spPr bwMode="auto">
              <a:xfrm>
                <a:off x="1760" y="1612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" name="Group 48"/>
            <p:cNvGrpSpPr>
              <a:grpSpLocks/>
            </p:cNvGrpSpPr>
            <p:nvPr/>
          </p:nvGrpSpPr>
          <p:grpSpPr bwMode="auto">
            <a:xfrm>
              <a:off x="3408" y="3888"/>
              <a:ext cx="851" cy="171"/>
              <a:chOff x="0" y="2015"/>
              <a:chExt cx="963" cy="403"/>
            </a:xfrm>
          </p:grpSpPr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43" y="2015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Bill Durham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34" name="Rectangle 47"/>
              <p:cNvSpPr>
                <a:spLocks noChangeArrowheads="1"/>
              </p:cNvSpPr>
              <p:nvPr/>
            </p:nvSpPr>
            <p:spPr bwMode="auto">
              <a:xfrm>
                <a:off x="0" y="2015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" name="Group 50"/>
            <p:cNvGrpSpPr>
              <a:grpSpLocks/>
            </p:cNvGrpSpPr>
            <p:nvPr/>
          </p:nvGrpSpPr>
          <p:grpSpPr bwMode="auto">
            <a:xfrm>
              <a:off x="4259" y="3888"/>
              <a:ext cx="797" cy="171"/>
              <a:chOff x="963" y="2015"/>
              <a:chExt cx="797" cy="403"/>
            </a:xfrm>
          </p:grpSpPr>
          <p:sp>
            <p:nvSpPr>
              <p:cNvPr id="31" name="Rectangle 18"/>
              <p:cNvSpPr>
                <a:spLocks noChangeArrowheads="1"/>
              </p:cNvSpPr>
              <p:nvPr/>
            </p:nvSpPr>
            <p:spPr bwMode="auto">
              <a:xfrm>
                <a:off x="1006" y="2015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Durham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32" name="Rectangle 49"/>
              <p:cNvSpPr>
                <a:spLocks noChangeArrowheads="1"/>
              </p:cNvSpPr>
              <p:nvPr/>
            </p:nvSpPr>
            <p:spPr bwMode="auto">
              <a:xfrm>
                <a:off x="963" y="2015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9" name="Group 52"/>
            <p:cNvGrpSpPr>
              <a:grpSpLocks/>
            </p:cNvGrpSpPr>
            <p:nvPr/>
          </p:nvGrpSpPr>
          <p:grpSpPr bwMode="auto">
            <a:xfrm>
              <a:off x="5056" y="3888"/>
              <a:ext cx="560" cy="171"/>
              <a:chOff x="1760" y="2015"/>
              <a:chExt cx="558" cy="403"/>
            </a:xfrm>
          </p:grpSpPr>
          <p:sp>
            <p:nvSpPr>
              <p:cNvPr id="29" name="Rectangle 19"/>
              <p:cNvSpPr>
                <a:spLocks noChangeArrowheads="1"/>
              </p:cNvSpPr>
              <p:nvPr/>
            </p:nvSpPr>
            <p:spPr bwMode="auto">
              <a:xfrm>
                <a:off x="1803" y="2015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Drama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30" name="Rectangle 51"/>
              <p:cNvSpPr>
                <a:spLocks noChangeArrowheads="1"/>
              </p:cNvSpPr>
              <p:nvPr/>
            </p:nvSpPr>
            <p:spPr bwMode="auto">
              <a:xfrm>
                <a:off x="1760" y="2015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0" name="Group 54"/>
            <p:cNvGrpSpPr>
              <a:grpSpLocks/>
            </p:cNvGrpSpPr>
            <p:nvPr/>
          </p:nvGrpSpPr>
          <p:grpSpPr bwMode="auto">
            <a:xfrm>
              <a:off x="3408" y="4059"/>
              <a:ext cx="851" cy="213"/>
              <a:chOff x="0" y="2418"/>
              <a:chExt cx="963" cy="403"/>
            </a:xfrm>
          </p:grpSpPr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43" y="2418"/>
                <a:ext cx="877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The Code Warrier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28" name="Rectangle 53"/>
              <p:cNvSpPr>
                <a:spLocks noChangeArrowheads="1"/>
              </p:cNvSpPr>
              <p:nvPr/>
            </p:nvSpPr>
            <p:spPr bwMode="auto">
              <a:xfrm>
                <a:off x="0" y="2418"/>
                <a:ext cx="96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" name="Group 56"/>
            <p:cNvGrpSpPr>
              <a:grpSpLocks/>
            </p:cNvGrpSpPr>
            <p:nvPr/>
          </p:nvGrpSpPr>
          <p:grpSpPr bwMode="auto">
            <a:xfrm>
              <a:off x="4259" y="4059"/>
              <a:ext cx="797" cy="213"/>
              <a:chOff x="963" y="2418"/>
              <a:chExt cx="797" cy="403"/>
            </a:xfrm>
          </p:grpSpPr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1006" y="2418"/>
                <a:ext cx="711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New York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26" name="Rectangle 55"/>
              <p:cNvSpPr>
                <a:spLocks noChangeArrowheads="1"/>
              </p:cNvSpPr>
              <p:nvPr/>
            </p:nvSpPr>
            <p:spPr bwMode="auto">
              <a:xfrm>
                <a:off x="963" y="2418"/>
                <a:ext cx="797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" name="Group 58"/>
            <p:cNvGrpSpPr>
              <a:grpSpLocks/>
            </p:cNvGrpSpPr>
            <p:nvPr/>
          </p:nvGrpSpPr>
          <p:grpSpPr bwMode="auto">
            <a:xfrm>
              <a:off x="5056" y="4059"/>
              <a:ext cx="560" cy="213"/>
              <a:chOff x="1760" y="2418"/>
              <a:chExt cx="558" cy="403"/>
            </a:xfrm>
          </p:grpSpPr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1803" y="2418"/>
                <a:ext cx="47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0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Horror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 b="0"/>
              </a:p>
            </p:txBody>
          </p:sp>
          <p:sp>
            <p:nvSpPr>
              <p:cNvPr id="24" name="Rectangle 57"/>
              <p:cNvSpPr>
                <a:spLocks noChangeArrowheads="1"/>
              </p:cNvSpPr>
              <p:nvPr/>
            </p:nvSpPr>
            <p:spPr bwMode="auto">
              <a:xfrm>
                <a:off x="1760" y="2418"/>
                <a:ext cx="558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774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387" y="910294"/>
            <a:ext cx="8761413" cy="7069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4NF -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347" y="2333059"/>
            <a:ext cx="9409373" cy="400968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Move the two multi-valued relations to separate tables</a:t>
            </a:r>
          </a:p>
          <a:p>
            <a:pPr algn="just"/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Identify a primary key for each of the new entity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endParaRPr lang="en-US" alt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609600" indent="-609600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1 (Convert to 4NF) 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Old </a:t>
            </a:r>
            <a:r>
              <a:rPr lang="en-US" alt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Scheme: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{</a:t>
            </a:r>
            <a:r>
              <a:rPr lang="en-US" altLang="en-US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MovieName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en-US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ScreeningCity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Genre}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4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New </a:t>
            </a:r>
            <a:r>
              <a:rPr lang="en-US" altLang="en-US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Scheme:</a:t>
            </a:r>
            <a:endParaRPr lang="en-US" altLang="en-US" sz="2400" b="1" dirty="0">
              <a:ea typeface="Arial Unicode MS" panose="020B0604020202020204" pitchFamily="34" charset="-128"/>
              <a:cs typeface="Arial Unicode MS" panose="020B0604020202020204" pitchFamily="34" charset="-128"/>
              <a:sym typeface="Wingdings" panose="05000000000000000000" pitchFamily="2" charset="2"/>
            </a:endParaRP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	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{</a:t>
            </a:r>
            <a:r>
              <a:rPr lang="en-US" altLang="en-US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MovieName</a:t>
            </a: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ScreeningCity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</a:p>
          <a:p>
            <a:pPr marL="1100138" lvl="1" indent="-533400">
              <a:spcBef>
                <a:spcPct val="50000"/>
              </a:spcBef>
              <a:buNone/>
            </a:pPr>
            <a:r>
              <a:rPr lang="en-US" alt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{</a:t>
            </a:r>
            <a:r>
              <a:rPr lang="en-US" altLang="en-US" sz="2400" dirty="0" err="1" smtClean="0">
                <a:latin typeface="Arial Unicode MS" panose="020B0604020202020204" pitchFamily="34" charset="-128"/>
                <a:cs typeface="Times New Roman" panose="02020603050405020304" pitchFamily="18" charset="0"/>
              </a:rPr>
              <a:t>MovieName</a:t>
            </a:r>
            <a:r>
              <a:rPr lang="en-US" altLang="en-US" sz="2400" dirty="0" smtClean="0">
                <a:latin typeface="Arial Unicode MS" panose="020B0604020202020204" pitchFamily="34" charset="-128"/>
                <a:cs typeface="Times New Roman" panose="02020603050405020304" pitchFamily="18" charset="0"/>
              </a:rPr>
              <a:t>, Genre</a:t>
            </a:r>
            <a:r>
              <a:rPr lang="en-US" alt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  <a:endParaRPr lang="en-US" alt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439" y="2728685"/>
            <a:ext cx="2726058" cy="1452408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21" y="4340338"/>
            <a:ext cx="3141076" cy="21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9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Normal Form  (4NF)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3" y="2345847"/>
            <a:ext cx="5029716" cy="4211683"/>
          </a:xfrm>
        </p:spPr>
        <p:txBody>
          <a:bodyPr>
            <a:normAutofit/>
          </a:bodyPr>
          <a:lstStyle/>
          <a:p>
            <a:pPr marL="609600" indent="-609600"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Example 2 (Not in 4NF) </a:t>
            </a:r>
          </a:p>
          <a:p>
            <a:pPr marL="609600" indent="-609600">
              <a:buNone/>
            </a:pPr>
            <a:r>
              <a:rPr lang="en-US" altLang="en-US" sz="20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Scheme</a:t>
            </a:r>
            <a:r>
              <a:rPr lang="en-US" altLang="en-US" sz="20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{Manager, Child, Employee} </a:t>
            </a:r>
          </a:p>
          <a:p>
            <a:pPr marL="509588">
              <a:buFont typeface="+mj-lt"/>
              <a:buAutoNum type="arabicPeriod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Primary Key </a:t>
            </a:r>
            <a:r>
              <a:rPr lang="en-US" altLang="en-US" dirty="0"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{Manager, Child, </a:t>
            </a:r>
            <a:r>
              <a:rPr lang="en-US" alt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Employee}</a:t>
            </a:r>
            <a:endParaRPr lang="en-US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09588">
              <a:buFont typeface="+mj-lt"/>
              <a:buAutoNum type="arabicPeriod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manager can have more than one child </a:t>
            </a:r>
          </a:p>
          <a:p>
            <a:pPr marL="509588">
              <a:buFont typeface="+mj-lt"/>
              <a:buAutoNum type="arabicPeriod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Each manager can supervise more than one employee</a:t>
            </a:r>
          </a:p>
          <a:p>
            <a:pPr marL="509588">
              <a:buFont typeface="+mj-lt"/>
              <a:buAutoNum type="arabicPeriod"/>
            </a:pPr>
            <a:r>
              <a:rPr lang="en-US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4NF </a:t>
            </a:r>
            <a:r>
              <a:rPr lang="en-US" alt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Violated</a:t>
            </a:r>
          </a:p>
        </p:txBody>
      </p:sp>
      <p:grpSp>
        <p:nvGrpSpPr>
          <p:cNvPr id="59" name="Group 97"/>
          <p:cNvGrpSpPr>
            <a:grpSpLocks/>
          </p:cNvGrpSpPr>
          <p:nvPr/>
        </p:nvGrpSpPr>
        <p:grpSpPr bwMode="auto">
          <a:xfrm>
            <a:off x="3389994" y="5289117"/>
            <a:ext cx="2511425" cy="1268413"/>
            <a:chOff x="3936" y="2177"/>
            <a:chExt cx="1582" cy="799"/>
          </a:xfrm>
        </p:grpSpPr>
        <p:grpSp>
          <p:nvGrpSpPr>
            <p:cNvPr id="60" name="Group 71"/>
            <p:cNvGrpSpPr>
              <a:grpSpLocks/>
            </p:cNvGrpSpPr>
            <p:nvPr/>
          </p:nvGrpSpPr>
          <p:grpSpPr bwMode="auto">
            <a:xfrm>
              <a:off x="3936" y="2177"/>
              <a:ext cx="588" cy="193"/>
              <a:chOff x="0" y="0"/>
              <a:chExt cx="150" cy="1311"/>
            </a:xfrm>
          </p:grpSpPr>
          <p:sp>
            <p:nvSpPr>
              <p:cNvPr id="94" name="Rectangle 58"/>
              <p:cNvSpPr>
                <a:spLocks noChangeArrowheads="1"/>
              </p:cNvSpPr>
              <p:nvPr/>
            </p:nvSpPr>
            <p:spPr bwMode="auto">
              <a:xfrm>
                <a:off x="6" y="6"/>
                <a:ext cx="138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Manager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95" name="Rectangle 7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0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1" name="Group 73"/>
            <p:cNvGrpSpPr>
              <a:grpSpLocks/>
            </p:cNvGrpSpPr>
            <p:nvPr/>
          </p:nvGrpSpPr>
          <p:grpSpPr bwMode="auto">
            <a:xfrm>
              <a:off x="4525" y="2177"/>
              <a:ext cx="419" cy="193"/>
              <a:chOff x="150" y="0"/>
              <a:chExt cx="150" cy="1311"/>
            </a:xfrm>
          </p:grpSpPr>
          <p:sp>
            <p:nvSpPr>
              <p:cNvPr id="92" name="Rectangle 59"/>
              <p:cNvSpPr>
                <a:spLocks noChangeArrowheads="1"/>
              </p:cNvSpPr>
              <p:nvPr/>
            </p:nvSpPr>
            <p:spPr bwMode="auto">
              <a:xfrm>
                <a:off x="156" y="6"/>
                <a:ext cx="138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Child    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 dirty="0"/>
              </a:p>
            </p:txBody>
          </p:sp>
          <p:sp>
            <p:nvSpPr>
              <p:cNvPr id="93" name="Rectangle 72"/>
              <p:cNvSpPr>
                <a:spLocks noChangeArrowheads="1"/>
              </p:cNvSpPr>
              <p:nvPr/>
            </p:nvSpPr>
            <p:spPr bwMode="auto">
              <a:xfrm>
                <a:off x="150" y="0"/>
                <a:ext cx="150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2" name="Group 75"/>
            <p:cNvGrpSpPr>
              <a:grpSpLocks/>
            </p:cNvGrpSpPr>
            <p:nvPr/>
          </p:nvGrpSpPr>
          <p:grpSpPr bwMode="auto">
            <a:xfrm>
              <a:off x="4944" y="2177"/>
              <a:ext cx="574" cy="193"/>
              <a:chOff x="300" y="0"/>
              <a:chExt cx="1227" cy="1311"/>
            </a:xfrm>
          </p:grpSpPr>
          <p:sp>
            <p:nvSpPr>
              <p:cNvPr id="90" name="Rectangle 60"/>
              <p:cNvSpPr>
                <a:spLocks noChangeArrowheads="1"/>
              </p:cNvSpPr>
              <p:nvPr/>
            </p:nvSpPr>
            <p:spPr bwMode="auto">
              <a:xfrm>
                <a:off x="306" y="6"/>
                <a:ext cx="1215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dirty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Employee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 dirty="0"/>
              </a:p>
            </p:txBody>
          </p:sp>
          <p:sp>
            <p:nvSpPr>
              <p:cNvPr id="91" name="Rectangle 74"/>
              <p:cNvSpPr>
                <a:spLocks noChangeArrowheads="1"/>
              </p:cNvSpPr>
              <p:nvPr/>
            </p:nvSpPr>
            <p:spPr bwMode="auto">
              <a:xfrm>
                <a:off x="300" y="0"/>
                <a:ext cx="1227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3" name="Group 77"/>
            <p:cNvGrpSpPr>
              <a:grpSpLocks/>
            </p:cNvGrpSpPr>
            <p:nvPr/>
          </p:nvGrpSpPr>
          <p:grpSpPr bwMode="auto">
            <a:xfrm>
              <a:off x="3936" y="2370"/>
              <a:ext cx="588" cy="214"/>
              <a:chOff x="0" y="1323"/>
              <a:chExt cx="150" cy="736"/>
            </a:xfrm>
          </p:grpSpPr>
          <p:sp>
            <p:nvSpPr>
              <p:cNvPr id="88" name="Rectangle 61"/>
              <p:cNvSpPr>
                <a:spLocks noChangeArrowheads="1"/>
              </p:cNvSpPr>
              <p:nvPr/>
            </p:nvSpPr>
            <p:spPr bwMode="auto">
              <a:xfrm>
                <a:off x="6" y="1329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Jim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89" name="Rectangle 76"/>
              <p:cNvSpPr>
                <a:spLocks noChangeArrowheads="1"/>
              </p:cNvSpPr>
              <p:nvPr/>
            </p:nvSpPr>
            <p:spPr bwMode="auto">
              <a:xfrm>
                <a:off x="0" y="1323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4" name="Group 79"/>
            <p:cNvGrpSpPr>
              <a:grpSpLocks/>
            </p:cNvGrpSpPr>
            <p:nvPr/>
          </p:nvGrpSpPr>
          <p:grpSpPr bwMode="auto">
            <a:xfrm>
              <a:off x="4525" y="2370"/>
              <a:ext cx="419" cy="214"/>
              <a:chOff x="150" y="1323"/>
              <a:chExt cx="150" cy="736"/>
            </a:xfrm>
          </p:grpSpPr>
          <p:sp>
            <p:nvSpPr>
              <p:cNvPr id="86" name="Rectangle 62"/>
              <p:cNvSpPr>
                <a:spLocks noChangeArrowheads="1"/>
              </p:cNvSpPr>
              <p:nvPr/>
            </p:nvSpPr>
            <p:spPr bwMode="auto">
              <a:xfrm>
                <a:off x="156" y="1329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Beth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87" name="Rectangle 78"/>
              <p:cNvSpPr>
                <a:spLocks noChangeArrowheads="1"/>
              </p:cNvSpPr>
              <p:nvPr/>
            </p:nvSpPr>
            <p:spPr bwMode="auto">
              <a:xfrm>
                <a:off x="150" y="1323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5" name="Group 81"/>
            <p:cNvGrpSpPr>
              <a:grpSpLocks/>
            </p:cNvGrpSpPr>
            <p:nvPr/>
          </p:nvGrpSpPr>
          <p:grpSpPr bwMode="auto">
            <a:xfrm>
              <a:off x="4944" y="2370"/>
              <a:ext cx="574" cy="214"/>
              <a:chOff x="300" y="1323"/>
              <a:chExt cx="1227" cy="736"/>
            </a:xfrm>
          </p:grpSpPr>
          <p:sp>
            <p:nvSpPr>
              <p:cNvPr id="84" name="Rectangle 63"/>
              <p:cNvSpPr>
                <a:spLocks noChangeArrowheads="1"/>
              </p:cNvSpPr>
              <p:nvPr/>
            </p:nvSpPr>
            <p:spPr bwMode="auto">
              <a:xfrm>
                <a:off x="306" y="1329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Alice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85" name="Rectangle 80"/>
              <p:cNvSpPr>
                <a:spLocks noChangeArrowheads="1"/>
              </p:cNvSpPr>
              <p:nvPr/>
            </p:nvSpPr>
            <p:spPr bwMode="auto">
              <a:xfrm>
                <a:off x="300" y="1323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6" name="Group 83"/>
            <p:cNvGrpSpPr>
              <a:grpSpLocks/>
            </p:cNvGrpSpPr>
            <p:nvPr/>
          </p:nvGrpSpPr>
          <p:grpSpPr bwMode="auto">
            <a:xfrm>
              <a:off x="3936" y="2584"/>
              <a:ext cx="588" cy="186"/>
              <a:chOff x="0" y="2071"/>
              <a:chExt cx="150" cy="736"/>
            </a:xfrm>
          </p:grpSpPr>
          <p:sp>
            <p:nvSpPr>
              <p:cNvPr id="82" name="Rectangle 64"/>
              <p:cNvSpPr>
                <a:spLocks noChangeArrowheads="1"/>
              </p:cNvSpPr>
              <p:nvPr/>
            </p:nvSpPr>
            <p:spPr bwMode="auto">
              <a:xfrm>
                <a:off x="6" y="2077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Mary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83" name="Rectangle 82"/>
              <p:cNvSpPr>
                <a:spLocks noChangeArrowheads="1"/>
              </p:cNvSpPr>
              <p:nvPr/>
            </p:nvSpPr>
            <p:spPr bwMode="auto">
              <a:xfrm>
                <a:off x="0" y="2071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7" name="Group 85"/>
            <p:cNvGrpSpPr>
              <a:grpSpLocks/>
            </p:cNvGrpSpPr>
            <p:nvPr/>
          </p:nvGrpSpPr>
          <p:grpSpPr bwMode="auto">
            <a:xfrm>
              <a:off x="4525" y="2584"/>
              <a:ext cx="419" cy="186"/>
              <a:chOff x="150" y="2071"/>
              <a:chExt cx="150" cy="736"/>
            </a:xfrm>
          </p:grpSpPr>
          <p:sp>
            <p:nvSpPr>
              <p:cNvPr id="80" name="Rectangle 65"/>
              <p:cNvSpPr>
                <a:spLocks noChangeArrowheads="1"/>
              </p:cNvSpPr>
              <p:nvPr/>
            </p:nvSpPr>
            <p:spPr bwMode="auto">
              <a:xfrm>
                <a:off x="156" y="2077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Bob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81" name="Rectangle 84"/>
              <p:cNvSpPr>
                <a:spLocks noChangeArrowheads="1"/>
              </p:cNvSpPr>
              <p:nvPr/>
            </p:nvSpPr>
            <p:spPr bwMode="auto">
              <a:xfrm>
                <a:off x="150" y="2071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8" name="Group 87"/>
            <p:cNvGrpSpPr>
              <a:grpSpLocks/>
            </p:cNvGrpSpPr>
            <p:nvPr/>
          </p:nvGrpSpPr>
          <p:grpSpPr bwMode="auto">
            <a:xfrm>
              <a:off x="4944" y="2584"/>
              <a:ext cx="574" cy="186"/>
              <a:chOff x="300" y="2071"/>
              <a:chExt cx="1227" cy="736"/>
            </a:xfrm>
          </p:grpSpPr>
          <p:sp>
            <p:nvSpPr>
              <p:cNvPr id="78" name="Rectangle 66"/>
              <p:cNvSpPr>
                <a:spLocks noChangeArrowheads="1"/>
              </p:cNvSpPr>
              <p:nvPr/>
            </p:nvSpPr>
            <p:spPr bwMode="auto">
              <a:xfrm>
                <a:off x="306" y="2077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Jane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79" name="Rectangle 86"/>
              <p:cNvSpPr>
                <a:spLocks noChangeArrowheads="1"/>
              </p:cNvSpPr>
              <p:nvPr/>
            </p:nvSpPr>
            <p:spPr bwMode="auto">
              <a:xfrm>
                <a:off x="300" y="2071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9" name="Group 89"/>
            <p:cNvGrpSpPr>
              <a:grpSpLocks/>
            </p:cNvGrpSpPr>
            <p:nvPr/>
          </p:nvGrpSpPr>
          <p:grpSpPr bwMode="auto">
            <a:xfrm>
              <a:off x="3936" y="2770"/>
              <a:ext cx="588" cy="206"/>
              <a:chOff x="0" y="2819"/>
              <a:chExt cx="150" cy="736"/>
            </a:xfrm>
          </p:grpSpPr>
          <p:sp>
            <p:nvSpPr>
              <p:cNvPr id="76" name="Rectangle 67"/>
              <p:cNvSpPr>
                <a:spLocks noChangeArrowheads="1"/>
              </p:cNvSpPr>
              <p:nvPr/>
            </p:nvSpPr>
            <p:spPr bwMode="auto">
              <a:xfrm>
                <a:off x="6" y="2825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Mary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77" name="Rectangle 88"/>
              <p:cNvSpPr>
                <a:spLocks noChangeArrowheads="1"/>
              </p:cNvSpPr>
              <p:nvPr/>
            </p:nvSpPr>
            <p:spPr bwMode="auto">
              <a:xfrm>
                <a:off x="0" y="2819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0" name="Group 91"/>
            <p:cNvGrpSpPr>
              <a:grpSpLocks/>
            </p:cNvGrpSpPr>
            <p:nvPr/>
          </p:nvGrpSpPr>
          <p:grpSpPr bwMode="auto">
            <a:xfrm>
              <a:off x="4525" y="2770"/>
              <a:ext cx="419" cy="206"/>
              <a:chOff x="150" y="2819"/>
              <a:chExt cx="150" cy="736"/>
            </a:xfrm>
          </p:grpSpPr>
          <p:sp>
            <p:nvSpPr>
              <p:cNvPr id="74" name="Rectangle 68"/>
              <p:cNvSpPr>
                <a:spLocks noChangeArrowheads="1"/>
              </p:cNvSpPr>
              <p:nvPr/>
            </p:nvSpPr>
            <p:spPr bwMode="auto">
              <a:xfrm>
                <a:off x="156" y="2825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NULL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75" name="Rectangle 90"/>
              <p:cNvSpPr>
                <a:spLocks noChangeArrowheads="1"/>
              </p:cNvSpPr>
              <p:nvPr/>
            </p:nvSpPr>
            <p:spPr bwMode="auto">
              <a:xfrm>
                <a:off x="150" y="2819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1" name="Group 93"/>
            <p:cNvGrpSpPr>
              <a:grpSpLocks/>
            </p:cNvGrpSpPr>
            <p:nvPr/>
          </p:nvGrpSpPr>
          <p:grpSpPr bwMode="auto">
            <a:xfrm>
              <a:off x="4944" y="2770"/>
              <a:ext cx="574" cy="206"/>
              <a:chOff x="300" y="2819"/>
              <a:chExt cx="1227" cy="736"/>
            </a:xfrm>
          </p:grpSpPr>
          <p:sp>
            <p:nvSpPr>
              <p:cNvPr id="72" name="Rectangle 69"/>
              <p:cNvSpPr>
                <a:spLocks noChangeArrowheads="1"/>
              </p:cNvSpPr>
              <p:nvPr/>
            </p:nvSpPr>
            <p:spPr bwMode="auto">
              <a:xfrm>
                <a:off x="306" y="2825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Adam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73" name="Rectangle 92"/>
              <p:cNvSpPr>
                <a:spLocks noChangeArrowheads="1"/>
              </p:cNvSpPr>
              <p:nvPr/>
            </p:nvSpPr>
            <p:spPr bwMode="auto">
              <a:xfrm>
                <a:off x="300" y="2819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96" name="Content Placeholder 2"/>
          <p:cNvSpPr txBox="1">
            <a:spLocks/>
          </p:cNvSpPr>
          <p:nvPr/>
        </p:nvSpPr>
        <p:spPr>
          <a:xfrm>
            <a:off x="6381397" y="2522471"/>
            <a:ext cx="4402571" cy="3074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spcBef>
                <a:spcPct val="50000"/>
              </a:spcBef>
              <a:buFontTx/>
              <a:buNone/>
            </a:pPr>
            <a:r>
              <a:rPr lang="en-US" altLang="en-US" sz="2000" b="1" dirty="0" smtClean="0">
                <a:solidFill>
                  <a:schemeClr val="tx2"/>
                </a:solidFill>
              </a:rPr>
              <a:t>Example 2  (Convert to  4NF) </a:t>
            </a:r>
          </a:p>
          <a:p>
            <a:pPr marL="700088" indent="-533400">
              <a:spcBef>
                <a:spcPct val="50000"/>
              </a:spcBef>
              <a:buFontTx/>
              <a:buNone/>
            </a:pPr>
            <a:r>
              <a:rPr lang="en-US" altLang="en-US" sz="2000" b="1" dirty="0" smtClean="0"/>
              <a:t>Old Scheme: </a:t>
            </a:r>
          </a:p>
          <a:p>
            <a:pPr marL="700088" indent="-533400">
              <a:spcBef>
                <a:spcPct val="50000"/>
              </a:spcBef>
              <a:buFontTx/>
              <a:buNone/>
            </a:pPr>
            <a:r>
              <a:rPr lang="en-US" altLang="en-US" sz="2000" dirty="0" smtClean="0"/>
              <a:t>	{Manager, Child, Employee}</a:t>
            </a:r>
          </a:p>
          <a:p>
            <a:pPr marL="700088" indent="-533400">
              <a:spcBef>
                <a:spcPct val="50000"/>
              </a:spcBef>
              <a:buFontTx/>
              <a:buNone/>
            </a:pPr>
            <a:r>
              <a:rPr lang="en-US" altLang="en-US" sz="2000" b="1" dirty="0" smtClean="0"/>
              <a:t>New Scheme: </a:t>
            </a:r>
            <a:endParaRPr lang="en-US" altLang="en-US" sz="2000" b="1" dirty="0" smtClean="0">
              <a:sym typeface="Wingdings" panose="05000000000000000000" pitchFamily="2" charset="2"/>
            </a:endParaRPr>
          </a:p>
          <a:p>
            <a:pPr marL="700088" indent="-533400">
              <a:spcBef>
                <a:spcPct val="50000"/>
              </a:spcBef>
              <a:buFontTx/>
              <a:buNone/>
            </a:pPr>
            <a:r>
              <a:rPr lang="en-US" altLang="en-US" sz="2000" dirty="0" smtClean="0">
                <a:sym typeface="Wingdings" panose="05000000000000000000" pitchFamily="2" charset="2"/>
              </a:rPr>
              <a:t>	</a:t>
            </a:r>
            <a:r>
              <a:rPr lang="en-US" altLang="en-US" sz="2000" dirty="0" smtClean="0"/>
              <a:t>{Manager, Child}</a:t>
            </a:r>
          </a:p>
          <a:p>
            <a:pPr marL="700088" indent="-533400">
              <a:spcBef>
                <a:spcPct val="50000"/>
              </a:spcBef>
              <a:buFontTx/>
              <a:buNone/>
            </a:pPr>
            <a:r>
              <a:rPr lang="en-US" altLang="en-US" sz="2000" dirty="0" smtClean="0"/>
              <a:t>	{Manager, Employee}</a:t>
            </a:r>
            <a:endParaRPr lang="en-US" altLang="en-US" sz="2000" dirty="0"/>
          </a:p>
        </p:txBody>
      </p:sp>
      <p:grpSp>
        <p:nvGrpSpPr>
          <p:cNvPr id="97" name="Group 191"/>
          <p:cNvGrpSpPr>
            <a:grpSpLocks/>
          </p:cNvGrpSpPr>
          <p:nvPr/>
        </p:nvGrpSpPr>
        <p:grpSpPr bwMode="auto">
          <a:xfrm>
            <a:off x="9604790" y="5404462"/>
            <a:ext cx="1844675" cy="1268412"/>
            <a:chOff x="4032" y="1488"/>
            <a:chExt cx="1162" cy="799"/>
          </a:xfrm>
        </p:grpSpPr>
        <p:grpSp>
          <p:nvGrpSpPr>
            <p:cNvPr id="98" name="Group 42"/>
            <p:cNvGrpSpPr>
              <a:grpSpLocks/>
            </p:cNvGrpSpPr>
            <p:nvPr/>
          </p:nvGrpSpPr>
          <p:grpSpPr bwMode="auto">
            <a:xfrm>
              <a:off x="4032" y="1488"/>
              <a:ext cx="588" cy="193"/>
              <a:chOff x="0" y="0"/>
              <a:chExt cx="150" cy="1311"/>
            </a:xfrm>
          </p:grpSpPr>
          <p:sp>
            <p:nvSpPr>
              <p:cNvPr id="120" name="Rectangle 43"/>
              <p:cNvSpPr>
                <a:spLocks noChangeArrowheads="1"/>
              </p:cNvSpPr>
              <p:nvPr/>
            </p:nvSpPr>
            <p:spPr bwMode="auto">
              <a:xfrm>
                <a:off x="6" y="6"/>
                <a:ext cx="138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Manager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21" name="Rectangle 4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0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9" name="Group 48"/>
            <p:cNvGrpSpPr>
              <a:grpSpLocks/>
            </p:cNvGrpSpPr>
            <p:nvPr/>
          </p:nvGrpSpPr>
          <p:grpSpPr bwMode="auto">
            <a:xfrm>
              <a:off x="4620" y="1488"/>
              <a:ext cx="574" cy="193"/>
              <a:chOff x="300" y="0"/>
              <a:chExt cx="1227" cy="1311"/>
            </a:xfrm>
          </p:grpSpPr>
          <p:sp>
            <p:nvSpPr>
              <p:cNvPr id="118" name="Rectangle 49"/>
              <p:cNvSpPr>
                <a:spLocks noChangeArrowheads="1"/>
              </p:cNvSpPr>
              <p:nvPr/>
            </p:nvSpPr>
            <p:spPr bwMode="auto">
              <a:xfrm>
                <a:off x="306" y="6"/>
                <a:ext cx="1215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Employee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19" name="Rectangle 50"/>
              <p:cNvSpPr>
                <a:spLocks noChangeArrowheads="1"/>
              </p:cNvSpPr>
              <p:nvPr/>
            </p:nvSpPr>
            <p:spPr bwMode="auto">
              <a:xfrm>
                <a:off x="300" y="0"/>
                <a:ext cx="1227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0" name="Group 51"/>
            <p:cNvGrpSpPr>
              <a:grpSpLocks/>
            </p:cNvGrpSpPr>
            <p:nvPr/>
          </p:nvGrpSpPr>
          <p:grpSpPr bwMode="auto">
            <a:xfrm>
              <a:off x="4032" y="1681"/>
              <a:ext cx="588" cy="214"/>
              <a:chOff x="0" y="1323"/>
              <a:chExt cx="150" cy="736"/>
            </a:xfrm>
          </p:grpSpPr>
          <p:sp>
            <p:nvSpPr>
              <p:cNvPr id="116" name="Rectangle 52"/>
              <p:cNvSpPr>
                <a:spLocks noChangeArrowheads="1"/>
              </p:cNvSpPr>
              <p:nvPr/>
            </p:nvSpPr>
            <p:spPr bwMode="auto">
              <a:xfrm>
                <a:off x="6" y="1329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Jim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17" name="Rectangle 53"/>
              <p:cNvSpPr>
                <a:spLocks noChangeArrowheads="1"/>
              </p:cNvSpPr>
              <p:nvPr/>
            </p:nvSpPr>
            <p:spPr bwMode="auto">
              <a:xfrm>
                <a:off x="0" y="1323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1" name="Group 57"/>
            <p:cNvGrpSpPr>
              <a:grpSpLocks/>
            </p:cNvGrpSpPr>
            <p:nvPr/>
          </p:nvGrpSpPr>
          <p:grpSpPr bwMode="auto">
            <a:xfrm>
              <a:off x="4620" y="1681"/>
              <a:ext cx="574" cy="214"/>
              <a:chOff x="300" y="1323"/>
              <a:chExt cx="1227" cy="736"/>
            </a:xfrm>
          </p:grpSpPr>
          <p:sp>
            <p:nvSpPr>
              <p:cNvPr id="114" name="Rectangle 58"/>
              <p:cNvSpPr>
                <a:spLocks noChangeArrowheads="1"/>
              </p:cNvSpPr>
              <p:nvPr/>
            </p:nvSpPr>
            <p:spPr bwMode="auto">
              <a:xfrm>
                <a:off x="306" y="1329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Alice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15" name="Rectangle 59"/>
              <p:cNvSpPr>
                <a:spLocks noChangeArrowheads="1"/>
              </p:cNvSpPr>
              <p:nvPr/>
            </p:nvSpPr>
            <p:spPr bwMode="auto">
              <a:xfrm>
                <a:off x="300" y="1323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2" name="Group 60"/>
            <p:cNvGrpSpPr>
              <a:grpSpLocks/>
            </p:cNvGrpSpPr>
            <p:nvPr/>
          </p:nvGrpSpPr>
          <p:grpSpPr bwMode="auto">
            <a:xfrm>
              <a:off x="4032" y="1895"/>
              <a:ext cx="588" cy="186"/>
              <a:chOff x="0" y="2071"/>
              <a:chExt cx="150" cy="736"/>
            </a:xfrm>
          </p:grpSpPr>
          <p:sp>
            <p:nvSpPr>
              <p:cNvPr id="112" name="Rectangle 61"/>
              <p:cNvSpPr>
                <a:spLocks noChangeArrowheads="1"/>
              </p:cNvSpPr>
              <p:nvPr/>
            </p:nvSpPr>
            <p:spPr bwMode="auto">
              <a:xfrm>
                <a:off x="6" y="2077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Mary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13" name="Rectangle 62"/>
              <p:cNvSpPr>
                <a:spLocks noChangeArrowheads="1"/>
              </p:cNvSpPr>
              <p:nvPr/>
            </p:nvSpPr>
            <p:spPr bwMode="auto">
              <a:xfrm>
                <a:off x="0" y="2071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3" name="Group 66"/>
            <p:cNvGrpSpPr>
              <a:grpSpLocks/>
            </p:cNvGrpSpPr>
            <p:nvPr/>
          </p:nvGrpSpPr>
          <p:grpSpPr bwMode="auto">
            <a:xfrm>
              <a:off x="4620" y="1895"/>
              <a:ext cx="574" cy="186"/>
              <a:chOff x="300" y="2071"/>
              <a:chExt cx="1227" cy="736"/>
            </a:xfrm>
          </p:grpSpPr>
          <p:sp>
            <p:nvSpPr>
              <p:cNvPr id="110" name="Rectangle 67"/>
              <p:cNvSpPr>
                <a:spLocks noChangeArrowheads="1"/>
              </p:cNvSpPr>
              <p:nvPr/>
            </p:nvSpPr>
            <p:spPr bwMode="auto">
              <a:xfrm>
                <a:off x="306" y="2077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Jane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11" name="Rectangle 68"/>
              <p:cNvSpPr>
                <a:spLocks noChangeArrowheads="1"/>
              </p:cNvSpPr>
              <p:nvPr/>
            </p:nvSpPr>
            <p:spPr bwMode="auto">
              <a:xfrm>
                <a:off x="300" y="2071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4" name="Group 69"/>
            <p:cNvGrpSpPr>
              <a:grpSpLocks/>
            </p:cNvGrpSpPr>
            <p:nvPr/>
          </p:nvGrpSpPr>
          <p:grpSpPr bwMode="auto">
            <a:xfrm>
              <a:off x="4032" y="2081"/>
              <a:ext cx="588" cy="206"/>
              <a:chOff x="0" y="2819"/>
              <a:chExt cx="150" cy="736"/>
            </a:xfrm>
          </p:grpSpPr>
          <p:sp>
            <p:nvSpPr>
              <p:cNvPr id="108" name="Rectangle 70"/>
              <p:cNvSpPr>
                <a:spLocks noChangeArrowheads="1"/>
              </p:cNvSpPr>
              <p:nvPr/>
            </p:nvSpPr>
            <p:spPr bwMode="auto">
              <a:xfrm>
                <a:off x="6" y="2825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Mary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09" name="Rectangle 71"/>
              <p:cNvSpPr>
                <a:spLocks noChangeArrowheads="1"/>
              </p:cNvSpPr>
              <p:nvPr/>
            </p:nvSpPr>
            <p:spPr bwMode="auto">
              <a:xfrm>
                <a:off x="0" y="2819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5" name="Group 75"/>
            <p:cNvGrpSpPr>
              <a:grpSpLocks/>
            </p:cNvGrpSpPr>
            <p:nvPr/>
          </p:nvGrpSpPr>
          <p:grpSpPr bwMode="auto">
            <a:xfrm>
              <a:off x="4620" y="2081"/>
              <a:ext cx="574" cy="206"/>
              <a:chOff x="300" y="2819"/>
              <a:chExt cx="1227" cy="736"/>
            </a:xfrm>
          </p:grpSpPr>
          <p:sp>
            <p:nvSpPr>
              <p:cNvPr id="106" name="Rectangle 76"/>
              <p:cNvSpPr>
                <a:spLocks noChangeArrowheads="1"/>
              </p:cNvSpPr>
              <p:nvPr/>
            </p:nvSpPr>
            <p:spPr bwMode="auto">
              <a:xfrm>
                <a:off x="306" y="2825"/>
                <a:ext cx="1215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Adam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07" name="Rectangle 77"/>
              <p:cNvSpPr>
                <a:spLocks noChangeArrowheads="1"/>
              </p:cNvSpPr>
              <p:nvPr/>
            </p:nvSpPr>
            <p:spPr bwMode="auto">
              <a:xfrm>
                <a:off x="300" y="2819"/>
                <a:ext cx="1227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22" name="Group 190"/>
          <p:cNvGrpSpPr>
            <a:grpSpLocks/>
          </p:cNvGrpSpPr>
          <p:nvPr/>
        </p:nvGrpSpPr>
        <p:grpSpPr bwMode="auto">
          <a:xfrm>
            <a:off x="7413488" y="5452630"/>
            <a:ext cx="1600200" cy="941387"/>
            <a:chOff x="4032" y="768"/>
            <a:chExt cx="1008" cy="593"/>
          </a:xfrm>
        </p:grpSpPr>
        <p:grpSp>
          <p:nvGrpSpPr>
            <p:cNvPr id="123" name="Group 5"/>
            <p:cNvGrpSpPr>
              <a:grpSpLocks/>
            </p:cNvGrpSpPr>
            <p:nvPr/>
          </p:nvGrpSpPr>
          <p:grpSpPr bwMode="auto">
            <a:xfrm>
              <a:off x="4032" y="768"/>
              <a:ext cx="588" cy="193"/>
              <a:chOff x="0" y="0"/>
              <a:chExt cx="150" cy="1311"/>
            </a:xfrm>
          </p:grpSpPr>
          <p:sp>
            <p:nvSpPr>
              <p:cNvPr id="139" name="Rectangle 6"/>
              <p:cNvSpPr>
                <a:spLocks noChangeArrowheads="1"/>
              </p:cNvSpPr>
              <p:nvPr/>
            </p:nvSpPr>
            <p:spPr bwMode="auto">
              <a:xfrm>
                <a:off x="6" y="6"/>
                <a:ext cx="138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Manager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4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0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4" name="Group 8"/>
            <p:cNvGrpSpPr>
              <a:grpSpLocks/>
            </p:cNvGrpSpPr>
            <p:nvPr/>
          </p:nvGrpSpPr>
          <p:grpSpPr bwMode="auto">
            <a:xfrm>
              <a:off x="4621" y="768"/>
              <a:ext cx="419" cy="193"/>
              <a:chOff x="150" y="0"/>
              <a:chExt cx="150" cy="1311"/>
            </a:xfrm>
          </p:grpSpPr>
          <p:sp>
            <p:nvSpPr>
              <p:cNvPr id="137" name="Rectangle 9"/>
              <p:cNvSpPr>
                <a:spLocks noChangeArrowheads="1"/>
              </p:cNvSpPr>
              <p:nvPr/>
            </p:nvSpPr>
            <p:spPr bwMode="auto">
              <a:xfrm>
                <a:off x="156" y="6"/>
                <a:ext cx="138" cy="1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Child    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38" name="Rectangle 10"/>
              <p:cNvSpPr>
                <a:spLocks noChangeArrowheads="1"/>
              </p:cNvSpPr>
              <p:nvPr/>
            </p:nvSpPr>
            <p:spPr bwMode="auto">
              <a:xfrm>
                <a:off x="150" y="0"/>
                <a:ext cx="150" cy="1311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5" name="Group 14"/>
            <p:cNvGrpSpPr>
              <a:grpSpLocks/>
            </p:cNvGrpSpPr>
            <p:nvPr/>
          </p:nvGrpSpPr>
          <p:grpSpPr bwMode="auto">
            <a:xfrm>
              <a:off x="4032" y="961"/>
              <a:ext cx="588" cy="214"/>
              <a:chOff x="0" y="1323"/>
              <a:chExt cx="150" cy="736"/>
            </a:xfrm>
          </p:grpSpPr>
          <p:sp>
            <p:nvSpPr>
              <p:cNvPr id="135" name="Rectangle 15"/>
              <p:cNvSpPr>
                <a:spLocks noChangeArrowheads="1"/>
              </p:cNvSpPr>
              <p:nvPr/>
            </p:nvSpPr>
            <p:spPr bwMode="auto">
              <a:xfrm>
                <a:off x="6" y="1329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Jim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36" name="Rectangle 16"/>
              <p:cNvSpPr>
                <a:spLocks noChangeArrowheads="1"/>
              </p:cNvSpPr>
              <p:nvPr/>
            </p:nvSpPr>
            <p:spPr bwMode="auto">
              <a:xfrm>
                <a:off x="0" y="1323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6" name="Group 17"/>
            <p:cNvGrpSpPr>
              <a:grpSpLocks/>
            </p:cNvGrpSpPr>
            <p:nvPr/>
          </p:nvGrpSpPr>
          <p:grpSpPr bwMode="auto">
            <a:xfrm>
              <a:off x="4621" y="961"/>
              <a:ext cx="419" cy="214"/>
              <a:chOff x="150" y="1323"/>
              <a:chExt cx="150" cy="736"/>
            </a:xfrm>
          </p:grpSpPr>
          <p:sp>
            <p:nvSpPr>
              <p:cNvPr id="133" name="Rectangle 18"/>
              <p:cNvSpPr>
                <a:spLocks noChangeArrowheads="1"/>
              </p:cNvSpPr>
              <p:nvPr/>
            </p:nvSpPr>
            <p:spPr bwMode="auto">
              <a:xfrm>
                <a:off x="156" y="1329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Beth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34" name="Rectangle 19"/>
              <p:cNvSpPr>
                <a:spLocks noChangeArrowheads="1"/>
              </p:cNvSpPr>
              <p:nvPr/>
            </p:nvSpPr>
            <p:spPr bwMode="auto">
              <a:xfrm>
                <a:off x="150" y="1323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7" name="Group 23"/>
            <p:cNvGrpSpPr>
              <a:grpSpLocks/>
            </p:cNvGrpSpPr>
            <p:nvPr/>
          </p:nvGrpSpPr>
          <p:grpSpPr bwMode="auto">
            <a:xfrm>
              <a:off x="4032" y="1175"/>
              <a:ext cx="588" cy="186"/>
              <a:chOff x="0" y="2071"/>
              <a:chExt cx="150" cy="736"/>
            </a:xfrm>
          </p:grpSpPr>
          <p:sp>
            <p:nvSpPr>
              <p:cNvPr id="131" name="Rectangle 24"/>
              <p:cNvSpPr>
                <a:spLocks noChangeArrowheads="1"/>
              </p:cNvSpPr>
              <p:nvPr/>
            </p:nvSpPr>
            <p:spPr bwMode="auto">
              <a:xfrm>
                <a:off x="6" y="2077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Mary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32" name="Rectangle 25"/>
              <p:cNvSpPr>
                <a:spLocks noChangeArrowheads="1"/>
              </p:cNvSpPr>
              <p:nvPr/>
            </p:nvSpPr>
            <p:spPr bwMode="auto">
              <a:xfrm>
                <a:off x="0" y="2071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8" name="Group 26"/>
            <p:cNvGrpSpPr>
              <a:grpSpLocks/>
            </p:cNvGrpSpPr>
            <p:nvPr/>
          </p:nvGrpSpPr>
          <p:grpSpPr bwMode="auto">
            <a:xfrm>
              <a:off x="4621" y="1175"/>
              <a:ext cx="419" cy="186"/>
              <a:chOff x="150" y="2071"/>
              <a:chExt cx="150" cy="736"/>
            </a:xfrm>
          </p:grpSpPr>
          <p:sp>
            <p:nvSpPr>
              <p:cNvPr id="129" name="Rectangle 27"/>
              <p:cNvSpPr>
                <a:spLocks noChangeArrowheads="1"/>
              </p:cNvSpPr>
              <p:nvPr/>
            </p:nvSpPr>
            <p:spPr bwMode="auto">
              <a:xfrm>
                <a:off x="156" y="2077"/>
                <a:ext cx="138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200" b="0"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Bob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 b="0"/>
              </a:p>
            </p:txBody>
          </p:sp>
          <p:sp>
            <p:nvSpPr>
              <p:cNvPr id="130" name="Rectangle 28"/>
              <p:cNvSpPr>
                <a:spLocks noChangeArrowheads="1"/>
              </p:cNvSpPr>
              <p:nvPr/>
            </p:nvSpPr>
            <p:spPr bwMode="auto">
              <a:xfrm>
                <a:off x="150" y="2071"/>
                <a:ext cx="150" cy="736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lang="en-US" altLang="en-US" sz="2400">
                  <a:solidFill>
                    <a:srgbClr val="0000FF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471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Fifth Normal Form  (5NF)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1696" y="2443843"/>
            <a:ext cx="9600133" cy="4087586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normal form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satisfied when all tables are broken into as many tables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possible in order to avoid redundancy.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in fifth normal form it cannot be broken into smaller relations without changing the facts or the meaning.</a:t>
            </a:r>
            <a:r>
              <a:rPr lang="en-US" altLang="en-US" sz="2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 </a:t>
            </a:r>
            <a:endParaRPr lang="en-US" altLang="en-US" sz="2400" dirty="0" smtClean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Key Normal Form  (DKNF) </a:t>
            </a:r>
            <a:endParaRPr lang="en-US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 is in DKNF when there can be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insertion or deletion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in the database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2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BB5FF9-43D0-43C2-9B96-BE67CAA5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56" y="70010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Vs Denormalization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935F7F-1B36-4C72-B7FB-7116E2855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013" y="2452914"/>
            <a:ext cx="9522701" cy="404451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Process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big tables into multiple smaller tables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redundancy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eliminate DML anomalies.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queries become slow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you would need to perform multiple joins.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Denormalization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Process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small tables into few big tables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data redundancy in order to increase the performance of select queries.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of data</a:t>
            </a:r>
          </a:p>
        </p:txBody>
      </p:sp>
    </p:spTree>
    <p:extLst>
      <p:ext uri="{BB962C8B-B14F-4D97-AF65-F5344CB8AC3E}">
        <p14:creationId xmlns:p14="http://schemas.microsoft.com/office/powerpoint/2010/main" val="5053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659085" y="2099733"/>
            <a:ext cx="5321527" cy="1891696"/>
          </a:xfrm>
        </p:spPr>
        <p:txBody>
          <a:bodyPr/>
          <a:lstStyle/>
          <a:p>
            <a:r>
              <a:rPr lang="en-US" sz="7200" b="1" dirty="0" smtClean="0"/>
              <a:t>END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56407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42250</TotalTime>
  <Words>6681</Words>
  <Application>Microsoft Office PowerPoint</Application>
  <PresentationFormat>Widescreen</PresentationFormat>
  <Paragraphs>678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Arial</vt:lpstr>
      <vt:lpstr>Arial Unicode MS</vt:lpstr>
      <vt:lpstr>Century Gothic</vt:lpstr>
      <vt:lpstr>Times New Roman</vt:lpstr>
      <vt:lpstr>Wingdings</vt:lpstr>
      <vt:lpstr>Wingdings 3</vt:lpstr>
      <vt:lpstr>Ion Boardroom</vt:lpstr>
      <vt:lpstr>MySQL</vt:lpstr>
      <vt:lpstr>Introduction</vt:lpstr>
      <vt:lpstr>Introduction</vt:lpstr>
      <vt:lpstr>Different RDBMS</vt:lpstr>
      <vt:lpstr>MYSQL CLIENT</vt:lpstr>
      <vt:lpstr>Basic Queries</vt:lpstr>
      <vt:lpstr>Creating tables</vt:lpstr>
      <vt:lpstr>Insert- is used to add the records to table</vt:lpstr>
      <vt:lpstr>PowerPoint Presentation</vt:lpstr>
      <vt:lpstr>Update &amp; Delete command</vt:lpstr>
      <vt:lpstr>Operators</vt:lpstr>
      <vt:lpstr>Alter Commands </vt:lpstr>
      <vt:lpstr>Alter syntax</vt:lpstr>
      <vt:lpstr>Constraints</vt:lpstr>
      <vt:lpstr>What are different keys in sql?</vt:lpstr>
      <vt:lpstr>PowerPoint Presentation</vt:lpstr>
      <vt:lpstr>PowerPoint Presentation</vt:lpstr>
      <vt:lpstr>PowerPoint Presentation</vt:lpstr>
      <vt:lpstr>DDL- Data Definition Language</vt:lpstr>
      <vt:lpstr>Truncate vs. Delete</vt:lpstr>
      <vt:lpstr>DML- Data Manipulation Language</vt:lpstr>
      <vt:lpstr>DCL- Data Control Language</vt:lpstr>
      <vt:lpstr>TCL- Transaction Control Language</vt:lpstr>
      <vt:lpstr>Joins</vt:lpstr>
      <vt:lpstr>Inner Join</vt:lpstr>
      <vt:lpstr>Left and Right Join</vt:lpstr>
      <vt:lpstr>PowerPoint Presentation</vt:lpstr>
      <vt:lpstr>Column Alias:</vt:lpstr>
      <vt:lpstr>Table Alias:</vt:lpstr>
      <vt:lpstr>Cross &amp; Self Join</vt:lpstr>
      <vt:lpstr>Set Operators</vt:lpstr>
      <vt:lpstr>Two Sets A={1,2,3} and B={3,4,5}</vt:lpstr>
      <vt:lpstr>Aggregate Functions</vt:lpstr>
      <vt:lpstr>Select Query Syntax </vt:lpstr>
      <vt:lpstr>Group by Clause</vt:lpstr>
      <vt:lpstr>Having clause</vt:lpstr>
      <vt:lpstr>Where Clause Vs Having Clause</vt:lpstr>
      <vt:lpstr>ORDER BY Clause:</vt:lpstr>
      <vt:lpstr>DISTINCT</vt:lpstr>
      <vt:lpstr>Limit and Offset</vt:lpstr>
      <vt:lpstr>String functions in MySQL</vt:lpstr>
      <vt:lpstr>String functions in MySQL</vt:lpstr>
      <vt:lpstr>String functions in MySQL</vt:lpstr>
      <vt:lpstr>Numeric Functions MySQL </vt:lpstr>
      <vt:lpstr>Numeric Functions MySQL </vt:lpstr>
      <vt:lpstr>Sub Queries</vt:lpstr>
      <vt:lpstr>Case statements </vt:lpstr>
      <vt:lpstr>Window functions</vt:lpstr>
      <vt:lpstr>EXISTS Operator in SQL</vt:lpstr>
      <vt:lpstr>MySQL Programming</vt:lpstr>
      <vt:lpstr>Functions</vt:lpstr>
      <vt:lpstr>Procedures</vt:lpstr>
      <vt:lpstr>Functions vs Procedure </vt:lpstr>
      <vt:lpstr>Functions vs Procedure </vt:lpstr>
      <vt:lpstr>Triggers</vt:lpstr>
      <vt:lpstr>Views</vt:lpstr>
      <vt:lpstr>Normalization</vt:lpstr>
      <vt:lpstr>Levels of Normalization </vt:lpstr>
      <vt:lpstr>PowerPoint Presentation</vt:lpstr>
      <vt:lpstr>PowerPoint Presentation</vt:lpstr>
      <vt:lpstr>PowerPoint Presentation</vt:lpstr>
      <vt:lpstr>PowerPoint Presentation</vt:lpstr>
      <vt:lpstr>Second Normal Form  (2NF) </vt:lpstr>
      <vt:lpstr>Second Normal Form  (2NF) </vt:lpstr>
      <vt:lpstr>Third Normal Form  (3NF) </vt:lpstr>
      <vt:lpstr>3NF - Decomposition</vt:lpstr>
      <vt:lpstr>Third Normal Form  (3NF) </vt:lpstr>
      <vt:lpstr>Boyce-Codd Normal Form  (BCNF) </vt:lpstr>
      <vt:lpstr>BCNF - Decomposition</vt:lpstr>
      <vt:lpstr>Decomposition – Loss of Information</vt:lpstr>
      <vt:lpstr>Fourth Normal Form  (4NF) </vt:lpstr>
      <vt:lpstr>4NF - Decomposition</vt:lpstr>
      <vt:lpstr>Fourth Normal Form  (4NF) </vt:lpstr>
      <vt:lpstr>Fifth Normal Form  (5NF) </vt:lpstr>
      <vt:lpstr>Normalization Vs Denormalization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:- Introduction</dc:title>
  <dc:creator>USER</dc:creator>
  <cp:lastModifiedBy>Admin</cp:lastModifiedBy>
  <cp:revision>617</cp:revision>
  <dcterms:created xsi:type="dcterms:W3CDTF">2024-05-02T07:20:41Z</dcterms:created>
  <dcterms:modified xsi:type="dcterms:W3CDTF">2025-10-29T05:40:51Z</dcterms:modified>
</cp:coreProperties>
</file>