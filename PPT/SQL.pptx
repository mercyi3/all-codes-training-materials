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sldIdLst>
    <p:sldId id="256" r:id="rId2"/>
    <p:sldId id="257" r:id="rId3"/>
    <p:sldId id="258" r:id="rId4"/>
    <p:sldId id="292" r:id="rId5"/>
    <p:sldId id="261" r:id="rId6"/>
    <p:sldId id="262" r:id="rId7"/>
    <p:sldId id="264" r:id="rId8"/>
    <p:sldId id="265" r:id="rId9"/>
    <p:sldId id="259" r:id="rId10"/>
    <p:sldId id="260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2" r:id="rId21"/>
    <p:sldId id="276" r:id="rId22"/>
    <p:sldId id="277" r:id="rId23"/>
    <p:sldId id="278" r:id="rId24"/>
    <p:sldId id="279" r:id="rId25"/>
    <p:sldId id="280" r:id="rId26"/>
    <p:sldId id="281" r:id="rId27"/>
    <p:sldId id="283" r:id="rId28"/>
    <p:sldId id="288" r:id="rId29"/>
    <p:sldId id="282" r:id="rId30"/>
    <p:sldId id="286" r:id="rId31"/>
    <p:sldId id="289" r:id="rId32"/>
    <p:sldId id="290" r:id="rId33"/>
    <p:sldId id="291" r:id="rId34"/>
    <p:sldId id="293" r:id="rId35"/>
    <p:sldId id="294" r:id="rId36"/>
    <p:sldId id="295" r:id="rId37"/>
    <p:sldId id="297" r:id="rId38"/>
    <p:sldId id="298" r:id="rId39"/>
    <p:sldId id="299" r:id="rId40"/>
    <p:sldId id="263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1840-DC93-449C-B983-31ED15DE60C5}" type="datetimeFigureOut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8FC4B9C-26F5-4D51-993D-F23965E3D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858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1840-DC93-449C-B983-31ED15DE60C5}" type="datetimeFigureOut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C4B9C-26F5-4D51-993D-F23965E3D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2753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1840-DC93-449C-B983-31ED15DE60C5}" type="datetimeFigureOut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8FC4B9C-26F5-4D51-993D-F23965E3D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944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1840-DC93-449C-B983-31ED15DE60C5}" type="datetimeFigureOut">
              <a:rPr lang="en-IN" smtClean="0"/>
              <a:t>13-06-2025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8FC4B9C-26F5-4D51-993D-F23965E3D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630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1840-DC93-449C-B983-31ED15DE60C5}" type="datetimeFigureOut">
              <a:rPr lang="en-IN" smtClean="0"/>
              <a:t>13-06-2025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8FC4B9C-26F5-4D51-993D-F23965E3D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7401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1840-DC93-449C-B983-31ED15DE60C5}" type="datetimeFigureOut">
              <a:rPr lang="en-IN" smtClean="0"/>
              <a:t>13-06-2025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C4B9C-26F5-4D51-993D-F23965E3D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5040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1840-DC93-449C-B983-31ED15DE60C5}" type="datetimeFigureOut">
              <a:rPr lang="en-IN" smtClean="0"/>
              <a:t>13-06-2025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C4B9C-26F5-4D51-993D-F23965E3D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0837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1840-DC93-449C-B983-31ED15DE60C5}" type="datetimeFigureOut">
              <a:rPr lang="en-IN" smtClean="0"/>
              <a:t>13-06-2025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C4B9C-26F5-4D51-993D-F23965E3D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6672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1840-DC93-449C-B983-31ED15DE60C5}" type="datetimeFigureOut">
              <a:rPr lang="en-IN" smtClean="0"/>
              <a:t>13-06-2025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8FC4B9C-26F5-4D51-993D-F23965E3D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5940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1840-DC93-449C-B983-31ED15DE60C5}" type="datetimeFigureOut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8FC4B9C-26F5-4D51-993D-F23965E3D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1561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1840-DC93-449C-B983-31ED15DE60C5}" type="datetimeFigureOut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8FC4B9C-26F5-4D51-993D-F23965E3DDDE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34518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1840-DC93-449C-B983-31ED15DE60C5}" type="datetimeFigureOut">
              <a:rPr lang="en-IN" smtClean="0"/>
              <a:t>13-06-2025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8FC4B9C-26F5-4D51-993D-F23965E3D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75911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1840-DC93-449C-B983-31ED15DE60C5}" type="datetimeFigureOut">
              <a:rPr lang="en-IN" smtClean="0"/>
              <a:t>13-06-2025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8FC4B9C-26F5-4D51-993D-F23965E3DDDE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775520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1840-DC93-449C-B983-31ED15DE60C5}" type="datetimeFigureOut">
              <a:rPr lang="en-IN" smtClean="0"/>
              <a:t>13-06-2025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8FC4B9C-26F5-4D51-993D-F23965E3D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99501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1840-DC93-449C-B983-31ED15DE60C5}" type="datetimeFigureOut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C4B9C-26F5-4D51-993D-F23965E3D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47351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1840-DC93-449C-B983-31ED15DE60C5}" type="datetimeFigureOut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C4B9C-26F5-4D51-993D-F23965E3D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4890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9F1840-DC93-449C-B983-31ED15DE60C5}" type="datetimeFigureOut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8FC4B9C-26F5-4D51-993D-F23965E3D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852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10667" y="2501230"/>
            <a:ext cx="6593945" cy="1282316"/>
          </a:xfrm>
        </p:spPr>
        <p:txBody>
          <a:bodyPr>
            <a:normAutofit/>
          </a:bodyPr>
          <a:lstStyle/>
          <a:p>
            <a:r>
              <a:rPr lang="en-US" sz="6600" b="1" dirty="0" smtClean="0"/>
              <a:t>SQL</a:t>
            </a:r>
            <a:endParaRPr lang="en-IN" sz="66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63733" y="3783546"/>
            <a:ext cx="5620067" cy="1126283"/>
          </a:xfrm>
        </p:spPr>
        <p:txBody>
          <a:bodyPr/>
          <a:lstStyle/>
          <a:p>
            <a:r>
              <a:rPr lang="en-US" b="1" dirty="0" smtClean="0"/>
              <a:t>Structured Query Language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075344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1662" y="624110"/>
            <a:ext cx="8911687" cy="781357"/>
          </a:xfrm>
        </p:spPr>
        <p:txBody>
          <a:bodyPr/>
          <a:lstStyle/>
          <a:p>
            <a:r>
              <a:rPr lang="en-US" b="1" dirty="0" smtClean="0"/>
              <a:t>Introduction: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50726" y="1662545"/>
            <a:ext cx="8333558" cy="4980248"/>
          </a:xfrm>
        </p:spPr>
        <p:txBody>
          <a:bodyPr>
            <a:noAutofit/>
          </a:bodyPr>
          <a:lstStyle/>
          <a:p>
            <a:r>
              <a:rPr lang="en-IN" sz="2000" dirty="0"/>
              <a:t>SQL </a:t>
            </a:r>
            <a:r>
              <a:rPr lang="en-IN" sz="2000" b="1" dirty="0"/>
              <a:t>(Structured Query Language) </a:t>
            </a:r>
            <a:r>
              <a:rPr lang="en-IN" sz="2000" dirty="0"/>
              <a:t>is a programming language which is used to manage data stored in relational databases like MySQL, MS Access, SQL Server, Oracle, Sybase, Informix, </a:t>
            </a:r>
            <a:r>
              <a:rPr lang="en-IN" sz="2000" dirty="0" err="1"/>
              <a:t>Postgres</a:t>
            </a:r>
            <a:r>
              <a:rPr lang="en-IN" sz="2000" dirty="0"/>
              <a:t> etc</a:t>
            </a:r>
            <a:r>
              <a:rPr lang="en-IN" sz="2000" dirty="0" smtClean="0"/>
              <a:t>.</a:t>
            </a:r>
          </a:p>
          <a:p>
            <a:r>
              <a:rPr lang="en-IN" sz="2000" dirty="0"/>
              <a:t>SQL is a database computer language designed for the </a:t>
            </a:r>
            <a:r>
              <a:rPr lang="en-IN" sz="2000" b="1" dirty="0"/>
              <a:t>retrieval and management of data </a:t>
            </a:r>
            <a:r>
              <a:rPr lang="en-IN" sz="2000" dirty="0"/>
              <a:t>in a relational databases.</a:t>
            </a:r>
          </a:p>
          <a:p>
            <a:r>
              <a:rPr lang="en-IN" sz="2000" dirty="0"/>
              <a:t>SQL was developed in the </a:t>
            </a:r>
            <a:r>
              <a:rPr lang="en-IN" sz="2000" b="1" dirty="0"/>
              <a:t>1970s by IBM Computer </a:t>
            </a:r>
            <a:r>
              <a:rPr lang="en-IN" sz="2000" b="1" dirty="0" smtClean="0"/>
              <a:t>Scientists</a:t>
            </a:r>
            <a:r>
              <a:rPr lang="en-IN" sz="2000" b="1" dirty="0"/>
              <a:t> </a:t>
            </a:r>
            <a:r>
              <a:rPr lang="en-IN" sz="2000" dirty="0"/>
              <a:t>and became a standard of the American National Standards Institute </a:t>
            </a:r>
            <a:r>
              <a:rPr lang="en-IN" sz="2000" b="1" dirty="0"/>
              <a:t>(ANSI) in 1986</a:t>
            </a:r>
            <a:r>
              <a:rPr lang="en-IN" sz="2000" dirty="0"/>
              <a:t>, and the International Organization for Standardization </a:t>
            </a:r>
            <a:r>
              <a:rPr lang="en-IN" sz="2000" b="1" dirty="0"/>
              <a:t>(ISO) in 1987</a:t>
            </a:r>
            <a:r>
              <a:rPr lang="en-IN" sz="2000" b="1" dirty="0" smtClean="0"/>
              <a:t>.</a:t>
            </a:r>
          </a:p>
          <a:p>
            <a:r>
              <a:rPr lang="en-IN" sz="2000" dirty="0"/>
              <a:t>SQL is the standard language to communicate with </a:t>
            </a:r>
            <a:r>
              <a:rPr lang="en-IN" sz="2000" dirty="0" smtClean="0"/>
              <a:t>All </a:t>
            </a:r>
            <a:r>
              <a:rPr lang="en-IN" sz="2000" dirty="0"/>
              <a:t>the </a:t>
            </a:r>
            <a:r>
              <a:rPr lang="en-IN" sz="2000" b="1" dirty="0"/>
              <a:t>Relational Database Management Systems (RDMS</a:t>
            </a:r>
            <a:r>
              <a:rPr lang="en-IN" sz="2000" b="1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48859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991" y="734177"/>
            <a:ext cx="8911687" cy="789823"/>
          </a:xfrm>
        </p:spPr>
        <p:txBody>
          <a:bodyPr/>
          <a:lstStyle/>
          <a:p>
            <a:r>
              <a:rPr lang="en-US" b="1" dirty="0" smtClean="0"/>
              <a:t>RDBMS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2870" y="1725662"/>
            <a:ext cx="8435928" cy="4505322"/>
          </a:xfrm>
        </p:spPr>
        <p:txBody>
          <a:bodyPr>
            <a:normAutofit/>
          </a:bodyPr>
          <a:lstStyle/>
          <a:p>
            <a:r>
              <a:rPr lang="en-IN" sz="2000" dirty="0"/>
              <a:t>RDBMS stands for </a:t>
            </a:r>
            <a:r>
              <a:rPr lang="en-IN" sz="2000" b="1" dirty="0"/>
              <a:t>Relational Database Management System</a:t>
            </a:r>
            <a:r>
              <a:rPr lang="en-IN" sz="2000" dirty="0"/>
              <a:t>. </a:t>
            </a:r>
            <a:endParaRPr lang="en-IN" sz="2000" dirty="0" smtClean="0"/>
          </a:p>
          <a:p>
            <a:r>
              <a:rPr lang="en-IN" sz="2000" dirty="0" smtClean="0"/>
              <a:t>RDBMS </a:t>
            </a:r>
            <a:r>
              <a:rPr lang="en-IN" sz="2000" dirty="0"/>
              <a:t>is the basis for SQL, and for all modern database systems like </a:t>
            </a:r>
            <a:r>
              <a:rPr lang="en-IN" sz="2000" b="1" dirty="0"/>
              <a:t>MS SQL Server, IBM DB2, Oracle, MySQL</a:t>
            </a:r>
            <a:r>
              <a:rPr lang="en-IN" sz="2000" dirty="0"/>
              <a:t>, and Microsoft Access</a:t>
            </a:r>
            <a:r>
              <a:rPr lang="en-IN" sz="2000" dirty="0" smtClean="0"/>
              <a:t>.</a:t>
            </a:r>
            <a:endParaRPr lang="en-IN" sz="2000" dirty="0"/>
          </a:p>
          <a:p>
            <a:r>
              <a:rPr lang="en-IN" sz="2000" dirty="0"/>
              <a:t>A </a:t>
            </a:r>
            <a:r>
              <a:rPr lang="en-IN" sz="2000" dirty="0" smtClean="0"/>
              <a:t>RDBMS </a:t>
            </a:r>
            <a:r>
              <a:rPr lang="en-IN" sz="2000" dirty="0"/>
              <a:t>is a </a:t>
            </a:r>
            <a:r>
              <a:rPr lang="en-IN" sz="2000" dirty="0" smtClean="0"/>
              <a:t>DBMS </a:t>
            </a:r>
            <a:r>
              <a:rPr lang="en-IN" sz="2000" dirty="0"/>
              <a:t>that </a:t>
            </a:r>
            <a:r>
              <a:rPr lang="en-IN" sz="2000" b="1" dirty="0"/>
              <a:t>is based on the relational </a:t>
            </a:r>
            <a:r>
              <a:rPr lang="en-IN" sz="2000" dirty="0"/>
              <a:t>model as </a:t>
            </a:r>
            <a:r>
              <a:rPr lang="en-IN" sz="2000" b="1" dirty="0"/>
              <a:t>introduced by E. F. </a:t>
            </a:r>
            <a:r>
              <a:rPr lang="en-IN" sz="2000" b="1" dirty="0" err="1"/>
              <a:t>Codd</a:t>
            </a:r>
            <a:r>
              <a:rPr lang="en-IN" sz="2000" b="1" dirty="0"/>
              <a:t> in 1970</a:t>
            </a:r>
            <a:r>
              <a:rPr lang="en-IN" sz="2000" dirty="0" smtClean="0"/>
              <a:t>.</a:t>
            </a:r>
          </a:p>
          <a:p>
            <a:r>
              <a:rPr lang="en-IN" sz="2000" dirty="0"/>
              <a:t>The data in an RDBMS is stored in </a:t>
            </a:r>
            <a:r>
              <a:rPr lang="en-IN" sz="2000" b="1" dirty="0"/>
              <a:t>database objects </a:t>
            </a:r>
            <a:r>
              <a:rPr lang="en-IN" sz="2000" dirty="0"/>
              <a:t>known as </a:t>
            </a:r>
            <a:r>
              <a:rPr lang="en-IN" sz="2000" b="1" dirty="0"/>
              <a:t>tables</a:t>
            </a:r>
            <a:r>
              <a:rPr lang="en-IN" sz="2000" dirty="0"/>
              <a:t>. </a:t>
            </a:r>
            <a:endParaRPr lang="en-IN" sz="2000" dirty="0" smtClean="0"/>
          </a:p>
          <a:p>
            <a:r>
              <a:rPr lang="en-IN" sz="2000" dirty="0" smtClean="0"/>
              <a:t>This </a:t>
            </a:r>
            <a:r>
              <a:rPr lang="en-IN" sz="2000" dirty="0"/>
              <a:t>table is basically a </a:t>
            </a:r>
            <a:r>
              <a:rPr lang="en-IN" sz="2000" b="1" dirty="0"/>
              <a:t>collection of related data </a:t>
            </a:r>
            <a:r>
              <a:rPr lang="en-IN" sz="2000" dirty="0"/>
              <a:t>entries and it consists of numerous columns and rows</a:t>
            </a:r>
            <a:r>
              <a:rPr lang="en-IN" sz="2000" dirty="0" smtClean="0"/>
              <a:t>.</a:t>
            </a:r>
          </a:p>
          <a:p>
            <a:r>
              <a:rPr lang="en-IN" sz="2000" dirty="0"/>
              <a:t>Every table is broken up into smaller entities called fields.</a:t>
            </a:r>
          </a:p>
        </p:txBody>
      </p:sp>
    </p:spTree>
    <p:extLst>
      <p:ext uri="{BB962C8B-B14F-4D97-AF65-F5344CB8AC3E}">
        <p14:creationId xmlns:p14="http://schemas.microsoft.com/office/powerpoint/2010/main" val="3480890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6344" y="624110"/>
            <a:ext cx="8911687" cy="63111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Types of SQL:</a:t>
            </a:r>
            <a:endParaRPr lang="en-IN" b="1" dirty="0"/>
          </a:p>
        </p:txBody>
      </p:sp>
      <p:pic>
        <p:nvPicPr>
          <p:cNvPr id="2050" name="Picture 2" descr="DBMS SQL command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702" y="1471354"/>
            <a:ext cx="8279476" cy="5086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7507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0540" y="715550"/>
            <a:ext cx="8911687" cy="822305"/>
          </a:xfrm>
        </p:spPr>
        <p:txBody>
          <a:bodyPr/>
          <a:lstStyle/>
          <a:p>
            <a:r>
              <a:rPr lang="en-US" b="1" dirty="0" smtClean="0"/>
              <a:t>Database </a:t>
            </a:r>
            <a:r>
              <a:rPr lang="en-IN" b="1" dirty="0"/>
              <a:t>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1991" y="1985553"/>
            <a:ext cx="8690236" cy="4330799"/>
          </a:xfrm>
        </p:spPr>
        <p:txBody>
          <a:bodyPr>
            <a:noAutofit/>
          </a:bodyPr>
          <a:lstStyle/>
          <a:p>
            <a:r>
              <a:rPr lang="en-IN" sz="2400" dirty="0"/>
              <a:t>Normalization is the process of </a:t>
            </a:r>
            <a:r>
              <a:rPr lang="en-IN" sz="2400" b="1" dirty="0"/>
              <a:t>organizing the data </a:t>
            </a:r>
            <a:r>
              <a:rPr lang="en-IN" sz="2400" dirty="0"/>
              <a:t>in the database.</a:t>
            </a:r>
          </a:p>
          <a:p>
            <a:r>
              <a:rPr lang="en-IN" sz="2400" dirty="0" smtClean="0"/>
              <a:t>It </a:t>
            </a:r>
            <a:r>
              <a:rPr lang="en-IN" sz="2400" dirty="0"/>
              <a:t>is also used to </a:t>
            </a:r>
            <a:r>
              <a:rPr lang="en-IN" sz="2400" b="1" dirty="0"/>
              <a:t>eliminate undesirable characteristics </a:t>
            </a:r>
            <a:r>
              <a:rPr lang="en-IN" sz="2400" dirty="0"/>
              <a:t>like Insertion, Update, and Deletion Anomalies.</a:t>
            </a:r>
          </a:p>
          <a:p>
            <a:r>
              <a:rPr lang="en-IN" sz="2400" dirty="0"/>
              <a:t>Normalization </a:t>
            </a:r>
            <a:r>
              <a:rPr lang="en-IN" sz="2400" b="1" dirty="0"/>
              <a:t>divides the larger table into smaller </a:t>
            </a:r>
            <a:r>
              <a:rPr lang="en-IN" sz="2400" dirty="0"/>
              <a:t>and links them using relationships.</a:t>
            </a:r>
          </a:p>
          <a:p>
            <a:r>
              <a:rPr lang="en-IN" sz="2400" dirty="0" smtClean="0"/>
              <a:t>Failure </a:t>
            </a:r>
            <a:r>
              <a:rPr lang="en-IN" sz="2400" dirty="0"/>
              <a:t>to eliminate anomalies leads to </a:t>
            </a:r>
            <a:r>
              <a:rPr lang="en-IN" sz="2400" b="1" dirty="0"/>
              <a:t>data redundancy </a:t>
            </a:r>
            <a:r>
              <a:rPr lang="en-IN" sz="2400" dirty="0"/>
              <a:t>and can cause </a:t>
            </a:r>
            <a:r>
              <a:rPr lang="en-IN" sz="2400" b="1" dirty="0"/>
              <a:t>data integrity </a:t>
            </a:r>
            <a:r>
              <a:rPr lang="en-IN" sz="2400" dirty="0"/>
              <a:t>and other problems as the database grows.</a:t>
            </a:r>
          </a:p>
        </p:txBody>
      </p:sp>
    </p:spTree>
    <p:extLst>
      <p:ext uri="{BB962C8B-B14F-4D97-AF65-F5344CB8AC3E}">
        <p14:creationId xmlns:p14="http://schemas.microsoft.com/office/powerpoint/2010/main" val="1602705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774" y="665673"/>
            <a:ext cx="8911687" cy="730865"/>
          </a:xfrm>
        </p:spPr>
        <p:txBody>
          <a:bodyPr/>
          <a:lstStyle/>
          <a:p>
            <a:r>
              <a:rPr lang="en-IN" b="1" dirty="0"/>
              <a:t>Types of Normal Forms: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9596" y="1629294"/>
            <a:ext cx="8794865" cy="4522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971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4853" y="596401"/>
            <a:ext cx="8911687" cy="764115"/>
          </a:xfrm>
        </p:spPr>
        <p:txBody>
          <a:bodyPr/>
          <a:lstStyle/>
          <a:p>
            <a:r>
              <a:rPr lang="en-IN" b="1" dirty="0"/>
              <a:t>Types of SQL </a:t>
            </a:r>
            <a:r>
              <a:rPr lang="en-IN" b="1" dirty="0" smtClean="0"/>
              <a:t>Databases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51179" y="1554479"/>
            <a:ext cx="9085718" cy="5016137"/>
          </a:xfrm>
        </p:spPr>
        <p:txBody>
          <a:bodyPr>
            <a:noAutofit/>
          </a:bodyPr>
          <a:lstStyle/>
          <a:p>
            <a:r>
              <a:rPr lang="en-IN" sz="2400" dirty="0" smtClean="0"/>
              <a:t>There </a:t>
            </a:r>
            <a:r>
              <a:rPr lang="en-IN" sz="2400" dirty="0"/>
              <a:t>are many popular RDBMS available to work with. </a:t>
            </a:r>
            <a:endParaRPr lang="en-IN" sz="2400" dirty="0" smtClean="0"/>
          </a:p>
          <a:p>
            <a:pPr marL="0" indent="0">
              <a:buNone/>
            </a:pPr>
            <a:r>
              <a:rPr lang="en-IN" sz="2400" b="1" dirty="0" smtClean="0"/>
              <a:t>MySQL</a:t>
            </a:r>
          </a:p>
          <a:p>
            <a:pPr lvl="1"/>
            <a:r>
              <a:rPr lang="en-IN" sz="2000" dirty="0">
                <a:sym typeface="Wingdings" panose="05000000000000000000" pitchFamily="2" charset="2"/>
              </a:rPr>
              <a:t>MySQL is an open source SQL database, which is developed by a </a:t>
            </a:r>
            <a:r>
              <a:rPr lang="en-IN" sz="2000" b="1" dirty="0">
                <a:sym typeface="Wingdings" panose="05000000000000000000" pitchFamily="2" charset="2"/>
              </a:rPr>
              <a:t>Swedish company, MySQL AB</a:t>
            </a:r>
            <a:r>
              <a:rPr lang="en-IN" sz="2000" dirty="0">
                <a:sym typeface="Wingdings" panose="05000000000000000000" pitchFamily="2" charset="2"/>
              </a:rPr>
              <a:t>.</a:t>
            </a:r>
          </a:p>
          <a:p>
            <a:pPr lvl="1"/>
            <a:r>
              <a:rPr lang="en-IN" sz="2000" dirty="0">
                <a:sym typeface="Wingdings" panose="05000000000000000000" pitchFamily="2" charset="2"/>
              </a:rPr>
              <a:t>1994 - Development of MySQL by </a:t>
            </a:r>
            <a:r>
              <a:rPr lang="en-IN" sz="2000" b="1" dirty="0">
                <a:sym typeface="Wingdings" panose="05000000000000000000" pitchFamily="2" charset="2"/>
              </a:rPr>
              <a:t>Michael </a:t>
            </a:r>
            <a:r>
              <a:rPr lang="en-IN" sz="2000" b="1" dirty="0" err="1">
                <a:sym typeface="Wingdings" panose="05000000000000000000" pitchFamily="2" charset="2"/>
              </a:rPr>
              <a:t>Widenius</a:t>
            </a:r>
            <a:r>
              <a:rPr lang="en-IN" sz="2000" b="1" dirty="0">
                <a:sym typeface="Wingdings" panose="05000000000000000000" pitchFamily="2" charset="2"/>
              </a:rPr>
              <a:t> &amp; David </a:t>
            </a:r>
            <a:r>
              <a:rPr lang="en-IN" sz="2000" b="1" dirty="0" err="1">
                <a:sym typeface="Wingdings" panose="05000000000000000000" pitchFamily="2" charset="2"/>
              </a:rPr>
              <a:t>Axmark</a:t>
            </a:r>
            <a:r>
              <a:rPr lang="en-IN" sz="2000" b="1" dirty="0">
                <a:sym typeface="Wingdings" panose="05000000000000000000" pitchFamily="2" charset="2"/>
              </a:rPr>
              <a:t> beginning in 1994</a:t>
            </a:r>
            <a:r>
              <a:rPr lang="en-IN" sz="2000" dirty="0">
                <a:sym typeface="Wingdings" panose="05000000000000000000" pitchFamily="2" charset="2"/>
              </a:rPr>
              <a:t>.</a:t>
            </a:r>
          </a:p>
          <a:p>
            <a:pPr lvl="1"/>
            <a:r>
              <a:rPr lang="en-IN" sz="2000" dirty="0">
                <a:sym typeface="Wingdings" panose="05000000000000000000" pitchFamily="2" charset="2"/>
              </a:rPr>
              <a:t>1995 - First internal </a:t>
            </a:r>
            <a:r>
              <a:rPr lang="en-IN" sz="2000" b="1" dirty="0">
                <a:sym typeface="Wingdings" panose="05000000000000000000" pitchFamily="2" charset="2"/>
              </a:rPr>
              <a:t>release on 23rd May 1995</a:t>
            </a:r>
            <a:r>
              <a:rPr lang="en-IN" sz="2000" dirty="0" smtClean="0">
                <a:sym typeface="Wingdings" panose="05000000000000000000" pitchFamily="2" charset="2"/>
              </a:rPr>
              <a:t>.</a:t>
            </a:r>
            <a:endParaRPr lang="en-IN" sz="2000" b="1" dirty="0" smtClean="0"/>
          </a:p>
          <a:p>
            <a:pPr marL="0" indent="0">
              <a:buNone/>
            </a:pPr>
            <a:r>
              <a:rPr lang="en-IN" sz="2400" b="1" dirty="0"/>
              <a:t>MS SQL </a:t>
            </a:r>
            <a:r>
              <a:rPr lang="en-IN" sz="2400" b="1" dirty="0" smtClean="0"/>
              <a:t>Server</a:t>
            </a:r>
            <a:endParaRPr lang="en-IN" sz="2400" b="1" dirty="0">
              <a:sym typeface="Wingdings" panose="05000000000000000000" pitchFamily="2" charset="2"/>
            </a:endParaRPr>
          </a:p>
          <a:p>
            <a:pPr lvl="1"/>
            <a:r>
              <a:rPr lang="en-IN" sz="2000" dirty="0">
                <a:sym typeface="Wingdings" panose="05000000000000000000" pitchFamily="2" charset="2"/>
              </a:rPr>
              <a:t>It</a:t>
            </a:r>
            <a:r>
              <a:rPr lang="en-IN" sz="2000" b="1" dirty="0">
                <a:sym typeface="Wingdings" panose="05000000000000000000" pitchFamily="2" charset="2"/>
              </a:rPr>
              <a:t> </a:t>
            </a:r>
            <a:r>
              <a:rPr lang="en-IN" sz="2000" dirty="0"/>
              <a:t>is a Relational Database Management System developed by Microsoft Inc. </a:t>
            </a:r>
            <a:endParaRPr lang="en-IN" sz="2000" dirty="0" smtClean="0"/>
          </a:p>
          <a:p>
            <a:pPr lvl="1"/>
            <a:r>
              <a:rPr lang="en-IN" sz="2000" dirty="0" smtClean="0"/>
              <a:t>Its </a:t>
            </a:r>
            <a:r>
              <a:rPr lang="en-IN" sz="2000" dirty="0"/>
              <a:t>primary query languages </a:t>
            </a:r>
            <a:r>
              <a:rPr lang="en-IN" sz="2000" dirty="0" smtClean="0"/>
              <a:t>are T-SQL </a:t>
            </a:r>
            <a:r>
              <a:rPr lang="en-IN" sz="2000" dirty="0"/>
              <a:t>&amp; ANSI </a:t>
            </a:r>
            <a:r>
              <a:rPr lang="en-IN" sz="2000" dirty="0" smtClean="0"/>
              <a:t>SQL</a:t>
            </a:r>
            <a:endParaRPr lang="en-IN" sz="2400" dirty="0" smtClean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30464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56509" y="471054"/>
            <a:ext cx="9448800" cy="622531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 smtClean="0"/>
              <a:t>Oracle</a:t>
            </a:r>
            <a:r>
              <a:rPr lang="en-IN" sz="2400" dirty="0" smtClean="0"/>
              <a:t> </a:t>
            </a:r>
            <a:endParaRPr lang="en-IN" sz="2400" dirty="0"/>
          </a:p>
          <a:p>
            <a:pPr lvl="1"/>
            <a:r>
              <a:rPr lang="en-IN" sz="2000" dirty="0" smtClean="0"/>
              <a:t>It is </a:t>
            </a:r>
            <a:r>
              <a:rPr lang="en-IN" sz="2000" dirty="0"/>
              <a:t>a </a:t>
            </a:r>
            <a:r>
              <a:rPr lang="en-IN" sz="2000" b="1" dirty="0"/>
              <a:t>very large multi-user based </a:t>
            </a:r>
            <a:r>
              <a:rPr lang="en-IN" sz="2000" dirty="0"/>
              <a:t>database management system. </a:t>
            </a:r>
          </a:p>
          <a:p>
            <a:pPr lvl="1"/>
            <a:r>
              <a:rPr lang="en-IN" sz="2000" dirty="0"/>
              <a:t>Oracle is a relational database management system developed by </a:t>
            </a:r>
            <a:r>
              <a:rPr lang="en-IN" sz="2000" b="1" dirty="0"/>
              <a:t>'Oracle Corporation'.</a:t>
            </a:r>
          </a:p>
          <a:p>
            <a:pPr marL="0" indent="0">
              <a:buNone/>
            </a:pPr>
            <a:r>
              <a:rPr lang="en-IN" sz="2400" b="1" dirty="0"/>
              <a:t>Microsoft Access </a:t>
            </a:r>
            <a:endParaRPr lang="en-IN" sz="2400" b="1" dirty="0" smtClean="0"/>
          </a:p>
          <a:p>
            <a:pPr marL="685800" lvl="2"/>
            <a:r>
              <a:rPr lang="en-IN" sz="2000" dirty="0" smtClean="0"/>
              <a:t>It</a:t>
            </a:r>
            <a:r>
              <a:rPr lang="en-IN" sz="2000" b="1" dirty="0" smtClean="0"/>
              <a:t> </a:t>
            </a:r>
            <a:r>
              <a:rPr lang="en-IN" sz="2000" dirty="0"/>
              <a:t>is one of the most popular </a:t>
            </a:r>
            <a:r>
              <a:rPr lang="en-IN" sz="2000" b="1" dirty="0"/>
              <a:t>Microsoft products</a:t>
            </a:r>
            <a:r>
              <a:rPr lang="en-IN" sz="2000" dirty="0"/>
              <a:t>. It is an </a:t>
            </a:r>
            <a:r>
              <a:rPr lang="en-IN" sz="2000" b="1" dirty="0"/>
              <a:t>entry-level database </a:t>
            </a:r>
            <a:r>
              <a:rPr lang="en-IN" sz="2000" dirty="0"/>
              <a:t>management software. </a:t>
            </a:r>
            <a:endParaRPr lang="en-IN" sz="2000" dirty="0" smtClean="0"/>
          </a:p>
          <a:p>
            <a:pPr marL="685800" lvl="2"/>
            <a:r>
              <a:rPr lang="en-IN" sz="2000" dirty="0" smtClean="0"/>
              <a:t>It </a:t>
            </a:r>
            <a:r>
              <a:rPr lang="en-IN" sz="2000" dirty="0"/>
              <a:t>is not only </a:t>
            </a:r>
            <a:r>
              <a:rPr lang="en-IN" sz="2000" b="1" dirty="0"/>
              <a:t>inexpensive</a:t>
            </a:r>
            <a:r>
              <a:rPr lang="en-IN" sz="2000" dirty="0"/>
              <a:t> but also a powerful database for </a:t>
            </a:r>
            <a:r>
              <a:rPr lang="en-IN" sz="2000" b="1" dirty="0"/>
              <a:t>small-scale projects</a:t>
            </a:r>
            <a:r>
              <a:rPr lang="en-IN" sz="2000" b="1" dirty="0" smtClean="0"/>
              <a:t>.</a:t>
            </a:r>
          </a:p>
          <a:p>
            <a:pPr marL="0" indent="0">
              <a:buNone/>
            </a:pPr>
            <a:r>
              <a:rPr lang="en-IN" sz="2400" b="1" dirty="0"/>
              <a:t>PostgreSQL</a:t>
            </a:r>
            <a:r>
              <a:rPr lang="en-IN" sz="2400" dirty="0"/>
              <a:t> </a:t>
            </a:r>
            <a:endParaRPr lang="en-IN" sz="2400" dirty="0" smtClean="0"/>
          </a:p>
          <a:p>
            <a:pPr lvl="1"/>
            <a:r>
              <a:rPr lang="en-IN" sz="2000" dirty="0" smtClean="0"/>
              <a:t>It is </a:t>
            </a:r>
            <a:r>
              <a:rPr lang="en-IN" sz="2000" dirty="0"/>
              <a:t>object relational database management system (ORDBMS) that </a:t>
            </a:r>
            <a:r>
              <a:rPr lang="en-IN" sz="2000" b="1" dirty="0"/>
              <a:t>supports both relational (SQL) and non-relational (JSON) query</a:t>
            </a:r>
            <a:r>
              <a:rPr lang="en-IN" sz="2000" dirty="0"/>
              <a:t>. </a:t>
            </a:r>
            <a:endParaRPr lang="en-IN" sz="2000" dirty="0" smtClean="0"/>
          </a:p>
          <a:p>
            <a:pPr lvl="1"/>
            <a:r>
              <a:rPr lang="en-IN" sz="2000" dirty="0" smtClean="0"/>
              <a:t>It </a:t>
            </a:r>
            <a:r>
              <a:rPr lang="en-IN" sz="2000" dirty="0"/>
              <a:t>is a highly stable database that is developed based on the </a:t>
            </a:r>
            <a:r>
              <a:rPr lang="en-IN" sz="2000" b="1" dirty="0"/>
              <a:t>POSTGRES, version 4.2 </a:t>
            </a:r>
            <a:r>
              <a:rPr lang="en-IN" sz="2000" dirty="0"/>
              <a:t>released by the Computer Science Department in </a:t>
            </a:r>
            <a:r>
              <a:rPr lang="en-IN" sz="2000" b="1" dirty="0"/>
              <a:t>University of Berkeley, California</a:t>
            </a:r>
            <a:r>
              <a:rPr lang="en-IN" sz="2000" b="1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71730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350" y="715550"/>
            <a:ext cx="8911687" cy="897119"/>
          </a:xfrm>
        </p:spPr>
        <p:txBody>
          <a:bodyPr/>
          <a:lstStyle/>
          <a:p>
            <a:r>
              <a:rPr lang="en-US" b="1" dirty="0" smtClean="0"/>
              <a:t>SQL Constraints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52514" y="1715192"/>
            <a:ext cx="8677304" cy="4999644"/>
          </a:xfrm>
        </p:spPr>
        <p:txBody>
          <a:bodyPr>
            <a:normAutofit/>
          </a:bodyPr>
          <a:lstStyle/>
          <a:p>
            <a:r>
              <a:rPr lang="en-IN" sz="2000" dirty="0"/>
              <a:t>SQL Constraints are the </a:t>
            </a:r>
            <a:r>
              <a:rPr lang="en-IN" sz="2000" b="1" dirty="0"/>
              <a:t>rules applied to a data columns </a:t>
            </a:r>
            <a:r>
              <a:rPr lang="en-IN" sz="2000" dirty="0"/>
              <a:t>or the complete table to limit the type of data that can go into a table. </a:t>
            </a:r>
            <a:endParaRPr lang="en-IN" sz="2000" dirty="0" smtClean="0"/>
          </a:p>
          <a:p>
            <a:r>
              <a:rPr lang="en-IN" sz="2000" dirty="0" smtClean="0"/>
              <a:t>When </a:t>
            </a:r>
            <a:r>
              <a:rPr lang="en-IN" sz="2000" dirty="0"/>
              <a:t>you try to perform </a:t>
            </a:r>
            <a:r>
              <a:rPr lang="en-IN" sz="2000" b="1" dirty="0"/>
              <a:t>any INSERT, UPDATE, or DELETE </a:t>
            </a:r>
            <a:r>
              <a:rPr lang="en-IN" sz="2000" dirty="0"/>
              <a:t>operation on the table, RDBMS will check whether that </a:t>
            </a:r>
            <a:r>
              <a:rPr lang="en-IN" sz="2000" b="1" dirty="0"/>
              <a:t>data violates any existing constraints</a:t>
            </a:r>
            <a:r>
              <a:rPr lang="en-IN" sz="2000" dirty="0"/>
              <a:t> and if there is any violation between the defined constraint and the data action, it aborts the operation and returns an error</a:t>
            </a:r>
            <a:r>
              <a:rPr lang="en-IN" sz="2000" dirty="0" smtClean="0"/>
              <a:t>.</a:t>
            </a:r>
          </a:p>
          <a:p>
            <a:pPr marL="0" indent="0">
              <a:buNone/>
            </a:pPr>
            <a:r>
              <a:rPr lang="en-US" sz="2000" b="1" dirty="0" smtClean="0"/>
              <a:t>Example:</a:t>
            </a:r>
          </a:p>
          <a:p>
            <a:pPr marL="0" indent="0">
              <a:buNone/>
            </a:pPr>
            <a:r>
              <a:rPr lang="en-US" sz="2000" b="1" dirty="0"/>
              <a:t>	</a:t>
            </a:r>
            <a:r>
              <a:rPr lang="en-US" sz="2000" b="1" dirty="0" smtClean="0"/>
              <a:t>		</a:t>
            </a:r>
            <a:r>
              <a:rPr lang="en-IN" sz="2000" dirty="0" smtClean="0"/>
              <a:t>CREATE </a:t>
            </a:r>
            <a:r>
              <a:rPr lang="en-IN" sz="2000" dirty="0"/>
              <a:t>TABLE </a:t>
            </a:r>
            <a:r>
              <a:rPr lang="en-IN" sz="2000" dirty="0" err="1"/>
              <a:t>table_name</a:t>
            </a:r>
            <a:r>
              <a:rPr lang="en-IN" sz="2000" dirty="0"/>
              <a:t> (</a:t>
            </a:r>
          </a:p>
          <a:p>
            <a:pPr marL="0" indent="0">
              <a:buNone/>
            </a:pPr>
            <a:r>
              <a:rPr lang="en-IN" sz="2000" dirty="0"/>
              <a:t>   </a:t>
            </a:r>
            <a:r>
              <a:rPr lang="en-IN" sz="2000" dirty="0" smtClean="0"/>
              <a:t>					column1 </a:t>
            </a:r>
            <a:r>
              <a:rPr lang="en-IN" sz="2000" dirty="0"/>
              <a:t>datatype constraint</a:t>
            </a:r>
            <a:r>
              <a:rPr lang="en-IN" sz="2000" dirty="0" smtClean="0"/>
              <a:t>,</a:t>
            </a:r>
            <a:endParaRPr lang="en-IN" sz="2000" dirty="0"/>
          </a:p>
          <a:p>
            <a:pPr marL="0" indent="0">
              <a:buNone/>
            </a:pPr>
            <a:r>
              <a:rPr lang="en-IN" sz="2000" dirty="0"/>
              <a:t>   </a:t>
            </a:r>
            <a:r>
              <a:rPr lang="en-IN" sz="2000" dirty="0" smtClean="0"/>
              <a:t>					</a:t>
            </a:r>
            <a:r>
              <a:rPr lang="en-IN" sz="2000" dirty="0" err="1" smtClean="0"/>
              <a:t>columnN</a:t>
            </a:r>
            <a:r>
              <a:rPr lang="en-IN" sz="2000" dirty="0" smtClean="0"/>
              <a:t> </a:t>
            </a:r>
            <a:r>
              <a:rPr lang="en-IN" sz="2000" dirty="0"/>
              <a:t>datatype constraint</a:t>
            </a:r>
          </a:p>
          <a:p>
            <a:pPr marL="0" indent="0">
              <a:buNone/>
            </a:pPr>
            <a:r>
              <a:rPr lang="en-IN" sz="2000" dirty="0" smtClean="0"/>
              <a:t>			);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568622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7821" y="552066"/>
            <a:ext cx="8911687" cy="805679"/>
          </a:xfrm>
        </p:spPr>
        <p:txBody>
          <a:bodyPr/>
          <a:lstStyle/>
          <a:p>
            <a:r>
              <a:rPr lang="en-US" b="1" dirty="0" smtClean="0"/>
              <a:t>Constrains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14587" y="1191491"/>
            <a:ext cx="8734921" cy="4858327"/>
          </a:xfrm>
        </p:spPr>
        <p:txBody>
          <a:bodyPr>
            <a:noAutofit/>
          </a:bodyPr>
          <a:lstStyle/>
          <a:p>
            <a:r>
              <a:rPr lang="en-IN" sz="2000" b="1" dirty="0"/>
              <a:t>NOT NULL constraint </a:t>
            </a:r>
            <a:r>
              <a:rPr lang="en-IN" sz="2000" dirty="0"/>
              <a:t>--&gt; ensure that a column </a:t>
            </a:r>
            <a:r>
              <a:rPr lang="en-IN" sz="2000" b="1" dirty="0"/>
              <a:t>cannot have a NULL </a:t>
            </a:r>
            <a:r>
              <a:rPr lang="en-IN" sz="2000" dirty="0"/>
              <a:t>value.</a:t>
            </a:r>
          </a:p>
          <a:p>
            <a:r>
              <a:rPr lang="en-IN" sz="2000" b="1" dirty="0"/>
              <a:t>UNIQUE constraint </a:t>
            </a:r>
            <a:r>
              <a:rPr lang="en-IN" sz="2000" dirty="0"/>
              <a:t>--&gt; ensure that a column accepts only UNIQUE values.</a:t>
            </a:r>
          </a:p>
          <a:p>
            <a:r>
              <a:rPr lang="en-IN" sz="2000" b="1" dirty="0"/>
              <a:t>DEFAULT constraint </a:t>
            </a:r>
            <a:r>
              <a:rPr lang="en-IN" sz="2000" dirty="0"/>
              <a:t>--&gt; provides a </a:t>
            </a:r>
            <a:r>
              <a:rPr lang="en-IN" sz="2000" b="1" dirty="0"/>
              <a:t>default value </a:t>
            </a:r>
            <a:r>
              <a:rPr lang="en-IN" sz="2000" dirty="0"/>
              <a:t>for a column when none is specified.</a:t>
            </a:r>
          </a:p>
          <a:p>
            <a:r>
              <a:rPr lang="en-IN" sz="2000" b="1" dirty="0"/>
              <a:t>PRIMARY constraint </a:t>
            </a:r>
            <a:r>
              <a:rPr lang="en-IN" sz="2000" dirty="0"/>
              <a:t>--&gt; ensure that a column accepts </a:t>
            </a:r>
            <a:r>
              <a:rPr lang="en-IN" sz="2000" b="1" dirty="0"/>
              <a:t>only UNIQUE </a:t>
            </a:r>
            <a:r>
              <a:rPr lang="en-IN" sz="2000" dirty="0"/>
              <a:t>value.</a:t>
            </a:r>
          </a:p>
          <a:p>
            <a:r>
              <a:rPr lang="en-IN" sz="2000" b="1" dirty="0"/>
              <a:t>FOREIGN constraint </a:t>
            </a:r>
            <a:r>
              <a:rPr lang="en-IN" sz="2000" dirty="0"/>
              <a:t>--&gt; maps with a column in </a:t>
            </a:r>
            <a:r>
              <a:rPr lang="en-IN" sz="2000" b="1" dirty="0"/>
              <a:t>another table </a:t>
            </a:r>
            <a:r>
              <a:rPr lang="en-IN" sz="2000" dirty="0"/>
              <a:t>and uniquely identifies a row/record in that table.</a:t>
            </a:r>
          </a:p>
          <a:p>
            <a:r>
              <a:rPr lang="en-IN" sz="2000" b="1" dirty="0"/>
              <a:t>CHECK constraint </a:t>
            </a:r>
            <a:r>
              <a:rPr lang="en-IN" sz="2000" dirty="0"/>
              <a:t>--&gt; </a:t>
            </a:r>
            <a:r>
              <a:rPr lang="en-IN" sz="2000" b="1" dirty="0"/>
              <a:t>works like a validation </a:t>
            </a:r>
            <a:r>
              <a:rPr lang="en-IN" sz="2000" dirty="0"/>
              <a:t>and it is used to check the validity of the data entered into the particular column of the table.</a:t>
            </a:r>
          </a:p>
          <a:p>
            <a:r>
              <a:rPr lang="en-IN" sz="2000" b="1" dirty="0"/>
              <a:t>INDEX constraints </a:t>
            </a:r>
            <a:r>
              <a:rPr lang="en-IN" sz="2000" dirty="0"/>
              <a:t>--&gt; are created to </a:t>
            </a:r>
            <a:r>
              <a:rPr lang="en-IN" sz="2000" b="1" dirty="0"/>
              <a:t>speed up the data retrieval </a:t>
            </a:r>
            <a:r>
              <a:rPr lang="en-IN" sz="2000" dirty="0"/>
              <a:t>from the database.</a:t>
            </a:r>
          </a:p>
        </p:txBody>
      </p:sp>
    </p:spTree>
    <p:extLst>
      <p:ext uri="{BB962C8B-B14F-4D97-AF65-F5344CB8AC3E}">
        <p14:creationId xmlns:p14="http://schemas.microsoft.com/office/powerpoint/2010/main" val="163861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1798" y="669368"/>
            <a:ext cx="8911687" cy="772428"/>
          </a:xfrm>
        </p:spPr>
        <p:txBody>
          <a:bodyPr/>
          <a:lstStyle/>
          <a:p>
            <a:r>
              <a:rPr lang="en-US" b="1" dirty="0" smtClean="0"/>
              <a:t>SQL Syntax: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28072" y="1588655"/>
            <a:ext cx="9151128" cy="5098472"/>
          </a:xfrm>
        </p:spPr>
        <p:txBody>
          <a:bodyPr>
            <a:noAutofit/>
          </a:bodyPr>
          <a:lstStyle/>
          <a:p>
            <a:r>
              <a:rPr lang="en-IN" sz="2000" dirty="0"/>
              <a:t>SQL syntax is a unique set of rules and guidelines to be followed while writing SQL statements. </a:t>
            </a:r>
          </a:p>
          <a:p>
            <a:r>
              <a:rPr lang="en-IN" sz="2000" dirty="0"/>
              <a:t>All the SQL statements start with any of the keywords like </a:t>
            </a:r>
            <a:r>
              <a:rPr lang="en-IN" sz="2000" b="1" dirty="0"/>
              <a:t>SELECT, INSERT, UPDATE, DELETE, ALTER, DROP, CREATE, USE, SHOW</a:t>
            </a:r>
            <a:r>
              <a:rPr lang="en-IN" sz="2000" dirty="0"/>
              <a:t> and all the statements end with a semicolon </a:t>
            </a:r>
            <a:r>
              <a:rPr lang="en-IN" sz="2000" dirty="0" smtClean="0"/>
              <a:t>(;).</a:t>
            </a:r>
          </a:p>
          <a:p>
            <a:r>
              <a:rPr lang="en-IN" sz="2000" dirty="0"/>
              <a:t>The most important point to be noted here is that SQL is </a:t>
            </a:r>
            <a:r>
              <a:rPr lang="en-IN" sz="2000" b="1" dirty="0"/>
              <a:t>case insensitive, </a:t>
            </a:r>
            <a:r>
              <a:rPr lang="en-IN" sz="2000" dirty="0"/>
              <a:t>which means SELECT and Select have same meaning in SQL statements</a:t>
            </a:r>
            <a:r>
              <a:rPr lang="en-IN" sz="2000" dirty="0" smtClean="0"/>
              <a:t>.</a:t>
            </a:r>
          </a:p>
          <a:p>
            <a:pPr marL="0" indent="0">
              <a:buNone/>
            </a:pPr>
            <a:r>
              <a:rPr lang="en-IN" sz="2000" b="1" dirty="0">
                <a:solidFill>
                  <a:schemeClr val="accent2">
                    <a:lumMod val="75000"/>
                  </a:schemeClr>
                </a:solidFill>
              </a:rPr>
              <a:t>SQL CREATE DATABASE Statement</a:t>
            </a:r>
          </a:p>
          <a:p>
            <a:r>
              <a:rPr lang="en-IN" sz="2000" dirty="0"/>
              <a:t>To store data within a database, you first need to create it. </a:t>
            </a:r>
          </a:p>
          <a:p>
            <a:pPr marL="0" indent="0">
              <a:buNone/>
            </a:pPr>
            <a:r>
              <a:rPr lang="en-IN" sz="2000" b="1" dirty="0" smtClean="0"/>
              <a:t>	Syntax : </a:t>
            </a:r>
            <a:r>
              <a:rPr lang="en-IN" sz="2000" dirty="0" smtClean="0"/>
              <a:t>		</a:t>
            </a:r>
          </a:p>
          <a:p>
            <a:pPr marL="0" indent="0">
              <a:buNone/>
            </a:pPr>
            <a:r>
              <a:rPr lang="en-IN" sz="2000" dirty="0"/>
              <a:t>	</a:t>
            </a:r>
            <a:r>
              <a:rPr lang="en-IN" sz="2000" dirty="0" smtClean="0"/>
              <a:t>		CREATE </a:t>
            </a:r>
            <a:r>
              <a:rPr lang="en-IN" sz="2000" dirty="0"/>
              <a:t>DATABASE </a:t>
            </a:r>
            <a:r>
              <a:rPr lang="en-IN" sz="2000" dirty="0" err="1"/>
              <a:t>database_name</a:t>
            </a:r>
            <a:r>
              <a:rPr lang="en-IN" sz="2000" dirty="0" smtClean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724309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39636" y="1763485"/>
            <a:ext cx="9347200" cy="488023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b="1" dirty="0" smtClean="0">
                <a:solidFill>
                  <a:schemeClr val="accent2">
                    <a:lumMod val="75000"/>
                  </a:schemeClr>
                </a:solidFill>
              </a:rPr>
              <a:t>SQL </a:t>
            </a: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USE Statement</a:t>
            </a:r>
          </a:p>
          <a:p>
            <a:r>
              <a:rPr lang="en-IN" dirty="0"/>
              <a:t>Once the database is created, it needs to be used in order to start storing the data accordingly. 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b="1" dirty="0" smtClean="0"/>
              <a:t>Syntax :  </a:t>
            </a:r>
            <a:r>
              <a:rPr lang="en-IN" dirty="0" smtClean="0"/>
              <a:t>	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USE </a:t>
            </a:r>
            <a:r>
              <a:rPr lang="en-IN" dirty="0" err="1"/>
              <a:t>database_name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SQL DROP DATABASE Statement</a:t>
            </a:r>
          </a:p>
          <a:p>
            <a:r>
              <a:rPr lang="en-IN" dirty="0"/>
              <a:t>If a database is no longer necessary, you can also delete it.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b="1" dirty="0" err="1" smtClean="0"/>
              <a:t>Synta</a:t>
            </a:r>
            <a:r>
              <a:rPr lang="en-IN" b="1" dirty="0" smtClean="0"/>
              <a:t> : </a:t>
            </a:r>
            <a:r>
              <a:rPr lang="en-IN" dirty="0" smtClean="0"/>
              <a:t>		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DROP </a:t>
            </a:r>
            <a:r>
              <a:rPr lang="en-IN" dirty="0"/>
              <a:t>DATABASE </a:t>
            </a:r>
            <a:r>
              <a:rPr lang="en-IN" dirty="0" err="1"/>
              <a:t>database_name</a:t>
            </a:r>
            <a:r>
              <a:rPr lang="en-IN" dirty="0" smtClean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693579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idx="1"/>
          </p:nvPr>
        </p:nvSpPr>
        <p:spPr>
          <a:xfrm>
            <a:off x="1708727" y="424873"/>
            <a:ext cx="9448800" cy="60498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SQL DESC Statement</a:t>
            </a:r>
          </a:p>
          <a:p>
            <a:r>
              <a:rPr lang="en-IN" dirty="0"/>
              <a:t>Every table in a database has a structure of its own. To display the structure of database tables, we use the DESC statements.</a:t>
            </a:r>
          </a:p>
          <a:p>
            <a:pPr marL="0" indent="0">
              <a:buNone/>
            </a:pPr>
            <a:r>
              <a:rPr lang="en-IN" b="1" dirty="0"/>
              <a:t>Syntax :</a:t>
            </a:r>
          </a:p>
          <a:p>
            <a:pPr marL="0" indent="0">
              <a:buNone/>
            </a:pPr>
            <a:r>
              <a:rPr lang="en-IN" dirty="0" smtClean="0"/>
              <a:t>		</a:t>
            </a:r>
            <a:r>
              <a:rPr lang="en-IN" dirty="0"/>
              <a:t>	DESC </a:t>
            </a:r>
            <a:r>
              <a:rPr lang="en-IN" dirty="0" err="1"/>
              <a:t>table_name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SQL INSERT INTO Statement</a:t>
            </a:r>
          </a:p>
          <a:p>
            <a:r>
              <a:rPr lang="en-IN" dirty="0"/>
              <a:t>The SQL INSERT INTO Statement is used to insert data into database tables.</a:t>
            </a:r>
          </a:p>
          <a:p>
            <a:pPr marL="0" indent="0">
              <a:buNone/>
            </a:pPr>
            <a:r>
              <a:rPr lang="en-IN" b="1" dirty="0"/>
              <a:t>Syntax: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INSERT </a:t>
            </a:r>
            <a:r>
              <a:rPr lang="en-IN" dirty="0"/>
              <a:t>INTO </a:t>
            </a:r>
            <a:r>
              <a:rPr lang="en-IN" dirty="0" err="1"/>
              <a:t>table_name</a:t>
            </a:r>
            <a:r>
              <a:rPr lang="en-IN" dirty="0"/>
              <a:t>( column1, column2....</a:t>
            </a:r>
            <a:r>
              <a:rPr lang="en-IN" dirty="0" err="1"/>
              <a:t>columnN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VALUES </a:t>
            </a:r>
            <a:r>
              <a:rPr lang="en-IN" dirty="0"/>
              <a:t>( value1, value2....</a:t>
            </a:r>
            <a:r>
              <a:rPr lang="en-IN" dirty="0" err="1"/>
              <a:t>valueN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SQL SELECT Statement</a:t>
            </a:r>
          </a:p>
          <a:p>
            <a:r>
              <a:rPr lang="en-IN" dirty="0"/>
              <a:t>In order to retrieve the result-sets of the stored data from a database table, we use the SELECT statement.</a:t>
            </a:r>
          </a:p>
          <a:p>
            <a:pPr marL="0" indent="0">
              <a:buNone/>
            </a:pPr>
            <a:r>
              <a:rPr lang="en-IN" b="1" dirty="0"/>
              <a:t>Syntax: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SELECT </a:t>
            </a:r>
            <a:r>
              <a:rPr lang="en-IN" dirty="0"/>
              <a:t>column1, column2....</a:t>
            </a:r>
            <a:r>
              <a:rPr lang="en-IN" dirty="0" err="1"/>
              <a:t>columnN</a:t>
            </a:r>
            <a:r>
              <a:rPr lang="en-IN" dirty="0"/>
              <a:t> FROM </a:t>
            </a:r>
            <a:r>
              <a:rPr lang="en-IN" dirty="0" err="1"/>
              <a:t>table_name</a:t>
            </a:r>
            <a:r>
              <a:rPr lang="en-IN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842792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8058" y="573577"/>
            <a:ext cx="9260176" cy="60267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SQL UPDATE Statement</a:t>
            </a:r>
          </a:p>
          <a:p>
            <a:r>
              <a:rPr lang="en-IN" dirty="0"/>
              <a:t>When the stored data in a database table is outdated and needs to be updated without having to delete the table, we use the UPDATE statement.</a:t>
            </a:r>
          </a:p>
          <a:p>
            <a:pPr marL="0" indent="0">
              <a:buNone/>
            </a:pPr>
            <a:r>
              <a:rPr lang="en-IN" b="1" dirty="0"/>
              <a:t>Syntax:</a:t>
            </a:r>
          </a:p>
          <a:p>
            <a:pPr marL="0" indent="0">
              <a:buNone/>
            </a:pPr>
            <a:r>
              <a:rPr lang="en-IN" dirty="0" smtClean="0"/>
              <a:t>		</a:t>
            </a:r>
            <a:r>
              <a:rPr lang="en-IN" dirty="0"/>
              <a:t>	UPDATE </a:t>
            </a:r>
            <a:r>
              <a:rPr lang="en-IN" dirty="0" err="1" smtClean="0"/>
              <a:t>table_name</a:t>
            </a:r>
            <a:r>
              <a:rPr lang="en-IN" dirty="0" smtClean="0"/>
              <a:t> SET </a:t>
            </a:r>
            <a:r>
              <a:rPr lang="en-IN" dirty="0"/>
              <a:t>column1 = value1</a:t>
            </a:r>
            <a:r>
              <a:rPr lang="en-IN" dirty="0" smtClean="0"/>
              <a:t>,.. </a:t>
            </a:r>
            <a:r>
              <a:rPr lang="en-IN" dirty="0" err="1" smtClean="0"/>
              <a:t>columnN</a:t>
            </a:r>
            <a:r>
              <a:rPr lang="en-IN" dirty="0" smtClean="0"/>
              <a:t>=</a:t>
            </a:r>
            <a:r>
              <a:rPr lang="en-IN" dirty="0" err="1" smtClean="0"/>
              <a:t>valueN</a:t>
            </a:r>
            <a:endParaRPr lang="en-IN" dirty="0"/>
          </a:p>
          <a:p>
            <a:pPr marL="0" indent="0">
              <a:buNone/>
            </a:pPr>
            <a:r>
              <a:rPr lang="en-IN" dirty="0" smtClean="0"/>
              <a:t>								[ </a:t>
            </a:r>
            <a:r>
              <a:rPr lang="en-IN" dirty="0"/>
              <a:t>WHERE  CONDITION ];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SQL DELETE Statement</a:t>
            </a:r>
          </a:p>
          <a:p>
            <a:r>
              <a:rPr lang="en-IN" dirty="0"/>
              <a:t>Without deleting the entire table from the database, you can also delete a certain part of the data by applying conditions.</a:t>
            </a:r>
          </a:p>
          <a:p>
            <a:pPr marL="0" indent="0">
              <a:buNone/>
            </a:pPr>
            <a:r>
              <a:rPr lang="en-IN" b="1" dirty="0"/>
              <a:t>Syntax:</a:t>
            </a:r>
          </a:p>
          <a:p>
            <a:pPr marL="0" indent="0">
              <a:buNone/>
            </a:pPr>
            <a:r>
              <a:rPr lang="en-IN" dirty="0" smtClean="0"/>
              <a:t>		</a:t>
            </a:r>
            <a:r>
              <a:rPr lang="en-IN" dirty="0"/>
              <a:t>	DELETE FROM </a:t>
            </a:r>
            <a:r>
              <a:rPr lang="en-IN" dirty="0" err="1"/>
              <a:t>table_name</a:t>
            </a:r>
            <a:r>
              <a:rPr lang="en-IN" dirty="0"/>
              <a:t> WHERE  {CONDITION};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SQL DROP TABLE Statement</a:t>
            </a:r>
          </a:p>
          <a:p>
            <a:r>
              <a:rPr lang="en-IN" dirty="0"/>
              <a:t>To delete a table entirely from a database when it is no longer needed.</a:t>
            </a:r>
          </a:p>
          <a:p>
            <a:pPr marL="0" indent="0">
              <a:buNone/>
            </a:pPr>
            <a:r>
              <a:rPr lang="en-IN" b="1" dirty="0"/>
              <a:t>Syntax: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DROP </a:t>
            </a:r>
            <a:r>
              <a:rPr lang="en-IN" dirty="0"/>
              <a:t>TABLE </a:t>
            </a:r>
            <a:r>
              <a:rPr lang="en-IN" dirty="0" err="1"/>
              <a:t>table_name</a:t>
            </a:r>
            <a:r>
              <a:rPr lang="en-IN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823551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6371" y="615142"/>
            <a:ext cx="8927869" cy="581059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SQL TRUNCATE TABLE Statement</a:t>
            </a:r>
          </a:p>
          <a:p>
            <a:r>
              <a:rPr lang="en-IN" dirty="0"/>
              <a:t>The TRUNCATE TABLE statement is implemented in SQL to delete the data of the table but not the table itself.</a:t>
            </a:r>
          </a:p>
          <a:p>
            <a:pPr marL="0" indent="0">
              <a:buNone/>
            </a:pPr>
            <a:r>
              <a:rPr lang="en-IN" b="1" dirty="0"/>
              <a:t>Syntax: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TRUNCATE </a:t>
            </a:r>
            <a:r>
              <a:rPr lang="en-IN" dirty="0"/>
              <a:t>TABLE </a:t>
            </a:r>
            <a:r>
              <a:rPr lang="en-IN" dirty="0" err="1"/>
              <a:t>table_name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SQL ALTER TABLE Statement</a:t>
            </a:r>
          </a:p>
          <a:p>
            <a:r>
              <a:rPr lang="en-IN" dirty="0"/>
              <a:t>The ALTER TABLE statement is used to alter the structure of a table. For instance, you can add, drop, and modify the data of a column using this statement.</a:t>
            </a:r>
          </a:p>
          <a:p>
            <a:pPr marL="0" indent="0">
              <a:buNone/>
            </a:pPr>
            <a:r>
              <a:rPr lang="en-IN" b="1" dirty="0"/>
              <a:t>Syntax: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ALTER </a:t>
            </a:r>
            <a:r>
              <a:rPr lang="en-IN" dirty="0"/>
              <a:t>TABLE </a:t>
            </a:r>
            <a:r>
              <a:rPr lang="en-IN" dirty="0" err="1"/>
              <a:t>table_name</a:t>
            </a:r>
            <a:r>
              <a:rPr lang="en-IN" dirty="0"/>
              <a:t> {</a:t>
            </a:r>
            <a:r>
              <a:rPr lang="en-IN" b="1" dirty="0"/>
              <a:t>ADD|DROP|MODIFY</a:t>
            </a:r>
            <a:r>
              <a:rPr lang="en-IN" dirty="0"/>
              <a:t>} </a:t>
            </a:r>
            <a:r>
              <a:rPr lang="en-IN" dirty="0" err="1"/>
              <a:t>column_name</a:t>
            </a:r>
            <a:r>
              <a:rPr lang="en-IN" dirty="0"/>
              <a:t> {</a:t>
            </a:r>
            <a:r>
              <a:rPr lang="en-IN" dirty="0" err="1"/>
              <a:t>data_type</a:t>
            </a:r>
            <a:r>
              <a:rPr lang="en-IN" dirty="0"/>
              <a:t>};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SQL ALTER TABLE Statement (Rename)</a:t>
            </a:r>
          </a:p>
          <a:p>
            <a:r>
              <a:rPr lang="en-IN" dirty="0"/>
              <a:t>The ALTER TABLE statement is also used to change the name of a table as well. </a:t>
            </a:r>
          </a:p>
          <a:p>
            <a:pPr marL="0" indent="0">
              <a:buNone/>
            </a:pPr>
            <a:r>
              <a:rPr lang="en-IN" b="1" dirty="0"/>
              <a:t>Syntax: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ALTER </a:t>
            </a:r>
            <a:r>
              <a:rPr lang="en-IN" dirty="0"/>
              <a:t>TABLE </a:t>
            </a:r>
            <a:r>
              <a:rPr lang="en-IN" dirty="0" err="1"/>
              <a:t>table_name</a:t>
            </a:r>
            <a:r>
              <a:rPr lang="en-IN" dirty="0"/>
              <a:t> RENAME TO </a:t>
            </a:r>
            <a:r>
              <a:rPr lang="en-IN" dirty="0" err="1"/>
              <a:t>new_table_name</a:t>
            </a:r>
            <a:r>
              <a:rPr lang="en-IN" dirty="0" smtClean="0"/>
              <a:t>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7635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65263" y="773084"/>
            <a:ext cx="8184083" cy="5611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SQL DISTINCT Clause</a:t>
            </a:r>
          </a:p>
          <a:p>
            <a:r>
              <a:rPr lang="en-IN" dirty="0"/>
              <a:t>The DISTINCT clause in a database is used to identify the </a:t>
            </a:r>
            <a:r>
              <a:rPr lang="en-IN" b="1" dirty="0"/>
              <a:t>non-duplicate data </a:t>
            </a:r>
            <a:r>
              <a:rPr lang="en-IN" dirty="0"/>
              <a:t>from a column. Using the </a:t>
            </a:r>
            <a:r>
              <a:rPr lang="en-IN" b="1" dirty="0"/>
              <a:t>SELECT DISTINCT </a:t>
            </a:r>
            <a:r>
              <a:rPr lang="en-IN" dirty="0"/>
              <a:t>statement, you can retrieve distinct values from a column.</a:t>
            </a:r>
          </a:p>
          <a:p>
            <a:pPr marL="0" indent="0">
              <a:buNone/>
            </a:pPr>
            <a:r>
              <a:rPr lang="en-IN" b="1" dirty="0"/>
              <a:t>Syntax: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SELECT </a:t>
            </a:r>
            <a:r>
              <a:rPr lang="en-IN" dirty="0"/>
              <a:t>DISTINCT </a:t>
            </a:r>
            <a:r>
              <a:rPr lang="en-IN" dirty="0" smtClean="0"/>
              <a:t>column1,.., </a:t>
            </a:r>
            <a:r>
              <a:rPr lang="en-IN" dirty="0" err="1" smtClean="0"/>
              <a:t>columnN</a:t>
            </a:r>
            <a:r>
              <a:rPr lang="en-IN" dirty="0" smtClean="0"/>
              <a:t> </a:t>
            </a:r>
            <a:r>
              <a:rPr lang="en-IN" dirty="0"/>
              <a:t>FROM   </a:t>
            </a:r>
            <a:r>
              <a:rPr lang="en-IN" dirty="0" err="1"/>
              <a:t>table_name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SELECT </a:t>
            </a:r>
            <a:r>
              <a:rPr lang="en-IN" dirty="0"/>
              <a:t>DISTINCT SALARY FROM </a:t>
            </a:r>
            <a:r>
              <a:rPr lang="en-IN" dirty="0" smtClean="0"/>
              <a:t>CUSTOMERS;</a:t>
            </a:r>
            <a:endParaRPr lang="en-IN" dirty="0"/>
          </a:p>
          <a:p>
            <a:pPr marL="0" indent="0">
              <a:buNone/>
            </a:pP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SQL WHERE Clause</a:t>
            </a:r>
          </a:p>
          <a:p>
            <a:r>
              <a:rPr lang="en-IN" dirty="0"/>
              <a:t>The WHERE clause is used to </a:t>
            </a:r>
            <a:r>
              <a:rPr lang="en-IN" b="1" dirty="0"/>
              <a:t>filter rows </a:t>
            </a:r>
            <a:r>
              <a:rPr lang="en-IN" dirty="0"/>
              <a:t>from a table by applying a condition.</a:t>
            </a:r>
          </a:p>
          <a:p>
            <a:pPr marL="0" indent="0">
              <a:buNone/>
            </a:pPr>
            <a:r>
              <a:rPr lang="en-IN" b="1" dirty="0"/>
              <a:t>Syntax: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SELECT </a:t>
            </a:r>
            <a:r>
              <a:rPr lang="en-IN" dirty="0"/>
              <a:t>column1, column2....</a:t>
            </a:r>
            <a:r>
              <a:rPr lang="en-IN" dirty="0" err="1"/>
              <a:t>columnN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FROM   </a:t>
            </a:r>
            <a:r>
              <a:rPr lang="en-IN" dirty="0" err="1"/>
              <a:t>table_name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WHERE  </a:t>
            </a:r>
            <a:r>
              <a:rPr lang="en-IN" dirty="0"/>
              <a:t>CONDITION;</a:t>
            </a:r>
          </a:p>
        </p:txBody>
      </p:sp>
    </p:spTree>
    <p:extLst>
      <p:ext uri="{BB962C8B-B14F-4D97-AF65-F5344CB8AC3E}">
        <p14:creationId xmlns:p14="http://schemas.microsoft.com/office/powerpoint/2010/main" val="2911245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3575" y="540327"/>
            <a:ext cx="8491653" cy="584384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SQL AND/OR Operators</a:t>
            </a:r>
          </a:p>
          <a:p>
            <a:r>
              <a:rPr lang="en-IN" dirty="0"/>
              <a:t>The AND/OR Operators are used to apply multiple conditions in the WHERE clause.</a:t>
            </a:r>
          </a:p>
          <a:p>
            <a:pPr marL="0" indent="0">
              <a:buNone/>
            </a:pPr>
            <a:r>
              <a:rPr lang="en-IN" b="1" dirty="0"/>
              <a:t>Syntax: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SELECT </a:t>
            </a:r>
            <a:r>
              <a:rPr lang="en-IN" dirty="0"/>
              <a:t>column1, column2....</a:t>
            </a:r>
            <a:r>
              <a:rPr lang="en-IN" dirty="0" err="1"/>
              <a:t>columnN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FROM   </a:t>
            </a:r>
            <a:r>
              <a:rPr lang="en-IN" dirty="0" err="1"/>
              <a:t>table_name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WHERE  </a:t>
            </a:r>
            <a:r>
              <a:rPr lang="en-IN" dirty="0"/>
              <a:t>CONDITION-1 {AND|OR} CONDITION-2;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SELECT </a:t>
            </a:r>
            <a:r>
              <a:rPr lang="en-IN" dirty="0"/>
              <a:t>ID, NAME, SALARY FROM CUSTOMERS </a:t>
            </a:r>
          </a:p>
          <a:p>
            <a:pPr marL="0" indent="0">
              <a:buNone/>
            </a:pPr>
            <a:r>
              <a:rPr lang="en-IN" dirty="0" smtClean="0"/>
              <a:t>			WHERE </a:t>
            </a:r>
            <a:r>
              <a:rPr lang="en-IN" dirty="0"/>
              <a:t>SALARY &gt; 2000 </a:t>
            </a:r>
            <a:r>
              <a:rPr lang="en-IN" dirty="0" smtClean="0"/>
              <a:t>AND </a:t>
            </a:r>
            <a:r>
              <a:rPr lang="en-IN" dirty="0"/>
              <a:t>age &lt; 25;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SQL IN Clause</a:t>
            </a:r>
          </a:p>
          <a:p>
            <a:r>
              <a:rPr lang="en-IN" dirty="0"/>
              <a:t>The IN Operator is used to check whether the data is present in the column or not, using the WHERE clause.</a:t>
            </a:r>
          </a:p>
          <a:p>
            <a:pPr marL="0" indent="0">
              <a:buNone/>
            </a:pPr>
            <a:r>
              <a:rPr lang="en-IN" b="1" dirty="0"/>
              <a:t>Syntax: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SELECT </a:t>
            </a:r>
            <a:r>
              <a:rPr lang="en-IN" dirty="0"/>
              <a:t>column1, column2....</a:t>
            </a:r>
            <a:r>
              <a:rPr lang="en-IN" dirty="0" err="1"/>
              <a:t>columnN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FROM   </a:t>
            </a:r>
            <a:r>
              <a:rPr lang="en-IN" dirty="0" err="1"/>
              <a:t>table_name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WHERE  </a:t>
            </a:r>
            <a:r>
              <a:rPr lang="en-IN" dirty="0" err="1"/>
              <a:t>column_name</a:t>
            </a:r>
            <a:r>
              <a:rPr lang="en-IN" dirty="0"/>
              <a:t> IN (val-1, val-2,...</a:t>
            </a:r>
            <a:r>
              <a:rPr lang="en-IN" dirty="0" err="1"/>
              <a:t>val</a:t>
            </a:r>
            <a:r>
              <a:rPr lang="en-IN" dirty="0"/>
              <a:t>-N</a:t>
            </a:r>
            <a:r>
              <a:rPr lang="en-IN" dirty="0" smtClean="0"/>
              <a:t>);</a:t>
            </a:r>
          </a:p>
          <a:p>
            <a:pPr marL="0" indent="0">
              <a:buNone/>
            </a:pPr>
            <a:r>
              <a:rPr lang="en-IN" dirty="0" smtClean="0"/>
              <a:t>		SELECT </a:t>
            </a:r>
            <a:r>
              <a:rPr lang="en-IN" dirty="0"/>
              <a:t>* FROM CUSTOMERS </a:t>
            </a:r>
            <a:r>
              <a:rPr lang="en-IN" dirty="0" smtClean="0"/>
              <a:t>WHERE </a:t>
            </a:r>
            <a:r>
              <a:rPr lang="en-IN" dirty="0"/>
              <a:t>NAME IN ('</a:t>
            </a:r>
            <a:r>
              <a:rPr lang="en-IN" dirty="0" err="1"/>
              <a:t>Khilan</a:t>
            </a:r>
            <a:r>
              <a:rPr lang="en-IN" dirty="0"/>
              <a:t>', '</a:t>
            </a:r>
            <a:r>
              <a:rPr lang="en-IN" dirty="0" err="1"/>
              <a:t>Hardik</a:t>
            </a:r>
            <a:r>
              <a:rPr lang="en-IN" dirty="0"/>
              <a:t>', '</a:t>
            </a:r>
            <a:r>
              <a:rPr lang="en-IN" dirty="0" err="1"/>
              <a:t>Muffy</a:t>
            </a:r>
            <a:r>
              <a:rPr lang="en-IN" dirty="0"/>
              <a:t>');</a:t>
            </a:r>
          </a:p>
        </p:txBody>
      </p:sp>
    </p:spTree>
    <p:extLst>
      <p:ext uri="{BB962C8B-B14F-4D97-AF65-F5344CB8AC3E}">
        <p14:creationId xmlns:p14="http://schemas.microsoft.com/office/powerpoint/2010/main" val="2098292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9707" y="665018"/>
            <a:ext cx="8308773" cy="573578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1900" b="1" dirty="0">
                <a:solidFill>
                  <a:schemeClr val="accent2">
                    <a:lumMod val="75000"/>
                  </a:schemeClr>
                </a:solidFill>
              </a:rPr>
              <a:t>SQL BETWEEN Clause</a:t>
            </a:r>
          </a:p>
          <a:p>
            <a:r>
              <a:rPr lang="en-IN" dirty="0"/>
              <a:t>The BETWEEN Operator is used to retrieve the values from a table that fall in a certain range, using the WHERE clause.</a:t>
            </a:r>
          </a:p>
          <a:p>
            <a:pPr marL="0" indent="0">
              <a:buNone/>
            </a:pPr>
            <a:r>
              <a:rPr lang="en-IN" b="1" dirty="0"/>
              <a:t>Syntax: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SELECT </a:t>
            </a:r>
            <a:r>
              <a:rPr lang="en-IN" dirty="0"/>
              <a:t>column1, column2....</a:t>
            </a:r>
            <a:r>
              <a:rPr lang="en-IN" dirty="0" err="1"/>
              <a:t>columnN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smtClean="0"/>
              <a:t>	FROM   </a:t>
            </a:r>
            <a:r>
              <a:rPr lang="en-IN" dirty="0" err="1"/>
              <a:t>table_name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smtClean="0"/>
              <a:t>	WHERE  </a:t>
            </a:r>
            <a:r>
              <a:rPr lang="en-IN" dirty="0" err="1"/>
              <a:t>column_name</a:t>
            </a:r>
            <a:r>
              <a:rPr lang="en-IN" dirty="0"/>
              <a:t> BETWEEN val-1 AND val-2;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SELECT </a:t>
            </a:r>
            <a:r>
              <a:rPr lang="en-IN" dirty="0"/>
              <a:t>* FROM CUSTOMERS WHERE AGE BETWEEN 20 AND 25;</a:t>
            </a:r>
          </a:p>
          <a:p>
            <a:pPr marL="0" indent="0">
              <a:buNone/>
            </a:pPr>
            <a:r>
              <a:rPr lang="en-IN" sz="1900" b="1" dirty="0">
                <a:solidFill>
                  <a:schemeClr val="accent2">
                    <a:lumMod val="75000"/>
                  </a:schemeClr>
                </a:solidFill>
              </a:rPr>
              <a:t>SQL LIKE Clause</a:t>
            </a:r>
          </a:p>
          <a:p>
            <a:r>
              <a:rPr lang="en-IN" dirty="0"/>
              <a:t>The LIKE Operator is used to retrieve the values from a table that match a certain pattern, using the WHERE clause.</a:t>
            </a:r>
          </a:p>
          <a:p>
            <a:pPr marL="0" indent="0">
              <a:buNone/>
            </a:pPr>
            <a:r>
              <a:rPr lang="en-IN" b="1" dirty="0" smtClean="0"/>
              <a:t>Syntax:</a:t>
            </a:r>
            <a:endParaRPr lang="en-IN" b="1" dirty="0"/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SELECT </a:t>
            </a:r>
            <a:r>
              <a:rPr lang="en-IN" dirty="0"/>
              <a:t>column1, column2....</a:t>
            </a:r>
            <a:r>
              <a:rPr lang="en-IN" dirty="0" err="1"/>
              <a:t>columnN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smtClean="0"/>
              <a:t>	FROM   </a:t>
            </a:r>
            <a:r>
              <a:rPr lang="en-IN" dirty="0" err="1"/>
              <a:t>table_name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smtClean="0"/>
              <a:t>	WHERE  </a:t>
            </a:r>
            <a:r>
              <a:rPr lang="en-IN" dirty="0" err="1"/>
              <a:t>column_name</a:t>
            </a:r>
            <a:r>
              <a:rPr lang="en-IN" dirty="0"/>
              <a:t> LIKE { PATTERN };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SELECT </a:t>
            </a:r>
            <a:r>
              <a:rPr lang="en-IN" dirty="0"/>
              <a:t>* FROM CUSTOMERS WHERE SALARY LIKE '200%';</a:t>
            </a:r>
          </a:p>
        </p:txBody>
      </p:sp>
    </p:spTree>
    <p:extLst>
      <p:ext uri="{BB962C8B-B14F-4D97-AF65-F5344CB8AC3E}">
        <p14:creationId xmlns:p14="http://schemas.microsoft.com/office/powerpoint/2010/main" val="3313163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1764" y="731520"/>
            <a:ext cx="8491654" cy="571915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SQL ORDER BY </a:t>
            </a:r>
            <a:r>
              <a:rPr lang="en-IN" b="1" dirty="0" smtClean="0">
                <a:solidFill>
                  <a:schemeClr val="accent2">
                    <a:lumMod val="75000"/>
                  </a:schemeClr>
                </a:solidFill>
              </a:rPr>
              <a:t>Clause / Sorting </a:t>
            </a:r>
            <a:endParaRPr lang="en-IN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IN" dirty="0"/>
              <a:t>The ORDER BY Clause is used to arrange the column values in a given/specified order.</a:t>
            </a:r>
          </a:p>
          <a:p>
            <a:pPr marL="0" indent="0">
              <a:buNone/>
            </a:pPr>
            <a:r>
              <a:rPr lang="en-IN" b="1" dirty="0"/>
              <a:t>Syntax:</a:t>
            </a:r>
          </a:p>
          <a:p>
            <a:pPr marL="0" indent="0">
              <a:buNone/>
            </a:pPr>
            <a:r>
              <a:rPr lang="en-IN" dirty="0"/>
              <a:t>		SELECT column1, column2....</a:t>
            </a:r>
            <a:r>
              <a:rPr lang="en-IN" dirty="0" err="1"/>
              <a:t>columnN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			FROM   </a:t>
            </a:r>
            <a:r>
              <a:rPr lang="en-IN" dirty="0" err="1" smtClean="0"/>
              <a:t>table_name</a:t>
            </a:r>
            <a:r>
              <a:rPr lang="en-IN" dirty="0" smtClean="0"/>
              <a:t> WHERE  </a:t>
            </a:r>
            <a:r>
              <a:rPr lang="en-IN" dirty="0"/>
              <a:t>CONDITION</a:t>
            </a:r>
          </a:p>
          <a:p>
            <a:pPr marL="0" indent="0">
              <a:buNone/>
            </a:pPr>
            <a:r>
              <a:rPr lang="en-IN" dirty="0"/>
              <a:t>			ORDER BY </a:t>
            </a:r>
            <a:r>
              <a:rPr lang="en-IN" dirty="0" err="1"/>
              <a:t>column_name</a:t>
            </a:r>
            <a:r>
              <a:rPr lang="en-IN" dirty="0"/>
              <a:t> {ASC|DESC};</a:t>
            </a:r>
          </a:p>
          <a:p>
            <a:pPr marL="0" indent="0">
              <a:buNone/>
            </a:pPr>
            <a:r>
              <a:rPr lang="en-IN" dirty="0"/>
              <a:t>		SELECT * FROM CUSTOMERS ORDER BY NAME ASC;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SQL GROUP BY Clause</a:t>
            </a:r>
          </a:p>
          <a:p>
            <a:r>
              <a:rPr lang="en-IN" dirty="0"/>
              <a:t>The GROUP BY Clause is used to group the values of a column together.</a:t>
            </a:r>
          </a:p>
          <a:p>
            <a:pPr marL="0" indent="0">
              <a:buNone/>
            </a:pPr>
            <a:r>
              <a:rPr lang="en-IN" b="1" dirty="0"/>
              <a:t>Syntax: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/>
              <a:t>SELECT </a:t>
            </a:r>
            <a:r>
              <a:rPr lang="en-IN" smtClean="0"/>
              <a:t>column1… FROM   </a:t>
            </a:r>
            <a:r>
              <a:rPr lang="en-IN" dirty="0" err="1"/>
              <a:t>table_name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			WHERE  CONDITION GROUP BY </a:t>
            </a:r>
            <a:r>
              <a:rPr lang="en-IN" dirty="0" err="1"/>
              <a:t>column_name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	SELECT ADDRESS, </a:t>
            </a:r>
            <a:r>
              <a:rPr lang="en-IN" dirty="0" smtClean="0"/>
              <a:t>AGE FROM CUSTOMERS 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GROUP BY ADDRESS, AGE;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8542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23452" y="615141"/>
            <a:ext cx="8267210" cy="580228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1900" b="1" dirty="0">
                <a:solidFill>
                  <a:schemeClr val="accent2">
                    <a:lumMod val="75000"/>
                  </a:schemeClr>
                </a:solidFill>
              </a:rPr>
              <a:t>SQL COUNT Function</a:t>
            </a:r>
          </a:p>
          <a:p>
            <a:pPr marL="0" indent="0">
              <a:buNone/>
            </a:pPr>
            <a:r>
              <a:rPr lang="en-IN" dirty="0"/>
              <a:t>The COUNT Function gives the number of non-null values present in the specified column.</a:t>
            </a:r>
          </a:p>
          <a:p>
            <a:pPr marL="0" indent="0">
              <a:buNone/>
            </a:pPr>
            <a:r>
              <a:rPr lang="en-IN" b="1" dirty="0" smtClean="0"/>
              <a:t>Syntax</a:t>
            </a:r>
            <a:r>
              <a:rPr lang="en-IN" b="1" dirty="0"/>
              <a:t>:</a:t>
            </a:r>
          </a:p>
          <a:p>
            <a:pPr marL="0" indent="0">
              <a:buNone/>
            </a:pPr>
            <a:r>
              <a:rPr lang="en-IN" dirty="0"/>
              <a:t>		SELECT </a:t>
            </a:r>
            <a:r>
              <a:rPr lang="en-IN" dirty="0" smtClean="0"/>
              <a:t>COUNT(</a:t>
            </a:r>
            <a:r>
              <a:rPr lang="en-IN" dirty="0" err="1" smtClean="0"/>
              <a:t>column_name</a:t>
            </a:r>
            <a:r>
              <a:rPr lang="en-IN" dirty="0" smtClean="0"/>
              <a:t>) FROM   </a:t>
            </a:r>
            <a:r>
              <a:rPr lang="en-IN" dirty="0" err="1"/>
              <a:t>table_name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			WHERE  CONDITION;</a:t>
            </a:r>
          </a:p>
          <a:p>
            <a:pPr marL="0" indent="0">
              <a:buNone/>
            </a:pPr>
            <a:r>
              <a:rPr lang="en-IN" dirty="0"/>
              <a:t>		SELECT AGE, COUNT(Name) FROM CUSTOMERS GROUP BY AGE;</a:t>
            </a:r>
          </a:p>
          <a:p>
            <a:pPr marL="0" indent="0">
              <a:buNone/>
            </a:pPr>
            <a:r>
              <a:rPr lang="en-IN" sz="1900" b="1" dirty="0">
                <a:solidFill>
                  <a:schemeClr val="accent2">
                    <a:lumMod val="75000"/>
                  </a:schemeClr>
                </a:solidFill>
              </a:rPr>
              <a:t>SQL HAVING Clause</a:t>
            </a:r>
          </a:p>
          <a:p>
            <a:pPr marL="0" indent="0">
              <a:buNone/>
            </a:pPr>
            <a:r>
              <a:rPr lang="en-IN" dirty="0"/>
              <a:t>The HAVING clause is also used to filter a group of rows by applying a condition.</a:t>
            </a:r>
          </a:p>
          <a:p>
            <a:pPr marL="0" indent="0">
              <a:buNone/>
            </a:pPr>
            <a:r>
              <a:rPr lang="en-IN" b="1" dirty="0"/>
              <a:t>Syntax:</a:t>
            </a:r>
          </a:p>
          <a:p>
            <a:pPr marL="0" indent="0">
              <a:buNone/>
            </a:pPr>
            <a:r>
              <a:rPr lang="en-IN" dirty="0"/>
              <a:t>		SELECT SUM(</a:t>
            </a:r>
            <a:r>
              <a:rPr lang="en-IN" dirty="0" err="1"/>
              <a:t>column_name</a:t>
            </a:r>
            <a:r>
              <a:rPr lang="en-IN" dirty="0"/>
              <a:t>) FROM   </a:t>
            </a:r>
            <a:r>
              <a:rPr lang="en-IN" dirty="0" err="1"/>
              <a:t>table_name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			WHERE  CONDITION GROUP BY </a:t>
            </a:r>
            <a:r>
              <a:rPr lang="en-IN" dirty="0" err="1"/>
              <a:t>column_name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			HAVING (</a:t>
            </a:r>
            <a:r>
              <a:rPr lang="en-IN" dirty="0" err="1"/>
              <a:t>arithematic</a:t>
            </a:r>
            <a:r>
              <a:rPr lang="en-IN" dirty="0"/>
              <a:t> function condition);</a:t>
            </a:r>
          </a:p>
          <a:p>
            <a:pPr marL="0" indent="0">
              <a:buNone/>
            </a:pPr>
            <a:r>
              <a:rPr lang="en-IN" dirty="0"/>
              <a:t>		SELECT ADDRESS, AGE, SUM(SALARY) AS </a:t>
            </a:r>
          </a:p>
          <a:p>
            <a:pPr marL="0" indent="0">
              <a:buNone/>
            </a:pPr>
            <a:r>
              <a:rPr lang="en-IN" dirty="0"/>
              <a:t>			TOTAL_SALARY FROM CUSTOMERS GROUP BY </a:t>
            </a:r>
          </a:p>
          <a:p>
            <a:pPr marL="0" indent="0">
              <a:buNone/>
            </a:pPr>
            <a:r>
              <a:rPr lang="en-IN" dirty="0"/>
              <a:t>			ADDRESS, AGE HAVING TOTAL_SALARY &gt;=5000 </a:t>
            </a:r>
          </a:p>
          <a:p>
            <a:pPr marL="0" indent="0">
              <a:buNone/>
            </a:pPr>
            <a:r>
              <a:rPr lang="en-IN" dirty="0"/>
              <a:t>			ORDER BY TOTAL_SALARY DESC;</a:t>
            </a:r>
          </a:p>
        </p:txBody>
      </p:sp>
    </p:spTree>
    <p:extLst>
      <p:ext uri="{BB962C8B-B14F-4D97-AF65-F5344CB8AC3E}">
        <p14:creationId xmlns:p14="http://schemas.microsoft.com/office/powerpoint/2010/main" val="1926683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847898"/>
            <a:ext cx="8217333" cy="5469775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SQL CREATE INDEX Statement</a:t>
            </a:r>
          </a:p>
          <a:p>
            <a:r>
              <a:rPr lang="en-IN" dirty="0"/>
              <a:t>To create an index on a database table, SQL provides the CREATE INDEX statement. </a:t>
            </a:r>
          </a:p>
          <a:p>
            <a:pPr marL="0" indent="0">
              <a:buNone/>
            </a:pPr>
            <a:r>
              <a:rPr lang="en-IN" b="1" dirty="0"/>
              <a:t>Syntax:</a:t>
            </a:r>
          </a:p>
          <a:p>
            <a:pPr marL="0" indent="0">
              <a:buNone/>
            </a:pPr>
            <a:r>
              <a:rPr lang="en-IN" dirty="0"/>
              <a:t>		CREATE UNIQUE INDEX </a:t>
            </a:r>
            <a:r>
              <a:rPr lang="en-IN" dirty="0" err="1"/>
              <a:t>index_name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			ON </a:t>
            </a:r>
            <a:r>
              <a:rPr lang="en-IN" dirty="0" err="1"/>
              <a:t>table_name</a:t>
            </a:r>
            <a:r>
              <a:rPr lang="en-IN" dirty="0"/>
              <a:t> ( column1, column2,...</a:t>
            </a:r>
            <a:r>
              <a:rPr lang="en-IN" dirty="0" err="1"/>
              <a:t>columnN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		CREATE INDEX </a:t>
            </a:r>
            <a:r>
              <a:rPr lang="en-IN" dirty="0" err="1"/>
              <a:t>sample_index</a:t>
            </a:r>
            <a:r>
              <a:rPr lang="en-IN" dirty="0"/>
              <a:t> on CUSTOMERS(NAME);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SQL DROP INDEX Statement</a:t>
            </a:r>
          </a:p>
          <a:p>
            <a:r>
              <a:rPr lang="en-IN" dirty="0"/>
              <a:t>The DROP INDEX statement is used to drop an index from a table.</a:t>
            </a:r>
          </a:p>
          <a:p>
            <a:pPr marL="0" indent="0">
              <a:buNone/>
            </a:pPr>
            <a:r>
              <a:rPr lang="en-IN" b="1" dirty="0"/>
              <a:t>Syntax: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b="1" dirty="0"/>
              <a:t>DROP INDEX </a:t>
            </a:r>
            <a:r>
              <a:rPr lang="en-IN" dirty="0" err="1"/>
              <a:t>index_name</a:t>
            </a:r>
            <a:r>
              <a:rPr lang="en-IN" dirty="0"/>
              <a:t> ON </a:t>
            </a:r>
            <a:r>
              <a:rPr lang="en-IN" dirty="0" err="1"/>
              <a:t>table_name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	DROP INDEX </a:t>
            </a:r>
            <a:r>
              <a:rPr lang="en-IN" dirty="0" err="1"/>
              <a:t>sample_index</a:t>
            </a:r>
            <a:r>
              <a:rPr lang="en-IN" dirty="0"/>
              <a:t> on CUSTOMERS</a:t>
            </a:r>
            <a:r>
              <a:rPr lang="en-IN" dirty="0" smtClean="0"/>
              <a:t>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</a:t>
            </a:r>
            <a:r>
              <a:rPr lang="en-IN" b="1" dirty="0"/>
              <a:t>SHOW INDEX </a:t>
            </a:r>
            <a:r>
              <a:rPr lang="en-IN" dirty="0"/>
              <a:t>FROM </a:t>
            </a:r>
            <a:r>
              <a:rPr lang="en-IN" dirty="0" err="1"/>
              <a:t>table_name</a:t>
            </a:r>
            <a:r>
              <a:rPr lang="en-IN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819129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4161" y="624110"/>
            <a:ext cx="8911687" cy="722552"/>
          </a:xfrm>
        </p:spPr>
        <p:txBody>
          <a:bodyPr/>
          <a:lstStyle/>
          <a:p>
            <a:r>
              <a:rPr lang="en-US" b="1" dirty="0" smtClean="0"/>
              <a:t>SQL </a:t>
            </a:r>
            <a:r>
              <a:rPr lang="en-US" b="1" dirty="0" err="1" smtClean="0"/>
              <a:t>DataType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17844" y="1773382"/>
            <a:ext cx="8209021" cy="4754880"/>
          </a:xfrm>
        </p:spPr>
        <p:txBody>
          <a:bodyPr>
            <a:normAutofit/>
          </a:bodyPr>
          <a:lstStyle/>
          <a:p>
            <a:r>
              <a:rPr lang="en-IN" sz="2000" dirty="0"/>
              <a:t>An SQL data type refers to the type of data which can be stored in a column of a database table. </a:t>
            </a:r>
          </a:p>
          <a:p>
            <a:r>
              <a:rPr lang="en-IN" sz="2000" dirty="0" smtClean="0"/>
              <a:t>SQL </a:t>
            </a:r>
            <a:r>
              <a:rPr lang="en-IN" sz="2000" dirty="0"/>
              <a:t>Data types are defined during the creation of a table in a database. </a:t>
            </a:r>
          </a:p>
          <a:p>
            <a:r>
              <a:rPr lang="en-IN" sz="2000" dirty="0"/>
              <a:t>While creating a table, it is required to specify its respective data type and size along with the name of the column</a:t>
            </a:r>
            <a:r>
              <a:rPr lang="en-IN" sz="2000" dirty="0" smtClean="0"/>
              <a:t>.</a:t>
            </a:r>
          </a:p>
          <a:p>
            <a:r>
              <a:rPr lang="en-IN" sz="2000" dirty="0"/>
              <a:t>There are </a:t>
            </a:r>
            <a:r>
              <a:rPr lang="en-IN" sz="2000" b="1" dirty="0"/>
              <a:t>three main types </a:t>
            </a:r>
            <a:r>
              <a:rPr lang="en-IN" sz="2000" dirty="0"/>
              <a:t>of SQL data types available in any RDBMS. They are </a:t>
            </a:r>
            <a:r>
              <a:rPr lang="en-IN" sz="2000" b="1" dirty="0"/>
              <a:t>String, Numeric &amp; Date and </a:t>
            </a:r>
            <a:r>
              <a:rPr lang="en-IN" sz="2000" b="1" dirty="0" smtClean="0"/>
              <a:t>Time.</a:t>
            </a:r>
            <a:endParaRPr lang="en-IN" sz="2000" b="1" dirty="0"/>
          </a:p>
          <a:p>
            <a:pPr marL="0" indent="0">
              <a:buNone/>
            </a:pPr>
            <a:r>
              <a:rPr lang="en-IN" sz="2000" b="1" dirty="0"/>
              <a:t>Example:</a:t>
            </a:r>
          </a:p>
          <a:p>
            <a:pPr marL="0" indent="0">
              <a:buNone/>
            </a:pPr>
            <a:r>
              <a:rPr lang="en-IN" sz="2000" dirty="0"/>
              <a:t>		CREATE TABLE Customers (Name VARCHAR (25), Age INT);</a:t>
            </a:r>
          </a:p>
        </p:txBody>
      </p:sp>
    </p:spTree>
    <p:extLst>
      <p:ext uri="{BB962C8B-B14F-4D97-AF65-F5344CB8AC3E}">
        <p14:creationId xmlns:p14="http://schemas.microsoft.com/office/powerpoint/2010/main" val="2367249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2845" y="715550"/>
            <a:ext cx="8911687" cy="730865"/>
          </a:xfrm>
        </p:spPr>
        <p:txBody>
          <a:bodyPr/>
          <a:lstStyle/>
          <a:p>
            <a:r>
              <a:rPr lang="en-US" b="1" dirty="0" smtClean="0"/>
              <a:t>SQL Operators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7891" y="1446415"/>
            <a:ext cx="9882909" cy="4997799"/>
          </a:xfrm>
        </p:spPr>
        <p:txBody>
          <a:bodyPr>
            <a:noAutofit/>
          </a:bodyPr>
          <a:lstStyle/>
          <a:p>
            <a:r>
              <a:rPr lang="en-IN" dirty="0"/>
              <a:t>An SQL operator is a reserved word or a character used primarily in an SQL statement's WHERE clause to perform operation(s), such as comparisons and arithmetic operations. </a:t>
            </a:r>
            <a:endParaRPr lang="en-IN" dirty="0" smtClean="0"/>
          </a:p>
          <a:p>
            <a:r>
              <a:rPr lang="en-IN" dirty="0" smtClean="0"/>
              <a:t>These </a:t>
            </a:r>
            <a:r>
              <a:rPr lang="en-IN" dirty="0"/>
              <a:t>Operators are used to specify conditions in an SQL statement and to serve as conjunctions for multiple conditions in a statement</a:t>
            </a:r>
            <a:r>
              <a:rPr lang="en-IN" dirty="0" smtClean="0"/>
              <a:t>.</a:t>
            </a:r>
          </a:p>
          <a:p>
            <a:pPr marL="0" indent="0">
              <a:buNone/>
            </a:pPr>
            <a:r>
              <a:rPr lang="en-IN" sz="2000" b="1" dirty="0"/>
              <a:t>Types of Operator in SQL: </a:t>
            </a:r>
          </a:p>
          <a:p>
            <a:pPr lvl="2"/>
            <a:r>
              <a:rPr lang="en-IN" sz="1800" dirty="0" smtClean="0"/>
              <a:t>  Arithmetic </a:t>
            </a:r>
            <a:r>
              <a:rPr lang="en-IN" sz="1800" dirty="0"/>
              <a:t>operators</a:t>
            </a:r>
          </a:p>
          <a:p>
            <a:pPr lvl="2"/>
            <a:r>
              <a:rPr lang="en-IN" sz="1800" dirty="0" smtClean="0"/>
              <a:t>  Comparison </a:t>
            </a:r>
            <a:r>
              <a:rPr lang="en-IN" sz="1800" dirty="0"/>
              <a:t>operators</a:t>
            </a:r>
          </a:p>
          <a:p>
            <a:pPr lvl="2"/>
            <a:r>
              <a:rPr lang="en-IN" sz="1800" dirty="0" smtClean="0"/>
              <a:t>  Logical </a:t>
            </a:r>
            <a:r>
              <a:rPr lang="en-IN" sz="1800" dirty="0"/>
              <a:t>operators</a:t>
            </a:r>
          </a:p>
          <a:p>
            <a:pPr lvl="2"/>
            <a:r>
              <a:rPr lang="en-IN" sz="1800" dirty="0" smtClean="0"/>
              <a:t>  Operators </a:t>
            </a:r>
            <a:r>
              <a:rPr lang="en-IN" sz="1800" dirty="0"/>
              <a:t>used to negate </a:t>
            </a:r>
            <a:r>
              <a:rPr lang="en-IN" sz="1800" dirty="0" smtClean="0"/>
              <a:t>conditions</a:t>
            </a:r>
            <a:endParaRPr lang="en-IN" sz="1800" dirty="0"/>
          </a:p>
          <a:p>
            <a:pPr marL="914400" lvl="2" indent="0">
              <a:buNone/>
            </a:pPr>
            <a:r>
              <a:rPr lang="en-US" sz="2000" b="1" dirty="0" smtClean="0"/>
              <a:t>Example:</a:t>
            </a:r>
          </a:p>
          <a:p>
            <a:pPr marL="914400" lvl="2" indent="0">
              <a:buNone/>
            </a:pPr>
            <a:r>
              <a:rPr lang="en-US" sz="1800" dirty="0"/>
              <a:t>	</a:t>
            </a:r>
            <a:r>
              <a:rPr lang="en-IN" sz="1800" dirty="0"/>
              <a:t>UPDATE CUSTOMERS SET AGE </a:t>
            </a:r>
            <a:r>
              <a:rPr lang="en-IN" sz="1800" b="1" dirty="0"/>
              <a:t>= AGE+5</a:t>
            </a:r>
            <a:r>
              <a:rPr lang="en-IN" sz="1800" dirty="0"/>
              <a:t>, SALARY = </a:t>
            </a:r>
            <a:r>
              <a:rPr lang="en-IN" sz="1800" b="1" dirty="0"/>
              <a:t>SALARY+3000</a:t>
            </a:r>
            <a:r>
              <a:rPr lang="en-IN" sz="1800" dirty="0" smtClean="0"/>
              <a:t>;</a:t>
            </a:r>
          </a:p>
          <a:p>
            <a:pPr marL="914400" lvl="2" indent="0">
              <a:buNone/>
            </a:pPr>
            <a:r>
              <a:rPr lang="en-US" sz="1800" dirty="0"/>
              <a:t>	</a:t>
            </a:r>
            <a:r>
              <a:rPr lang="en-IN" sz="1800" dirty="0"/>
              <a:t>DELETE FROM CUSTOMERS WHERE </a:t>
            </a:r>
            <a:r>
              <a:rPr lang="en-IN" sz="1800" b="1" dirty="0"/>
              <a:t>AGE &gt; 25</a:t>
            </a:r>
            <a:r>
              <a:rPr lang="en-IN" sz="1800" dirty="0"/>
              <a:t>;</a:t>
            </a:r>
            <a:endParaRPr lang="en-IN" sz="1800" dirty="0" smtClean="0"/>
          </a:p>
        </p:txBody>
      </p:sp>
    </p:spTree>
    <p:extLst>
      <p:ext uri="{BB962C8B-B14F-4D97-AF65-F5344CB8AC3E}">
        <p14:creationId xmlns:p14="http://schemas.microsoft.com/office/powerpoint/2010/main" val="3237546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4611" y="532669"/>
            <a:ext cx="8911687" cy="556298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Arithmetic &amp; Relational Operations: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68632" y="1238596"/>
            <a:ext cx="8046720" cy="532845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Operator	</a:t>
            </a:r>
            <a:r>
              <a:rPr lang="en-IN" b="1" dirty="0" smtClean="0"/>
              <a:t>	Description</a:t>
            </a:r>
            <a:r>
              <a:rPr lang="en-IN" b="1" dirty="0"/>
              <a:t>	</a:t>
            </a:r>
            <a:r>
              <a:rPr lang="en-IN" b="1" dirty="0" smtClean="0"/>
              <a:t>				Example</a:t>
            </a:r>
            <a:endParaRPr lang="en-IN" b="1" dirty="0"/>
          </a:p>
          <a:p>
            <a:pPr marL="0" indent="0">
              <a:buNone/>
            </a:pPr>
            <a:r>
              <a:rPr lang="en-IN" dirty="0"/>
              <a:t>   +		</a:t>
            </a:r>
            <a:r>
              <a:rPr lang="en-IN" dirty="0" smtClean="0"/>
              <a:t>		Addition</a:t>
            </a:r>
            <a:r>
              <a:rPr lang="en-IN" dirty="0"/>
              <a:t>	</a:t>
            </a:r>
            <a:r>
              <a:rPr lang="en-IN" dirty="0" smtClean="0"/>
              <a:t>					10 </a:t>
            </a:r>
            <a:r>
              <a:rPr lang="en-IN" dirty="0"/>
              <a:t>+ 20 = 30</a:t>
            </a:r>
          </a:p>
          <a:p>
            <a:pPr marL="0" indent="0">
              <a:buNone/>
            </a:pPr>
            <a:r>
              <a:rPr lang="en-IN" dirty="0"/>
              <a:t>   -		</a:t>
            </a:r>
            <a:r>
              <a:rPr lang="en-IN" dirty="0" smtClean="0"/>
              <a:t>		Subtraction</a:t>
            </a:r>
            <a:r>
              <a:rPr lang="en-IN" dirty="0"/>
              <a:t>	</a:t>
            </a:r>
            <a:r>
              <a:rPr lang="en-IN" dirty="0" smtClean="0"/>
              <a:t>				20 </a:t>
            </a:r>
            <a:r>
              <a:rPr lang="en-IN" dirty="0"/>
              <a:t>- 30 = -10</a:t>
            </a:r>
          </a:p>
          <a:p>
            <a:pPr marL="0" indent="0">
              <a:buNone/>
            </a:pPr>
            <a:r>
              <a:rPr lang="en-IN" dirty="0"/>
              <a:t>   *		</a:t>
            </a:r>
            <a:r>
              <a:rPr lang="en-IN" dirty="0" smtClean="0"/>
              <a:t>		Multiplication</a:t>
            </a:r>
            <a:r>
              <a:rPr lang="en-IN" dirty="0"/>
              <a:t>	</a:t>
            </a:r>
            <a:r>
              <a:rPr lang="en-IN" dirty="0" smtClean="0"/>
              <a:t>			10 </a:t>
            </a:r>
            <a:r>
              <a:rPr lang="en-IN" dirty="0"/>
              <a:t>* 20 = 200</a:t>
            </a:r>
          </a:p>
          <a:p>
            <a:pPr marL="0" indent="0">
              <a:buNone/>
            </a:pPr>
            <a:r>
              <a:rPr lang="en-IN" dirty="0"/>
              <a:t>   /		</a:t>
            </a:r>
            <a:r>
              <a:rPr lang="en-IN" dirty="0" smtClean="0"/>
              <a:t>		Division</a:t>
            </a:r>
            <a:r>
              <a:rPr lang="en-IN" dirty="0"/>
              <a:t>	</a:t>
            </a:r>
            <a:r>
              <a:rPr lang="en-IN" dirty="0" smtClean="0"/>
              <a:t>					20 </a:t>
            </a:r>
            <a:r>
              <a:rPr lang="en-IN" dirty="0"/>
              <a:t>/ 10 = 2</a:t>
            </a:r>
          </a:p>
          <a:p>
            <a:pPr marL="0" indent="0">
              <a:buNone/>
            </a:pPr>
            <a:r>
              <a:rPr lang="en-IN" dirty="0"/>
              <a:t>   %		</a:t>
            </a:r>
            <a:r>
              <a:rPr lang="en-IN" dirty="0" smtClean="0"/>
              <a:t>		Modulus</a:t>
            </a:r>
            <a:r>
              <a:rPr lang="en-IN" dirty="0"/>
              <a:t>		</a:t>
            </a:r>
            <a:r>
              <a:rPr lang="en-IN" dirty="0" smtClean="0"/>
              <a:t>				5 </a:t>
            </a:r>
            <a:r>
              <a:rPr lang="en-IN" dirty="0"/>
              <a:t>% 2 = </a:t>
            </a:r>
            <a:r>
              <a:rPr lang="en-IN" dirty="0" smtClean="0"/>
              <a:t>1</a:t>
            </a:r>
          </a:p>
          <a:p>
            <a:pPr marL="0" indent="0">
              <a:buNone/>
            </a:pPr>
            <a:r>
              <a:rPr lang="en-IN" dirty="0" smtClean="0"/>
              <a:t>   =</a:t>
            </a:r>
            <a:r>
              <a:rPr lang="en-IN" dirty="0"/>
              <a:t>	</a:t>
            </a:r>
            <a:r>
              <a:rPr lang="en-IN" dirty="0" smtClean="0"/>
              <a:t>			Equal </a:t>
            </a:r>
            <a:r>
              <a:rPr lang="en-IN" dirty="0"/>
              <a:t>to	</a:t>
            </a:r>
            <a:r>
              <a:rPr lang="en-IN" dirty="0" smtClean="0"/>
              <a:t>					5 </a:t>
            </a:r>
            <a:r>
              <a:rPr lang="en-IN" dirty="0"/>
              <a:t>= 5 returns TRUE</a:t>
            </a:r>
          </a:p>
          <a:p>
            <a:pPr marL="0" indent="0">
              <a:buNone/>
            </a:pPr>
            <a:r>
              <a:rPr lang="en-IN" dirty="0" smtClean="0"/>
              <a:t>   !=</a:t>
            </a:r>
            <a:r>
              <a:rPr lang="en-IN" dirty="0"/>
              <a:t>	</a:t>
            </a:r>
            <a:r>
              <a:rPr lang="en-IN" dirty="0" smtClean="0"/>
              <a:t>			Not </a:t>
            </a:r>
            <a:r>
              <a:rPr lang="en-IN" dirty="0"/>
              <a:t>equal	</a:t>
            </a:r>
            <a:r>
              <a:rPr lang="en-IN" dirty="0" smtClean="0"/>
              <a:t>				5 </a:t>
            </a:r>
            <a:r>
              <a:rPr lang="en-IN" dirty="0"/>
              <a:t>!= 6 returns TRUE</a:t>
            </a:r>
          </a:p>
          <a:p>
            <a:pPr marL="0" indent="0">
              <a:buNone/>
            </a:pPr>
            <a:r>
              <a:rPr lang="en-IN" dirty="0" smtClean="0"/>
              <a:t>  &lt;&gt;</a:t>
            </a:r>
            <a:r>
              <a:rPr lang="en-IN" dirty="0"/>
              <a:t>	</a:t>
            </a:r>
            <a:r>
              <a:rPr lang="en-IN" dirty="0" smtClean="0"/>
              <a:t>			Not </a:t>
            </a:r>
            <a:r>
              <a:rPr lang="en-IN" dirty="0"/>
              <a:t>equal	</a:t>
            </a:r>
            <a:r>
              <a:rPr lang="en-IN" dirty="0" smtClean="0"/>
              <a:t>				5 </a:t>
            </a:r>
            <a:r>
              <a:rPr lang="en-IN" dirty="0"/>
              <a:t>&lt;&gt; 4 returns TRUE</a:t>
            </a:r>
          </a:p>
          <a:p>
            <a:pPr marL="0" indent="0">
              <a:buNone/>
            </a:pPr>
            <a:r>
              <a:rPr lang="en-IN" dirty="0" smtClean="0"/>
              <a:t>  &gt;</a:t>
            </a:r>
            <a:r>
              <a:rPr lang="en-IN" dirty="0"/>
              <a:t>	</a:t>
            </a:r>
            <a:r>
              <a:rPr lang="en-IN" dirty="0" smtClean="0"/>
              <a:t>			Greater </a:t>
            </a:r>
            <a:r>
              <a:rPr lang="en-IN" dirty="0"/>
              <a:t>than	</a:t>
            </a:r>
            <a:r>
              <a:rPr lang="en-IN" dirty="0" smtClean="0"/>
              <a:t>				4 </a:t>
            </a:r>
            <a:r>
              <a:rPr lang="en-IN" dirty="0"/>
              <a:t>&gt; 5 returns FALSE</a:t>
            </a:r>
          </a:p>
          <a:p>
            <a:pPr marL="0" indent="0">
              <a:buNone/>
            </a:pPr>
            <a:r>
              <a:rPr lang="en-IN" dirty="0" smtClean="0"/>
              <a:t>  &lt;</a:t>
            </a:r>
            <a:r>
              <a:rPr lang="en-IN" dirty="0"/>
              <a:t>	</a:t>
            </a:r>
            <a:r>
              <a:rPr lang="en-IN" dirty="0" smtClean="0"/>
              <a:t>			Less </a:t>
            </a:r>
            <a:r>
              <a:rPr lang="en-IN" dirty="0"/>
              <a:t>than	</a:t>
            </a:r>
            <a:r>
              <a:rPr lang="en-IN" dirty="0" smtClean="0"/>
              <a:t>				4 </a:t>
            </a:r>
            <a:r>
              <a:rPr lang="en-IN" dirty="0"/>
              <a:t>&lt; 5 returns TRUE</a:t>
            </a:r>
          </a:p>
          <a:p>
            <a:pPr marL="0" indent="0">
              <a:buNone/>
            </a:pPr>
            <a:r>
              <a:rPr lang="en-IN" dirty="0" smtClean="0"/>
              <a:t>  &gt;=</a:t>
            </a:r>
            <a:r>
              <a:rPr lang="en-IN" dirty="0"/>
              <a:t>	</a:t>
            </a:r>
            <a:r>
              <a:rPr lang="en-IN" dirty="0" smtClean="0"/>
              <a:t>			Greater </a:t>
            </a:r>
            <a:r>
              <a:rPr lang="en-IN" dirty="0"/>
              <a:t>than or equal to	</a:t>
            </a:r>
            <a:r>
              <a:rPr lang="en-IN" dirty="0" smtClean="0"/>
              <a:t>	4 </a:t>
            </a:r>
            <a:r>
              <a:rPr lang="en-IN" dirty="0"/>
              <a:t>&gt;= 5 returns FALSE</a:t>
            </a:r>
          </a:p>
          <a:p>
            <a:pPr marL="0" indent="0">
              <a:buNone/>
            </a:pPr>
            <a:r>
              <a:rPr lang="en-IN" dirty="0" smtClean="0"/>
              <a:t>  &lt;=		</a:t>
            </a:r>
            <a:r>
              <a:rPr lang="en-IN" dirty="0"/>
              <a:t>	</a:t>
            </a:r>
            <a:r>
              <a:rPr lang="en-IN" dirty="0" smtClean="0"/>
              <a:t>	Less </a:t>
            </a:r>
            <a:r>
              <a:rPr lang="en-IN" dirty="0"/>
              <a:t>than or equal to	</a:t>
            </a:r>
            <a:r>
              <a:rPr lang="en-IN" dirty="0" smtClean="0"/>
              <a:t>		4 </a:t>
            </a:r>
            <a:r>
              <a:rPr lang="en-IN" dirty="0"/>
              <a:t>&lt;= 5 returns TRUE</a:t>
            </a:r>
          </a:p>
          <a:p>
            <a:pPr marL="0" indent="0">
              <a:buNone/>
            </a:pPr>
            <a:r>
              <a:rPr lang="en-IN" dirty="0" smtClean="0"/>
              <a:t>  !&lt;</a:t>
            </a:r>
            <a:r>
              <a:rPr lang="en-IN" dirty="0"/>
              <a:t>	</a:t>
            </a:r>
            <a:r>
              <a:rPr lang="en-IN" dirty="0" smtClean="0"/>
              <a:t>			Not </a:t>
            </a:r>
            <a:r>
              <a:rPr lang="en-IN" dirty="0"/>
              <a:t>less than	</a:t>
            </a:r>
            <a:r>
              <a:rPr lang="en-IN" dirty="0" smtClean="0"/>
              <a:t>				4 </a:t>
            </a:r>
            <a:r>
              <a:rPr lang="en-IN" dirty="0"/>
              <a:t>!&lt; 5 returns FALSE</a:t>
            </a:r>
          </a:p>
          <a:p>
            <a:pPr marL="0" indent="0">
              <a:buNone/>
            </a:pPr>
            <a:r>
              <a:rPr lang="en-IN" dirty="0" smtClean="0"/>
              <a:t>  !&gt;</a:t>
            </a:r>
            <a:r>
              <a:rPr lang="en-IN" dirty="0"/>
              <a:t>	</a:t>
            </a:r>
            <a:r>
              <a:rPr lang="en-IN" dirty="0" smtClean="0"/>
              <a:t>			Not </a:t>
            </a:r>
            <a:r>
              <a:rPr lang="en-IN" dirty="0"/>
              <a:t>greater than	</a:t>
            </a:r>
            <a:r>
              <a:rPr lang="en-IN" dirty="0" smtClean="0"/>
              <a:t>			4 </a:t>
            </a:r>
            <a:r>
              <a:rPr lang="en-IN" dirty="0"/>
              <a:t>!&gt; 5 returns TRUE</a:t>
            </a: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2807323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0664" y="615797"/>
            <a:ext cx="8911687" cy="506421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Logical Operator: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371599"/>
            <a:ext cx="8915400" cy="490450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Operator	</a:t>
            </a:r>
            <a:r>
              <a:rPr lang="en-IN" b="1" dirty="0" smtClean="0"/>
              <a:t>							Description</a:t>
            </a:r>
            <a:endParaRPr lang="en-IN" b="1" dirty="0"/>
          </a:p>
          <a:p>
            <a:pPr marL="0" indent="0">
              <a:buNone/>
            </a:pPr>
            <a:r>
              <a:rPr lang="en-IN" dirty="0" smtClean="0"/>
              <a:t>    ALL</a:t>
            </a:r>
            <a:r>
              <a:rPr lang="en-IN" dirty="0"/>
              <a:t>	</a:t>
            </a:r>
            <a:r>
              <a:rPr lang="en-IN" dirty="0" smtClean="0"/>
              <a:t>		TRUE </a:t>
            </a:r>
            <a:r>
              <a:rPr lang="en-IN" dirty="0"/>
              <a:t>if all of a set of comparisons are TRUE.</a:t>
            </a:r>
          </a:p>
          <a:p>
            <a:pPr marL="0" indent="0">
              <a:buNone/>
            </a:pPr>
            <a:r>
              <a:rPr lang="en-IN" dirty="0" smtClean="0"/>
              <a:t>   AND			TRUE </a:t>
            </a:r>
            <a:r>
              <a:rPr lang="en-IN" dirty="0"/>
              <a:t>if all the conditions separated by AND are TRUE.</a:t>
            </a:r>
          </a:p>
          <a:p>
            <a:pPr marL="0" indent="0">
              <a:buNone/>
            </a:pPr>
            <a:r>
              <a:rPr lang="en-IN" dirty="0" smtClean="0"/>
              <a:t>   ANY</a:t>
            </a:r>
            <a:r>
              <a:rPr lang="en-IN" dirty="0"/>
              <a:t>	</a:t>
            </a:r>
            <a:r>
              <a:rPr lang="en-IN" dirty="0" smtClean="0"/>
              <a:t>		TRUE </a:t>
            </a:r>
            <a:r>
              <a:rPr lang="en-IN" dirty="0"/>
              <a:t>if any one of a set of comparisons are TRUE.</a:t>
            </a:r>
          </a:p>
          <a:p>
            <a:pPr marL="0" indent="0">
              <a:buNone/>
            </a:pPr>
            <a:r>
              <a:rPr lang="en-IN" dirty="0" smtClean="0"/>
              <a:t>   BETWEEN</a:t>
            </a:r>
            <a:r>
              <a:rPr lang="en-IN" dirty="0"/>
              <a:t>	</a:t>
            </a:r>
            <a:r>
              <a:rPr lang="en-IN" dirty="0" smtClean="0"/>
              <a:t>	TRUE </a:t>
            </a:r>
            <a:r>
              <a:rPr lang="en-IN" dirty="0"/>
              <a:t>if the operand lies within the range of comparisons.</a:t>
            </a:r>
          </a:p>
          <a:p>
            <a:pPr marL="0" indent="0">
              <a:buNone/>
            </a:pPr>
            <a:r>
              <a:rPr lang="en-IN" dirty="0" smtClean="0"/>
              <a:t>   EXISTS</a:t>
            </a:r>
            <a:r>
              <a:rPr lang="en-IN" dirty="0"/>
              <a:t>	</a:t>
            </a:r>
            <a:r>
              <a:rPr lang="en-IN" dirty="0" smtClean="0"/>
              <a:t>		TRUE </a:t>
            </a:r>
            <a:r>
              <a:rPr lang="en-IN" dirty="0"/>
              <a:t>if the subquery returns one or more records</a:t>
            </a:r>
          </a:p>
          <a:p>
            <a:pPr marL="0" indent="0">
              <a:buNone/>
            </a:pPr>
            <a:r>
              <a:rPr lang="en-IN" dirty="0" smtClean="0"/>
              <a:t>   IN</a:t>
            </a:r>
            <a:r>
              <a:rPr lang="en-IN" dirty="0"/>
              <a:t>	</a:t>
            </a:r>
            <a:r>
              <a:rPr lang="en-IN" dirty="0" smtClean="0"/>
              <a:t>			TRUE </a:t>
            </a:r>
            <a:r>
              <a:rPr lang="en-IN" dirty="0"/>
              <a:t>if the operand is equal to one of a list of expressions.</a:t>
            </a:r>
          </a:p>
          <a:p>
            <a:pPr marL="0" indent="0">
              <a:buNone/>
            </a:pPr>
            <a:r>
              <a:rPr lang="en-IN" dirty="0" smtClean="0"/>
              <a:t>   LIKE</a:t>
            </a:r>
            <a:r>
              <a:rPr lang="en-IN" dirty="0"/>
              <a:t>	</a:t>
            </a:r>
            <a:r>
              <a:rPr lang="en-IN" dirty="0" smtClean="0"/>
              <a:t>		TRUE </a:t>
            </a:r>
            <a:r>
              <a:rPr lang="en-IN" dirty="0"/>
              <a:t>if the operand matches a pattern specially with </a:t>
            </a:r>
            <a:r>
              <a:rPr lang="en-IN" dirty="0" smtClean="0"/>
              <a:t>  wildcard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 smtClean="0"/>
              <a:t>  NOT</a:t>
            </a:r>
            <a:r>
              <a:rPr lang="en-IN" dirty="0"/>
              <a:t>	</a:t>
            </a:r>
            <a:r>
              <a:rPr lang="en-IN" dirty="0" smtClean="0"/>
              <a:t>	</a:t>
            </a:r>
            <a:r>
              <a:rPr lang="en-IN" dirty="0"/>
              <a:t>	</a:t>
            </a:r>
            <a:r>
              <a:rPr lang="en-IN" dirty="0" smtClean="0"/>
              <a:t>Reverses </a:t>
            </a:r>
            <a:r>
              <a:rPr lang="en-IN" dirty="0"/>
              <a:t>the value of any other Boolean operator.</a:t>
            </a:r>
          </a:p>
          <a:p>
            <a:pPr marL="0" indent="0">
              <a:buNone/>
            </a:pPr>
            <a:r>
              <a:rPr lang="en-IN" dirty="0" smtClean="0"/>
              <a:t>  OR</a:t>
            </a:r>
            <a:r>
              <a:rPr lang="en-IN" dirty="0"/>
              <a:t>	</a:t>
            </a:r>
            <a:r>
              <a:rPr lang="en-IN" dirty="0" smtClean="0"/>
              <a:t>			TRUE </a:t>
            </a:r>
            <a:r>
              <a:rPr lang="en-IN" dirty="0"/>
              <a:t>if any of the conditions separated by OR is TRUE</a:t>
            </a:r>
          </a:p>
          <a:p>
            <a:pPr marL="0" indent="0">
              <a:buNone/>
            </a:pPr>
            <a:r>
              <a:rPr lang="en-IN" dirty="0" smtClean="0"/>
              <a:t>  IS </a:t>
            </a:r>
            <a:r>
              <a:rPr lang="en-IN" dirty="0"/>
              <a:t>NULL	</a:t>
            </a:r>
            <a:r>
              <a:rPr lang="en-IN" dirty="0" smtClean="0"/>
              <a:t>		TRUE </a:t>
            </a:r>
            <a:r>
              <a:rPr lang="en-IN" dirty="0"/>
              <a:t>if the expression value is NULL.</a:t>
            </a:r>
          </a:p>
          <a:p>
            <a:pPr marL="0" indent="0">
              <a:buNone/>
            </a:pPr>
            <a:r>
              <a:rPr lang="en-IN" dirty="0" smtClean="0"/>
              <a:t>  SOME</a:t>
            </a:r>
            <a:r>
              <a:rPr lang="en-IN" dirty="0"/>
              <a:t>	</a:t>
            </a:r>
            <a:r>
              <a:rPr lang="en-IN" dirty="0" smtClean="0"/>
              <a:t>		TRUE </a:t>
            </a:r>
            <a:r>
              <a:rPr lang="en-IN" dirty="0"/>
              <a:t>if some of a set of comparisons are TRUE</a:t>
            </a:r>
          </a:p>
          <a:p>
            <a:pPr marL="0" indent="0">
              <a:buNone/>
            </a:pPr>
            <a:r>
              <a:rPr lang="en-IN" dirty="0" smtClean="0"/>
              <a:t>  UNIQUE</a:t>
            </a:r>
            <a:r>
              <a:rPr lang="en-IN" dirty="0"/>
              <a:t>	</a:t>
            </a:r>
            <a:r>
              <a:rPr lang="en-IN" dirty="0" smtClean="0"/>
              <a:t>	The </a:t>
            </a:r>
            <a:r>
              <a:rPr lang="en-IN" dirty="0"/>
              <a:t>UNIQUE operator searches every row of a specified table </a:t>
            </a:r>
            <a:r>
              <a:rPr lang="en-IN" dirty="0" smtClean="0"/>
              <a:t>					for uniqueness </a:t>
            </a:r>
            <a:r>
              <a:rPr lang="en-IN" dirty="0"/>
              <a:t>(no duplicates).</a:t>
            </a:r>
          </a:p>
        </p:txBody>
      </p:sp>
    </p:spTree>
    <p:extLst>
      <p:ext uri="{BB962C8B-B14F-4D97-AF65-F5344CB8AC3E}">
        <p14:creationId xmlns:p14="http://schemas.microsoft.com/office/powerpoint/2010/main" val="2061302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532" y="707237"/>
            <a:ext cx="8911687" cy="689301"/>
          </a:xfrm>
        </p:spPr>
        <p:txBody>
          <a:bodyPr/>
          <a:lstStyle/>
          <a:p>
            <a:r>
              <a:rPr lang="en-US" b="1" dirty="0" smtClean="0"/>
              <a:t>SQL Expression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7270" y="1683790"/>
            <a:ext cx="9044911" cy="4874028"/>
          </a:xfrm>
        </p:spPr>
        <p:txBody>
          <a:bodyPr>
            <a:noAutofit/>
          </a:bodyPr>
          <a:lstStyle/>
          <a:p>
            <a:r>
              <a:rPr lang="en-IN" sz="2000" dirty="0"/>
              <a:t>An SQL expression is a </a:t>
            </a:r>
            <a:r>
              <a:rPr lang="en-IN" sz="2000" b="1" dirty="0"/>
              <a:t>combination</a:t>
            </a:r>
            <a:r>
              <a:rPr lang="en-IN" sz="2000" dirty="0"/>
              <a:t> of one or more values, operators and SQL functions that are all </a:t>
            </a:r>
            <a:r>
              <a:rPr lang="en-IN" sz="2000" b="1" dirty="0"/>
              <a:t>evaluated to a value</a:t>
            </a:r>
            <a:r>
              <a:rPr lang="en-IN" sz="2000" dirty="0"/>
              <a:t>. </a:t>
            </a:r>
            <a:endParaRPr lang="en-IN" sz="2000" dirty="0" smtClean="0"/>
          </a:p>
          <a:p>
            <a:r>
              <a:rPr lang="en-IN" sz="2000" dirty="0" smtClean="0"/>
              <a:t>These </a:t>
            </a:r>
            <a:r>
              <a:rPr lang="en-IN" sz="2000" b="1" dirty="0"/>
              <a:t>SQL EXPRESSION(s) are like formulae</a:t>
            </a:r>
            <a:r>
              <a:rPr lang="en-IN" sz="2000" dirty="0"/>
              <a:t> and they are written in query language. </a:t>
            </a:r>
            <a:endParaRPr lang="en-IN" sz="2000" dirty="0" smtClean="0"/>
          </a:p>
          <a:p>
            <a:r>
              <a:rPr lang="en-IN" sz="2000" dirty="0" smtClean="0"/>
              <a:t>Expressions </a:t>
            </a:r>
            <a:r>
              <a:rPr lang="en-IN" sz="2000" dirty="0"/>
              <a:t>are used in </a:t>
            </a:r>
            <a:r>
              <a:rPr lang="en-IN" sz="2000" b="1" dirty="0"/>
              <a:t>WHERE clause </a:t>
            </a:r>
            <a:r>
              <a:rPr lang="en-IN" sz="2000" dirty="0"/>
              <a:t>of an SQL </a:t>
            </a:r>
            <a:r>
              <a:rPr lang="en-IN" sz="2000" dirty="0" smtClean="0"/>
              <a:t>query specifies </a:t>
            </a:r>
            <a:r>
              <a:rPr lang="en-IN" sz="2000" dirty="0"/>
              <a:t>a condition that needs to be satisfied for the purpose of </a:t>
            </a:r>
            <a:r>
              <a:rPr lang="en-IN" sz="2000" b="1" dirty="0"/>
              <a:t>filtering records</a:t>
            </a:r>
            <a:r>
              <a:rPr lang="en-IN" sz="2000" dirty="0"/>
              <a:t> from a database table. </a:t>
            </a:r>
            <a:endParaRPr lang="en-IN" sz="2000" dirty="0" smtClean="0"/>
          </a:p>
          <a:p>
            <a:r>
              <a:rPr lang="en-IN" sz="2000" dirty="0" smtClean="0"/>
              <a:t>This </a:t>
            </a:r>
            <a:r>
              <a:rPr lang="en-IN" sz="2000" dirty="0"/>
              <a:t>condition is comprised of either single or multiple </a:t>
            </a:r>
            <a:r>
              <a:rPr lang="en-IN" sz="2000" dirty="0" smtClean="0"/>
              <a:t>expressions.</a:t>
            </a:r>
          </a:p>
          <a:p>
            <a:pPr marL="0" indent="0">
              <a:buNone/>
            </a:pPr>
            <a:r>
              <a:rPr lang="en-IN" sz="2000" b="1" dirty="0" smtClean="0">
                <a:solidFill>
                  <a:schemeClr val="accent2">
                    <a:lumMod val="75000"/>
                  </a:schemeClr>
                </a:solidFill>
              </a:rPr>
              <a:t>Types: </a:t>
            </a:r>
            <a:endParaRPr lang="en-IN" sz="2000" b="1" dirty="0">
              <a:solidFill>
                <a:schemeClr val="accent2">
                  <a:lumMod val="75000"/>
                </a:schemeClr>
              </a:solidFill>
            </a:endParaRPr>
          </a:p>
          <a:p>
            <a:pPr lvl="2">
              <a:buFont typeface="+mj-lt"/>
              <a:buAutoNum type="arabicPeriod"/>
            </a:pPr>
            <a:r>
              <a:rPr lang="en-IN" sz="2000" dirty="0"/>
              <a:t>Boolean Expressions</a:t>
            </a:r>
          </a:p>
          <a:p>
            <a:pPr lvl="2">
              <a:buFont typeface="+mj-lt"/>
              <a:buAutoNum type="arabicPeriod"/>
            </a:pPr>
            <a:r>
              <a:rPr lang="en-IN" sz="2000" dirty="0"/>
              <a:t>Numeric Expressions</a:t>
            </a:r>
          </a:p>
          <a:p>
            <a:pPr lvl="2">
              <a:buFont typeface="+mj-lt"/>
              <a:buAutoNum type="arabicPeriod"/>
            </a:pPr>
            <a:r>
              <a:rPr lang="en-IN" sz="2000" dirty="0"/>
              <a:t>Date and time Expressions</a:t>
            </a:r>
          </a:p>
        </p:txBody>
      </p:sp>
    </p:spTree>
    <p:extLst>
      <p:ext uri="{BB962C8B-B14F-4D97-AF65-F5344CB8AC3E}">
        <p14:creationId xmlns:p14="http://schemas.microsoft.com/office/powerpoint/2010/main" val="3867596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4768" y="606829"/>
            <a:ext cx="8749348" cy="59685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SQL Boolean Expressions</a:t>
            </a:r>
          </a:p>
          <a:p>
            <a:r>
              <a:rPr lang="en-IN" dirty="0"/>
              <a:t>SQL Boolean Expressions are SQL expressions that return only Boolean Datatype as a result.</a:t>
            </a:r>
          </a:p>
          <a:p>
            <a:pPr marL="400050" lvl="1" indent="0">
              <a:buNone/>
            </a:pPr>
            <a:r>
              <a:rPr lang="en-IN" sz="1800" b="1" dirty="0"/>
              <a:t>Example:</a:t>
            </a:r>
          </a:p>
          <a:p>
            <a:pPr marL="400050" lvl="1" indent="0">
              <a:buNone/>
            </a:pPr>
            <a:r>
              <a:rPr lang="en-IN" dirty="0"/>
              <a:t>		</a:t>
            </a:r>
            <a:r>
              <a:rPr lang="en-IN" dirty="0" smtClean="0"/>
              <a:t>		</a:t>
            </a:r>
            <a:r>
              <a:rPr lang="en-IN" sz="1800" dirty="0" smtClean="0"/>
              <a:t>SELECT </a:t>
            </a:r>
            <a:r>
              <a:rPr lang="en-IN" sz="1800" dirty="0"/>
              <a:t>* FROM CUSTOMERS WHERE SALARY = 10000;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SQL Numeric Expressions</a:t>
            </a:r>
          </a:p>
          <a:p>
            <a:r>
              <a:rPr lang="en-IN" dirty="0"/>
              <a:t>SQL Numeric expressions are comprised of two operands and an SQL Arithmetic Operator. These expressions are used to perform any mathematical operation in any query.</a:t>
            </a:r>
          </a:p>
          <a:p>
            <a:pPr marL="0" indent="0">
              <a:buNone/>
            </a:pPr>
            <a:r>
              <a:rPr lang="en-IN" b="1" dirty="0" smtClean="0"/>
              <a:t>	Example</a:t>
            </a:r>
            <a:r>
              <a:rPr lang="en-IN" b="1" dirty="0"/>
              <a:t>: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smtClean="0"/>
              <a:t>		SELECT </a:t>
            </a:r>
            <a:r>
              <a:rPr lang="en-IN" dirty="0"/>
              <a:t>15 + 6;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smtClean="0"/>
              <a:t>		SELECT </a:t>
            </a:r>
            <a:r>
              <a:rPr lang="en-IN" dirty="0"/>
              <a:t>COUNT(*) FROM CUSTOMERS;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SQL Date Expressions</a:t>
            </a:r>
          </a:p>
          <a:p>
            <a:r>
              <a:rPr lang="en-IN" dirty="0"/>
              <a:t>SQL Date Expressions are used to compare date related values with current system date and time values.</a:t>
            </a:r>
          </a:p>
          <a:p>
            <a:pPr marL="0" indent="0">
              <a:buNone/>
            </a:pPr>
            <a:r>
              <a:rPr lang="en-IN" b="1" dirty="0" smtClean="0"/>
              <a:t>	Example</a:t>
            </a:r>
            <a:r>
              <a:rPr lang="en-IN" b="1" dirty="0"/>
              <a:t>: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smtClean="0"/>
              <a:t>		SELECT </a:t>
            </a:r>
            <a:r>
              <a:rPr lang="en-IN" dirty="0"/>
              <a:t>CURRENT_TIMESTAMP;</a:t>
            </a:r>
          </a:p>
        </p:txBody>
      </p:sp>
    </p:spTree>
    <p:extLst>
      <p:ext uri="{BB962C8B-B14F-4D97-AF65-F5344CB8AC3E}">
        <p14:creationId xmlns:p14="http://schemas.microsoft.com/office/powerpoint/2010/main" val="65423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4780" y="640736"/>
            <a:ext cx="8911687" cy="606174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Creating a Table from an Existing </a:t>
            </a:r>
            <a:r>
              <a:rPr lang="en-IN" b="1" dirty="0" smtClean="0"/>
              <a:t>Table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7895" y="1371599"/>
            <a:ext cx="8450090" cy="4954386"/>
          </a:xfrm>
        </p:spPr>
        <p:txBody>
          <a:bodyPr>
            <a:normAutofit fontScale="92500" lnSpcReduction="10000"/>
          </a:bodyPr>
          <a:lstStyle/>
          <a:p>
            <a:r>
              <a:rPr lang="en-IN" dirty="0" smtClean="0"/>
              <a:t>Instead </a:t>
            </a:r>
            <a:r>
              <a:rPr lang="en-IN" dirty="0"/>
              <a:t>of creating a new table every time, one can also copy an existing table and its contents including its structure, into a new table. </a:t>
            </a:r>
          </a:p>
          <a:p>
            <a:r>
              <a:rPr lang="en-IN" dirty="0"/>
              <a:t>This can be done using a combination of the CREATE TABLE statement and the SELECT statement. </a:t>
            </a:r>
          </a:p>
          <a:p>
            <a:pPr marL="0" indent="0">
              <a:buNone/>
            </a:pPr>
            <a:r>
              <a:rPr lang="en-IN" b="1" dirty="0" smtClean="0"/>
              <a:t>	Syntax</a:t>
            </a:r>
            <a:r>
              <a:rPr lang="en-IN" b="1" dirty="0"/>
              <a:t>: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smtClean="0"/>
              <a:t>	CREATE </a:t>
            </a:r>
            <a:r>
              <a:rPr lang="en-IN" dirty="0"/>
              <a:t>TABLE NEW_TABLE_NAME AS</a:t>
            </a:r>
          </a:p>
          <a:p>
            <a:pPr marL="0" indent="0">
              <a:buNone/>
            </a:pPr>
            <a:r>
              <a:rPr lang="en-IN" dirty="0"/>
              <a:t>				</a:t>
            </a:r>
            <a:r>
              <a:rPr lang="en-IN" dirty="0" smtClean="0"/>
              <a:t>SELECT </a:t>
            </a:r>
            <a:r>
              <a:rPr lang="en-IN" dirty="0"/>
              <a:t>[column1, column2...</a:t>
            </a:r>
            <a:r>
              <a:rPr lang="en-IN" dirty="0" err="1"/>
              <a:t>columnN</a:t>
            </a:r>
            <a:r>
              <a:rPr lang="en-IN" dirty="0"/>
              <a:t>]</a:t>
            </a:r>
          </a:p>
          <a:p>
            <a:pPr marL="0" indent="0">
              <a:buNone/>
            </a:pPr>
            <a:r>
              <a:rPr lang="en-IN" dirty="0"/>
              <a:t>			</a:t>
            </a:r>
            <a:r>
              <a:rPr lang="en-IN" dirty="0" smtClean="0"/>
              <a:t>	FROM </a:t>
            </a:r>
            <a:r>
              <a:rPr lang="en-IN" dirty="0"/>
              <a:t>EXISTING_TABLE_NAME WHERE Condition;</a:t>
            </a:r>
          </a:p>
          <a:p>
            <a:pPr marL="0" indent="0">
              <a:buNone/>
            </a:pPr>
            <a:r>
              <a:rPr lang="en-IN" b="1" dirty="0" smtClean="0"/>
              <a:t>	1.</a:t>
            </a:r>
            <a:r>
              <a:rPr lang="en-IN" b="1" dirty="0"/>
              <a:t> </a:t>
            </a:r>
            <a:r>
              <a:rPr lang="en-IN" b="1" dirty="0" smtClean="0"/>
              <a:t>  CREATE </a:t>
            </a:r>
            <a:r>
              <a:rPr lang="en-IN" b="1" dirty="0"/>
              <a:t>TABLE </a:t>
            </a:r>
            <a:r>
              <a:rPr lang="en-IN" dirty="0"/>
              <a:t>SALARY </a:t>
            </a:r>
            <a:r>
              <a:rPr lang="en-IN" b="1" dirty="0"/>
              <a:t>AS</a:t>
            </a:r>
            <a:r>
              <a:rPr lang="en-IN" dirty="0"/>
              <a:t> </a:t>
            </a:r>
            <a:r>
              <a:rPr lang="en-IN" b="1" dirty="0"/>
              <a:t>SELECT</a:t>
            </a:r>
            <a:r>
              <a:rPr lang="en-IN" dirty="0"/>
              <a:t> ID, SALARY FROM CUSTOMERS</a:t>
            </a:r>
            <a:r>
              <a:rPr lang="en-IN" dirty="0" smtClean="0"/>
              <a:t>;</a:t>
            </a:r>
          </a:p>
          <a:p>
            <a:pPr marL="0" indent="0">
              <a:buNone/>
            </a:pPr>
            <a:r>
              <a:rPr lang="en-IN" dirty="0" smtClean="0"/>
              <a:t> </a:t>
            </a:r>
            <a:r>
              <a:rPr lang="en-US" dirty="0"/>
              <a:t>	</a:t>
            </a:r>
            <a:r>
              <a:rPr lang="en-US" b="1" dirty="0"/>
              <a:t>2</a:t>
            </a:r>
            <a:r>
              <a:rPr lang="en-US" b="1" dirty="0" smtClean="0"/>
              <a:t>.   </a:t>
            </a:r>
            <a:r>
              <a:rPr lang="en-IN" b="1" dirty="0" smtClean="0"/>
              <a:t>INSERT</a:t>
            </a:r>
            <a:r>
              <a:rPr lang="en-IN" dirty="0" smtClean="0"/>
              <a:t> INTO duplicate </a:t>
            </a:r>
            <a:r>
              <a:rPr lang="en-IN" b="1" dirty="0" smtClean="0"/>
              <a:t>SELECT</a:t>
            </a:r>
            <a:r>
              <a:rPr lang="en-IN" dirty="0" smtClean="0"/>
              <a:t> id, name, age</a:t>
            </a:r>
            <a:r>
              <a:rPr lang="en-IN" dirty="0"/>
              <a:t>	</a:t>
            </a:r>
            <a:r>
              <a:rPr lang="en-IN" dirty="0" smtClean="0"/>
              <a:t>FROM customers;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SQL CREATE TABLE IF NOT EXISTS </a:t>
            </a:r>
          </a:p>
          <a:p>
            <a:r>
              <a:rPr lang="en-IN" dirty="0"/>
              <a:t>SQL command will create the table only when there is no table exists with the same name otherwise it will exit without any error.</a:t>
            </a:r>
          </a:p>
          <a:p>
            <a:pPr marL="0" indent="0">
              <a:buNone/>
            </a:pPr>
            <a:r>
              <a:rPr lang="en-IN" b="1" dirty="0" smtClean="0"/>
              <a:t>	Syntax</a:t>
            </a:r>
            <a:r>
              <a:rPr lang="en-IN" b="1" dirty="0"/>
              <a:t>:</a:t>
            </a:r>
            <a:r>
              <a:rPr lang="en-IN" dirty="0"/>
              <a:t>		CREATE TABLE </a:t>
            </a:r>
            <a:r>
              <a:rPr lang="en-IN" b="1" dirty="0"/>
              <a:t>IF NOT EXISTS </a:t>
            </a:r>
            <a:r>
              <a:rPr lang="en-IN" dirty="0" err="1"/>
              <a:t>table_name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9992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3463" y="516045"/>
            <a:ext cx="8911687" cy="606174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SQL Cloning</a:t>
            </a:r>
            <a:r>
              <a:rPr lang="en-IN" b="1" dirty="0" smtClean="0"/>
              <a:t>: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6084" y="1221971"/>
            <a:ext cx="8674533" cy="5320145"/>
          </a:xfrm>
        </p:spPr>
        <p:txBody>
          <a:bodyPr>
            <a:normAutofit fontScale="85000" lnSpcReduction="10000"/>
          </a:bodyPr>
          <a:lstStyle/>
          <a:p>
            <a:r>
              <a:rPr lang="en-IN" dirty="0" smtClean="0"/>
              <a:t>SQL </a:t>
            </a:r>
            <a:r>
              <a:rPr lang="en-IN" dirty="0"/>
              <a:t>Cloning Operation allows to create the exact copy of an existing table along with its definition. 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chemeClr val="accent2">
                    <a:lumMod val="75000"/>
                  </a:schemeClr>
                </a:solidFill>
              </a:rPr>
              <a:t>1. Simple </a:t>
            </a: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Cloning:</a:t>
            </a:r>
          </a:p>
          <a:p>
            <a:r>
              <a:rPr lang="en-IN" dirty="0"/>
              <a:t>Simple cloning operation creates a </a:t>
            </a:r>
            <a:r>
              <a:rPr lang="en-IN" b="1" dirty="0"/>
              <a:t>new replica table from the existing table </a:t>
            </a:r>
            <a:r>
              <a:rPr lang="en-IN" dirty="0"/>
              <a:t>and copies all the records in newly created table.</a:t>
            </a:r>
          </a:p>
          <a:p>
            <a:pPr marL="0" indent="0">
              <a:buNone/>
            </a:pPr>
            <a:r>
              <a:rPr lang="en-IN" b="1" dirty="0" smtClean="0"/>
              <a:t>Syntax:		</a:t>
            </a:r>
            <a:r>
              <a:rPr lang="en-IN" dirty="0" smtClean="0"/>
              <a:t>CREATE </a:t>
            </a:r>
            <a:r>
              <a:rPr lang="en-IN" dirty="0"/>
              <a:t>TABLE </a:t>
            </a:r>
            <a:r>
              <a:rPr lang="en-IN" dirty="0" err="1"/>
              <a:t>new_table</a:t>
            </a:r>
            <a:r>
              <a:rPr lang="en-IN" dirty="0"/>
              <a:t> SELECT * FROM </a:t>
            </a:r>
            <a:r>
              <a:rPr lang="en-IN" dirty="0" err="1"/>
              <a:t>original_table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chemeClr val="accent2">
                    <a:lumMod val="75000"/>
                  </a:schemeClr>
                </a:solidFill>
              </a:rPr>
              <a:t>2. Shallow </a:t>
            </a: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Cloning:</a:t>
            </a:r>
          </a:p>
          <a:p>
            <a:r>
              <a:rPr lang="en-IN" dirty="0"/>
              <a:t>Shallow cloning operation creates a </a:t>
            </a:r>
            <a:r>
              <a:rPr lang="en-IN" b="1" dirty="0"/>
              <a:t>new replica table from the existing table </a:t>
            </a:r>
            <a:r>
              <a:rPr lang="en-IN" dirty="0"/>
              <a:t>but does not copy any data records into newly created table, so only new but </a:t>
            </a:r>
            <a:r>
              <a:rPr lang="en-IN" b="1" dirty="0"/>
              <a:t>empty table </a:t>
            </a:r>
            <a:r>
              <a:rPr lang="en-IN" dirty="0"/>
              <a:t>is created.</a:t>
            </a:r>
          </a:p>
          <a:p>
            <a:pPr marL="0" indent="0">
              <a:buNone/>
            </a:pPr>
            <a:r>
              <a:rPr lang="en-IN" b="1" dirty="0" smtClean="0"/>
              <a:t>Syntax:		</a:t>
            </a:r>
            <a:r>
              <a:rPr lang="en-IN" dirty="0" smtClean="0"/>
              <a:t>CREATE </a:t>
            </a:r>
            <a:r>
              <a:rPr lang="en-IN" dirty="0"/>
              <a:t>TABLE </a:t>
            </a:r>
            <a:r>
              <a:rPr lang="en-IN" dirty="0" err="1"/>
              <a:t>new_table</a:t>
            </a:r>
            <a:r>
              <a:rPr lang="en-IN" dirty="0"/>
              <a:t> LIKE </a:t>
            </a:r>
            <a:r>
              <a:rPr lang="en-IN" dirty="0" err="1"/>
              <a:t>original_table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chemeClr val="accent2">
                    <a:lumMod val="75000"/>
                  </a:schemeClr>
                </a:solidFill>
              </a:rPr>
              <a:t>3. Deep </a:t>
            </a: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Cloning:</a:t>
            </a:r>
          </a:p>
          <a:p>
            <a:r>
              <a:rPr lang="en-IN" dirty="0"/>
              <a:t>Deep cloning operation is a </a:t>
            </a:r>
            <a:r>
              <a:rPr lang="en-IN" b="1" dirty="0"/>
              <a:t>combination of simple cloning and shallow cloning</a:t>
            </a:r>
            <a:r>
              <a:rPr lang="en-IN" dirty="0"/>
              <a:t>. </a:t>
            </a:r>
            <a:endParaRPr lang="en-IN" dirty="0" smtClean="0"/>
          </a:p>
          <a:p>
            <a:r>
              <a:rPr lang="en-IN" dirty="0" smtClean="0"/>
              <a:t>It </a:t>
            </a:r>
            <a:r>
              <a:rPr lang="en-IN" dirty="0"/>
              <a:t>not only </a:t>
            </a:r>
            <a:r>
              <a:rPr lang="en-IN" b="1" dirty="0"/>
              <a:t>copies the structure of the existing table </a:t>
            </a:r>
            <a:r>
              <a:rPr lang="en-IN" dirty="0"/>
              <a:t>but </a:t>
            </a:r>
            <a:r>
              <a:rPr lang="en-IN" b="1" dirty="0"/>
              <a:t>also its data </a:t>
            </a:r>
            <a:r>
              <a:rPr lang="en-IN" dirty="0"/>
              <a:t>into the newly created table. </a:t>
            </a:r>
          </a:p>
          <a:p>
            <a:pPr marL="0" indent="0">
              <a:buNone/>
            </a:pPr>
            <a:r>
              <a:rPr lang="en-IN" b="1" dirty="0" smtClean="0"/>
              <a:t>Syntax</a:t>
            </a:r>
            <a:r>
              <a:rPr lang="en-IN" b="1" dirty="0"/>
              <a:t>:</a:t>
            </a:r>
          </a:p>
          <a:p>
            <a:pPr marL="0" indent="0">
              <a:buNone/>
            </a:pPr>
            <a:r>
              <a:rPr lang="en-IN" dirty="0"/>
              <a:t>		CREATE TABLE </a:t>
            </a:r>
            <a:r>
              <a:rPr lang="en-IN" dirty="0" err="1"/>
              <a:t>new_table</a:t>
            </a:r>
            <a:r>
              <a:rPr lang="en-IN" dirty="0"/>
              <a:t> LIKE </a:t>
            </a:r>
            <a:r>
              <a:rPr lang="en-IN" dirty="0" err="1"/>
              <a:t>original_table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	INSERT INTO </a:t>
            </a:r>
            <a:r>
              <a:rPr lang="en-IN" dirty="0" err="1"/>
              <a:t>new_table</a:t>
            </a:r>
            <a:r>
              <a:rPr lang="en-IN" dirty="0"/>
              <a:t> SELECT * FROM </a:t>
            </a:r>
            <a:r>
              <a:rPr lang="en-IN" dirty="0" err="1"/>
              <a:t>original_table</a:t>
            </a:r>
            <a:r>
              <a:rPr lang="en-IN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729641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11528" y="640735"/>
            <a:ext cx="8911687" cy="581235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SQL View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9089" y="1379912"/>
            <a:ext cx="8275522" cy="4962699"/>
          </a:xfrm>
        </p:spPr>
        <p:txBody>
          <a:bodyPr>
            <a:normAutofit lnSpcReduction="10000"/>
          </a:bodyPr>
          <a:lstStyle/>
          <a:p>
            <a:r>
              <a:rPr lang="en-IN" dirty="0"/>
              <a:t>A view in SQL is a </a:t>
            </a:r>
            <a:r>
              <a:rPr lang="en-IN" b="1" dirty="0"/>
              <a:t>virtual table that is stored in the database </a:t>
            </a:r>
            <a:r>
              <a:rPr lang="en-IN" dirty="0"/>
              <a:t>with an associated name. </a:t>
            </a:r>
            <a:endParaRPr lang="en-IN" dirty="0" smtClean="0"/>
          </a:p>
          <a:p>
            <a:r>
              <a:rPr lang="en-IN" dirty="0" smtClean="0"/>
              <a:t>A </a:t>
            </a:r>
            <a:r>
              <a:rPr lang="en-IN" dirty="0"/>
              <a:t>view can contain rows from an existing table (all or selected). A view can be created from one or many tables. </a:t>
            </a:r>
          </a:p>
          <a:p>
            <a:r>
              <a:rPr lang="en-IN" dirty="0"/>
              <a:t>Unless indexed, a view </a:t>
            </a:r>
            <a:r>
              <a:rPr lang="en-IN" b="1" dirty="0"/>
              <a:t>does not exist in a database physically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b="1" dirty="0"/>
              <a:t>Syntax:</a:t>
            </a:r>
          </a:p>
          <a:p>
            <a:pPr marL="0" indent="0">
              <a:buNone/>
            </a:pPr>
            <a:r>
              <a:rPr lang="en-IN" dirty="0"/>
              <a:t>		CREATE </a:t>
            </a:r>
            <a:r>
              <a:rPr lang="en-IN" b="1" dirty="0"/>
              <a:t>VIEW</a:t>
            </a:r>
            <a:r>
              <a:rPr lang="en-IN" dirty="0"/>
              <a:t> </a:t>
            </a:r>
            <a:r>
              <a:rPr lang="en-IN" dirty="0" err="1" smtClean="0"/>
              <a:t>myview</a:t>
            </a:r>
            <a:r>
              <a:rPr lang="en-IN" dirty="0" smtClean="0"/>
              <a:t> </a:t>
            </a:r>
            <a:r>
              <a:rPr lang="en-IN" b="1" dirty="0"/>
              <a:t>AS</a:t>
            </a:r>
            <a:r>
              <a:rPr lang="en-IN" dirty="0"/>
              <a:t> SELECT </a:t>
            </a:r>
            <a:r>
              <a:rPr lang="en-IN" dirty="0" smtClean="0"/>
              <a:t>id, name</a:t>
            </a:r>
            <a:r>
              <a:rPr lang="en-IN" dirty="0"/>
              <a:t> </a:t>
            </a:r>
            <a:r>
              <a:rPr lang="en-IN" dirty="0" smtClean="0"/>
              <a:t>FROM dummy;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chemeClr val="accent2">
                    <a:lumMod val="75000"/>
                  </a:schemeClr>
                </a:solidFill>
              </a:rPr>
              <a:t>WITH </a:t>
            </a: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CHECK OPTION </a:t>
            </a:r>
            <a:r>
              <a:rPr lang="en-IN" b="1" dirty="0" smtClean="0">
                <a:solidFill>
                  <a:schemeClr val="accent2">
                    <a:lumMod val="75000"/>
                  </a:schemeClr>
                </a:solidFill>
              </a:rPr>
              <a:t>Clause</a:t>
            </a:r>
          </a:p>
          <a:p>
            <a:r>
              <a:rPr lang="en-IN" dirty="0" smtClean="0"/>
              <a:t>The </a:t>
            </a:r>
            <a:r>
              <a:rPr lang="en-IN" dirty="0"/>
              <a:t>purpose of the </a:t>
            </a:r>
            <a:r>
              <a:rPr lang="en-IN" b="1" dirty="0"/>
              <a:t>WITH CHECK OPTION </a:t>
            </a:r>
            <a:r>
              <a:rPr lang="en-IN" dirty="0"/>
              <a:t>is to ensure that all UPDATE and INSERT statements </a:t>
            </a:r>
            <a:r>
              <a:rPr lang="en-IN" b="1" dirty="0"/>
              <a:t>satisfy the condition(s) </a:t>
            </a:r>
            <a:r>
              <a:rPr lang="en-IN" dirty="0"/>
              <a:t>specified by the WHERE clause.</a:t>
            </a:r>
          </a:p>
          <a:p>
            <a:pPr marL="0" indent="0">
              <a:buNone/>
            </a:pPr>
            <a:r>
              <a:rPr lang="en-IN" b="1" dirty="0" smtClean="0"/>
              <a:t>Syntax</a:t>
            </a:r>
            <a:r>
              <a:rPr lang="en-IN" b="1" dirty="0"/>
              <a:t>:</a:t>
            </a:r>
          </a:p>
          <a:p>
            <a:pPr marL="0" indent="0">
              <a:buNone/>
            </a:pPr>
            <a:r>
              <a:rPr lang="en-IN" dirty="0"/>
              <a:t>		CREATE VIEW MY_VIEW AS SELECT name, age </a:t>
            </a:r>
            <a:r>
              <a:rPr lang="en-IN" dirty="0" smtClean="0"/>
              <a:t>FROM CUSTOMERS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			WHERE age &gt;= 25 WITH CHECK OPTION</a:t>
            </a:r>
            <a:r>
              <a:rPr lang="en-IN" dirty="0" smtClean="0"/>
              <a:t>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3699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4779" y="707238"/>
            <a:ext cx="8911687" cy="53967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SQL Joins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12126" y="1449977"/>
            <a:ext cx="8444340" cy="5125391"/>
          </a:xfrm>
        </p:spPr>
        <p:txBody>
          <a:bodyPr>
            <a:noAutofit/>
          </a:bodyPr>
          <a:lstStyle/>
          <a:p>
            <a:r>
              <a:rPr lang="en-IN" sz="1600" dirty="0" smtClean="0"/>
              <a:t>SQL Join clause is used to </a:t>
            </a:r>
            <a:r>
              <a:rPr lang="en-IN" sz="1600" b="1" dirty="0" smtClean="0"/>
              <a:t>combine data from two or more tables </a:t>
            </a:r>
            <a:r>
              <a:rPr lang="en-IN" sz="1600" dirty="0" smtClean="0"/>
              <a:t>in a database. </a:t>
            </a:r>
          </a:p>
          <a:p>
            <a:r>
              <a:rPr lang="en-IN" sz="1600" dirty="0" smtClean="0"/>
              <a:t>When the related data is stored across multiple tables, joins help you to retrieve records combining the fields from these tables </a:t>
            </a:r>
            <a:r>
              <a:rPr lang="en-IN" sz="1600" b="1" dirty="0" smtClean="0"/>
              <a:t>using their foreign keys.</a:t>
            </a:r>
          </a:p>
          <a:p>
            <a:r>
              <a:rPr lang="en-IN" sz="1600" dirty="0" smtClean="0"/>
              <a:t>The part of the Join clause that specifies the columns on which records from two or more tables are joined is known as </a:t>
            </a:r>
            <a:r>
              <a:rPr lang="en-IN" sz="1600" b="1" dirty="0" smtClean="0"/>
              <a:t>join-predicate. </a:t>
            </a:r>
          </a:p>
          <a:p>
            <a:r>
              <a:rPr lang="en-IN" sz="1600" dirty="0" smtClean="0"/>
              <a:t>This predicate is usually specified along with the </a:t>
            </a:r>
            <a:r>
              <a:rPr lang="en-IN" sz="1600" b="1" dirty="0" smtClean="0"/>
              <a:t>ON clause </a:t>
            </a:r>
            <a:r>
              <a:rPr lang="en-IN" sz="1600" dirty="0" smtClean="0"/>
              <a:t>and uses various </a:t>
            </a:r>
            <a:r>
              <a:rPr lang="en-IN" sz="1600" b="1" dirty="0" smtClean="0"/>
              <a:t>comparison operators </a:t>
            </a:r>
            <a:r>
              <a:rPr lang="en-IN" sz="1600" dirty="0" smtClean="0"/>
              <a:t>such as, &lt;, &gt;, &lt;&gt;, &lt;=, &gt;=, !=, BETWEEN, LIKE, and NOT etc. </a:t>
            </a:r>
          </a:p>
          <a:p>
            <a:r>
              <a:rPr lang="en-IN" sz="1600" dirty="0" smtClean="0"/>
              <a:t>There are two </a:t>
            </a:r>
            <a:r>
              <a:rPr lang="en-IN" sz="1600" b="1" dirty="0" smtClean="0"/>
              <a:t>major types </a:t>
            </a:r>
            <a:r>
              <a:rPr lang="en-IN" sz="1600" dirty="0" smtClean="0"/>
              <a:t>of joins: </a:t>
            </a:r>
            <a:r>
              <a:rPr lang="en-IN" sz="1600" b="1" dirty="0" smtClean="0"/>
              <a:t>Inner Join and Outer Join</a:t>
            </a:r>
            <a:r>
              <a:rPr lang="en-IN" sz="1600" dirty="0" smtClean="0"/>
              <a:t>. </a:t>
            </a:r>
          </a:p>
          <a:p>
            <a:r>
              <a:rPr lang="en-IN" sz="1600" dirty="0" smtClean="0"/>
              <a:t>Other joins like </a:t>
            </a:r>
            <a:r>
              <a:rPr lang="en-IN" sz="1600" b="1" dirty="0" smtClean="0"/>
              <a:t>Left Join, Right Join, Full Join etc</a:t>
            </a:r>
            <a:r>
              <a:rPr lang="en-IN" sz="1600" dirty="0" smtClean="0"/>
              <a:t>. Are just </a:t>
            </a:r>
            <a:r>
              <a:rPr lang="en-IN" sz="1600" b="1" dirty="0" smtClean="0"/>
              <a:t>subtypes</a:t>
            </a:r>
            <a:r>
              <a:rPr lang="en-IN" sz="1600" dirty="0" smtClean="0"/>
              <a:t> of these two major joins.</a:t>
            </a:r>
          </a:p>
          <a:p>
            <a:pPr marL="0" indent="0">
              <a:buNone/>
            </a:pPr>
            <a:r>
              <a:rPr lang="en-IN" sz="1600" dirty="0" smtClean="0"/>
              <a:t>	</a:t>
            </a:r>
            <a:r>
              <a:rPr lang="en-IN" sz="1600" b="1" dirty="0" smtClean="0"/>
              <a:t>Syntax:</a:t>
            </a:r>
          </a:p>
          <a:p>
            <a:pPr marL="0" indent="0">
              <a:buNone/>
            </a:pPr>
            <a:r>
              <a:rPr lang="en-IN" sz="1600" dirty="0" smtClean="0"/>
              <a:t>			SELECT </a:t>
            </a:r>
            <a:r>
              <a:rPr lang="en-IN" sz="1600" dirty="0" err="1" smtClean="0"/>
              <a:t>column_name</a:t>
            </a:r>
            <a:r>
              <a:rPr lang="en-IN" sz="1600" dirty="0" smtClean="0"/>
              <a:t>(s) FROM table1 JOIN table2;</a:t>
            </a:r>
          </a:p>
          <a:p>
            <a:pPr marL="0" indent="0">
              <a:buNone/>
            </a:pPr>
            <a:r>
              <a:rPr lang="en-US" sz="1600" dirty="0" smtClean="0"/>
              <a:t>	</a:t>
            </a:r>
            <a:r>
              <a:rPr lang="en-US" sz="1600" b="1" dirty="0" smtClean="0"/>
              <a:t>Example:</a:t>
            </a:r>
          </a:p>
          <a:p>
            <a:pPr marL="0" indent="0">
              <a:buNone/>
            </a:pPr>
            <a:r>
              <a:rPr lang="en-US" sz="1600" dirty="0" smtClean="0"/>
              <a:t>			</a:t>
            </a:r>
            <a:r>
              <a:rPr lang="en-IN" sz="1600" dirty="0" smtClean="0"/>
              <a:t>SELECT ID, NAME, AGE, AMOUNT FROM CUSTOMERS </a:t>
            </a:r>
          </a:p>
          <a:p>
            <a:pPr marL="0" indent="0">
              <a:buNone/>
            </a:pPr>
            <a:r>
              <a:rPr lang="en-IN" sz="1600" dirty="0" smtClean="0"/>
              <a:t>				JOIN ORDERS ON CUSTOMERS.ID = ORDERS.CUSTOMER_ID;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057620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1778278" y="657361"/>
            <a:ext cx="8911687" cy="606174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SQL Inner Join</a:t>
            </a:r>
            <a:r>
              <a:rPr lang="en-IN" b="1" dirty="0" smtClean="0"/>
              <a:t>:</a:t>
            </a:r>
            <a:endParaRPr lang="en-IN" b="1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2441080" y="1359281"/>
            <a:ext cx="8365466" cy="2764129"/>
          </a:xfrm>
        </p:spPr>
        <p:txBody>
          <a:bodyPr>
            <a:normAutofit fontScale="85000" lnSpcReduction="10000"/>
          </a:bodyPr>
          <a:lstStyle/>
          <a:p>
            <a:r>
              <a:rPr lang="en-IN" dirty="0" smtClean="0"/>
              <a:t>SQL </a:t>
            </a:r>
            <a:r>
              <a:rPr lang="en-IN" dirty="0"/>
              <a:t>Inner Join is a type of join that </a:t>
            </a:r>
            <a:r>
              <a:rPr lang="en-IN" b="1" dirty="0"/>
              <a:t>combines multiple tables by retrieving records </a:t>
            </a:r>
            <a:r>
              <a:rPr lang="en-IN" dirty="0"/>
              <a:t>that have matching values in both tables (in the common column).</a:t>
            </a:r>
          </a:p>
          <a:p>
            <a:r>
              <a:rPr lang="en-IN" dirty="0"/>
              <a:t>It compares each row of the first table with each row of the second table, to find all pairs of rows that satisfy the join-predicate. </a:t>
            </a:r>
            <a:endParaRPr lang="en-IN" dirty="0" smtClean="0"/>
          </a:p>
          <a:p>
            <a:r>
              <a:rPr lang="en-IN" dirty="0" smtClean="0"/>
              <a:t>When </a:t>
            </a:r>
            <a:r>
              <a:rPr lang="en-IN" dirty="0"/>
              <a:t>the join-predicate is satisfied, the column values from both tables are combined into a new table</a:t>
            </a:r>
            <a:r>
              <a:rPr lang="en-IN" dirty="0" smtClean="0"/>
              <a:t>.</a:t>
            </a:r>
          </a:p>
          <a:p>
            <a:pPr marL="0" indent="0">
              <a:buNone/>
            </a:pPr>
            <a:r>
              <a:rPr lang="en-US" b="1" dirty="0" smtClean="0"/>
              <a:t>	Syntax: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	</a:t>
            </a:r>
            <a:r>
              <a:rPr lang="en-IN" dirty="0"/>
              <a:t>SELECT </a:t>
            </a:r>
            <a:r>
              <a:rPr lang="en-IN" dirty="0" err="1"/>
              <a:t>column_name</a:t>
            </a:r>
            <a:r>
              <a:rPr lang="en-IN" dirty="0"/>
              <a:t>(s) FROM table1 </a:t>
            </a:r>
            <a:r>
              <a:rPr lang="en-IN" b="1" dirty="0"/>
              <a:t>INNER JOIN </a:t>
            </a:r>
            <a:r>
              <a:rPr lang="en-IN" dirty="0"/>
              <a:t>table2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ON </a:t>
            </a:r>
            <a:r>
              <a:rPr lang="en-IN" b="1" dirty="0"/>
              <a:t>table1.column_name = table2.column_name</a:t>
            </a:r>
            <a:r>
              <a:rPr lang="en-IN" dirty="0"/>
              <a:t>;</a:t>
            </a: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278" y="4233129"/>
            <a:ext cx="4958504" cy="2210108"/>
          </a:xfrm>
          <a:prstGeom prst="rect">
            <a:avLst/>
          </a:prstGeom>
        </p:spPr>
      </p:pic>
      <p:pic>
        <p:nvPicPr>
          <p:cNvPr id="1028" name="Picture 4" descr="Inner Joi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7064" y="4123410"/>
            <a:ext cx="4783810" cy="2429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0560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9594" y="690612"/>
            <a:ext cx="8911687" cy="597861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Outer Join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06579" y="1446414"/>
            <a:ext cx="8691159" cy="4929448"/>
          </a:xfrm>
        </p:spPr>
        <p:txBody>
          <a:bodyPr>
            <a:normAutofit lnSpcReduction="10000"/>
          </a:bodyPr>
          <a:lstStyle/>
          <a:p>
            <a:r>
              <a:rPr lang="en-IN" dirty="0"/>
              <a:t>Outer Join is used </a:t>
            </a:r>
            <a:r>
              <a:rPr lang="en-IN" b="1" dirty="0"/>
              <a:t>to join multiple database tables into a combined result-set</a:t>
            </a:r>
            <a:r>
              <a:rPr lang="en-IN" dirty="0"/>
              <a:t>, that includes all the records, even if they </a:t>
            </a:r>
            <a:r>
              <a:rPr lang="en-IN" b="1" dirty="0"/>
              <a:t>don't satisfy the join </a:t>
            </a:r>
            <a:r>
              <a:rPr lang="en-IN" b="1" dirty="0" smtClean="0"/>
              <a:t>condition</a:t>
            </a:r>
            <a:r>
              <a:rPr lang="en-IN" dirty="0" smtClean="0"/>
              <a:t>.</a:t>
            </a:r>
          </a:p>
          <a:p>
            <a:r>
              <a:rPr lang="en-IN" b="1" dirty="0" smtClean="0"/>
              <a:t>NULL </a:t>
            </a:r>
            <a:r>
              <a:rPr lang="en-IN" b="1" dirty="0"/>
              <a:t>values </a:t>
            </a:r>
            <a:r>
              <a:rPr lang="en-IN" dirty="0"/>
              <a:t>are displayed against these records where the </a:t>
            </a:r>
            <a:r>
              <a:rPr lang="en-IN" b="1" dirty="0"/>
              <a:t>join condition is not met</a:t>
            </a:r>
            <a:r>
              <a:rPr lang="en-IN" b="1" dirty="0" smtClean="0"/>
              <a:t>.</a:t>
            </a:r>
            <a:endParaRPr lang="en-IN" b="1" dirty="0"/>
          </a:p>
          <a:p>
            <a:r>
              <a:rPr lang="en-IN" dirty="0"/>
              <a:t>This scenario only occurs if the </a:t>
            </a:r>
            <a:r>
              <a:rPr lang="en-IN" b="1" dirty="0"/>
              <a:t>left table </a:t>
            </a:r>
            <a:r>
              <a:rPr lang="en-IN" dirty="0"/>
              <a:t>(or the first table) has </a:t>
            </a:r>
            <a:r>
              <a:rPr lang="en-IN" b="1" dirty="0"/>
              <a:t>more records than the right table </a:t>
            </a:r>
            <a:r>
              <a:rPr lang="en-IN" dirty="0"/>
              <a:t>(or the second table), or vice versa.</a:t>
            </a:r>
          </a:p>
          <a:p>
            <a:r>
              <a:rPr lang="en-IN" dirty="0"/>
              <a:t>There are </a:t>
            </a:r>
            <a:r>
              <a:rPr lang="en-IN" b="1" dirty="0"/>
              <a:t>three types </a:t>
            </a:r>
            <a:r>
              <a:rPr lang="en-IN" dirty="0"/>
              <a:t>of outer </a:t>
            </a:r>
            <a:r>
              <a:rPr lang="en-IN" dirty="0" smtClean="0"/>
              <a:t>joins:</a:t>
            </a:r>
          </a:p>
          <a:p>
            <a:pPr lvl="1"/>
            <a:r>
              <a:rPr lang="en-IN" sz="1800" b="1" dirty="0" smtClean="0"/>
              <a:t>Left </a:t>
            </a:r>
            <a:r>
              <a:rPr lang="en-IN" sz="1800" b="1" dirty="0"/>
              <a:t>(Outer) Join: </a:t>
            </a:r>
            <a:r>
              <a:rPr lang="en-IN" sz="1800" dirty="0"/>
              <a:t>Retrieves all the records from the first table, Matching records from the second table and NULL values in the unmatched </a:t>
            </a:r>
            <a:r>
              <a:rPr lang="en-IN" sz="1800" dirty="0" smtClean="0"/>
              <a:t>rows.</a:t>
            </a:r>
          </a:p>
          <a:p>
            <a:pPr lvl="1"/>
            <a:r>
              <a:rPr lang="en-IN" sz="1800" b="1" dirty="0" smtClean="0"/>
              <a:t>Right </a:t>
            </a:r>
            <a:r>
              <a:rPr lang="en-IN" sz="1800" b="1" dirty="0"/>
              <a:t>(Outer) Join: </a:t>
            </a:r>
            <a:r>
              <a:rPr lang="en-IN" sz="1800" dirty="0"/>
              <a:t>Retrieves all the records from the second table, Matching records from the first table and NULL values in the unmatched </a:t>
            </a:r>
            <a:r>
              <a:rPr lang="en-IN" sz="1800" dirty="0" smtClean="0"/>
              <a:t>rows.</a:t>
            </a:r>
          </a:p>
          <a:p>
            <a:pPr lvl="1"/>
            <a:r>
              <a:rPr lang="en-IN" sz="1800" b="1" dirty="0" smtClean="0"/>
              <a:t>Full </a:t>
            </a:r>
            <a:r>
              <a:rPr lang="en-IN" sz="1800" b="1" dirty="0"/>
              <a:t>(Outer) Join: </a:t>
            </a:r>
            <a:r>
              <a:rPr lang="en-IN" sz="1800" dirty="0"/>
              <a:t>Retrieves records from both the tables and fills the unmatched values with NULL</a:t>
            </a:r>
            <a:r>
              <a:rPr lang="en-IN" sz="1800" dirty="0" smtClean="0"/>
              <a:t>.</a:t>
            </a:r>
          </a:p>
          <a:p>
            <a:pPr lvl="3"/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928240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4903" y="740488"/>
            <a:ext cx="8911687" cy="572923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Example:</a:t>
            </a:r>
            <a:endParaRPr lang="en-IN" b="1" dirty="0"/>
          </a:p>
        </p:txBody>
      </p:sp>
      <p:pic>
        <p:nvPicPr>
          <p:cNvPr id="1030" name="Picture 6" descr="Left Joi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6189" y="1521229"/>
            <a:ext cx="3911460" cy="1444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Right Joi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0708" y="4740548"/>
            <a:ext cx="4082422" cy="1444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Full Joi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2782" y="3103161"/>
            <a:ext cx="4094867" cy="1499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Right Join"/>
          <p:cNvPicPr>
            <a:picLocks noGrp="1" noChangeAspect="1" noChangeArrowheads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2545" y="1521229"/>
            <a:ext cx="6719946" cy="4663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2271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096" y="607485"/>
            <a:ext cx="8911687" cy="547985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Cross &amp; Self Join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72833" y="1338351"/>
            <a:ext cx="8666221" cy="5054138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 smtClean="0"/>
              <a:t>SQL Cross Join</a:t>
            </a:r>
            <a:r>
              <a:rPr lang="en-IN" dirty="0" smtClean="0"/>
              <a:t> is a </a:t>
            </a:r>
            <a:r>
              <a:rPr lang="en-IN" b="1" dirty="0" smtClean="0"/>
              <a:t>basic type of inner join </a:t>
            </a:r>
            <a:r>
              <a:rPr lang="en-IN" dirty="0" smtClean="0"/>
              <a:t>that is used to retrieve the </a:t>
            </a:r>
            <a:r>
              <a:rPr lang="en-IN" b="1" dirty="0" smtClean="0"/>
              <a:t>Cartesian product </a:t>
            </a:r>
            <a:r>
              <a:rPr lang="en-IN" dirty="0" smtClean="0"/>
              <a:t>(or cross product) of two individual tables. </a:t>
            </a:r>
          </a:p>
          <a:p>
            <a:r>
              <a:rPr lang="en-IN" dirty="0" smtClean="0"/>
              <a:t>That means, this join will combine each row of the first table with each row of second table .</a:t>
            </a:r>
          </a:p>
          <a:p>
            <a:pPr marL="0" indent="0">
              <a:buNone/>
            </a:pPr>
            <a:r>
              <a:rPr lang="en-US" b="1" dirty="0" smtClean="0"/>
              <a:t>Example:</a:t>
            </a:r>
          </a:p>
          <a:p>
            <a:pPr marL="0" indent="0">
              <a:buNone/>
            </a:pPr>
            <a:r>
              <a:rPr lang="en-US" dirty="0" smtClean="0"/>
              <a:t>			</a:t>
            </a:r>
            <a:r>
              <a:rPr lang="en-IN" dirty="0" smtClean="0"/>
              <a:t>SELECT ID, NAME, AMOUNT, DATE </a:t>
            </a:r>
          </a:p>
          <a:p>
            <a:pPr marL="0" indent="0">
              <a:buNone/>
            </a:pPr>
            <a:r>
              <a:rPr lang="en-IN" dirty="0" smtClean="0"/>
              <a:t>				FROM CUSTOMERS </a:t>
            </a:r>
            <a:r>
              <a:rPr lang="en-IN" b="1" dirty="0" smtClean="0"/>
              <a:t>CROSS JOIN </a:t>
            </a:r>
            <a:r>
              <a:rPr lang="en-IN" dirty="0" smtClean="0"/>
              <a:t>ORDERS;</a:t>
            </a:r>
          </a:p>
          <a:p>
            <a:r>
              <a:rPr lang="en-IN" b="1" dirty="0" smtClean="0"/>
              <a:t>Self Join, </a:t>
            </a:r>
            <a:r>
              <a:rPr lang="en-IN" dirty="0" smtClean="0"/>
              <a:t>as its name suggests, is a type of join that combines the records of a table with itself.</a:t>
            </a:r>
          </a:p>
          <a:p>
            <a:pPr marL="0" indent="0">
              <a:buNone/>
            </a:pPr>
            <a:r>
              <a:rPr lang="en-US" b="1" dirty="0" smtClean="0"/>
              <a:t>Example:</a:t>
            </a:r>
          </a:p>
          <a:p>
            <a:pPr marL="0" indent="0">
              <a:buNone/>
            </a:pPr>
            <a:r>
              <a:rPr lang="en-US" dirty="0" smtClean="0"/>
              <a:t>			</a:t>
            </a:r>
            <a:r>
              <a:rPr lang="en-IN" dirty="0" smtClean="0"/>
              <a:t>SELECT </a:t>
            </a:r>
            <a:r>
              <a:rPr lang="en-IN" dirty="0" err="1" smtClean="0"/>
              <a:t>column_name</a:t>
            </a:r>
            <a:r>
              <a:rPr lang="en-IN" dirty="0" smtClean="0"/>
              <a:t>(s) FROM table1 a, table1 b </a:t>
            </a:r>
          </a:p>
          <a:p>
            <a:pPr marL="0" indent="0">
              <a:buNone/>
            </a:pPr>
            <a:r>
              <a:rPr lang="en-IN" dirty="0" smtClean="0"/>
              <a:t>				WHERE </a:t>
            </a:r>
            <a:r>
              <a:rPr lang="en-IN" dirty="0" err="1" smtClean="0"/>
              <a:t>a.common_field</a:t>
            </a:r>
            <a:r>
              <a:rPr lang="en-IN" dirty="0" smtClean="0"/>
              <a:t> = </a:t>
            </a:r>
            <a:r>
              <a:rPr lang="en-IN" dirty="0" err="1" smtClean="0"/>
              <a:t>b.common_field</a:t>
            </a:r>
            <a:r>
              <a:rPr lang="en-IN" dirty="0" smtClean="0"/>
              <a:t>;</a:t>
            </a:r>
          </a:p>
          <a:p>
            <a:pPr marL="0" indent="0">
              <a:buNone/>
            </a:pPr>
            <a:r>
              <a:rPr lang="en-US" dirty="0" smtClean="0"/>
              <a:t>			</a:t>
            </a:r>
            <a:r>
              <a:rPr lang="en-IN" dirty="0" smtClean="0"/>
              <a:t>SELECT a.ID, b.NAME as EARNS_HIGHER, </a:t>
            </a:r>
          </a:p>
          <a:p>
            <a:pPr marL="0" indent="0">
              <a:buNone/>
            </a:pPr>
            <a:r>
              <a:rPr lang="en-IN" dirty="0" smtClean="0"/>
              <a:t>					a.NAME as EARNS_LESS, </a:t>
            </a:r>
            <a:r>
              <a:rPr lang="en-IN" dirty="0" err="1" smtClean="0"/>
              <a:t>a.SALARY</a:t>
            </a:r>
            <a:r>
              <a:rPr lang="en-IN" dirty="0" smtClean="0"/>
              <a:t> as LOWER_SALARY </a:t>
            </a:r>
          </a:p>
          <a:p>
            <a:pPr marL="0" indent="0">
              <a:buNone/>
            </a:pPr>
            <a:r>
              <a:rPr lang="en-IN" dirty="0" smtClean="0"/>
              <a:t>					FROM </a:t>
            </a:r>
            <a:r>
              <a:rPr lang="en-IN" b="1" dirty="0" smtClean="0"/>
              <a:t>CUSTOMERS a, CUSTOMERS b </a:t>
            </a:r>
          </a:p>
          <a:p>
            <a:pPr marL="0" indent="0">
              <a:buNone/>
            </a:pPr>
            <a:r>
              <a:rPr lang="en-IN" dirty="0" smtClean="0"/>
              <a:t>					WHERE </a:t>
            </a:r>
            <a:r>
              <a:rPr lang="en-IN" dirty="0" err="1" smtClean="0"/>
              <a:t>a.SALARY</a:t>
            </a:r>
            <a:r>
              <a:rPr lang="en-IN" dirty="0" smtClean="0"/>
              <a:t> &lt; </a:t>
            </a:r>
            <a:r>
              <a:rPr lang="en-IN" dirty="0" err="1" smtClean="0"/>
              <a:t>b.SALARY</a:t>
            </a:r>
            <a:r>
              <a:rPr lang="en-IN" dirty="0" smtClean="0"/>
              <a:t>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413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19842" y="624110"/>
            <a:ext cx="8911687" cy="622799"/>
          </a:xfrm>
        </p:spPr>
        <p:txBody>
          <a:bodyPr>
            <a:normAutofit fontScale="90000"/>
          </a:bodyPr>
          <a:lstStyle/>
          <a:p>
            <a:r>
              <a:rPr lang="en-IN" b="1" dirty="0" smtClean="0"/>
              <a:t>UNION: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06579" y="1421476"/>
            <a:ext cx="8915400" cy="4606124"/>
          </a:xfrm>
        </p:spPr>
        <p:txBody>
          <a:bodyPr/>
          <a:lstStyle/>
          <a:p>
            <a:r>
              <a:rPr lang="en-IN" dirty="0" smtClean="0"/>
              <a:t>UNION </a:t>
            </a:r>
            <a:r>
              <a:rPr lang="en-IN" dirty="0"/>
              <a:t>is a type of operator/clause in SQL, that works similar to the union operator in relational algebra. </a:t>
            </a:r>
            <a:endParaRPr lang="en-IN" dirty="0" smtClean="0"/>
          </a:p>
          <a:p>
            <a:r>
              <a:rPr lang="en-IN" dirty="0" smtClean="0"/>
              <a:t>It </a:t>
            </a:r>
            <a:r>
              <a:rPr lang="en-IN" dirty="0"/>
              <a:t>does nothing more than just combining information from multiple tables that are union compatible</a:t>
            </a:r>
            <a:r>
              <a:rPr lang="en-IN" dirty="0" smtClean="0"/>
              <a:t>.</a:t>
            </a:r>
          </a:p>
          <a:p>
            <a:r>
              <a:rPr lang="en-IN" dirty="0"/>
              <a:t>The tables to be combined must have same number of columns with the same datatype.</a:t>
            </a:r>
          </a:p>
          <a:p>
            <a:r>
              <a:rPr lang="en-IN" dirty="0"/>
              <a:t>The number of rows need not be same.</a:t>
            </a:r>
          </a:p>
          <a:p>
            <a:pPr marL="0" indent="0">
              <a:buNone/>
            </a:pPr>
            <a:r>
              <a:rPr lang="en-US" b="1" dirty="0" smtClean="0"/>
              <a:t>Syntax: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	</a:t>
            </a:r>
            <a:r>
              <a:rPr lang="en-IN" dirty="0"/>
              <a:t>SELECT * FROM table1 </a:t>
            </a:r>
            <a:r>
              <a:rPr lang="en-IN" b="1" dirty="0"/>
              <a:t>UNION</a:t>
            </a:r>
            <a:r>
              <a:rPr lang="en-IN" dirty="0"/>
              <a:t> SELECT </a:t>
            </a:r>
            <a:r>
              <a:rPr lang="en-IN" dirty="0" smtClean="0"/>
              <a:t>* </a:t>
            </a:r>
            <a:r>
              <a:rPr lang="en-IN" dirty="0"/>
              <a:t>FROM table2</a:t>
            </a:r>
            <a:r>
              <a:rPr lang="en-IN" dirty="0" smtClean="0"/>
              <a:t>;</a:t>
            </a:r>
          </a:p>
          <a:p>
            <a:pPr marL="0" indent="0">
              <a:buNone/>
            </a:pPr>
            <a:r>
              <a:rPr lang="en-US" b="1" dirty="0" smtClean="0"/>
              <a:t>Example: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	</a:t>
            </a:r>
            <a:r>
              <a:rPr lang="en-IN" dirty="0"/>
              <a:t>SELECT * FROM COURSES_PICKED </a:t>
            </a:r>
            <a:r>
              <a:rPr lang="en-IN" b="1" dirty="0"/>
              <a:t>UNION</a:t>
            </a:r>
            <a:r>
              <a:rPr lang="en-IN" dirty="0"/>
              <a:t> </a:t>
            </a:r>
            <a:endParaRPr lang="en-IN" dirty="0" smtClean="0"/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			SELECT </a:t>
            </a:r>
            <a:r>
              <a:rPr lang="en-IN" dirty="0"/>
              <a:t>* FROM EXTRA_COURSES_PICKED;</a:t>
            </a:r>
          </a:p>
        </p:txBody>
      </p:sp>
    </p:spTree>
    <p:extLst>
      <p:ext uri="{BB962C8B-B14F-4D97-AF65-F5344CB8AC3E}">
        <p14:creationId xmlns:p14="http://schemas.microsoft.com/office/powerpoint/2010/main" val="438556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7342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7816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679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8532" y="679528"/>
            <a:ext cx="8911687" cy="697614"/>
          </a:xfrm>
        </p:spPr>
        <p:txBody>
          <a:bodyPr/>
          <a:lstStyle/>
          <a:p>
            <a:r>
              <a:rPr lang="en-US" b="1" dirty="0" smtClean="0"/>
              <a:t>Explanation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6314" y="1666240"/>
            <a:ext cx="9136704" cy="4762269"/>
          </a:xfrm>
        </p:spPr>
        <p:txBody>
          <a:bodyPr>
            <a:noAutofit/>
          </a:bodyPr>
          <a:lstStyle/>
          <a:p>
            <a:r>
              <a:rPr lang="en-IN" sz="2400" b="1" dirty="0" smtClean="0"/>
              <a:t>1NF</a:t>
            </a:r>
            <a:r>
              <a:rPr lang="en-IN" sz="2400" b="1" dirty="0"/>
              <a:t>	</a:t>
            </a:r>
            <a:r>
              <a:rPr lang="en-IN" sz="2400" dirty="0" smtClean="0">
                <a:sym typeface="Wingdings" panose="05000000000000000000" pitchFamily="2" charset="2"/>
              </a:rPr>
              <a:t>  </a:t>
            </a:r>
            <a:r>
              <a:rPr lang="en-IN" sz="2400" dirty="0" smtClean="0"/>
              <a:t>A </a:t>
            </a:r>
            <a:r>
              <a:rPr lang="en-IN" sz="2400" dirty="0"/>
              <a:t>relation is in 1NF if it contains an atomic value.</a:t>
            </a:r>
          </a:p>
          <a:p>
            <a:r>
              <a:rPr lang="en-IN" sz="2400" b="1" dirty="0"/>
              <a:t>2NF</a:t>
            </a:r>
            <a:r>
              <a:rPr lang="en-IN" sz="2400" dirty="0"/>
              <a:t>	</a:t>
            </a:r>
            <a:r>
              <a:rPr lang="en-IN" sz="2400" dirty="0" smtClean="0">
                <a:sym typeface="Wingdings" panose="05000000000000000000" pitchFamily="2" charset="2"/>
              </a:rPr>
              <a:t>  </a:t>
            </a:r>
            <a:r>
              <a:rPr lang="en-IN" sz="2400" dirty="0" smtClean="0"/>
              <a:t>A </a:t>
            </a:r>
            <a:r>
              <a:rPr lang="en-IN" sz="2400" dirty="0"/>
              <a:t>relation will be in 2NF if it is in 1NF and all non-key attributes are fully functional dependent on the primary key.</a:t>
            </a:r>
          </a:p>
          <a:p>
            <a:r>
              <a:rPr lang="en-IN" sz="2400" b="1" dirty="0"/>
              <a:t>3NF	</a:t>
            </a:r>
            <a:r>
              <a:rPr lang="en-IN" sz="2400" dirty="0" smtClean="0">
                <a:sym typeface="Wingdings" panose="05000000000000000000" pitchFamily="2" charset="2"/>
              </a:rPr>
              <a:t>  </a:t>
            </a:r>
            <a:r>
              <a:rPr lang="en-IN" sz="2400" dirty="0" smtClean="0"/>
              <a:t>A </a:t>
            </a:r>
            <a:r>
              <a:rPr lang="en-IN" sz="2400" dirty="0"/>
              <a:t>relation will be in 3NF if it is in 2NF and no transition dependency exists</a:t>
            </a:r>
            <a:r>
              <a:rPr lang="en-IN" sz="2400" dirty="0" smtClean="0"/>
              <a:t>.</a:t>
            </a:r>
          </a:p>
          <a:p>
            <a:r>
              <a:rPr lang="en-IN" sz="2400" b="1" dirty="0"/>
              <a:t>4NF</a:t>
            </a:r>
            <a:r>
              <a:rPr lang="en-IN" sz="2400" dirty="0"/>
              <a:t>	</a:t>
            </a:r>
            <a:r>
              <a:rPr lang="en-IN" sz="2400" dirty="0" smtClean="0">
                <a:sym typeface="Wingdings" panose="05000000000000000000" pitchFamily="2" charset="2"/>
              </a:rPr>
              <a:t> </a:t>
            </a:r>
            <a:r>
              <a:rPr lang="en-IN" sz="2400" dirty="0" smtClean="0"/>
              <a:t>A </a:t>
            </a:r>
            <a:r>
              <a:rPr lang="en-IN" sz="2400" dirty="0"/>
              <a:t>relation will be in 4NF if it is in Boyce </a:t>
            </a:r>
            <a:r>
              <a:rPr lang="en-IN" sz="2400" dirty="0" err="1"/>
              <a:t>Codd's</a:t>
            </a:r>
            <a:r>
              <a:rPr lang="en-IN" sz="2400" dirty="0"/>
              <a:t> normal form and has no multi-valued dependency.</a:t>
            </a:r>
          </a:p>
          <a:p>
            <a:r>
              <a:rPr lang="en-IN" sz="2400" b="1" dirty="0"/>
              <a:t>5NF	</a:t>
            </a:r>
            <a:r>
              <a:rPr lang="en-IN" sz="2400" dirty="0" smtClean="0">
                <a:sym typeface="Wingdings" panose="05000000000000000000" pitchFamily="2" charset="2"/>
              </a:rPr>
              <a:t> </a:t>
            </a:r>
            <a:r>
              <a:rPr lang="en-IN" sz="2400" dirty="0" smtClean="0"/>
              <a:t>A </a:t>
            </a:r>
            <a:r>
              <a:rPr lang="en-IN" sz="2400" dirty="0"/>
              <a:t>relation is in </a:t>
            </a:r>
            <a:r>
              <a:rPr lang="en-IN" sz="2400" dirty="0" smtClean="0"/>
              <a:t>5NF </a:t>
            </a:r>
            <a:r>
              <a:rPr lang="en-IN" sz="2400" dirty="0"/>
              <a:t>If it is in 4NF and does not contain any join dependency, joining should be lossless</a:t>
            </a:r>
            <a:r>
              <a:rPr lang="en-IN" sz="24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82493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9287</TotalTime>
  <Words>4102</Words>
  <Application>Microsoft Office PowerPoint</Application>
  <PresentationFormat>Widescreen</PresentationFormat>
  <Paragraphs>356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Century Gothic</vt:lpstr>
      <vt:lpstr>Wingdings</vt:lpstr>
      <vt:lpstr>Wingdings 3</vt:lpstr>
      <vt:lpstr>Wisp</vt:lpstr>
      <vt:lpstr>SQL</vt:lpstr>
      <vt:lpstr>Introduction:</vt:lpstr>
      <vt:lpstr>RDBMS</vt:lpstr>
      <vt:lpstr>Types of SQL:</vt:lpstr>
      <vt:lpstr>Database Normalization</vt:lpstr>
      <vt:lpstr>Types of Normal Forms:</vt:lpstr>
      <vt:lpstr>Types of SQL Databases</vt:lpstr>
      <vt:lpstr>PowerPoint Presentation</vt:lpstr>
      <vt:lpstr>SQL Constraints</vt:lpstr>
      <vt:lpstr>Constrains</vt:lpstr>
      <vt:lpstr>SQL Syntax: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SQL DataType</vt:lpstr>
      <vt:lpstr>SQL Operators</vt:lpstr>
      <vt:lpstr>Arithmetic &amp; Relational Operations:</vt:lpstr>
      <vt:lpstr>Logical Operator:</vt:lpstr>
      <vt:lpstr>SQL Expression</vt:lpstr>
      <vt:lpstr>PowerPoint Presentation</vt:lpstr>
      <vt:lpstr>Creating a Table from an Existing Table</vt:lpstr>
      <vt:lpstr>SQL Cloning:</vt:lpstr>
      <vt:lpstr>SQL View</vt:lpstr>
      <vt:lpstr>SQL Joins</vt:lpstr>
      <vt:lpstr>SQL Inner Join:</vt:lpstr>
      <vt:lpstr>Outer Join</vt:lpstr>
      <vt:lpstr>Example:</vt:lpstr>
      <vt:lpstr>Cross &amp; Self Join</vt:lpstr>
      <vt:lpstr>UNION:</vt:lpstr>
      <vt:lpstr>PowerPoint Presentation</vt:lpstr>
      <vt:lpstr>PowerPoint Presentation</vt:lpstr>
      <vt:lpstr>PowerPoint Presentation</vt:lpstr>
      <vt:lpstr>Explanation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KITS</dc:creator>
  <cp:lastModifiedBy>Admin</cp:lastModifiedBy>
  <cp:revision>221</cp:revision>
  <dcterms:created xsi:type="dcterms:W3CDTF">2024-03-01T11:06:44Z</dcterms:created>
  <dcterms:modified xsi:type="dcterms:W3CDTF">2025-06-13T13:23:57Z</dcterms:modified>
</cp:coreProperties>
</file>