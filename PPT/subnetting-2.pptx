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2" r:id="rId5"/>
    <p:sldId id="261" r:id="rId6"/>
    <p:sldId id="263" r:id="rId7"/>
    <p:sldId id="259" r:id="rId8"/>
    <p:sldId id="310" r:id="rId9"/>
    <p:sldId id="257" r:id="rId10"/>
    <p:sldId id="264" r:id="rId11"/>
    <p:sldId id="304" r:id="rId12"/>
    <p:sldId id="265" r:id="rId13"/>
    <p:sldId id="305" r:id="rId14"/>
    <p:sldId id="267" r:id="rId15"/>
    <p:sldId id="266" r:id="rId16"/>
    <p:sldId id="306" r:id="rId17"/>
    <p:sldId id="269" r:id="rId18"/>
    <p:sldId id="307" r:id="rId19"/>
    <p:sldId id="271" r:id="rId20"/>
    <p:sldId id="308" r:id="rId21"/>
    <p:sldId id="268" r:id="rId22"/>
    <p:sldId id="309" r:id="rId23"/>
    <p:sldId id="270" r:id="rId24"/>
    <p:sldId id="272" r:id="rId25"/>
    <p:sldId id="311" r:id="rId26"/>
    <p:sldId id="320" r:id="rId27"/>
    <p:sldId id="321" r:id="rId28"/>
    <p:sldId id="323" r:id="rId29"/>
    <p:sldId id="273" r:id="rId30"/>
    <p:sldId id="324" r:id="rId31"/>
    <p:sldId id="274" r:id="rId32"/>
    <p:sldId id="325" r:id="rId33"/>
    <p:sldId id="326" r:id="rId34"/>
    <p:sldId id="327" r:id="rId35"/>
    <p:sldId id="275" r:id="rId36"/>
    <p:sldId id="328" r:id="rId37"/>
    <p:sldId id="276" r:id="rId38"/>
    <p:sldId id="277" r:id="rId39"/>
    <p:sldId id="329" r:id="rId40"/>
    <p:sldId id="278" r:id="rId41"/>
    <p:sldId id="279" r:id="rId42"/>
    <p:sldId id="330" r:id="rId43"/>
    <p:sldId id="280" r:id="rId44"/>
    <p:sldId id="281" r:id="rId45"/>
    <p:sldId id="331" r:id="rId46"/>
    <p:sldId id="332" r:id="rId47"/>
    <p:sldId id="335" r:id="rId48"/>
    <p:sldId id="336" r:id="rId49"/>
    <p:sldId id="284" r:id="rId50"/>
    <p:sldId id="337" r:id="rId51"/>
    <p:sldId id="282" r:id="rId52"/>
    <p:sldId id="338" r:id="rId53"/>
    <p:sldId id="334" r:id="rId54"/>
    <p:sldId id="339" r:id="rId55"/>
    <p:sldId id="283" r:id="rId56"/>
    <p:sldId id="340" r:id="rId57"/>
    <p:sldId id="312" r:id="rId58"/>
    <p:sldId id="341" r:id="rId59"/>
    <p:sldId id="313" r:id="rId60"/>
    <p:sldId id="314" r:id="rId61"/>
    <p:sldId id="315" r:id="rId62"/>
    <p:sldId id="342" r:id="rId63"/>
    <p:sldId id="316" r:id="rId64"/>
    <p:sldId id="317" r:id="rId65"/>
    <p:sldId id="318" r:id="rId66"/>
    <p:sldId id="319" r:id="rId67"/>
    <p:sldId id="285" r:id="rId68"/>
    <p:sldId id="286" r:id="rId69"/>
    <p:sldId id="287" r:id="rId70"/>
    <p:sldId id="288" r:id="rId71"/>
    <p:sldId id="289" r:id="rId72"/>
    <p:sldId id="290" r:id="rId73"/>
    <p:sldId id="291" r:id="rId74"/>
    <p:sldId id="292" r:id="rId75"/>
    <p:sldId id="293" r:id="rId76"/>
    <p:sldId id="294" r:id="rId77"/>
    <p:sldId id="295" r:id="rId78"/>
    <p:sldId id="296" r:id="rId79"/>
    <p:sldId id="297" r:id="rId80"/>
    <p:sldId id="298" r:id="rId81"/>
    <p:sldId id="299" r:id="rId82"/>
    <p:sldId id="300" r:id="rId83"/>
    <p:sldId id="301" r:id="rId84"/>
    <p:sldId id="302" r:id="rId85"/>
    <p:sldId id="303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46DF-610E-AA8C-8985-1CA222744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CE903-FB40-E54E-480F-21CFF5311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BCB91-1F27-738B-34F2-33356BC3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EDBDD-25A0-277D-5EBC-B6DBCB3F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314EE-6624-B54F-2055-C664F5901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54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A59-E9C3-950B-FC81-D9E63E06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564F0-EAF7-CF8F-EC0F-26280D0DD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1137-82B7-0361-CD10-4ADAAC5A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C9EB5-8D2F-62DB-61E8-64A684637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DF868-88DD-B3D7-40EA-552AA675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12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8B3FD-0521-DF33-6DEF-0167700CF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480F3-07F8-3426-C8EF-7BB5C6D69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FDB99-C738-0E43-C9C3-685C8A03B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EF44F-F0D2-14EB-0699-ECDBA887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3E9D1-6E51-FE9D-F81C-66626CA2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92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54B8-8166-C175-614D-3D0085446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67D31-A473-2374-C019-383EC5DF4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5B322-E89E-19DD-8FCC-4D6D8F9ED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B2A1A-F77F-D986-854B-1980E276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F1A70-6C39-6A14-886C-6D4538FE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B3405-019C-3E5B-355F-4B116B1E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35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41BC-BD69-992B-1E26-CBEBC0C9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372D7-3C68-1514-9D11-2DC52A5AD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7BB65-C0D2-3933-0DAB-8D063EAB6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AD9F7-049B-0FB7-D7A1-3EE929D57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BD2107-14A7-4445-F457-8E6880842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587EF2-E3C9-6847-252C-17EC5F0D1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41B8D-3100-7E96-79E4-969EF4BAB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B6DAE-8A69-336A-EE75-0AE03412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7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C00B-AABE-21E5-9D7F-B67EFB9F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B12FAD-19E9-0A28-10A1-00CBF961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CC38F-C190-F333-6816-A473A34B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CC3E4-5F87-F34F-2533-A2598B01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4E9E0-50E8-5B31-22DF-00B86E72C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15F02-5275-DEA0-67A0-D31C14E8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E6100-259D-D666-F3C2-CA45B9A6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996E-7B8B-75D9-56EF-1F87113A9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EB759-4167-218A-4C28-59526B557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E3848-01EE-20C4-160C-E9BF2A8CB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AC54E-DE2A-BAE6-8BFF-889A54E90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C04F3-62FB-6DDC-9768-7B491C73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F9A94-2E5A-DC9E-EBE4-EA4465D4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36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9B19-98D0-BEEB-989C-F656E72C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2F9B24-F8E3-3EE2-877C-7B8CCACB2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7BE21-8CB8-88E0-A1EE-4EE535694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36536-E9B5-D029-5F5D-A632014A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F64B5-F997-3E44-FE9C-8B0DB4157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DF5C1-1E12-ADB4-3F58-6351C940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78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4059-79AB-21CE-75E6-DF582ED62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0FAD8-5137-F98A-D3A3-26F060BA2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E97E7-4B23-B933-63CA-AB0EE8EF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01842-B713-3761-EAB3-B83B20FC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72A07-69C5-9864-3E03-972D985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9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CFA0E5-255F-2E92-5C55-F1F4DAB7A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EBFF7-7386-77BC-5CA0-29B00C50C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93DA2-2978-6284-43D2-B6EBC166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C4BBA-7A7B-7450-D02B-EB03A4BA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58114-6879-5745-D491-1FCCB3FC1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17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5D56D0-9D86-0230-1F9E-1ED080C90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4A822-6481-1A18-E682-77FF8FE50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4B82B-AF43-06FB-8E8F-C41333193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D51E0-6C8C-480D-A81B-F6EA4F1186E8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55FD0-20AB-11FA-FFBA-0752402AA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28459-D686-D0A7-9CCF-0EF0AA52B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B68DC-3014-40F5-9F98-7185E5A5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9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A4FB5A-CDFC-6D63-BAE7-4CB5FDBD0B3C}"/>
              </a:ext>
            </a:extLst>
          </p:cNvPr>
          <p:cNvSpPr txBox="1"/>
          <p:nvPr/>
        </p:nvSpPr>
        <p:spPr>
          <a:xfrm>
            <a:off x="4098926" y="303507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4800" b="1" i="0" u="none" strike="noStrike" dirty="0">
                <a:solidFill>
                  <a:srgbClr val="2C3E50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Subnetting</a:t>
            </a:r>
            <a:endParaRPr lang="en-US" sz="4800" b="1" i="0" u="none" strike="noStrike" dirty="0">
              <a:solidFill>
                <a:srgbClr val="2C3E50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12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1272" y="2888116"/>
            <a:ext cx="587129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Open Sans"/>
              </a:rPr>
              <a:t> </a:t>
            </a:r>
            <a:r>
              <a:rPr lang="en-US" u="sng" dirty="0">
                <a:solidFill>
                  <a:srgbClr val="000000"/>
                </a:solidFill>
                <a:latin typeface="Open Sans"/>
              </a:rPr>
              <a:t>our class A, B and C networks?</a:t>
            </a:r>
            <a:endParaRPr lang="en-US" dirty="0">
              <a:solidFill>
                <a:srgbClr val="000000"/>
              </a:solidFill>
              <a:latin typeface="Open Sans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Open Sans"/>
              </a:rPr>
              <a:t>Class A: 16777216 addresses in total.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Open Sans"/>
              </a:rPr>
              <a:t>Class B: 65536 addresses in total.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Open Sans"/>
              </a:rPr>
              <a:t>Class C: 256 addresses in total.</a:t>
            </a:r>
          </a:p>
          <a:p>
            <a:r>
              <a:rPr lang="en-US" dirty="0">
                <a:solidFill>
                  <a:srgbClr val="000000"/>
                </a:solidFill>
                <a:latin typeface="Open Sans"/>
              </a:rPr>
              <a:t>A subnet is a sub-network of a network that falls within the class A, B or C range.</a:t>
            </a:r>
            <a:endParaRPr lang="en-US" b="0" i="0" dirty="0">
              <a:solidFill>
                <a:srgbClr val="000000"/>
              </a:solidFill>
              <a:effectLst/>
              <a:latin typeface="Open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66649" y="795321"/>
            <a:ext cx="100430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11111"/>
                </a:solidFill>
                <a:latin typeface="Roboto"/>
              </a:rPr>
              <a:t>		</a:t>
            </a:r>
            <a:r>
              <a:rPr lang="en-US" sz="1600" b="1" dirty="0" smtClean="0">
                <a:solidFill>
                  <a:srgbClr val="111111"/>
                </a:solidFill>
                <a:latin typeface="Roboto"/>
              </a:rPr>
              <a:t>	            </a:t>
            </a:r>
            <a:r>
              <a:rPr lang="en-US" sz="2400" b="1" dirty="0" err="1" smtClean="0">
                <a:solidFill>
                  <a:srgbClr val="111111"/>
                </a:solidFill>
                <a:latin typeface="Roboto"/>
              </a:rPr>
              <a:t>Subnetting</a:t>
            </a:r>
            <a:r>
              <a:rPr lang="en-US" sz="2400" b="1" dirty="0" smtClean="0">
                <a:solidFill>
                  <a:srgbClr val="111111"/>
                </a:solidFill>
                <a:latin typeface="Roboto"/>
              </a:rPr>
              <a:t> </a:t>
            </a:r>
            <a:r>
              <a:rPr lang="en-US" sz="2400" b="1" dirty="0">
                <a:solidFill>
                  <a:srgbClr val="111111"/>
                </a:solidFill>
                <a:latin typeface="Roboto"/>
              </a:rPr>
              <a:t>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Subnetting</a:t>
            </a:r>
            <a:r>
              <a:rPr lang="en-US" dirty="0"/>
              <a:t> is a technique used in computer networking to divide a single, large network into smaller, more manageable sub-networks, or subnets. It's particularly useful for optimizing network performance, managing network traffic, and enhancing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Subnetting</a:t>
            </a:r>
            <a:r>
              <a:rPr lang="en-US" dirty="0"/>
              <a:t> requires careful planning to ensure efficient use of IP addresses and to avoid network congestion or wastage. It's an essential skill for network administrators and engineers.</a:t>
            </a:r>
            <a:endParaRPr lang="en-US" b="0" i="0" dirty="0">
              <a:solidFill>
                <a:srgbClr val="111111"/>
              </a:solidFill>
              <a:effectLst/>
              <a:latin typeface="Robot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1272" y="4913274"/>
            <a:ext cx="114822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303030"/>
                </a:solidFill>
                <a:latin typeface="Roboto Condensed"/>
              </a:rPr>
              <a:t>Example-</a:t>
            </a:r>
            <a:endParaRPr lang="en-US" b="1" dirty="0">
              <a:solidFill>
                <a:srgbClr val="303030"/>
              </a:solidFill>
              <a:latin typeface="Roboto Condensed"/>
            </a:endParaRPr>
          </a:p>
          <a:p>
            <a:r>
              <a:rPr lang="en-US" dirty="0">
                <a:solidFill>
                  <a:srgbClr val="303030"/>
                </a:solidFill>
                <a:latin typeface="Arimo"/>
              </a:rPr>
              <a:t> </a:t>
            </a:r>
          </a:p>
          <a:p>
            <a:r>
              <a:rPr lang="en-US" dirty="0">
                <a:solidFill>
                  <a:srgbClr val="303030"/>
                </a:solidFill>
                <a:latin typeface="Arimo"/>
              </a:rPr>
              <a:t>Following diagram shows the sub netting of a  big single network into 4 smaller subnets-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751" y="3011055"/>
            <a:ext cx="5400889" cy="224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2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0292" y="317143"/>
            <a:ext cx="646545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72C37"/>
                </a:solidFill>
              </a:rPr>
              <a:t>				</a:t>
            </a:r>
            <a:r>
              <a:rPr lang="en-US" b="1" u="sng" dirty="0">
                <a:solidFill>
                  <a:srgbClr val="272C37"/>
                </a:solidFill>
              </a:rPr>
              <a:t>Characteristics of </a:t>
            </a:r>
            <a:r>
              <a:rPr lang="en-US" b="1" u="sng" dirty="0" err="1">
                <a:solidFill>
                  <a:srgbClr val="272C37"/>
                </a:solidFill>
              </a:rPr>
              <a:t>Subnetting</a:t>
            </a:r>
            <a:endParaRPr lang="en-US" b="1" u="sng" dirty="0">
              <a:solidFill>
                <a:srgbClr val="272C37"/>
              </a:solidFill>
            </a:endParaRPr>
          </a:p>
          <a:p>
            <a:r>
              <a:rPr lang="en-US" dirty="0">
                <a:solidFill>
                  <a:srgbClr val="51565E"/>
                </a:solidFill>
              </a:rPr>
              <a:t>To design a subnetwork, some features are required to be understood properly which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rgbClr val="51565E"/>
                </a:solidFill>
              </a:rPr>
              <a:t>Network ID: </a:t>
            </a:r>
            <a:r>
              <a:rPr lang="en-US" dirty="0">
                <a:solidFill>
                  <a:srgbClr val="51565E"/>
                </a:solidFill>
              </a:rPr>
              <a:t>It is the first IP address in each Sub-Network in the main network ID. 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51565E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rgbClr val="51565E"/>
                </a:solidFill>
              </a:rPr>
              <a:t>Broadcast ID: </a:t>
            </a:r>
            <a:r>
              <a:rPr lang="en-US" dirty="0">
                <a:solidFill>
                  <a:srgbClr val="51565E"/>
                </a:solidFill>
              </a:rPr>
              <a:t>This feature represents the last IP address in each Sub-Network in the network 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1565E"/>
                </a:solidFill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rgbClr val="51565E"/>
                </a:solidFill>
              </a:rPr>
              <a:t>First Host ID: </a:t>
            </a:r>
            <a:r>
              <a:rPr lang="en-US" dirty="0">
                <a:solidFill>
                  <a:srgbClr val="51565E"/>
                </a:solidFill>
              </a:rPr>
              <a:t>The next IP address after the Network ID is represented by the First Host ID.</a:t>
            </a:r>
          </a:p>
          <a:p>
            <a:endParaRPr lang="en-US" dirty="0">
              <a:solidFill>
                <a:srgbClr val="51565E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rgbClr val="51565E"/>
                </a:solidFill>
              </a:rPr>
              <a:t>Last Host ID: </a:t>
            </a:r>
            <a:r>
              <a:rPr lang="en-US" dirty="0">
                <a:solidFill>
                  <a:srgbClr val="51565E"/>
                </a:solidFill>
              </a:rPr>
              <a:t>The IP address right before the Broadcast ID is represented as Last Host ID</a:t>
            </a:r>
            <a:r>
              <a:rPr lang="en-US" dirty="0" smtClean="0">
                <a:solidFill>
                  <a:srgbClr val="51565E"/>
                </a:solidFill>
              </a:rPr>
              <a:t>.</a:t>
            </a:r>
            <a:endParaRPr lang="en-US" dirty="0">
              <a:solidFill>
                <a:srgbClr val="51565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428" y="718548"/>
            <a:ext cx="5291604" cy="34445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54180" y="4685437"/>
            <a:ext cx="102246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>
                <a:solidFill>
                  <a:srgbClr val="51565E"/>
                </a:solidFill>
              </a:rPr>
              <a:t>Next </a:t>
            </a:r>
            <a:r>
              <a:rPr lang="en-US" b="1" u="sng" dirty="0">
                <a:solidFill>
                  <a:srgbClr val="51565E"/>
                </a:solidFill>
              </a:rPr>
              <a:t>Network</a:t>
            </a:r>
            <a:r>
              <a:rPr lang="en-US" dirty="0">
                <a:solidFill>
                  <a:srgbClr val="51565E"/>
                </a:solidFill>
              </a:rPr>
              <a:t>: This feature assigns the Network ID for the next sub-network. </a:t>
            </a:r>
            <a:endParaRPr lang="en-US" dirty="0" smtClean="0">
              <a:solidFill>
                <a:srgbClr val="51565E"/>
              </a:solidFill>
            </a:endParaRPr>
          </a:p>
          <a:p>
            <a:endParaRPr lang="en-US" b="1" u="sng" dirty="0">
              <a:solidFill>
                <a:srgbClr val="51565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>
                <a:solidFill>
                  <a:srgbClr val="51565E"/>
                </a:solidFill>
              </a:rPr>
              <a:t># </a:t>
            </a:r>
            <a:r>
              <a:rPr lang="en-US" b="1" u="sng" dirty="0">
                <a:solidFill>
                  <a:srgbClr val="51565E"/>
                </a:solidFill>
              </a:rPr>
              <a:t>IP Addresses: </a:t>
            </a:r>
            <a:r>
              <a:rPr lang="en-US" dirty="0">
                <a:solidFill>
                  <a:srgbClr val="51565E"/>
                </a:solidFill>
              </a:rPr>
              <a:t>This feature represents the total number of IP addresses in the sub-network.</a:t>
            </a:r>
          </a:p>
          <a:p>
            <a:endParaRPr lang="en-US" dirty="0">
              <a:solidFill>
                <a:srgbClr val="51565E"/>
              </a:solidFill>
            </a:endParaRPr>
          </a:p>
          <a:p>
            <a:r>
              <a:rPr lang="en-US" dirty="0">
                <a:solidFill>
                  <a:srgbClr val="51565E"/>
                </a:solidFill>
              </a:rPr>
              <a:t>To better understand the above characteristics,</a:t>
            </a:r>
          </a:p>
          <a:p>
            <a:r>
              <a:rPr lang="en-US" dirty="0">
                <a:solidFill>
                  <a:srgbClr val="51565E"/>
                </a:solidFill>
              </a:rPr>
              <a:t> you can refer to this example,</a:t>
            </a:r>
            <a:endParaRPr lang="en-US" dirty="0">
              <a:solidFill>
                <a:srgbClr val="5156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775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4981" y="1215816"/>
            <a:ext cx="87259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303030"/>
                </a:solidFill>
                <a:latin typeface="Roboto Condensed"/>
              </a:rPr>
              <a:t>Types of </a:t>
            </a:r>
            <a:r>
              <a:rPr lang="en-US" b="1" u="sng" dirty="0" err="1">
                <a:solidFill>
                  <a:srgbClr val="303030"/>
                </a:solidFill>
                <a:latin typeface="Roboto Condensed"/>
              </a:rPr>
              <a:t>Subnetting</a:t>
            </a:r>
            <a:r>
              <a:rPr lang="en-US" b="1" u="sng" dirty="0">
                <a:solidFill>
                  <a:srgbClr val="303030"/>
                </a:solidFill>
                <a:latin typeface="Roboto Condensed"/>
              </a:rPr>
              <a:t>-</a:t>
            </a:r>
            <a:endParaRPr lang="en-US" b="1" dirty="0">
              <a:solidFill>
                <a:srgbClr val="303030"/>
              </a:solidFill>
              <a:latin typeface="Roboto Condensed"/>
            </a:endParaRPr>
          </a:p>
          <a:p>
            <a:r>
              <a:rPr lang="en-US" dirty="0">
                <a:solidFill>
                  <a:srgbClr val="303030"/>
                </a:solidFill>
                <a:latin typeface="Arimo"/>
              </a:rPr>
              <a:t> </a:t>
            </a:r>
          </a:p>
          <a:p>
            <a:r>
              <a:rPr lang="en-US" dirty="0" err="1">
                <a:solidFill>
                  <a:srgbClr val="303030"/>
                </a:solidFill>
                <a:latin typeface="Arimo"/>
              </a:rPr>
              <a:t>Subnetting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 of a network may be carried out in the following two ways-</a:t>
            </a:r>
          </a:p>
          <a:p>
            <a:r>
              <a:rPr lang="en-US" dirty="0">
                <a:solidFill>
                  <a:srgbClr val="303030"/>
                </a:solidFill>
                <a:latin typeface="Arimo"/>
              </a:rPr>
              <a:t> 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199" y="2416145"/>
            <a:ext cx="6869431" cy="291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27542" y="698468"/>
            <a:ext cx="10326255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303030"/>
                </a:solidFill>
                <a:latin typeface="Roboto Condensed"/>
              </a:rPr>
              <a:t>1. Fixed Length </a:t>
            </a:r>
            <a:r>
              <a:rPr lang="en-US" b="1" u="sng" dirty="0" err="1">
                <a:solidFill>
                  <a:srgbClr val="303030"/>
                </a:solidFill>
                <a:latin typeface="Roboto Condensed"/>
              </a:rPr>
              <a:t>Subnetting</a:t>
            </a:r>
            <a:r>
              <a:rPr lang="en-US" b="1" u="sng" dirty="0">
                <a:solidFill>
                  <a:srgbClr val="303030"/>
                </a:solidFill>
                <a:latin typeface="Roboto Condensed"/>
              </a:rPr>
              <a:t>-</a:t>
            </a:r>
            <a:endParaRPr lang="en-US" b="1" dirty="0">
              <a:solidFill>
                <a:srgbClr val="303030"/>
              </a:solidFill>
              <a:latin typeface="Roboto Condensed"/>
            </a:endParaRPr>
          </a:p>
          <a:p>
            <a:r>
              <a:rPr lang="en-US" dirty="0">
                <a:solidFill>
                  <a:srgbClr val="303030"/>
                </a:solidFill>
                <a:latin typeface="Arimo"/>
              </a:rPr>
              <a:t> </a:t>
            </a:r>
          </a:p>
          <a:p>
            <a:r>
              <a:rPr lang="en-US" dirty="0">
                <a:solidFill>
                  <a:srgbClr val="303030"/>
                </a:solidFill>
                <a:latin typeface="Arimo"/>
              </a:rPr>
              <a:t>Fixed length </a:t>
            </a:r>
            <a:r>
              <a:rPr lang="en-US" dirty="0" err="1">
                <a:solidFill>
                  <a:srgbClr val="303030"/>
                </a:solidFill>
                <a:latin typeface="Arimo"/>
              </a:rPr>
              <a:t>subnetting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 also called as </a:t>
            </a:r>
            <a:r>
              <a:rPr lang="en-US" b="1" dirty="0" err="1">
                <a:solidFill>
                  <a:srgbClr val="303030"/>
                </a:solidFill>
                <a:latin typeface="Arimo"/>
              </a:rPr>
              <a:t>classful</a:t>
            </a:r>
            <a:r>
              <a:rPr lang="en-US" b="1" dirty="0">
                <a:solidFill>
                  <a:srgbClr val="303030"/>
                </a:solidFill>
                <a:latin typeface="Arimo"/>
              </a:rPr>
              <a:t> </a:t>
            </a:r>
            <a:r>
              <a:rPr lang="en-US" b="1" dirty="0" err="1">
                <a:solidFill>
                  <a:srgbClr val="303030"/>
                </a:solidFill>
                <a:latin typeface="Arimo"/>
              </a:rPr>
              <a:t>subnetting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 divides the network into subnets where-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All the subnets are of same size.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All the subnets have equal number of hosts.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All the subnets have same subnet mask.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848" y="3791561"/>
            <a:ext cx="8089641" cy="296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5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132" y="1553663"/>
            <a:ext cx="6096000" cy="47434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1108" y="153463"/>
            <a:ext cx="120308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303030"/>
                </a:solidFill>
                <a:latin typeface="Roboto Condensed"/>
              </a:rPr>
              <a:t>2. Variable Length </a:t>
            </a:r>
            <a:r>
              <a:rPr lang="en-US" b="1" u="sng" dirty="0" err="1">
                <a:solidFill>
                  <a:srgbClr val="303030"/>
                </a:solidFill>
                <a:latin typeface="Roboto Condensed"/>
              </a:rPr>
              <a:t>Subnetting</a:t>
            </a:r>
            <a:r>
              <a:rPr lang="en-US" b="1" u="sng" dirty="0">
                <a:solidFill>
                  <a:srgbClr val="303030"/>
                </a:solidFill>
                <a:latin typeface="Roboto Condensed"/>
              </a:rPr>
              <a:t>-</a:t>
            </a:r>
            <a:endParaRPr lang="en-US" b="1" dirty="0">
              <a:solidFill>
                <a:srgbClr val="303030"/>
              </a:solidFill>
              <a:latin typeface="Roboto Condensed"/>
            </a:endParaRPr>
          </a:p>
          <a:p>
            <a:r>
              <a:rPr lang="en-US" dirty="0">
                <a:solidFill>
                  <a:srgbClr val="303030"/>
                </a:solidFill>
                <a:latin typeface="Arimo"/>
              </a:rPr>
              <a:t> </a:t>
            </a:r>
          </a:p>
          <a:p>
            <a:r>
              <a:rPr lang="en-US" dirty="0">
                <a:solidFill>
                  <a:srgbClr val="303030"/>
                </a:solidFill>
                <a:latin typeface="Arimo"/>
              </a:rPr>
              <a:t>Variable length </a:t>
            </a:r>
            <a:r>
              <a:rPr lang="en-US" dirty="0" err="1">
                <a:solidFill>
                  <a:srgbClr val="303030"/>
                </a:solidFill>
                <a:latin typeface="Arimo"/>
              </a:rPr>
              <a:t>subnetting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 also called as </a:t>
            </a:r>
            <a:r>
              <a:rPr lang="en-US" b="1" dirty="0">
                <a:solidFill>
                  <a:srgbClr val="303030"/>
                </a:solidFill>
                <a:latin typeface="Arimo"/>
              </a:rPr>
              <a:t>classless </a:t>
            </a:r>
            <a:r>
              <a:rPr lang="en-US" b="1" dirty="0" err="1">
                <a:solidFill>
                  <a:srgbClr val="303030"/>
                </a:solidFill>
                <a:latin typeface="Arimo"/>
              </a:rPr>
              <a:t>subnetting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 divides the network into subnets where-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All the subnets are not of same size.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All the subnets do not have equal number of hosts.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All the subnets do not have same subnet mask.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2164295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55755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/>
            <a:r>
              <a:rPr lang="en-US" b="1" dirty="0" err="1">
                <a:solidFill>
                  <a:srgbClr val="0D0D0D"/>
                </a:solidFill>
                <a:latin typeface="Söhne"/>
              </a:rPr>
              <a:t>Classful</a:t>
            </a:r>
            <a:r>
              <a:rPr lang="en-US" b="1" dirty="0">
                <a:solidFill>
                  <a:srgbClr val="0D0D0D"/>
                </a:solidFill>
                <a:latin typeface="Söhne"/>
              </a:rPr>
              <a:t> Networking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: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In </a:t>
            </a:r>
            <a:r>
              <a:rPr lang="en-US" dirty="0" err="1">
                <a:solidFill>
                  <a:srgbClr val="0D0D0D"/>
                </a:solidFill>
                <a:latin typeface="Söhne"/>
              </a:rPr>
              <a:t>classful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networking, IP addresses are divided into three main classes: Class A, Class B, and Class C.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The class of an IP address is determined by the first few bits of the address. Class A addresses have the first bit set to 0, Class B addresses have the first two bits set to 10, and Class C addresses have the first three bits set to 110.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Each class has a default subnet mask associated with it: Class A (/8), Class B (/16), and Class C (/24).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 err="1">
                <a:solidFill>
                  <a:srgbClr val="0D0D0D"/>
                </a:solidFill>
                <a:latin typeface="Söhne"/>
              </a:rPr>
              <a:t>Classful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networking does not allow for </a:t>
            </a:r>
            <a:r>
              <a:rPr lang="en-US" dirty="0" err="1">
                <a:solidFill>
                  <a:srgbClr val="0D0D0D"/>
                </a:solidFill>
                <a:latin typeface="Söhne"/>
              </a:rPr>
              <a:t>subnetting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within these predefined classes. Each network must use the default subnet mask associated with its class, which can lead to inefficient use of IP addresses.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 err="1">
                <a:solidFill>
                  <a:srgbClr val="0D0D0D"/>
                </a:solidFill>
                <a:latin typeface="Söhne"/>
              </a:rPr>
              <a:t>Classful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networking was the original addressing scheme used in early versions of the Internet but has largely been replaced by classless networking.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26628" y="0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pPr lvl="4"/>
            <a:r>
              <a:rPr lang="en-US" b="1" dirty="0">
                <a:solidFill>
                  <a:srgbClr val="0D0D0D"/>
                </a:solidFill>
                <a:latin typeface="Söhne"/>
              </a:rPr>
              <a:t>Classless Networking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:</a:t>
            </a:r>
          </a:p>
          <a:p>
            <a:pPr lvl="4"/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Classless Inter-Domain Routing (CIDR) is the basis of classless networking. With CIDR, IP addresses are allocated in a more flexible and efficient manner.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CIDR allows for the allocation of IP addresses with variable-length subnet masks (VLSM). This means that networks can be </a:t>
            </a:r>
            <a:r>
              <a:rPr lang="en-US" dirty="0" err="1">
                <a:solidFill>
                  <a:srgbClr val="0D0D0D"/>
                </a:solidFill>
                <a:latin typeface="Söhne"/>
              </a:rPr>
              <a:t>subnetted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more finely, allowing for better utilization of IP addresses and more efficient routing.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CIDR notation is used to represent IP addresses and their associated subnet masks. For example, instead of representing a network as a Class A, B, or C address with a default subnet mask, CIDR notation allows for more precise representation, such as 192.168.1.0/24.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Classless networking is the prevalent addressing scheme used in modern networking, offering greater flexibility, efficiency, and scalability compared to </a:t>
            </a:r>
            <a:r>
              <a:rPr lang="en-US" dirty="0" err="1">
                <a:solidFill>
                  <a:srgbClr val="0D0D0D"/>
                </a:solidFill>
                <a:latin typeface="Söhne"/>
              </a:rPr>
              <a:t>classful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networking.</a:t>
            </a:r>
          </a:p>
        </p:txBody>
      </p:sp>
    </p:spTree>
    <p:extLst>
      <p:ext uri="{BB962C8B-B14F-4D97-AF65-F5344CB8AC3E}">
        <p14:creationId xmlns:p14="http://schemas.microsoft.com/office/powerpoint/2010/main" val="2027612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93949" y="2591191"/>
            <a:ext cx="41826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kern="1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C </a:t>
            </a:r>
            <a:r>
              <a:rPr lang="en-US" sz="4000" b="1" kern="100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Subnetting</a:t>
            </a:r>
            <a:endParaRPr lang="en-US" sz="4000" dirty="0">
              <a:solidFill>
                <a:srgbClr val="00B05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890" y="3500847"/>
            <a:ext cx="6897189" cy="266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2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C                      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 .168.0.0/24                            	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8521338" y="143095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200784" y="3744772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8 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256 – 2</a:t>
            </a:r>
            <a:endParaRPr lang="en-US" sz="2000" dirty="0"/>
          </a:p>
          <a:p>
            <a:r>
              <a:rPr lang="en-US" sz="2000" b="1" dirty="0"/>
              <a:t>	254 hosts/network</a:t>
            </a:r>
            <a:endParaRPr lang="en-US" sz="2000" dirty="0"/>
          </a:p>
          <a:p>
            <a:r>
              <a:rPr lang="en-US" b="1" dirty="0"/>
              <a:t>      Total number of IP’s is 256 network</a:t>
            </a:r>
            <a:endParaRPr lang="en-US" dirty="0"/>
          </a:p>
          <a:p>
            <a:r>
              <a:rPr lang="en-US" b="1" dirty="0"/>
              <a:t>      Total number of usable IP’s is 254/network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232" y="4251684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86709" y="4601770"/>
            <a:ext cx="4306435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0 </a:t>
            </a:r>
            <a:r>
              <a:rPr lang="en-US" sz="2400" b="1" dirty="0"/>
              <a:t> </a:t>
            </a:r>
            <a:r>
              <a:rPr lang="en-US" sz="2000" b="1" dirty="0"/>
              <a:t> [ in last 8 bit there are no of n/w’s</a:t>
            </a:r>
            <a:r>
              <a:rPr lang="en-US" b="1" dirty="0"/>
              <a:t>]</a:t>
            </a:r>
          </a:p>
          <a:p>
            <a:r>
              <a:rPr lang="en-US" sz="2400" b="1" dirty="0"/>
              <a:t>N=0</a:t>
            </a:r>
          </a:p>
          <a:p>
            <a:endParaRPr lang="en-US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104784" y="374477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5878286" y="3744772"/>
            <a:ext cx="13063" cy="3010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486" y="1014381"/>
            <a:ext cx="5943600" cy="267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60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666730"/>
              </p:ext>
            </p:extLst>
          </p:nvPr>
        </p:nvGraphicFramePr>
        <p:xfrm>
          <a:off x="0" y="0"/>
          <a:ext cx="6740434" cy="6858001"/>
        </p:xfrm>
        <a:graphic>
          <a:graphicData uri="http://schemas.openxmlformats.org/drawingml/2006/table">
            <a:tbl>
              <a:tblPr/>
              <a:tblGrid>
                <a:gridCol w="3370217">
                  <a:extLst>
                    <a:ext uri="{9D8B030D-6E8A-4147-A177-3AD203B41FA5}">
                      <a16:colId xmlns:a16="http://schemas.microsoft.com/office/drawing/2014/main" val="2691183949"/>
                    </a:ext>
                  </a:extLst>
                </a:gridCol>
                <a:gridCol w="3370217">
                  <a:extLst>
                    <a:ext uri="{9D8B030D-6E8A-4147-A177-3AD203B41FA5}">
                      <a16:colId xmlns:a16="http://schemas.microsoft.com/office/drawing/2014/main" val="3626621149"/>
                    </a:ext>
                  </a:extLst>
                </a:gridCol>
              </a:tblGrid>
              <a:tr h="56670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 Address: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192.168.0.0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50669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Network Address: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192.168.0.0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057830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Usable Host IP Range: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192.168.0.1 - 192.168.0.254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69441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Broadcast Address: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192.168.0.255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567007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 Number of Hosts: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256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734652"/>
                  </a:ext>
                </a:extLst>
              </a:tr>
              <a:tr h="40955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Number of Usable Hosts: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254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8957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Subnet Mask: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255.255.255.0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959383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Wildcard Mask: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0.0.0.255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27246"/>
                  </a:ext>
                </a:extLst>
              </a:tr>
              <a:tr h="78142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Binary Subnet Mask: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11111111.11111111.11111111.00000000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092162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 Class: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981048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CIDR Notation: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/24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26098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 Type: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Private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325161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9CA64C0F-B637-E794-CB78-99BDE61F3054}"/>
              </a:ext>
            </a:extLst>
          </p:cNvPr>
          <p:cNvSpPr/>
          <p:nvPr/>
        </p:nvSpPr>
        <p:spPr>
          <a:xfrm>
            <a:off x="7158446" y="1124952"/>
            <a:ext cx="4833027" cy="4608095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67014" y="711926"/>
            <a:ext cx="3015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Network Address:192.168.0.0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7014" y="5869967"/>
            <a:ext cx="3365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Broadcast Address:192.168.0.255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2948" y="3059667"/>
            <a:ext cx="2920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Number of Usable Hosts:254</a:t>
            </a:r>
          </a:p>
        </p:txBody>
      </p:sp>
    </p:spTree>
    <p:extLst>
      <p:ext uri="{BB962C8B-B14F-4D97-AF65-F5344CB8AC3E}">
        <p14:creationId xmlns:p14="http://schemas.microsoft.com/office/powerpoint/2010/main" val="3805249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6571" y="0"/>
            <a:ext cx="12762412" cy="1936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C                      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 .168.0.0/25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                                                        				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8521338" y="143095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852855" y="1398173"/>
            <a:ext cx="8538299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255.	    255.        255.           128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75104" y="3276924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7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128– 2</a:t>
            </a:r>
            <a:endParaRPr lang="en-US" sz="2000" dirty="0"/>
          </a:p>
          <a:p>
            <a:r>
              <a:rPr lang="en-US" sz="2000" b="1" dirty="0"/>
              <a:t>	126 hosts/network</a:t>
            </a:r>
            <a:endParaRPr lang="en-US" sz="2000" dirty="0"/>
          </a:p>
          <a:p>
            <a:r>
              <a:rPr lang="en-US" b="1" dirty="0"/>
              <a:t>      Total number of IP’s is 128 network</a:t>
            </a:r>
            <a:endParaRPr lang="en-US" dirty="0"/>
          </a:p>
          <a:p>
            <a:r>
              <a:rPr lang="en-US" b="1" dirty="0"/>
              <a:t>      Total number of usable IP’s is 126/network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5" y="3685878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60583" y="3569804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1 </a:t>
            </a:r>
            <a:r>
              <a:rPr lang="en-US" sz="2400" b="1" dirty="0"/>
              <a:t> </a:t>
            </a:r>
            <a:r>
              <a:rPr lang="en-US" sz="2000" b="1" dirty="0"/>
              <a:t> </a:t>
            </a:r>
          </a:p>
          <a:p>
            <a:r>
              <a:rPr lang="en-US" sz="2800" b="1" dirty="0" smtClean="0"/>
              <a:t>N=2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826034" y="2145310"/>
            <a:ext cx="52252" cy="4609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694191" y="1062900"/>
            <a:ext cx="7284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11111111.11111111. 11111111.</a:t>
            </a:r>
            <a:r>
              <a:rPr lang="en-US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0000000 [</a:t>
            </a:r>
            <a:r>
              <a:rPr lang="en-US" sz="2400" dirty="0"/>
              <a:t>Borrow 1 bit]</a:t>
            </a:r>
          </a:p>
        </p:txBody>
      </p:sp>
    </p:spTree>
    <p:extLst>
      <p:ext uri="{BB962C8B-B14F-4D97-AF65-F5344CB8AC3E}">
        <p14:creationId xmlns:p14="http://schemas.microsoft.com/office/powerpoint/2010/main" val="313516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792968"/>
              </p:ext>
            </p:extLst>
          </p:nvPr>
        </p:nvGraphicFramePr>
        <p:xfrm>
          <a:off x="0" y="0"/>
          <a:ext cx="6792686" cy="4689561"/>
        </p:xfrm>
        <a:graphic>
          <a:graphicData uri="http://schemas.openxmlformats.org/drawingml/2006/table">
            <a:tbl>
              <a:tblPr/>
              <a:tblGrid>
                <a:gridCol w="3396343">
                  <a:extLst>
                    <a:ext uri="{9D8B030D-6E8A-4147-A177-3AD203B41FA5}">
                      <a16:colId xmlns:a16="http://schemas.microsoft.com/office/drawing/2014/main" val="3233053049"/>
                    </a:ext>
                  </a:extLst>
                </a:gridCol>
                <a:gridCol w="3396343">
                  <a:extLst>
                    <a:ext uri="{9D8B030D-6E8A-4147-A177-3AD203B41FA5}">
                      <a16:colId xmlns:a16="http://schemas.microsoft.com/office/drawing/2014/main" val="4264473436"/>
                    </a:ext>
                  </a:extLst>
                </a:gridCol>
              </a:tblGrid>
              <a:tr h="3655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 Address: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192.168.0.0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694689"/>
                  </a:ext>
                </a:extLst>
              </a:tr>
              <a:tr h="3655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Network Address: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192.168.0.0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924401"/>
                  </a:ext>
                </a:extLst>
              </a:tr>
              <a:tr h="3655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Usable Host IP Range: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192.168.0.1 - 192.168.0.126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191039"/>
                  </a:ext>
                </a:extLst>
              </a:tr>
              <a:tr h="3655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Broadcast Address: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192.168.0.127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389176"/>
                  </a:ext>
                </a:extLst>
              </a:tr>
              <a:tr h="3655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 Number of Hosts: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128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714230"/>
                  </a:ext>
                </a:extLst>
              </a:tr>
              <a:tr h="3655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Number of Usable Hosts: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126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679770"/>
                  </a:ext>
                </a:extLst>
              </a:tr>
              <a:tr h="3655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Subnet Mask: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255.255.255.128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403892"/>
                  </a:ext>
                </a:extLst>
              </a:tr>
              <a:tr h="3655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Wildcard Mask: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0.0.0.127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21379"/>
                  </a:ext>
                </a:extLst>
              </a:tr>
              <a:tr h="668137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Binary Subnet Mask: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11111111.11111111.11111111.10000000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69885"/>
                  </a:ext>
                </a:extLst>
              </a:tr>
              <a:tr h="3655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 Class: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552852"/>
                  </a:ext>
                </a:extLst>
              </a:tr>
              <a:tr h="3655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CIDR Notation: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/25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231882"/>
                  </a:ext>
                </a:extLst>
              </a:tr>
              <a:tr h="3655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 Type: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Private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06907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4851066"/>
            <a:ext cx="5480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2 of the Possible /25 Networks for 192.168.0.*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921113"/>
              </p:ext>
            </p:extLst>
          </p:nvPr>
        </p:nvGraphicFramePr>
        <p:xfrm>
          <a:off x="105622" y="5220398"/>
          <a:ext cx="6778503" cy="1581150"/>
        </p:xfrm>
        <a:graphic>
          <a:graphicData uri="http://schemas.openxmlformats.org/drawingml/2006/table">
            <a:tbl>
              <a:tblPr/>
              <a:tblGrid>
                <a:gridCol w="2259501">
                  <a:extLst>
                    <a:ext uri="{9D8B030D-6E8A-4147-A177-3AD203B41FA5}">
                      <a16:colId xmlns:a16="http://schemas.microsoft.com/office/drawing/2014/main" val="3769467779"/>
                    </a:ext>
                  </a:extLst>
                </a:gridCol>
                <a:gridCol w="2259501">
                  <a:extLst>
                    <a:ext uri="{9D8B030D-6E8A-4147-A177-3AD203B41FA5}">
                      <a16:colId xmlns:a16="http://schemas.microsoft.com/office/drawing/2014/main" val="631356628"/>
                    </a:ext>
                  </a:extLst>
                </a:gridCol>
                <a:gridCol w="2259501">
                  <a:extLst>
                    <a:ext uri="{9D8B030D-6E8A-4147-A177-3AD203B41FA5}">
                      <a16:colId xmlns:a16="http://schemas.microsoft.com/office/drawing/2014/main" val="1537137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Network Address</a:t>
                      </a:r>
                    </a:p>
                  </a:txBody>
                  <a:tcPr marL="28575" marR="28575" marT="47625" marB="47625" anchor="ctr">
                    <a:lnL w="9525" cap="flat" cmpd="sng" algn="ctr">
                      <a:solidFill>
                        <a:srgbClr val="114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14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14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Usable Host Range</a:t>
                      </a:r>
                    </a:p>
                  </a:txBody>
                  <a:tcPr marL="28575" marR="28575" marT="47625" marB="47625" anchor="ctr">
                    <a:lnL w="9525" cap="flat" cmpd="sng" algn="ctr">
                      <a:solidFill>
                        <a:srgbClr val="114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14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14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Broadcast Address:</a:t>
                      </a:r>
                    </a:p>
                  </a:txBody>
                  <a:tcPr marL="28575" marR="28575" marT="47625" marB="47625" anchor="ctr">
                    <a:lnL w="9525" cap="flat" cmpd="sng" algn="ctr">
                      <a:solidFill>
                        <a:srgbClr val="114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14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144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123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192.168.0.0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192.168.0.1 - 192.168.0.126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192.168.0.127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007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192.168.0.128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192.168.0.129 - 192.168.0.254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192.168.0.255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591385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F2CB24CB-98B8-469D-3BD7-FEA947157432}"/>
              </a:ext>
            </a:extLst>
          </p:cNvPr>
          <p:cNvSpPr/>
          <p:nvPr/>
        </p:nvSpPr>
        <p:spPr>
          <a:xfrm>
            <a:off x="7302137" y="1071154"/>
            <a:ext cx="4663439" cy="3618407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stCxn id="8" idx="0"/>
            <a:endCxn id="8" idx="4"/>
          </p:cNvCxnSpPr>
          <p:nvPr/>
        </p:nvCxnSpPr>
        <p:spPr>
          <a:xfrm>
            <a:off x="9633857" y="1071154"/>
            <a:ext cx="0" cy="361840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070220" y="540317"/>
            <a:ext cx="2589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Network Address:192.168.0.0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23269" y="453617"/>
            <a:ext cx="23220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Network Address:192.168.0.128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6043" y="4527900"/>
            <a:ext cx="25306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Broadcast Address:192.168.0.127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9393" y="4712566"/>
            <a:ext cx="2469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Broadcast Address:192.168.0.255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6455" y="2344780"/>
            <a:ext cx="20116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Usable Host IP Range:192.168.0.1 - 192.168.0.126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38782" y="2308909"/>
            <a:ext cx="21896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Usable Host IP Range:192.168.0.129 - 192.168.0.254</a:t>
            </a:r>
          </a:p>
        </p:txBody>
      </p:sp>
    </p:spTree>
    <p:extLst>
      <p:ext uri="{BB962C8B-B14F-4D97-AF65-F5344CB8AC3E}">
        <p14:creationId xmlns:p14="http://schemas.microsoft.com/office/powerpoint/2010/main" val="3869355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1475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C                      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 .168.0.0/26                           	                                                         				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8521338" y="143095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283929" y="1340496"/>
            <a:ext cx="8538299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255.	    255.        255.           192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75104" y="3276924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6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64– 2</a:t>
            </a:r>
            <a:endParaRPr lang="en-US" sz="2000" dirty="0"/>
          </a:p>
          <a:p>
            <a:r>
              <a:rPr lang="en-US" sz="2000" b="1" dirty="0"/>
              <a:t>	62 hosts/network</a:t>
            </a:r>
            <a:endParaRPr lang="en-US" sz="2000" dirty="0"/>
          </a:p>
          <a:p>
            <a:r>
              <a:rPr lang="en-US" b="1" dirty="0"/>
              <a:t>      Total number of IP’s is 64 network</a:t>
            </a:r>
            <a:endParaRPr lang="en-US" dirty="0"/>
          </a:p>
          <a:p>
            <a:r>
              <a:rPr lang="en-US" b="1" dirty="0"/>
              <a:t>      Total number of usable IP’s is 62/network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043" y="3685878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60583" y="3569804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2 </a:t>
            </a:r>
            <a:r>
              <a:rPr lang="en-US" sz="2400" b="1" dirty="0"/>
              <a:t> </a:t>
            </a:r>
            <a:r>
              <a:rPr lang="en-US" sz="2000" b="1" dirty="0"/>
              <a:t> </a:t>
            </a:r>
          </a:p>
          <a:p>
            <a:r>
              <a:rPr lang="en-US" sz="2800" b="1" dirty="0"/>
              <a:t>N=4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826034" y="2145310"/>
            <a:ext cx="52252" cy="4609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025188" y="971398"/>
            <a:ext cx="7284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11111111.11111111. 11111111.</a:t>
            </a:r>
            <a:r>
              <a:rPr lang="en-US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000000 [</a:t>
            </a:r>
            <a:r>
              <a:rPr lang="en-US" sz="2400" dirty="0"/>
              <a:t>Borrow 2 bit]</a:t>
            </a:r>
          </a:p>
        </p:txBody>
      </p:sp>
    </p:spTree>
    <p:extLst>
      <p:ext uri="{BB962C8B-B14F-4D97-AF65-F5344CB8AC3E}">
        <p14:creationId xmlns:p14="http://schemas.microsoft.com/office/powerpoint/2010/main" val="2313383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3499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49931"/>
            <a:ext cx="11952514" cy="250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51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2" y="369333"/>
            <a:ext cx="11377748" cy="64886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96309" y="22681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264066" y="0"/>
            <a:ext cx="5480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4 of the Possible /26 Networks for 192.168.0.*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813" y="1554480"/>
            <a:ext cx="4224473" cy="150222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457" y="1955753"/>
            <a:ext cx="4419600" cy="11009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824" y="3958213"/>
            <a:ext cx="4362450" cy="118695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0016" y="4070675"/>
            <a:ext cx="441007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017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1936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C                      </a:t>
            </a:r>
          </a:p>
          <a:p>
            <a:pPr marL="2286000" indent="1895475">
              <a:lnSpc>
                <a:spcPct val="107000"/>
              </a:lnSpc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 .168.0.0/27                           	                                                         11111111.11111111. 11111111.</a:t>
            </a:r>
            <a:r>
              <a:rPr lang="en-US" sz="2800" b="1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</a:t>
            </a: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00000 [</a:t>
            </a:r>
            <a:r>
              <a:rPr lang="en-US" sz="2800" dirty="0"/>
              <a:t>Borrow 3 bit]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8521338" y="143095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283929" y="1340496"/>
            <a:ext cx="8538299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255.	    255.        255.           224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03522" y="3041793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5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</a:t>
            </a:r>
            <a:r>
              <a:rPr lang="en-US" sz="2000" b="1" dirty="0" smtClean="0"/>
              <a:t>32– </a:t>
            </a:r>
            <a:r>
              <a:rPr lang="en-US" sz="2000" b="1" dirty="0"/>
              <a:t>2</a:t>
            </a:r>
            <a:endParaRPr lang="en-US" sz="2000" dirty="0"/>
          </a:p>
          <a:p>
            <a:r>
              <a:rPr lang="en-US" sz="2000" b="1" dirty="0"/>
              <a:t>	</a:t>
            </a:r>
            <a:r>
              <a:rPr lang="en-US" sz="2000" b="1" dirty="0" smtClean="0"/>
              <a:t>30 </a:t>
            </a:r>
            <a:r>
              <a:rPr lang="en-US" sz="2000" b="1" dirty="0"/>
              <a:t>hosts/network</a:t>
            </a:r>
            <a:endParaRPr lang="en-US" sz="2000" dirty="0"/>
          </a:p>
          <a:p>
            <a:r>
              <a:rPr lang="en-US" b="1" dirty="0"/>
              <a:t>      Total number of IP’s is </a:t>
            </a:r>
            <a:r>
              <a:rPr lang="en-US" b="1" dirty="0" smtClean="0"/>
              <a:t>32 per </a:t>
            </a:r>
            <a:r>
              <a:rPr lang="en-US" b="1" dirty="0"/>
              <a:t>network</a:t>
            </a:r>
            <a:endParaRPr lang="en-US" dirty="0"/>
          </a:p>
          <a:p>
            <a:r>
              <a:rPr lang="en-US" b="1" dirty="0"/>
              <a:t>      Total number of usable IP’s is </a:t>
            </a:r>
            <a:r>
              <a:rPr lang="en-US" b="1" dirty="0" smtClean="0"/>
              <a:t>30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043" y="3685878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60583" y="3569804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3</a:t>
            </a:r>
            <a:r>
              <a:rPr lang="en-US" sz="2400" b="1" dirty="0"/>
              <a:t> </a:t>
            </a:r>
            <a:r>
              <a:rPr lang="en-US" sz="2000" b="1" dirty="0"/>
              <a:t> </a:t>
            </a:r>
          </a:p>
          <a:p>
            <a:r>
              <a:rPr lang="en-US" sz="2800" b="1" dirty="0" smtClean="0"/>
              <a:t>N=8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826034" y="2145310"/>
            <a:ext cx="52252" cy="4609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354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39989" cy="39580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3819907"/>
            <a:ext cx="56170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All 8 of the Possible /27 Networks for 192.168.0.*</a:t>
            </a:r>
          </a:p>
          <a:p>
            <a:endParaRPr lang="en-US" sz="20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88184" y="12750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Total number of IP’s is 64 per network</a:t>
            </a:r>
            <a:endParaRPr lang="en-US" dirty="0"/>
          </a:p>
          <a:p>
            <a:r>
              <a:rPr lang="en-US" b="1" dirty="0"/>
              <a:t> Total number of usable IP’s is 62 per network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844" y="773835"/>
            <a:ext cx="4036150" cy="30676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23594"/>
            <a:ext cx="11635604" cy="253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59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2397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C                      </a:t>
            </a:r>
          </a:p>
          <a:p>
            <a:pPr marL="2286000" indent="1895475">
              <a:lnSpc>
                <a:spcPct val="107000"/>
              </a:lnSpc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 .168.0.0/28                           11111111.11111111. 11111111.</a:t>
            </a:r>
            <a:r>
              <a:rPr lang="en-US" sz="2800" b="1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</a:t>
            </a: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0000[</a:t>
            </a:r>
            <a:r>
              <a:rPr lang="en-US" sz="2800" dirty="0"/>
              <a:t>Borrow 4 bit]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                                                        				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8521338" y="143095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283929" y="1340496"/>
            <a:ext cx="8538299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255.	    255.        255.           240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75104" y="3276924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4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16– 2</a:t>
            </a:r>
            <a:endParaRPr lang="en-US" sz="2000" dirty="0"/>
          </a:p>
          <a:p>
            <a:r>
              <a:rPr lang="en-US" sz="2000" b="1" dirty="0"/>
              <a:t>	</a:t>
            </a:r>
            <a:r>
              <a:rPr lang="en-US" sz="2000" b="1" dirty="0" smtClean="0"/>
              <a:t>14 </a:t>
            </a:r>
            <a:r>
              <a:rPr lang="en-US" sz="2000" b="1" dirty="0"/>
              <a:t>hosts/network</a:t>
            </a:r>
            <a:endParaRPr lang="en-US" sz="2000" dirty="0"/>
          </a:p>
          <a:p>
            <a:r>
              <a:rPr lang="en-US" b="1" dirty="0"/>
              <a:t>      Total number of IP’s is </a:t>
            </a:r>
            <a:r>
              <a:rPr lang="en-US" b="1" dirty="0" smtClean="0"/>
              <a:t>16 </a:t>
            </a:r>
            <a:r>
              <a:rPr lang="en-US" b="1" dirty="0"/>
              <a:t>per network</a:t>
            </a:r>
            <a:endParaRPr lang="en-US" dirty="0"/>
          </a:p>
          <a:p>
            <a:r>
              <a:rPr lang="en-US" b="1" dirty="0"/>
              <a:t>      Total number of usable IP’s is </a:t>
            </a:r>
            <a:r>
              <a:rPr lang="en-US" b="1" dirty="0" smtClean="0"/>
              <a:t>14 </a:t>
            </a:r>
            <a:r>
              <a:rPr lang="en-US" b="1" dirty="0"/>
              <a:t>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043" y="3685878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60583" y="3569804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4</a:t>
            </a:r>
            <a:r>
              <a:rPr lang="en-US" sz="2400" b="1" dirty="0"/>
              <a:t> </a:t>
            </a:r>
            <a:r>
              <a:rPr lang="en-US" sz="2000" b="1" dirty="0"/>
              <a:t> </a:t>
            </a:r>
          </a:p>
          <a:p>
            <a:r>
              <a:rPr lang="en-US" sz="2800" b="1" dirty="0" smtClean="0"/>
              <a:t>N=16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826034" y="2145310"/>
            <a:ext cx="52252" cy="4609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48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200400"/>
            <a:ext cx="6296296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13854" y="0"/>
            <a:ext cx="57219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All 16 of the Possible /28 Networks for 192.168.0.*</a:t>
            </a:r>
            <a:endParaRPr lang="en-US" sz="14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297" y="307777"/>
            <a:ext cx="5895703" cy="65502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11" y="640080"/>
            <a:ext cx="4494078" cy="2560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00297" y="-625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Total number of IP’s is 32 network</a:t>
            </a:r>
            <a:endParaRPr lang="en-US" dirty="0"/>
          </a:p>
          <a:p>
            <a:r>
              <a:rPr lang="en-US" b="1" dirty="0"/>
              <a:t> Total number of usable IP’s is 30/network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921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2397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C                      </a:t>
            </a:r>
          </a:p>
          <a:p>
            <a:pPr marL="2286000" indent="1895475">
              <a:lnSpc>
                <a:spcPct val="107000"/>
              </a:lnSpc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 .168.0.0/29                           11111111.11111111. 11111111.</a:t>
            </a:r>
            <a:r>
              <a:rPr lang="en-US" sz="2800" b="1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</a:t>
            </a: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000[</a:t>
            </a:r>
            <a:r>
              <a:rPr lang="en-US" sz="2800" dirty="0"/>
              <a:t>Borrow 5 bit]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                                                        				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8521338" y="143095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283929" y="1340496"/>
            <a:ext cx="8538299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255.	    255.        255.           248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75104" y="3276924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3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8– 2</a:t>
            </a:r>
            <a:endParaRPr lang="en-US" sz="2000" dirty="0"/>
          </a:p>
          <a:p>
            <a:r>
              <a:rPr lang="en-US" sz="2000" b="1" dirty="0"/>
              <a:t>	6 hosts/network</a:t>
            </a:r>
            <a:endParaRPr lang="en-US" sz="2000" dirty="0"/>
          </a:p>
          <a:p>
            <a:r>
              <a:rPr lang="en-US" b="1" dirty="0"/>
              <a:t>      Total number of IP’s is 8 per network</a:t>
            </a:r>
            <a:endParaRPr lang="en-US" dirty="0"/>
          </a:p>
          <a:p>
            <a:r>
              <a:rPr lang="en-US" b="1" dirty="0"/>
              <a:t>      Total number of usable IP’s is 6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043" y="3685878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60583" y="3569804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5</a:t>
            </a:r>
            <a:r>
              <a:rPr lang="en-US" sz="2400" b="1" dirty="0"/>
              <a:t> </a:t>
            </a:r>
            <a:r>
              <a:rPr lang="en-US" sz="2000" b="1" dirty="0"/>
              <a:t> </a:t>
            </a:r>
          </a:p>
          <a:p>
            <a:r>
              <a:rPr lang="en-US" sz="2800" b="1" dirty="0"/>
              <a:t>N=32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826034" y="2145310"/>
            <a:ext cx="52252" cy="4609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422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		</a:t>
            </a:r>
          </a:p>
          <a:p>
            <a:r>
              <a:rPr lang="en-US" dirty="0"/>
              <a:t>		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5834"/>
            <a:ext cx="6152606" cy="375216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39386" y="1"/>
            <a:ext cx="56092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32 of the Possible /29 Networks for 192.168.0.*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387" y="369333"/>
            <a:ext cx="5852614" cy="64886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3" y="653143"/>
            <a:ext cx="5342800" cy="243373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223" y="-1214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Total number of IP’s is 8 per network</a:t>
            </a:r>
            <a:endParaRPr lang="en-US" dirty="0"/>
          </a:p>
          <a:p>
            <a:r>
              <a:rPr lang="en-US" b="1" dirty="0"/>
              <a:t>Total number of usable IP’s is 6 per network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20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2397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C                      </a:t>
            </a:r>
          </a:p>
          <a:p>
            <a:pPr marL="2286000" indent="1895475">
              <a:lnSpc>
                <a:spcPct val="107000"/>
              </a:lnSpc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 .168.0.0/30                           11111111.11111111. 11111111.</a:t>
            </a:r>
            <a:r>
              <a:rPr lang="en-US" sz="2800" b="1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</a:t>
            </a: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 [</a:t>
            </a:r>
            <a:r>
              <a:rPr lang="en-US" sz="2800" dirty="0"/>
              <a:t>Borrow 6 bits]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                                                        				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8521338" y="143095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283929" y="1340496"/>
            <a:ext cx="8445325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255.	    255.        255.           252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75104" y="3276924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2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4– 2</a:t>
            </a:r>
            <a:endParaRPr lang="en-US" sz="2000" dirty="0"/>
          </a:p>
          <a:p>
            <a:r>
              <a:rPr lang="en-US" sz="2000" b="1" dirty="0"/>
              <a:t>	2 hosts/network</a:t>
            </a:r>
            <a:endParaRPr lang="en-US" sz="2000" dirty="0"/>
          </a:p>
          <a:p>
            <a:r>
              <a:rPr lang="en-US" b="1" dirty="0"/>
              <a:t>      Total number of IP’s is 4 per network</a:t>
            </a:r>
            <a:endParaRPr lang="en-US" dirty="0"/>
          </a:p>
          <a:p>
            <a:r>
              <a:rPr lang="en-US" b="1" dirty="0"/>
              <a:t>      Total number of usable IP’s is 2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043" y="3685878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60583" y="3569804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6</a:t>
            </a:r>
            <a:r>
              <a:rPr lang="en-US" sz="2400" b="1" dirty="0"/>
              <a:t> </a:t>
            </a:r>
            <a:r>
              <a:rPr lang="en-US" sz="2000" b="1" dirty="0"/>
              <a:t> </a:t>
            </a:r>
          </a:p>
          <a:p>
            <a:r>
              <a:rPr lang="en-US" sz="2800" b="1" dirty="0"/>
              <a:t>N=64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826034" y="2145310"/>
            <a:ext cx="52252" cy="4609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972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257"/>
            <a:ext cx="11038114" cy="659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589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40913"/>
            <a:ext cx="6096000" cy="62170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Network Address	Usable Host Range	Broadcast Address</a:t>
            </a:r>
            <a:r>
              <a:rPr lang="en-US" sz="1400" dirty="0"/>
              <a:t>:</a:t>
            </a:r>
          </a:p>
          <a:p>
            <a:r>
              <a:rPr lang="en-US" sz="1200" dirty="0"/>
              <a:t>192.168.0.0		192.168.0.1 - 192.168.0.2		192.168.0.3</a:t>
            </a:r>
          </a:p>
          <a:p>
            <a:r>
              <a:rPr lang="en-US" sz="1200" dirty="0"/>
              <a:t>192.168.0.4		192.168.0.5 - 192.168.0.6		192.168.0.7</a:t>
            </a:r>
          </a:p>
          <a:p>
            <a:r>
              <a:rPr lang="en-US" sz="1200" dirty="0"/>
              <a:t>192.168.0.8		192.168.0.9 - 192.168.0.10		192.168.0.11</a:t>
            </a:r>
          </a:p>
          <a:p>
            <a:r>
              <a:rPr lang="en-US" sz="1200" dirty="0"/>
              <a:t>192.168.0.12		192.168.0.13 - 192.168.0.14		192.168.0.15</a:t>
            </a:r>
          </a:p>
          <a:p>
            <a:r>
              <a:rPr lang="en-US" sz="1200" dirty="0"/>
              <a:t>192.168.0.16		192.168.0.17 - 192.168.0.18		192.168.0.19</a:t>
            </a:r>
          </a:p>
          <a:p>
            <a:r>
              <a:rPr lang="en-US" sz="1200" dirty="0"/>
              <a:t>192.168.0.20		192.168.0.21 - 192.168.0.22		192.168.0.23</a:t>
            </a:r>
          </a:p>
          <a:p>
            <a:r>
              <a:rPr lang="en-US" sz="1200" dirty="0"/>
              <a:t>192.168.0.24		192.168.0.25 - 192.168.0.26		192.168.0.27</a:t>
            </a:r>
          </a:p>
          <a:p>
            <a:r>
              <a:rPr lang="en-US" sz="1200" dirty="0"/>
              <a:t>192.168.0.28		192.168.0.29 - 192.168.0.30		192.168.0.31</a:t>
            </a:r>
          </a:p>
          <a:p>
            <a:r>
              <a:rPr lang="en-US" sz="1200" dirty="0"/>
              <a:t>192.168.0.32		192.168.0.33 - 192.168.0.34		192.168.0.35</a:t>
            </a:r>
          </a:p>
          <a:p>
            <a:r>
              <a:rPr lang="en-US" sz="1200" dirty="0"/>
              <a:t>192.168.0.36		192.168.0.37 - 192.168.0.38		192.168.0.39</a:t>
            </a:r>
          </a:p>
          <a:p>
            <a:r>
              <a:rPr lang="en-US" sz="1200" dirty="0"/>
              <a:t>192.168.0.40		192.168.0.41 - 192.168.0.42		192.168.0.43</a:t>
            </a:r>
          </a:p>
          <a:p>
            <a:r>
              <a:rPr lang="en-US" sz="1200" dirty="0"/>
              <a:t>192.168.0.44		192.168.0.45 - 192.168.0.46		192.168.0.47</a:t>
            </a:r>
          </a:p>
          <a:p>
            <a:r>
              <a:rPr lang="en-US" sz="1200" dirty="0"/>
              <a:t>192.168.0.48		192.168.0.49 - 192.168.0.50		192.168.0.51</a:t>
            </a:r>
          </a:p>
          <a:p>
            <a:r>
              <a:rPr lang="en-US" sz="1200" dirty="0"/>
              <a:t>192.168.0.52		192.168.0.53 - 192.168.0.54		192.168.0.55</a:t>
            </a:r>
          </a:p>
          <a:p>
            <a:r>
              <a:rPr lang="en-US" sz="1200" dirty="0"/>
              <a:t>192.168.0.56		192.168.0.57 - 192.168.0.58		192.168.0.59</a:t>
            </a:r>
          </a:p>
          <a:p>
            <a:r>
              <a:rPr lang="en-US" sz="1200" dirty="0"/>
              <a:t>192.168.0.60		192.168.0.61 - 192.168.0.62		192.168.0.63</a:t>
            </a:r>
          </a:p>
          <a:p>
            <a:r>
              <a:rPr lang="en-US" sz="1200" dirty="0"/>
              <a:t>192.168.0.64		192.168.0.65 - 192.168.0.66		192.168.0.67</a:t>
            </a:r>
          </a:p>
          <a:p>
            <a:r>
              <a:rPr lang="en-US" sz="1200" dirty="0"/>
              <a:t>192.168.0.68		192.168.0.69 - 192.168.0.70		192.168.0.71</a:t>
            </a:r>
          </a:p>
          <a:p>
            <a:r>
              <a:rPr lang="en-US" sz="1200" dirty="0"/>
              <a:t>192.168.0.72		192.168.0.73 - 192.168.0.74		192.168.0.75</a:t>
            </a:r>
          </a:p>
          <a:p>
            <a:r>
              <a:rPr lang="en-US" sz="1200" dirty="0"/>
              <a:t>192.168.0.76		192.168.0.77 - 192.168.0.78		192.168.0.79</a:t>
            </a:r>
          </a:p>
          <a:p>
            <a:r>
              <a:rPr lang="en-US" sz="1200" dirty="0"/>
              <a:t>192.168.0.80		192.168.0.81 - 192.168.0.82		192.168.0.83</a:t>
            </a:r>
          </a:p>
          <a:p>
            <a:r>
              <a:rPr lang="en-US" sz="1200" dirty="0"/>
              <a:t>192.168.0.84		192.168.0.85 - 192.168.0.86		192.168.0.87</a:t>
            </a:r>
          </a:p>
          <a:p>
            <a:r>
              <a:rPr lang="en-US" sz="1200" dirty="0"/>
              <a:t>192.168.0.88		192.168.0.89 - 192.168.0.90		192.168.0.91</a:t>
            </a:r>
          </a:p>
          <a:p>
            <a:r>
              <a:rPr lang="en-US" sz="1200" dirty="0"/>
              <a:t>192.168.0.92		192.168.0.93 - 192.168.0.94		192.168.0.95</a:t>
            </a:r>
          </a:p>
          <a:p>
            <a:r>
              <a:rPr lang="en-US" sz="1200" dirty="0"/>
              <a:t>192.168.0.96		192.168.0.97 - 192.168.0.98		192.168.0.99</a:t>
            </a:r>
          </a:p>
          <a:p>
            <a:r>
              <a:rPr lang="en-US" sz="1200" dirty="0"/>
              <a:t>192.168.0.100		192.168.0.101 - 192.168.0.102	192.168.0.103</a:t>
            </a:r>
          </a:p>
          <a:p>
            <a:r>
              <a:rPr lang="en-US" sz="1200" dirty="0"/>
              <a:t>192.168.0.104		192.168.0.105 - 192.168.0.106	192.168.0.107</a:t>
            </a:r>
          </a:p>
          <a:p>
            <a:r>
              <a:rPr lang="en-US" sz="1200" dirty="0"/>
              <a:t>192.168.0.108		192.168.0.109 - 192.168.0.110	192.168.0.111</a:t>
            </a:r>
          </a:p>
          <a:p>
            <a:r>
              <a:rPr lang="en-US" sz="1200" dirty="0"/>
              <a:t>192.168.0.112		192.168.0.113 - 192.168.0.114	192.168.0.115</a:t>
            </a:r>
          </a:p>
          <a:p>
            <a:r>
              <a:rPr lang="en-US" sz="1200" dirty="0"/>
              <a:t>192.168.0.116		192.168.0.117 - 192.168.0.118	192.168.0.119</a:t>
            </a:r>
          </a:p>
          <a:p>
            <a:r>
              <a:rPr lang="en-US" sz="1200" dirty="0"/>
              <a:t>192.168.0.120		192.168.0.121 - 192.168.0.122	192.168.0.123</a:t>
            </a:r>
          </a:p>
          <a:p>
            <a:r>
              <a:rPr lang="en-US" sz="1200" dirty="0"/>
              <a:t>192.168.0.124		192.168.0.125 - 192.168.0.126	192.168.0.127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725885" y="856357"/>
            <a:ext cx="759822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192.168.0.128	 	192.168.0.129 - 192.168.0.130	192.168.0.131</a:t>
            </a:r>
          </a:p>
          <a:p>
            <a:r>
              <a:rPr lang="en-US" sz="1200" dirty="0"/>
              <a:t>192.168.0.132		192.168.0.133 - 192.168.0.134	192.168.0.135</a:t>
            </a:r>
          </a:p>
          <a:p>
            <a:r>
              <a:rPr lang="en-US" sz="1200" dirty="0"/>
              <a:t>192.168.0.136		192.168.0.137 - 192.168.0.138	192.168.0.139</a:t>
            </a:r>
          </a:p>
          <a:p>
            <a:r>
              <a:rPr lang="en-US" sz="1200" dirty="0"/>
              <a:t>192.168.0.140		192.168.0.141 - 192.168.0.142	192.168.0.143</a:t>
            </a:r>
          </a:p>
          <a:p>
            <a:r>
              <a:rPr lang="en-US" sz="1200" dirty="0"/>
              <a:t>192.168.0.144		192.168.0.145 - 192.168.0.146	192.168.0.147</a:t>
            </a:r>
          </a:p>
          <a:p>
            <a:r>
              <a:rPr lang="en-US" sz="1200" dirty="0"/>
              <a:t>192.168.0.148		192.168.0.149 - 192.168.0.150	192.168.0.151</a:t>
            </a:r>
          </a:p>
          <a:p>
            <a:r>
              <a:rPr lang="en-US" sz="1200" dirty="0"/>
              <a:t>192.168.0.152		192.168.0.153 - 192.168.0.154	192.168.0.155</a:t>
            </a:r>
          </a:p>
          <a:p>
            <a:r>
              <a:rPr lang="en-US" sz="1200" dirty="0"/>
              <a:t>192.168.0.156		192.168.0.157 - 192.168.0.158	192.168.0.159</a:t>
            </a:r>
          </a:p>
          <a:p>
            <a:r>
              <a:rPr lang="en-US" sz="1200" dirty="0"/>
              <a:t>192.168.0.160		192.168.0.161 - 192.168.0.162	192.168.0.163</a:t>
            </a:r>
          </a:p>
          <a:p>
            <a:r>
              <a:rPr lang="en-US" sz="1200" dirty="0"/>
              <a:t>192.168.0.164		192.168.0.165 - 192.168.0.166	192.168.0.167</a:t>
            </a:r>
          </a:p>
          <a:p>
            <a:r>
              <a:rPr lang="en-US" sz="1200" dirty="0"/>
              <a:t>192.168.0.168		192.168.0.169 - 192.168.0.170	192.168.0.171</a:t>
            </a:r>
          </a:p>
          <a:p>
            <a:r>
              <a:rPr lang="en-US" sz="1200" dirty="0"/>
              <a:t>192.168.0.172		192.168.0.173 - 192.168.0.174	192.168.0.175</a:t>
            </a:r>
          </a:p>
          <a:p>
            <a:r>
              <a:rPr lang="en-US" sz="1200" dirty="0"/>
              <a:t>192.168.0.176		192.168.0.177 - 192.168.0.178	192.168.0.179</a:t>
            </a:r>
          </a:p>
          <a:p>
            <a:r>
              <a:rPr lang="en-US" sz="1200" dirty="0"/>
              <a:t>192.168.0.180		192.168.0.181 - 192.168.0.182	192.168.0.183</a:t>
            </a:r>
          </a:p>
          <a:p>
            <a:r>
              <a:rPr lang="en-US" sz="1200" dirty="0"/>
              <a:t>192.168.0.184		192.168.0.185 - 192.168.0.186	192.168.0.187</a:t>
            </a:r>
          </a:p>
          <a:p>
            <a:r>
              <a:rPr lang="en-US" sz="1200" dirty="0"/>
              <a:t>192.168.0.188		192.168.0.189 - 192.168.0.190	192.168.0.191</a:t>
            </a:r>
          </a:p>
          <a:p>
            <a:r>
              <a:rPr lang="en-US" sz="1200" dirty="0"/>
              <a:t>192.168.0.192		192.168.0.193 - 192.168.0.194	192.168.0.195</a:t>
            </a:r>
          </a:p>
          <a:p>
            <a:r>
              <a:rPr lang="en-US" sz="1200" dirty="0"/>
              <a:t>192.168.0.196		192.168.0.197 - 192.168.0.198	192.168.0.199</a:t>
            </a:r>
          </a:p>
          <a:p>
            <a:r>
              <a:rPr lang="en-US" sz="1200" dirty="0"/>
              <a:t>192.168.0.200		192.168.0.201 - 192.168.0.202	192.168.0.203</a:t>
            </a:r>
          </a:p>
          <a:p>
            <a:r>
              <a:rPr lang="en-US" sz="1200" dirty="0"/>
              <a:t>192.168.0.204		192.168.0.205 - 192.168.0.206	192.168.0.207</a:t>
            </a:r>
          </a:p>
          <a:p>
            <a:r>
              <a:rPr lang="en-US" sz="1200" dirty="0"/>
              <a:t>192.168.0.208		192.168.0.209 - 192.168.0.210	192.168.0.211</a:t>
            </a:r>
          </a:p>
          <a:p>
            <a:r>
              <a:rPr lang="en-US" sz="1200" dirty="0"/>
              <a:t>192.168.0.212		192.168.0.213 - 192.168.0.214	192.168.0.215</a:t>
            </a:r>
          </a:p>
          <a:p>
            <a:r>
              <a:rPr lang="en-US" sz="1200" dirty="0"/>
              <a:t>192.168.0.216		192.168.0.217 - 192.168.0.218	192.168.0.219</a:t>
            </a:r>
          </a:p>
          <a:p>
            <a:r>
              <a:rPr lang="en-US" sz="1200" dirty="0"/>
              <a:t>192.168.0.220		192.168.0.221 - 192.168.0.222	192.168.0.223</a:t>
            </a:r>
          </a:p>
          <a:p>
            <a:r>
              <a:rPr lang="en-US" sz="1200" dirty="0"/>
              <a:t>192.168.0.224		192.168.0.225 - 192.168.0.226	192.168.0.227</a:t>
            </a:r>
          </a:p>
          <a:p>
            <a:r>
              <a:rPr lang="en-US" sz="1200" dirty="0"/>
              <a:t>192.168.0.228		192.168.0.229 - 192.168.0.230	192.168.0.231</a:t>
            </a:r>
          </a:p>
          <a:p>
            <a:r>
              <a:rPr lang="en-US" sz="1200" dirty="0"/>
              <a:t>192.168.0.232		192.168.0.233 - 192.168.0.234	192.168.0.235</a:t>
            </a:r>
          </a:p>
          <a:p>
            <a:r>
              <a:rPr lang="en-US" sz="1200" dirty="0"/>
              <a:t>192.168.0.236		192.168.0.237 - 192.168.0.238	192.168.0.239</a:t>
            </a:r>
          </a:p>
          <a:p>
            <a:r>
              <a:rPr lang="en-US" sz="1200" dirty="0"/>
              <a:t>192.168.0.240		192.168.0.241 - 192.168.0.242	192.168.0.243</a:t>
            </a:r>
          </a:p>
          <a:p>
            <a:r>
              <a:rPr lang="en-US" sz="1200" dirty="0"/>
              <a:t>192.168.0.244		192.168.0.245 - 192.168.0.246	192.168.0.247</a:t>
            </a:r>
          </a:p>
          <a:p>
            <a:r>
              <a:rPr lang="en-US" sz="1200" dirty="0"/>
              <a:t>192.168.0.248		192.168.0.249 - 192.168.0.250	192.168.0.251</a:t>
            </a:r>
          </a:p>
          <a:p>
            <a:r>
              <a:rPr lang="en-US" sz="1200" dirty="0"/>
              <a:t>192.168.0.252		192.168.0.253 - 192.168.0.254	192.168.0.255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1271" y="163859"/>
            <a:ext cx="56092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64 of the Possible /30 Networks for 192.168.0.*</a:t>
            </a:r>
          </a:p>
        </p:txBody>
      </p:sp>
    </p:spTree>
    <p:extLst>
      <p:ext uri="{BB962C8B-B14F-4D97-AF65-F5344CB8AC3E}">
        <p14:creationId xmlns:p14="http://schemas.microsoft.com/office/powerpoint/2010/main" val="2558239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93949" y="3897476"/>
            <a:ext cx="41986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kern="1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B Sub netting</a:t>
            </a:r>
            <a:endParaRPr lang="en-US" sz="4000" dirty="0">
              <a:solidFill>
                <a:srgbClr val="00B05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864" y="1156476"/>
            <a:ext cx="7559906" cy="2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5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B                      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172 .16.0.0/16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16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65536– 2</a:t>
            </a:r>
            <a:endParaRPr lang="en-US" sz="2000" dirty="0"/>
          </a:p>
          <a:p>
            <a:r>
              <a:rPr lang="en-US" sz="2000" b="1" dirty="0"/>
              <a:t>	65534 hosts/network</a:t>
            </a:r>
            <a:endParaRPr lang="en-US" sz="2000" dirty="0"/>
          </a:p>
          <a:p>
            <a:r>
              <a:rPr lang="en-US" b="1" dirty="0"/>
              <a:t>      Total number of IP’s is 65536 per network</a:t>
            </a:r>
            <a:endParaRPr lang="en-US" dirty="0"/>
          </a:p>
          <a:p>
            <a:r>
              <a:rPr lang="en-US" b="1" dirty="0"/>
              <a:t>      Total number of usable IP’s is 655364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444750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0</a:t>
            </a:r>
            <a:r>
              <a:rPr lang="en-US" sz="2400" b="1" dirty="0"/>
              <a:t> </a:t>
            </a:r>
            <a:r>
              <a:rPr lang="en-US" sz="2000" b="1" dirty="0"/>
              <a:t> [ in last 16 bit there are no of n/w’s </a:t>
            </a:r>
            <a:r>
              <a:rPr lang="en-US" b="1" dirty="0"/>
              <a:t>]</a:t>
            </a:r>
            <a:endParaRPr lang="en-US" dirty="0"/>
          </a:p>
          <a:p>
            <a:r>
              <a:rPr lang="en-US" sz="2800" b="1" dirty="0"/>
              <a:t>N=0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80" y="-124317"/>
            <a:ext cx="5486400" cy="1784343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3794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020997"/>
              </p:ext>
            </p:extLst>
          </p:nvPr>
        </p:nvGraphicFramePr>
        <p:xfrm>
          <a:off x="0" y="0"/>
          <a:ext cx="6740434" cy="6858001"/>
        </p:xfrm>
        <a:graphic>
          <a:graphicData uri="http://schemas.openxmlformats.org/drawingml/2006/table">
            <a:tbl>
              <a:tblPr/>
              <a:tblGrid>
                <a:gridCol w="3370217">
                  <a:extLst>
                    <a:ext uri="{9D8B030D-6E8A-4147-A177-3AD203B41FA5}">
                      <a16:colId xmlns:a16="http://schemas.microsoft.com/office/drawing/2014/main" val="2691183949"/>
                    </a:ext>
                  </a:extLst>
                </a:gridCol>
                <a:gridCol w="3370217">
                  <a:extLst>
                    <a:ext uri="{9D8B030D-6E8A-4147-A177-3AD203B41FA5}">
                      <a16:colId xmlns:a16="http://schemas.microsoft.com/office/drawing/2014/main" val="3626621149"/>
                    </a:ext>
                  </a:extLst>
                </a:gridCol>
              </a:tblGrid>
              <a:tr h="5667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50669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057830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69441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567007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734652"/>
                  </a:ext>
                </a:extLst>
              </a:tr>
              <a:tr h="409555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8957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959383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27246"/>
                  </a:ext>
                </a:extLst>
              </a:tr>
              <a:tr h="781426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092162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981048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26098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325161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9CA64C0F-B637-E794-CB78-99BDE61F3054}"/>
              </a:ext>
            </a:extLst>
          </p:cNvPr>
          <p:cNvSpPr/>
          <p:nvPr/>
        </p:nvSpPr>
        <p:spPr>
          <a:xfrm>
            <a:off x="7158446" y="1124952"/>
            <a:ext cx="4833027" cy="4608095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67014" y="711926"/>
            <a:ext cx="2898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Network Address:172.16.0.0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7014" y="5869967"/>
            <a:ext cx="3482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Broadcast Address:172.16.255.255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7014" y="2550216"/>
            <a:ext cx="315406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Number of Usable </a:t>
            </a:r>
            <a:r>
              <a:rPr lang="en-US" b="1" dirty="0" smtClean="0">
                <a:solidFill>
                  <a:srgbClr val="00B050"/>
                </a:solidFill>
              </a:rPr>
              <a:t>Hosts:65534</a:t>
            </a:r>
          </a:p>
          <a:p>
            <a:r>
              <a:rPr lang="en-US" b="1" dirty="0">
                <a:solidFill>
                  <a:srgbClr val="00B050"/>
                </a:solidFill>
              </a:rPr>
              <a:t>172.16 0.1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to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172.16.255.254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930" y="0"/>
            <a:ext cx="681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102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B                      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172 .16.0.0/17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15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32768– 2</a:t>
            </a:r>
            <a:endParaRPr lang="en-US" sz="2000" dirty="0"/>
          </a:p>
          <a:p>
            <a:r>
              <a:rPr lang="en-US" sz="2000" b="1" dirty="0"/>
              <a:t>	 32766 hosts/network</a:t>
            </a:r>
            <a:endParaRPr lang="en-US" sz="2000" dirty="0"/>
          </a:p>
          <a:p>
            <a:r>
              <a:rPr lang="en-US" b="1" dirty="0"/>
              <a:t>      Total number of IP’s is 32768 per network</a:t>
            </a:r>
            <a:endParaRPr lang="en-US" dirty="0"/>
          </a:p>
          <a:p>
            <a:r>
              <a:rPr lang="en-US" b="1" dirty="0"/>
              <a:t>      Total number of usable IP’s is 32766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4364143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1</a:t>
            </a:r>
            <a:r>
              <a:rPr lang="en-US" sz="2400" b="1" dirty="0"/>
              <a:t> </a:t>
            </a:r>
            <a:r>
              <a:rPr lang="en-US" sz="2000" b="1" dirty="0"/>
              <a:t> [ in last 8 bit there are no of n/w’s </a:t>
            </a:r>
            <a:r>
              <a:rPr lang="en-US" b="1" dirty="0"/>
              <a:t>]</a:t>
            </a:r>
            <a:endParaRPr lang="en-US" dirty="0"/>
          </a:p>
          <a:p>
            <a:r>
              <a:rPr lang="en-US" sz="2800" b="1" dirty="0"/>
              <a:t>N=2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304" y="0"/>
            <a:ext cx="5349376" cy="21453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94992" y="384534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r>
              <a:rPr lang="en-US" dirty="0"/>
              <a:t>			= </a:t>
            </a:r>
            <a:r>
              <a:rPr lang="en-US" u="sng" dirty="0"/>
              <a:t>32758  </a:t>
            </a:r>
            <a:r>
              <a:rPr lang="en-US" dirty="0"/>
              <a:t> = 128</a:t>
            </a:r>
            <a:endParaRPr lang="en-US" u="sng" dirty="0"/>
          </a:p>
          <a:p>
            <a:r>
              <a:rPr lang="en-US" dirty="0"/>
              <a:t>			     256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8739" y="2665452"/>
            <a:ext cx="4181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6152333" y="5670797"/>
            <a:ext cx="6039667" cy="23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298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0" y="0"/>
            <a:ext cx="12057970" cy="46765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6503"/>
            <a:ext cx="7955280" cy="203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6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B                      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172 .16.0.0/18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14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16384– 2</a:t>
            </a:r>
            <a:endParaRPr lang="en-US" sz="2000" dirty="0"/>
          </a:p>
          <a:p>
            <a:r>
              <a:rPr lang="en-US" sz="2000" b="1" dirty="0"/>
              <a:t>	 16382 hosts/network</a:t>
            </a:r>
            <a:endParaRPr lang="en-US" sz="2000" dirty="0"/>
          </a:p>
          <a:p>
            <a:r>
              <a:rPr lang="en-US" b="1" dirty="0"/>
              <a:t>      Total number of IP’s is 16384 per network</a:t>
            </a:r>
            <a:endParaRPr lang="en-US" dirty="0"/>
          </a:p>
          <a:p>
            <a:r>
              <a:rPr lang="en-US" b="1" dirty="0"/>
              <a:t>      Total number of usable IP’s is 16382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4364143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2</a:t>
            </a:r>
            <a:r>
              <a:rPr lang="en-US" sz="2400" b="1" dirty="0"/>
              <a:t> </a:t>
            </a:r>
            <a:r>
              <a:rPr lang="en-US" sz="2000" b="1" dirty="0"/>
              <a:t> [ in last 8 bit there are no of n/w’s </a:t>
            </a:r>
            <a:r>
              <a:rPr lang="en-US" b="1" dirty="0"/>
              <a:t>]</a:t>
            </a:r>
            <a:endParaRPr lang="en-US" dirty="0"/>
          </a:p>
          <a:p>
            <a:r>
              <a:rPr lang="en-US" sz="2800" b="1" dirty="0"/>
              <a:t>N=4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194992" y="384534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	= </a:t>
            </a:r>
            <a:r>
              <a:rPr lang="en-US" u="sng" dirty="0"/>
              <a:t>16384  </a:t>
            </a:r>
            <a:r>
              <a:rPr lang="en-US" dirty="0"/>
              <a:t> = </a:t>
            </a:r>
            <a:r>
              <a:rPr lang="en-US" b="1" dirty="0"/>
              <a:t>64</a:t>
            </a:r>
            <a:endParaRPr lang="en-US" b="1" u="sng" dirty="0"/>
          </a:p>
          <a:p>
            <a:r>
              <a:rPr lang="en-US" dirty="0"/>
              <a:t>			     256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8739" y="2665452"/>
            <a:ext cx="4181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6152333" y="5670797"/>
            <a:ext cx="6039667" cy="23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739" y="82796"/>
            <a:ext cx="5423261" cy="195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27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54" y="93750"/>
            <a:ext cx="10737669" cy="41670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42754" y="4332972"/>
            <a:ext cx="5314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4 of the Possible /18 Networks for 172.16.*.*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02304"/>
            <a:ext cx="11650567" cy="215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17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B                      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172 .16.0.0/19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13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8192– 2</a:t>
            </a:r>
            <a:endParaRPr lang="en-US" sz="2000" dirty="0"/>
          </a:p>
          <a:p>
            <a:r>
              <a:rPr lang="en-US" sz="2000" b="1" dirty="0"/>
              <a:t>	 8190 hosts/network</a:t>
            </a:r>
            <a:endParaRPr lang="en-US" sz="2000" dirty="0"/>
          </a:p>
          <a:p>
            <a:r>
              <a:rPr lang="en-US" b="1" dirty="0"/>
              <a:t>      Total number of IP’s is 8192 per network</a:t>
            </a:r>
            <a:endParaRPr lang="en-US" dirty="0"/>
          </a:p>
          <a:p>
            <a:r>
              <a:rPr lang="en-US" b="1" dirty="0"/>
              <a:t>      Total number of usable IP’s is 8190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4364143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3</a:t>
            </a:r>
            <a:r>
              <a:rPr lang="en-US" sz="2400" b="1" dirty="0"/>
              <a:t> </a:t>
            </a:r>
            <a:r>
              <a:rPr lang="en-US" sz="2000" b="1" dirty="0"/>
              <a:t> [ in last 8 bit there are no of n/w’s </a:t>
            </a:r>
            <a:r>
              <a:rPr lang="en-US" b="1" dirty="0"/>
              <a:t>]</a:t>
            </a:r>
            <a:endParaRPr lang="en-US" dirty="0"/>
          </a:p>
          <a:p>
            <a:r>
              <a:rPr lang="en-US" sz="2800" b="1" dirty="0"/>
              <a:t>N=8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194992" y="384534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	=  </a:t>
            </a:r>
            <a:r>
              <a:rPr lang="en-US" u="sng" dirty="0"/>
              <a:t>8192  </a:t>
            </a:r>
            <a:r>
              <a:rPr lang="en-US" dirty="0"/>
              <a:t> = </a:t>
            </a:r>
            <a:r>
              <a:rPr lang="en-US" b="1" dirty="0"/>
              <a:t>32</a:t>
            </a:r>
            <a:endParaRPr lang="en-US" b="1" u="sng" dirty="0"/>
          </a:p>
          <a:p>
            <a:r>
              <a:rPr lang="en-US" dirty="0"/>
              <a:t>			     256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8739" y="2665452"/>
            <a:ext cx="4181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6152333" y="5670797"/>
            <a:ext cx="6039667" cy="23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409" y="-1"/>
            <a:ext cx="5793514" cy="208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05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40389" cy="376723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" y="3767238"/>
            <a:ext cx="5314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8 of the Possible /19 Networks for 172.16.*.*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136570"/>
            <a:ext cx="11077303" cy="272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43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B                      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172 .16.0.0/20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12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4096– 2</a:t>
            </a:r>
            <a:endParaRPr lang="en-US" sz="2000" dirty="0"/>
          </a:p>
          <a:p>
            <a:r>
              <a:rPr lang="en-US" sz="2000" b="1" dirty="0"/>
              <a:t>	 4094 hosts/network</a:t>
            </a:r>
            <a:endParaRPr lang="en-US" sz="2000" dirty="0"/>
          </a:p>
          <a:p>
            <a:r>
              <a:rPr lang="en-US" b="1" dirty="0"/>
              <a:t>      Total number of IP’s is 4096 per network</a:t>
            </a:r>
            <a:endParaRPr lang="en-US" dirty="0"/>
          </a:p>
          <a:p>
            <a:r>
              <a:rPr lang="en-US" b="1" dirty="0"/>
              <a:t>      Total number of usable IP’s is 4094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4364143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4</a:t>
            </a:r>
            <a:r>
              <a:rPr lang="en-US" sz="2400" b="1" dirty="0"/>
              <a:t> </a:t>
            </a:r>
            <a:r>
              <a:rPr lang="en-US" sz="2000" b="1" dirty="0"/>
              <a:t> [ in last 8 bit there are no of n/w’s </a:t>
            </a:r>
            <a:r>
              <a:rPr lang="en-US" b="1" dirty="0"/>
              <a:t>]</a:t>
            </a:r>
            <a:endParaRPr lang="en-US" dirty="0"/>
          </a:p>
          <a:p>
            <a:r>
              <a:rPr lang="en-US" sz="2800" b="1" dirty="0"/>
              <a:t>N=16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194992" y="384534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	=  </a:t>
            </a:r>
            <a:r>
              <a:rPr lang="en-US" u="sng" dirty="0"/>
              <a:t>4096  </a:t>
            </a:r>
            <a:r>
              <a:rPr lang="en-US" dirty="0"/>
              <a:t> = </a:t>
            </a:r>
            <a:r>
              <a:rPr lang="en-US" b="1" dirty="0"/>
              <a:t>16</a:t>
            </a:r>
            <a:endParaRPr lang="en-US" b="1" u="sng" dirty="0"/>
          </a:p>
          <a:p>
            <a:r>
              <a:rPr lang="en-US" dirty="0"/>
              <a:t>			     256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8739" y="2665452"/>
            <a:ext cx="4181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6152333" y="5670797"/>
            <a:ext cx="6039667" cy="23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946" y="-43205"/>
            <a:ext cx="5458733" cy="218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36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2603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72166" y="0"/>
            <a:ext cx="544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16 of the Possible /20 Networks for 172.16.*.*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960" y="369332"/>
            <a:ext cx="6204040" cy="637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683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B                      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172 .16.0.0/21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11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2048– 2</a:t>
            </a:r>
            <a:endParaRPr lang="en-US" sz="2000" dirty="0"/>
          </a:p>
          <a:p>
            <a:r>
              <a:rPr lang="en-US" sz="2000" b="1" dirty="0"/>
              <a:t>	 2046 hosts/network</a:t>
            </a:r>
            <a:endParaRPr lang="en-US" sz="2000" dirty="0"/>
          </a:p>
          <a:p>
            <a:r>
              <a:rPr lang="en-US" b="1" dirty="0"/>
              <a:t>      Total number of IP’s is 2048 per network</a:t>
            </a:r>
            <a:endParaRPr lang="en-US" dirty="0"/>
          </a:p>
          <a:p>
            <a:r>
              <a:rPr lang="en-US" b="1" dirty="0"/>
              <a:t>      Total number of usable IP’s is 2046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4364143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5</a:t>
            </a:r>
            <a:r>
              <a:rPr lang="en-US" sz="2400" b="1" dirty="0"/>
              <a:t> </a:t>
            </a:r>
            <a:r>
              <a:rPr lang="en-US" sz="2000" b="1" dirty="0"/>
              <a:t> [ in last 8 bit there are no of n/w’s </a:t>
            </a:r>
            <a:r>
              <a:rPr lang="en-US" b="1" dirty="0"/>
              <a:t>]</a:t>
            </a:r>
            <a:endParaRPr lang="en-US" dirty="0"/>
          </a:p>
          <a:p>
            <a:r>
              <a:rPr lang="en-US" sz="2800" b="1" dirty="0"/>
              <a:t>N=32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194992" y="384534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	=  </a:t>
            </a:r>
            <a:r>
              <a:rPr lang="en-US" u="sng" dirty="0"/>
              <a:t>2048  </a:t>
            </a:r>
            <a:r>
              <a:rPr lang="en-US" dirty="0"/>
              <a:t> = </a:t>
            </a:r>
            <a:r>
              <a:rPr lang="en-US" b="1" dirty="0"/>
              <a:t>8</a:t>
            </a:r>
            <a:endParaRPr lang="en-US" b="1" u="sng" dirty="0"/>
          </a:p>
          <a:p>
            <a:r>
              <a:rPr lang="en-US" dirty="0"/>
              <a:t>			     256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8739" y="2665452"/>
            <a:ext cx="4181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6152333" y="5670797"/>
            <a:ext cx="6039667" cy="23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304" y="1"/>
            <a:ext cx="5623696" cy="212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68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30" y="0"/>
            <a:ext cx="101237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91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02585"/>
            <a:ext cx="696250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Network Address	Usable Host Range		Broadcast Address</a:t>
            </a:r>
          </a:p>
          <a:p>
            <a:r>
              <a:rPr lang="en-US" sz="1400" dirty="0"/>
              <a:t>172.16.0.0		172.16.0.1 - 172.16.7.254	172.16.7.255</a:t>
            </a:r>
          </a:p>
          <a:p>
            <a:r>
              <a:rPr lang="en-US" sz="1400" dirty="0"/>
              <a:t>172.16.8.0		172.16.8.1 - 172.16.15.254	172.16.15.255</a:t>
            </a:r>
          </a:p>
          <a:p>
            <a:r>
              <a:rPr lang="en-US" sz="1400" dirty="0"/>
              <a:t>172.16.16.0		172.16.16.1 - 172.16.23.254	172.16.23.255</a:t>
            </a:r>
          </a:p>
          <a:p>
            <a:r>
              <a:rPr lang="en-US" sz="1400" dirty="0"/>
              <a:t>172.16.24.0		172.16.24.1 - 172.16.31.254	172.16.31.255</a:t>
            </a:r>
          </a:p>
          <a:p>
            <a:r>
              <a:rPr lang="en-US" sz="1400" dirty="0"/>
              <a:t>172.16.32.0		172.16.32.1 - 172.16.39.254	172.16.39.255</a:t>
            </a:r>
          </a:p>
          <a:p>
            <a:r>
              <a:rPr lang="en-US" sz="1400" dirty="0"/>
              <a:t>172.16.40.0		172.16.40.1 - 172.16.47.254	172.16.47.255</a:t>
            </a:r>
          </a:p>
          <a:p>
            <a:r>
              <a:rPr lang="en-US" sz="1400" dirty="0"/>
              <a:t>172.16.48.0		172.16.48.1 - 172.16.55.254	172.16.55.255</a:t>
            </a:r>
          </a:p>
          <a:p>
            <a:r>
              <a:rPr lang="en-US" sz="1400" dirty="0"/>
              <a:t>172.16.56.0		172.16.56.1 - 172.16.63.254	172.16.63.255</a:t>
            </a:r>
          </a:p>
          <a:p>
            <a:r>
              <a:rPr lang="en-US" sz="1400" dirty="0"/>
              <a:t>172.16.64.0		172.16.64.1 - 172.16.71.254	172.16.71.255</a:t>
            </a:r>
          </a:p>
          <a:p>
            <a:r>
              <a:rPr lang="en-US" sz="1400" dirty="0"/>
              <a:t>172.16.72.0		172.16.72.1 - 172.16.79.254	172.16.79.255</a:t>
            </a:r>
          </a:p>
          <a:p>
            <a:r>
              <a:rPr lang="en-US" sz="1400" dirty="0"/>
              <a:t>172.16.80.0		172.16.80.1 - 172.16.87.254	172.16.87.255</a:t>
            </a:r>
          </a:p>
          <a:p>
            <a:r>
              <a:rPr lang="en-US" sz="1400" dirty="0"/>
              <a:t>172.16.88.0		172.16.88.1 - 172.16.95.254	172.16.95.255</a:t>
            </a:r>
          </a:p>
          <a:p>
            <a:r>
              <a:rPr lang="en-US" sz="1400" dirty="0"/>
              <a:t>172.16.96.0		172.16.96.1 - 172.16.103.254	172.16.103.255</a:t>
            </a:r>
          </a:p>
          <a:p>
            <a:r>
              <a:rPr lang="en-US" sz="1400" dirty="0"/>
              <a:t>172.16.104.0	172.16.104.1 - 172.16.111.254	172.16.111.255</a:t>
            </a:r>
          </a:p>
          <a:p>
            <a:r>
              <a:rPr lang="en-US" sz="1400" dirty="0"/>
              <a:t>172.16.112.0	172.16.112.1 - 172.16.119.254	172.16.119.255</a:t>
            </a:r>
          </a:p>
          <a:p>
            <a:r>
              <a:rPr lang="en-US" sz="1400" dirty="0"/>
              <a:t>172.16.120.0	172.16.120.1 - 172.16.127.254	172.16.127.255</a:t>
            </a:r>
          </a:p>
          <a:p>
            <a:r>
              <a:rPr lang="en-US" sz="1400" dirty="0"/>
              <a:t>172.16.128.0	172.16.128.1 - 172.16.135.254	172.16.135.255</a:t>
            </a:r>
          </a:p>
          <a:p>
            <a:r>
              <a:rPr lang="en-US" sz="1400" dirty="0"/>
              <a:t>172.16.136.0	172.16.136.1 - 172.16.143.254	172.16.143.255</a:t>
            </a:r>
          </a:p>
          <a:p>
            <a:r>
              <a:rPr lang="en-US" sz="1400" dirty="0"/>
              <a:t>172.16.144.0	172.16.144.1 - 172.16.151.254	172.16.151.255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611231"/>
            <a:ext cx="594795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172.16.152.0	172.16.152.1 - 172.16.159.254	172.16.159.255</a:t>
            </a:r>
          </a:p>
          <a:p>
            <a:r>
              <a:rPr lang="en-US" sz="1400" dirty="0"/>
              <a:t>172.16.160.0	172.16.160.1 - 172.16.167.254	172.16.167.255</a:t>
            </a:r>
          </a:p>
          <a:p>
            <a:r>
              <a:rPr lang="en-US" sz="1400" dirty="0"/>
              <a:t>172.16.168.0	172.16.168.1 - 172.16.175.254	172.16.175.255</a:t>
            </a:r>
          </a:p>
          <a:p>
            <a:r>
              <a:rPr lang="en-US" sz="1400" dirty="0"/>
              <a:t>172.16.176.0	172.16.176.1 - 172.16.183.254	172.16.183.255</a:t>
            </a:r>
          </a:p>
          <a:p>
            <a:r>
              <a:rPr lang="en-US" sz="1400" dirty="0"/>
              <a:t>172.16.184.0	172.16.184.1 - 172.16.191.254	172.16.191.255</a:t>
            </a:r>
          </a:p>
          <a:p>
            <a:r>
              <a:rPr lang="en-US" sz="1400" dirty="0"/>
              <a:t>172.16.192.0	172.16.192.1 - 172.16.199.254	172.16.199.255</a:t>
            </a:r>
          </a:p>
          <a:p>
            <a:r>
              <a:rPr lang="en-US" sz="1400" dirty="0"/>
              <a:t>172.16.200.0	172.16.200.1 - 172.16.207.254	172.16.207.255</a:t>
            </a:r>
          </a:p>
          <a:p>
            <a:r>
              <a:rPr lang="en-US" sz="1400" dirty="0"/>
              <a:t>172.16.208.0	172.16.208.1 - 172.16.215.254	172.16.215.255</a:t>
            </a:r>
          </a:p>
          <a:p>
            <a:r>
              <a:rPr lang="en-US" sz="1400" dirty="0"/>
              <a:t>172.16.216.0	172.16.216.1 - 172.16.223.254	172.16.223.255</a:t>
            </a:r>
          </a:p>
          <a:p>
            <a:r>
              <a:rPr lang="en-US" sz="1400" dirty="0"/>
              <a:t>172.16.224.0	172.16.224.1 - 172.16.231.254	172.16.231.255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576905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172.16.232.0	172.16.232.1 - 172.16.239.254	172.16.239.255</a:t>
            </a:r>
          </a:p>
          <a:p>
            <a:r>
              <a:rPr lang="en-US" sz="1400" dirty="0"/>
              <a:t>172.16.240.0	172.16.240.1 - 172.16.247.254	172.16.247.255</a:t>
            </a:r>
          </a:p>
          <a:p>
            <a:r>
              <a:rPr lang="en-US" sz="1400" dirty="0"/>
              <a:t>172.16.248.0	172.16.248.1 - 172.16.255.254	172.16.255.255</a:t>
            </a:r>
          </a:p>
        </p:txBody>
      </p:sp>
      <p:sp>
        <p:nvSpPr>
          <p:cNvPr id="6" name="Rectangle 5"/>
          <p:cNvSpPr/>
          <p:nvPr/>
        </p:nvSpPr>
        <p:spPr>
          <a:xfrm>
            <a:off x="1911702" y="0"/>
            <a:ext cx="544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32 of the Possible /21 Networks for 172.16.*.*</a:t>
            </a:r>
          </a:p>
        </p:txBody>
      </p:sp>
    </p:spTree>
    <p:extLst>
      <p:ext uri="{BB962C8B-B14F-4D97-AF65-F5344CB8AC3E}">
        <p14:creationId xmlns:p14="http://schemas.microsoft.com/office/powerpoint/2010/main" val="28656135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B                      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172 .16.0.0/22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10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1024– 2</a:t>
            </a:r>
            <a:endParaRPr lang="en-US" sz="2000" dirty="0"/>
          </a:p>
          <a:p>
            <a:r>
              <a:rPr lang="en-US" sz="2000" b="1" dirty="0"/>
              <a:t>	 1022 hosts/network</a:t>
            </a:r>
            <a:endParaRPr lang="en-US" sz="2000" dirty="0"/>
          </a:p>
          <a:p>
            <a:r>
              <a:rPr lang="en-US" b="1" dirty="0"/>
              <a:t>      Total number of IP’s is 1024 per network</a:t>
            </a:r>
            <a:endParaRPr lang="en-US" dirty="0"/>
          </a:p>
          <a:p>
            <a:r>
              <a:rPr lang="en-US" b="1" dirty="0"/>
              <a:t>      Total number of usable IP’s is  1022 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4364143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6</a:t>
            </a:r>
            <a:r>
              <a:rPr lang="en-US" sz="2400" b="1" dirty="0"/>
              <a:t> </a:t>
            </a:r>
            <a:r>
              <a:rPr lang="en-US" sz="2000" b="1" dirty="0"/>
              <a:t> [ in last 8 bit there are no of n/w’s </a:t>
            </a:r>
            <a:r>
              <a:rPr lang="en-US" b="1" dirty="0"/>
              <a:t>]</a:t>
            </a:r>
            <a:endParaRPr lang="en-US" dirty="0"/>
          </a:p>
          <a:p>
            <a:r>
              <a:rPr lang="en-US" sz="2800" b="1" dirty="0"/>
              <a:t>N=64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194992" y="384534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	=  </a:t>
            </a:r>
            <a:r>
              <a:rPr lang="en-US" u="sng" dirty="0"/>
              <a:t>1024  </a:t>
            </a:r>
            <a:r>
              <a:rPr lang="en-US" dirty="0"/>
              <a:t> = </a:t>
            </a:r>
            <a:r>
              <a:rPr lang="en-US" b="1" dirty="0"/>
              <a:t>4</a:t>
            </a:r>
            <a:endParaRPr lang="en-US" b="1" u="sng" dirty="0"/>
          </a:p>
          <a:p>
            <a:r>
              <a:rPr lang="en-US" dirty="0"/>
              <a:t>			     256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8739" y="2665452"/>
            <a:ext cx="4181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6152333" y="5670797"/>
            <a:ext cx="6039667" cy="23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880" y="-16678"/>
            <a:ext cx="5301800" cy="20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89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18" y="684847"/>
            <a:ext cx="8686800" cy="502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702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222" y="0"/>
            <a:ext cx="544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64 of the Possible /22 Networks for 172.16.*.*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39252" y="369332"/>
            <a:ext cx="630500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Network Address     	Usable Host Range		Broadcast Address:</a:t>
            </a:r>
          </a:p>
          <a:p>
            <a:pPr algn="just"/>
            <a:r>
              <a:rPr lang="en-US" sz="1200" dirty="0"/>
              <a:t>172.16.0.0	 	172.16.0.1 - 172.16.3.254		172.16.3.255</a:t>
            </a:r>
          </a:p>
          <a:p>
            <a:pPr algn="just"/>
            <a:r>
              <a:rPr lang="en-US" sz="1200" dirty="0"/>
              <a:t>172.16.4.0		172.16.4.1 - 172.16.7.254		172.16.7.255</a:t>
            </a:r>
          </a:p>
          <a:p>
            <a:pPr algn="just"/>
            <a:r>
              <a:rPr lang="en-US" sz="1200" dirty="0"/>
              <a:t>172.16.8.0		172.16.8.1 - 172.16.11.254		172.16.11.255</a:t>
            </a:r>
          </a:p>
          <a:p>
            <a:pPr algn="just"/>
            <a:r>
              <a:rPr lang="en-US" sz="1200" dirty="0"/>
              <a:t>172.16.12.0		172.16.12.1 - 172.16.15.254		172.16.15.255</a:t>
            </a:r>
          </a:p>
          <a:p>
            <a:pPr algn="just"/>
            <a:r>
              <a:rPr lang="en-US" sz="1200" dirty="0"/>
              <a:t>172.16.16.0		172.16.16.1 - 172.16.19.254		172.16.19.255</a:t>
            </a:r>
          </a:p>
          <a:p>
            <a:pPr algn="just"/>
            <a:r>
              <a:rPr lang="en-US" sz="1200" dirty="0"/>
              <a:t>172.16.20.0		172.16.20.1 - 172.16.23.254		172.16.23.255</a:t>
            </a:r>
          </a:p>
          <a:p>
            <a:pPr algn="just"/>
            <a:r>
              <a:rPr lang="en-US" sz="1200" dirty="0"/>
              <a:t>172.16.24.0		172.16.24.1 - 172.16.27.254		172.16.27.255</a:t>
            </a:r>
          </a:p>
          <a:p>
            <a:pPr algn="just"/>
            <a:r>
              <a:rPr lang="en-US" sz="1200" dirty="0"/>
              <a:t>172.16.28.0		172.16.28.1 - 172.16.31.254		172.16.31.255</a:t>
            </a:r>
          </a:p>
          <a:p>
            <a:pPr algn="just"/>
            <a:r>
              <a:rPr lang="en-US" sz="1200" dirty="0"/>
              <a:t>172.16.32.0		172.16.32.1 - 172.16.35.254		172.16.35.255</a:t>
            </a:r>
          </a:p>
          <a:p>
            <a:pPr algn="just"/>
            <a:r>
              <a:rPr lang="en-US" sz="1200" dirty="0"/>
              <a:t>172.16.36.0		172.16.36.1 - 172.16.39.254		172.16.39.255</a:t>
            </a:r>
          </a:p>
          <a:p>
            <a:pPr algn="just"/>
            <a:r>
              <a:rPr lang="en-US" sz="1200" dirty="0"/>
              <a:t>172.16.40.0		172.16.40.1 - 172.16.43.254		172.16.43.255</a:t>
            </a:r>
          </a:p>
          <a:p>
            <a:pPr algn="just"/>
            <a:r>
              <a:rPr lang="en-US" sz="1200" dirty="0"/>
              <a:t>172.16.44.0		172.16.44.1 - 172.16.47.254		172.16.47.255</a:t>
            </a:r>
          </a:p>
          <a:p>
            <a:pPr algn="just"/>
            <a:r>
              <a:rPr lang="en-US" sz="1200" dirty="0"/>
              <a:t>172.16.48.0		172.16.48.1 - 172.16.51.254		172.16.51.255</a:t>
            </a:r>
          </a:p>
          <a:p>
            <a:pPr algn="just"/>
            <a:r>
              <a:rPr lang="en-US" sz="1200" dirty="0"/>
              <a:t>172.16.52.0		172.16.52.1 - 172.16.55.254		172.16.55.255</a:t>
            </a:r>
          </a:p>
          <a:p>
            <a:pPr algn="just"/>
            <a:r>
              <a:rPr lang="en-US" sz="1200" dirty="0"/>
              <a:t>172.16.56.0		172.16.56.1 - 172.16.59.254		172.16.59.255</a:t>
            </a:r>
          </a:p>
          <a:p>
            <a:pPr algn="just"/>
            <a:r>
              <a:rPr lang="en-US" sz="1200" dirty="0"/>
              <a:t>172.16.60.0		172.16.60.1 - 172.16.63.254		172.16.63.255</a:t>
            </a:r>
          </a:p>
          <a:p>
            <a:pPr algn="just"/>
            <a:r>
              <a:rPr lang="en-US" sz="1200" dirty="0"/>
              <a:t>172.16.64.0		172.16.64.1 - 172.16.67.254		172.16.67.255</a:t>
            </a:r>
          </a:p>
          <a:p>
            <a:pPr algn="just"/>
            <a:r>
              <a:rPr lang="en-US" sz="1200" dirty="0"/>
              <a:t>172.16.68.0		172.16.68.1 - 172.16.71.254		172.16.71.255</a:t>
            </a:r>
          </a:p>
          <a:p>
            <a:pPr algn="just"/>
            <a:r>
              <a:rPr lang="en-US" sz="1200" dirty="0"/>
              <a:t>172.16.72.0		172.16.72.1 - 172.16.75.254		172.16.75.255</a:t>
            </a:r>
          </a:p>
          <a:p>
            <a:pPr algn="just"/>
            <a:r>
              <a:rPr lang="en-US" sz="1200" dirty="0"/>
              <a:t>172.16.76.0		172.16.76.1 - 172.16.79.254		172.16.79.255</a:t>
            </a:r>
          </a:p>
          <a:p>
            <a:pPr algn="just"/>
            <a:r>
              <a:rPr lang="en-US" sz="1200" dirty="0"/>
              <a:t>172.16.80.0		172.16.80.1 - 172.16.83.254		172.16.83.255</a:t>
            </a:r>
          </a:p>
          <a:p>
            <a:pPr algn="just"/>
            <a:r>
              <a:rPr lang="en-US" sz="1200" dirty="0"/>
              <a:t>172.16.84.0		172.16.84.1 - 172.16.87.254		172.16.87.255</a:t>
            </a:r>
          </a:p>
          <a:p>
            <a:pPr algn="just"/>
            <a:r>
              <a:rPr lang="en-US" sz="1200" dirty="0"/>
              <a:t>172.16.88.0		172.16.88.1 - 172.16.91.254		172.16.91.255</a:t>
            </a:r>
          </a:p>
          <a:p>
            <a:pPr algn="just"/>
            <a:r>
              <a:rPr lang="en-US" sz="1200" dirty="0"/>
              <a:t>172.16.92.0		172.16.92.1 - 172.16.95.254		172.16.95.255</a:t>
            </a:r>
          </a:p>
          <a:p>
            <a:pPr algn="just"/>
            <a:r>
              <a:rPr lang="en-US" sz="1200" dirty="0"/>
              <a:t>172.16.96.0		172.16.96.1 - 172.16.99.254		172.16.99.255</a:t>
            </a:r>
          </a:p>
          <a:p>
            <a:pPr algn="just"/>
            <a:r>
              <a:rPr lang="en-US" sz="1200" dirty="0"/>
              <a:t>172.16.100.0		172.16.100.1 - 172.16.103.254	172.16.103.255</a:t>
            </a:r>
          </a:p>
          <a:p>
            <a:pPr algn="just"/>
            <a:r>
              <a:rPr lang="en-US" sz="1200" dirty="0"/>
              <a:t>172.16.104.0		172.16.104.1 - 172.16.107.254	172.16.107.255</a:t>
            </a:r>
          </a:p>
          <a:p>
            <a:pPr algn="just"/>
            <a:r>
              <a:rPr lang="en-US" sz="1200" dirty="0"/>
              <a:t>172.16.108.0		172.16.108.1 - 172.16.111.254	172.16.111.255</a:t>
            </a:r>
          </a:p>
          <a:p>
            <a:pPr algn="just"/>
            <a:r>
              <a:rPr lang="en-US" sz="1200" dirty="0"/>
              <a:t>172.16.112.0		172.16.112.1 - 172.16.115.254	172.16.115.255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184666"/>
            <a:ext cx="6096000" cy="65556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172.16.116.0	 	172.16.116.1 - 172.16.119.254	172.16.119.255</a:t>
            </a:r>
          </a:p>
          <a:p>
            <a:r>
              <a:rPr lang="en-US" sz="1200" dirty="0"/>
              <a:t>172.16.120.0		172.16.120.1 - 172.16.123.254	172.16.123.255</a:t>
            </a:r>
          </a:p>
          <a:p>
            <a:r>
              <a:rPr lang="en-US" sz="1200" dirty="0"/>
              <a:t>172.16.124.0		172.16.124.1 - 172.16.127.254	172.16.127.255</a:t>
            </a:r>
          </a:p>
          <a:p>
            <a:r>
              <a:rPr lang="en-US" sz="1200" dirty="0"/>
              <a:t>172.16.128.0		172.16.128.1 - 172.16.131.254	172.16.131.255</a:t>
            </a:r>
          </a:p>
          <a:p>
            <a:r>
              <a:rPr lang="en-US" sz="1200" dirty="0"/>
              <a:t>172.16.132.0		172.16.132.1 - 172.16.135.254	172.16.135.255</a:t>
            </a:r>
          </a:p>
          <a:p>
            <a:r>
              <a:rPr lang="en-US" sz="1200" dirty="0"/>
              <a:t>172.16.136.0		172.16.136.1 - 172.16.139.254	172.16.139.255</a:t>
            </a:r>
          </a:p>
          <a:p>
            <a:r>
              <a:rPr lang="en-US" sz="1200" dirty="0"/>
              <a:t>172.16.140.0		172.16.140.1 - 172.16.143.254	172.16.143.255</a:t>
            </a:r>
          </a:p>
          <a:p>
            <a:r>
              <a:rPr lang="en-US" sz="1200" dirty="0"/>
              <a:t>172.16.144.0		172.16.144.1 - 172.16.147.254	172.16.147.255</a:t>
            </a:r>
          </a:p>
          <a:p>
            <a:r>
              <a:rPr lang="en-US" sz="1200" dirty="0"/>
              <a:t>172.16.148.0		172.16.148.1 - 172.16.151.254	172.16.151.255</a:t>
            </a:r>
          </a:p>
          <a:p>
            <a:r>
              <a:rPr lang="en-US" sz="1200" dirty="0"/>
              <a:t>172.16.152.0		172.16.152.1 - 172.16.155.254	172.16.155.255</a:t>
            </a:r>
          </a:p>
          <a:p>
            <a:r>
              <a:rPr lang="en-US" sz="1200" dirty="0"/>
              <a:t>172.16.156.0		172.16.156.1 - 172.16.159.254	172.16.159.255</a:t>
            </a:r>
          </a:p>
          <a:p>
            <a:r>
              <a:rPr lang="en-US" sz="1200" dirty="0"/>
              <a:t>172.16.160.0		172.16.160.1 - 172.16.163.254	172.16.163.255</a:t>
            </a:r>
          </a:p>
          <a:p>
            <a:r>
              <a:rPr lang="en-US" sz="1200" dirty="0"/>
              <a:t>172.16.164.0		172.16.164.1 - 172.16.167.254	172.16.167.255</a:t>
            </a:r>
          </a:p>
          <a:p>
            <a:r>
              <a:rPr lang="en-US" sz="1200" dirty="0"/>
              <a:t>172.16.168.0		172.16.168.1 - 172.16.171.254	172.16.171.255</a:t>
            </a:r>
          </a:p>
          <a:p>
            <a:r>
              <a:rPr lang="en-US" sz="1200" dirty="0"/>
              <a:t>172.16.172.0		172.16.172.1 - 172.16.175.254	172.16.175.255</a:t>
            </a:r>
          </a:p>
          <a:p>
            <a:r>
              <a:rPr lang="en-US" sz="1200" dirty="0"/>
              <a:t>172.16.176.0		172.16.176.1 - 172.16.179.254	172.16.179.255</a:t>
            </a:r>
          </a:p>
          <a:p>
            <a:r>
              <a:rPr lang="en-US" sz="1200" dirty="0"/>
              <a:t>172.16.180.0		172.16.180.1 - 172.16.183.254	172.16.183.255</a:t>
            </a:r>
          </a:p>
          <a:p>
            <a:r>
              <a:rPr lang="en-US" sz="1200" dirty="0"/>
              <a:t>172.16.184.0		172.16.184.1 - 172.16.187.254	172.16.187.255</a:t>
            </a:r>
          </a:p>
          <a:p>
            <a:r>
              <a:rPr lang="en-US" sz="1200" dirty="0"/>
              <a:t>172.16.188.0		172.16.188.1 - 172.16.191.254	172.16.191.255</a:t>
            </a:r>
          </a:p>
          <a:p>
            <a:r>
              <a:rPr lang="en-US" sz="1200" dirty="0"/>
              <a:t>172.16.192.0		172.16.192.1 - 172.16.195.254	172.16.195.255</a:t>
            </a:r>
          </a:p>
          <a:p>
            <a:r>
              <a:rPr lang="en-US" sz="1200" dirty="0"/>
              <a:t>172.16.196.0		172.16.196.1 - 172.16.199.254	172.16.199.255</a:t>
            </a:r>
          </a:p>
          <a:p>
            <a:r>
              <a:rPr lang="en-US" sz="1200" dirty="0"/>
              <a:t>172.16.200.0		172.16.200.1 - 172.16.203.254	172.16.203.255</a:t>
            </a:r>
          </a:p>
          <a:p>
            <a:r>
              <a:rPr lang="en-US" sz="1200" dirty="0"/>
              <a:t>172.16.204.0		172.16.204.1 - 172.16.207.254	172.16.207.255</a:t>
            </a:r>
          </a:p>
          <a:p>
            <a:r>
              <a:rPr lang="en-US" sz="1200" dirty="0"/>
              <a:t>172.16.208.0		172.16.208.1 - 172.16.211.254	172.16.211.255</a:t>
            </a:r>
          </a:p>
          <a:p>
            <a:r>
              <a:rPr lang="en-US" sz="1200" dirty="0"/>
              <a:t>172.16.212.0		172.16.212.1 - 172.16.215.254	172.16.215.255</a:t>
            </a:r>
          </a:p>
          <a:p>
            <a:r>
              <a:rPr lang="en-US" sz="1200" dirty="0"/>
              <a:t>172.16.216.0		172.16.216.1 - 172.16.219.254	172.16.219.255</a:t>
            </a:r>
          </a:p>
          <a:p>
            <a:r>
              <a:rPr lang="en-US" sz="1200" dirty="0"/>
              <a:t>172.16.220.0		172.16.220.1 - 172.16.223.254	172.16.223.255</a:t>
            </a:r>
          </a:p>
          <a:p>
            <a:r>
              <a:rPr lang="en-US" sz="1200" dirty="0"/>
              <a:t>172.16.224.0		172.16.224.1 - 172.16.227.254	172.16.227.255</a:t>
            </a:r>
          </a:p>
          <a:p>
            <a:r>
              <a:rPr lang="en-US" sz="1200" dirty="0"/>
              <a:t>172.16.228.0		172.16.228.1 - 172.16.231.254	172.16.231.255</a:t>
            </a:r>
          </a:p>
          <a:p>
            <a:r>
              <a:rPr lang="en-US" sz="1200" dirty="0"/>
              <a:t>172.16.232.0		172.16.232.1 - 172.16.235.254	172.16.235.255</a:t>
            </a:r>
          </a:p>
          <a:p>
            <a:r>
              <a:rPr lang="en-US" sz="1200" dirty="0"/>
              <a:t>172.16.236.0		172.16.236.1 - 172.16.239.254	172.16.239.255</a:t>
            </a:r>
          </a:p>
          <a:p>
            <a:r>
              <a:rPr lang="en-US" sz="1200" dirty="0"/>
              <a:t>172.16.240.0		172.16.240.1 - 172.16.243.254	172.16.243.255</a:t>
            </a:r>
          </a:p>
          <a:p>
            <a:r>
              <a:rPr lang="en-US" sz="1200" dirty="0"/>
              <a:t>172.16.244.0		172.16.244.1 - 172.16.247.254	172.16.247.255</a:t>
            </a:r>
          </a:p>
          <a:p>
            <a:r>
              <a:rPr lang="en-US" sz="1200" dirty="0"/>
              <a:t>172.16.248.0		172.16.248.1 - 172.16.251.254	172.16.251.255</a:t>
            </a:r>
          </a:p>
          <a:p>
            <a:r>
              <a:rPr lang="en-US" sz="1200" dirty="0"/>
              <a:t>172.16.252.0		172.16.252.1 - 172.16.255.254	172.16.255.255</a:t>
            </a:r>
          </a:p>
        </p:txBody>
      </p:sp>
    </p:spTree>
    <p:extLst>
      <p:ext uri="{BB962C8B-B14F-4D97-AF65-F5344CB8AC3E}">
        <p14:creationId xmlns:p14="http://schemas.microsoft.com/office/powerpoint/2010/main" val="13504559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B                      </a:t>
            </a: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172 .16.0.0/23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9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512– 2</a:t>
            </a:r>
            <a:endParaRPr lang="en-US" sz="2000" dirty="0"/>
          </a:p>
          <a:p>
            <a:r>
              <a:rPr lang="en-US" sz="2000" b="1" dirty="0"/>
              <a:t>	 510 hosts/network</a:t>
            </a:r>
            <a:endParaRPr lang="en-US" sz="2000" dirty="0"/>
          </a:p>
          <a:p>
            <a:r>
              <a:rPr lang="en-US" b="1" dirty="0"/>
              <a:t>      Total number of IP’s is 512 per network</a:t>
            </a:r>
            <a:endParaRPr lang="en-US" dirty="0"/>
          </a:p>
          <a:p>
            <a:r>
              <a:rPr lang="en-US" b="1" dirty="0"/>
              <a:t>      Total number of usable IP’s is 510 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4364143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</a:t>
            </a:r>
          </a:p>
          <a:p>
            <a:r>
              <a:rPr lang="en-US" sz="2400" b="1" dirty="0"/>
              <a:t>2</a:t>
            </a:r>
            <a:r>
              <a:rPr lang="en-US" sz="2400" b="1" baseline="30000" dirty="0"/>
              <a:t>7</a:t>
            </a:r>
            <a:r>
              <a:rPr lang="en-US" sz="2400" b="1" dirty="0"/>
              <a:t> </a:t>
            </a:r>
            <a:r>
              <a:rPr lang="en-US" sz="2000" b="1" dirty="0"/>
              <a:t> [ in last 8 bit there are no of n/w’s </a:t>
            </a:r>
            <a:r>
              <a:rPr lang="en-US" b="1" dirty="0"/>
              <a:t>]</a:t>
            </a:r>
            <a:endParaRPr lang="en-US" dirty="0"/>
          </a:p>
          <a:p>
            <a:r>
              <a:rPr lang="en-US" sz="2800" b="1" dirty="0"/>
              <a:t>N=128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194992" y="384534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	=  </a:t>
            </a:r>
            <a:r>
              <a:rPr lang="en-US" u="sng" dirty="0"/>
              <a:t>512  </a:t>
            </a:r>
            <a:r>
              <a:rPr lang="en-US" dirty="0"/>
              <a:t> = </a:t>
            </a:r>
            <a:r>
              <a:rPr lang="en-US" b="1" dirty="0"/>
              <a:t>2</a:t>
            </a:r>
            <a:endParaRPr lang="en-US" b="1" u="sng" dirty="0"/>
          </a:p>
          <a:p>
            <a:r>
              <a:rPr lang="en-US" dirty="0"/>
              <a:t>			     256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8739" y="2665452"/>
            <a:ext cx="4181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6152333" y="5670797"/>
            <a:ext cx="6039667" cy="23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739" y="0"/>
            <a:ext cx="5386243" cy="214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927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537" y="384402"/>
            <a:ext cx="9692640" cy="554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458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6185"/>
            <a:ext cx="5570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128 of the Possible /23 Networks for 172.16.*.*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8867"/>
            <a:ext cx="3213463" cy="62591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463" y="598867"/>
            <a:ext cx="3161211" cy="62591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674" y="598866"/>
            <a:ext cx="2808515" cy="62591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3189" y="598865"/>
            <a:ext cx="3008811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56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01481" y="3668410"/>
            <a:ext cx="42226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kern="1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A Sub netting</a:t>
            </a:r>
            <a:endParaRPr lang="en-US" sz="4000" dirty="0">
              <a:solidFill>
                <a:srgbClr val="00B05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3444" b="25835"/>
          <a:stretch/>
        </p:blipFill>
        <p:spPr>
          <a:xfrm>
            <a:off x="1469203" y="1448656"/>
            <a:ext cx="9596063" cy="221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014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</a:t>
            </a: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10.0.0.0/8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/>
              <a:t>2</a:t>
            </a:r>
            <a:r>
              <a:rPr lang="en-US" sz="2000" b="1" baseline="30000" dirty="0"/>
              <a:t>24</a:t>
            </a:r>
            <a:r>
              <a:rPr lang="en-US" sz="2000" b="1" dirty="0"/>
              <a:t> -2 </a:t>
            </a:r>
            <a:endParaRPr lang="en-US" sz="2000" dirty="0"/>
          </a:p>
          <a:p>
            <a:r>
              <a:rPr lang="en-US" sz="2000" b="1" dirty="0"/>
              <a:t>	16777216– 2</a:t>
            </a:r>
            <a:endParaRPr lang="en-US" sz="2000" dirty="0"/>
          </a:p>
          <a:p>
            <a:r>
              <a:rPr lang="en-US" sz="2000" b="1" dirty="0"/>
              <a:t>	16777214 hosts/network</a:t>
            </a:r>
            <a:endParaRPr lang="en-US" sz="2000" dirty="0"/>
          </a:p>
          <a:p>
            <a:r>
              <a:rPr lang="en-US" b="1" dirty="0"/>
              <a:t>      Total number of IP’s is 16777216 per network</a:t>
            </a:r>
            <a:endParaRPr lang="en-US" dirty="0"/>
          </a:p>
          <a:p>
            <a:r>
              <a:rPr lang="en-US" b="1" dirty="0"/>
              <a:t>      Total number of usable IP’s is 16777214 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 smtClean="0"/>
              <a:t>2</a:t>
            </a:r>
            <a:r>
              <a:rPr lang="en-US" sz="2400" b="1" baseline="30000" dirty="0"/>
              <a:t>0</a:t>
            </a:r>
            <a:endParaRPr lang="en-US" sz="2000" b="1" dirty="0"/>
          </a:p>
          <a:p>
            <a:r>
              <a:rPr lang="en-US" sz="2800" b="1" dirty="0" smtClean="0"/>
              <a:t>N=1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20E417-18A6-A38D-7DA7-1416C7B28339}"/>
              </a:ext>
            </a:extLst>
          </p:cNvPr>
          <p:cNvSpPr/>
          <p:nvPr/>
        </p:nvSpPr>
        <p:spPr>
          <a:xfrm>
            <a:off x="2608216" y="1045197"/>
            <a:ext cx="5474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11111111.00000000. 00000000.00000000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3CC45-A9CF-8FCC-E76A-A4C48FB1131B}"/>
              </a:ext>
            </a:extLst>
          </p:cNvPr>
          <p:cNvSpPr/>
          <p:nvPr/>
        </p:nvSpPr>
        <p:spPr>
          <a:xfrm>
            <a:off x="2852855" y="1398173"/>
            <a:ext cx="8310673" cy="595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255.	       0.              0.             0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950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020997"/>
              </p:ext>
            </p:extLst>
          </p:nvPr>
        </p:nvGraphicFramePr>
        <p:xfrm>
          <a:off x="0" y="0"/>
          <a:ext cx="6740434" cy="6858001"/>
        </p:xfrm>
        <a:graphic>
          <a:graphicData uri="http://schemas.openxmlformats.org/drawingml/2006/table">
            <a:tbl>
              <a:tblPr/>
              <a:tblGrid>
                <a:gridCol w="3370217">
                  <a:extLst>
                    <a:ext uri="{9D8B030D-6E8A-4147-A177-3AD203B41FA5}">
                      <a16:colId xmlns:a16="http://schemas.microsoft.com/office/drawing/2014/main" val="2691183949"/>
                    </a:ext>
                  </a:extLst>
                </a:gridCol>
                <a:gridCol w="3370217">
                  <a:extLst>
                    <a:ext uri="{9D8B030D-6E8A-4147-A177-3AD203B41FA5}">
                      <a16:colId xmlns:a16="http://schemas.microsoft.com/office/drawing/2014/main" val="3626621149"/>
                    </a:ext>
                  </a:extLst>
                </a:gridCol>
              </a:tblGrid>
              <a:tr h="5667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50669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057830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69441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567007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734652"/>
                  </a:ext>
                </a:extLst>
              </a:tr>
              <a:tr h="409555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8957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959383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27246"/>
                  </a:ext>
                </a:extLst>
              </a:tr>
              <a:tr h="781426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092162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981048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26098"/>
                  </a:ext>
                </a:extLst>
              </a:tr>
              <a:tr h="566702">
                <a:tc>
                  <a:txBody>
                    <a:bodyPr/>
                    <a:lstStyle/>
                    <a:p>
                      <a:endParaRPr lang="en-US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325161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9CA64C0F-B637-E794-CB78-99BDE61F3054}"/>
              </a:ext>
            </a:extLst>
          </p:cNvPr>
          <p:cNvSpPr/>
          <p:nvPr/>
        </p:nvSpPr>
        <p:spPr>
          <a:xfrm>
            <a:off x="7158446" y="1124952"/>
            <a:ext cx="4833027" cy="4608095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67014" y="711926"/>
            <a:ext cx="26648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Network </a:t>
            </a:r>
            <a:r>
              <a:rPr lang="en-US" b="1" dirty="0" smtClean="0"/>
              <a:t>Address:10.0.0.0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8067014" y="5869967"/>
            <a:ext cx="3482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Broadcast </a:t>
            </a:r>
            <a:r>
              <a:rPr lang="en-US" b="1" dirty="0" smtClean="0"/>
              <a:t>Address:10.255.255.255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8067014" y="2550216"/>
            <a:ext cx="350512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Number of Usable </a:t>
            </a:r>
            <a:r>
              <a:rPr lang="en-US" b="1" dirty="0" smtClean="0">
                <a:solidFill>
                  <a:srgbClr val="00B050"/>
                </a:solidFill>
              </a:rPr>
              <a:t>Hosts:16777214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10.0.0.1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to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10.255.255.254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D22D1C-17B9-CBD2-81C6-2399C2526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168"/>
            <a:ext cx="6740434" cy="688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260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</a:t>
            </a: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10.0.0.0/9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 smtClean="0"/>
              <a:t>2</a:t>
            </a:r>
            <a:r>
              <a:rPr lang="en-US" sz="2000" b="1" baseline="30000" dirty="0" smtClean="0"/>
              <a:t>23</a:t>
            </a:r>
            <a:r>
              <a:rPr lang="en-US" sz="2000" b="1" dirty="0" smtClean="0"/>
              <a:t> </a:t>
            </a:r>
            <a:r>
              <a:rPr lang="en-US" sz="2000" b="1" dirty="0"/>
              <a:t>-2 </a:t>
            </a:r>
            <a:endParaRPr lang="en-US" sz="2000" dirty="0"/>
          </a:p>
          <a:p>
            <a:r>
              <a:rPr lang="en-US" sz="2000" b="1" dirty="0"/>
              <a:t>	</a:t>
            </a:r>
            <a:r>
              <a:rPr lang="en-US" sz="2000" b="1" dirty="0" smtClean="0"/>
              <a:t>8388608– </a:t>
            </a:r>
            <a:r>
              <a:rPr lang="en-US" sz="2000" b="1" dirty="0"/>
              <a:t>2</a:t>
            </a:r>
            <a:endParaRPr lang="en-US" sz="2000" dirty="0"/>
          </a:p>
          <a:p>
            <a:r>
              <a:rPr lang="en-US" sz="2000" b="1" dirty="0"/>
              <a:t>	 </a:t>
            </a:r>
            <a:r>
              <a:rPr lang="en-US" sz="2000" b="1" dirty="0" smtClean="0"/>
              <a:t>8388606 </a:t>
            </a:r>
            <a:r>
              <a:rPr lang="en-US" sz="2000" b="1" dirty="0"/>
              <a:t>hosts/network</a:t>
            </a:r>
            <a:endParaRPr lang="en-US" sz="2000" dirty="0"/>
          </a:p>
          <a:p>
            <a:r>
              <a:rPr lang="en-US" b="1" dirty="0"/>
              <a:t>      Total number of IP’s is 8388608</a:t>
            </a:r>
            <a:r>
              <a:rPr lang="en-US" b="1" dirty="0" smtClean="0"/>
              <a:t> </a:t>
            </a:r>
            <a:r>
              <a:rPr lang="en-US" b="1" dirty="0"/>
              <a:t>per network</a:t>
            </a:r>
            <a:endParaRPr lang="en-US" dirty="0"/>
          </a:p>
          <a:p>
            <a:r>
              <a:rPr lang="en-US" b="1" dirty="0"/>
              <a:t>      Total number of usable IP’s is 8388606</a:t>
            </a:r>
            <a:r>
              <a:rPr lang="en-US" b="1" dirty="0" smtClean="0"/>
              <a:t> </a:t>
            </a:r>
            <a:r>
              <a:rPr lang="en-US" b="1" dirty="0"/>
              <a:t>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 smtClean="0"/>
              <a:t>2</a:t>
            </a:r>
            <a:r>
              <a:rPr lang="en-US" sz="2400" b="1" baseline="30000" dirty="0" smtClean="0"/>
              <a:t>1</a:t>
            </a:r>
            <a:endParaRPr lang="en-US" sz="2000" b="1" dirty="0"/>
          </a:p>
          <a:p>
            <a:r>
              <a:rPr lang="en-US" sz="2800" b="1" dirty="0" smtClean="0"/>
              <a:t>N=2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20E417-18A6-A38D-7DA7-1416C7B28339}"/>
              </a:ext>
            </a:extLst>
          </p:cNvPr>
          <p:cNvSpPr/>
          <p:nvPr/>
        </p:nvSpPr>
        <p:spPr>
          <a:xfrm>
            <a:off x="2608216" y="1045197"/>
            <a:ext cx="5474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11111111.</a:t>
            </a:r>
            <a:r>
              <a:rPr lang="en-US" sz="2400" b="1" kern="1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0000000</a:t>
            </a:r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00000000.00000000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3CC45-A9CF-8FCC-E76A-A4C48FB1131B}"/>
              </a:ext>
            </a:extLst>
          </p:cNvPr>
          <p:cNvSpPr/>
          <p:nvPr/>
        </p:nvSpPr>
        <p:spPr>
          <a:xfrm>
            <a:off x="2852855" y="1398173"/>
            <a:ext cx="8727454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255.	       </a:t>
            </a:r>
            <a:r>
              <a:rPr lang="en-US" sz="32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128.              </a:t>
            </a: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             0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6786" y="3070085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</a:t>
            </a:r>
            <a:r>
              <a:rPr lang="en-US" dirty="0" smtClean="0"/>
              <a:t>= </a:t>
            </a:r>
            <a:r>
              <a:rPr lang="en-US" b="1" u="sng" dirty="0" smtClean="0"/>
              <a:t>8388608</a:t>
            </a:r>
            <a:r>
              <a:rPr lang="en-US" u="sng" dirty="0" smtClean="0"/>
              <a:t>  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b="1" dirty="0" smtClean="0"/>
              <a:t>32768</a:t>
            </a:r>
            <a:endParaRPr lang="en-US" b="1" u="sng" dirty="0"/>
          </a:p>
          <a:p>
            <a:r>
              <a:rPr lang="en-US" dirty="0" smtClean="0"/>
              <a:t>		        256</a:t>
            </a:r>
          </a:p>
          <a:p>
            <a:endParaRPr lang="en-US" dirty="0"/>
          </a:p>
          <a:p>
            <a:r>
              <a:rPr lang="en-US" dirty="0" smtClean="0"/>
              <a:t>                        Again we have to  divide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dirty="0" smtClean="0"/>
              <a:t>	= </a:t>
            </a:r>
            <a:r>
              <a:rPr lang="en-US" b="1" u="sng" dirty="0" smtClean="0"/>
              <a:t>32768	 </a:t>
            </a:r>
            <a:r>
              <a:rPr lang="en-US" b="1" dirty="0" smtClean="0"/>
              <a:t>  =128</a:t>
            </a:r>
            <a:endParaRPr lang="en-US" b="1" u="sng" dirty="0" smtClean="0"/>
          </a:p>
          <a:p>
            <a:r>
              <a:rPr lang="en-US" dirty="0" smtClean="0"/>
              <a:t>		     256</a:t>
            </a:r>
          </a:p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693382" y="2414427"/>
            <a:ext cx="3177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</p:spTree>
    <p:extLst>
      <p:ext uri="{BB962C8B-B14F-4D97-AF65-F5344CB8AC3E}">
        <p14:creationId xmlns:p14="http://schemas.microsoft.com/office/powerpoint/2010/main" val="28884562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965577" cy="44413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25715" y="4441371"/>
            <a:ext cx="4891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2 of the Possible /9 Networks for 10.*.*.*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23" y="5238749"/>
            <a:ext cx="8258654" cy="139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5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</a:t>
            </a: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                     </a:t>
            </a: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10.0.0.0/10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 smtClean="0"/>
              <a:t>2</a:t>
            </a:r>
            <a:r>
              <a:rPr lang="en-US" sz="2000" b="1" baseline="30000" dirty="0" smtClean="0"/>
              <a:t>22</a:t>
            </a:r>
            <a:r>
              <a:rPr lang="en-US" sz="2000" b="1" dirty="0" smtClean="0"/>
              <a:t> </a:t>
            </a:r>
            <a:r>
              <a:rPr lang="en-US" sz="2000" b="1" dirty="0"/>
              <a:t>-2 </a:t>
            </a:r>
            <a:endParaRPr lang="en-US" sz="2000" dirty="0"/>
          </a:p>
          <a:p>
            <a:r>
              <a:rPr lang="en-US" sz="2000" b="1" dirty="0"/>
              <a:t>	</a:t>
            </a:r>
            <a:r>
              <a:rPr lang="en-US" sz="2000" b="1" dirty="0" smtClean="0"/>
              <a:t>4194304– </a:t>
            </a:r>
            <a:r>
              <a:rPr lang="en-US" sz="2000" b="1" dirty="0"/>
              <a:t>2</a:t>
            </a:r>
            <a:endParaRPr lang="en-US" sz="2000" dirty="0"/>
          </a:p>
          <a:p>
            <a:r>
              <a:rPr lang="en-US" sz="2000" b="1" dirty="0"/>
              <a:t>	 </a:t>
            </a:r>
            <a:r>
              <a:rPr lang="en-US" sz="2000" b="1" dirty="0" smtClean="0"/>
              <a:t>4194302 </a:t>
            </a:r>
            <a:r>
              <a:rPr lang="en-US" sz="2000" b="1" dirty="0"/>
              <a:t>hosts/network</a:t>
            </a:r>
            <a:endParaRPr lang="en-US" sz="2000" dirty="0"/>
          </a:p>
          <a:p>
            <a:r>
              <a:rPr lang="en-US" b="1" dirty="0"/>
              <a:t>      Total number of IP’s is 4194304</a:t>
            </a:r>
            <a:r>
              <a:rPr lang="en-US" b="1" dirty="0" smtClean="0"/>
              <a:t> </a:t>
            </a:r>
            <a:r>
              <a:rPr lang="en-US" b="1" dirty="0"/>
              <a:t>per network</a:t>
            </a:r>
            <a:endParaRPr lang="en-US" dirty="0"/>
          </a:p>
          <a:p>
            <a:r>
              <a:rPr lang="en-US" b="1" dirty="0"/>
              <a:t>      Total number of usable IP’s is 4194302</a:t>
            </a:r>
            <a:r>
              <a:rPr lang="en-US" b="1" dirty="0" smtClean="0"/>
              <a:t> </a:t>
            </a:r>
            <a:r>
              <a:rPr lang="en-US" b="1" dirty="0"/>
              <a:t>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 smtClean="0"/>
              <a:t>2</a:t>
            </a:r>
            <a:r>
              <a:rPr lang="en-US" sz="2400" b="1" baseline="30000" dirty="0"/>
              <a:t>2</a:t>
            </a:r>
            <a:endParaRPr lang="en-US" sz="2000" b="1" dirty="0"/>
          </a:p>
          <a:p>
            <a:r>
              <a:rPr lang="en-US" sz="2800" b="1" dirty="0" smtClean="0"/>
              <a:t>N=4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20E417-18A6-A38D-7DA7-1416C7B28339}"/>
              </a:ext>
            </a:extLst>
          </p:cNvPr>
          <p:cNvSpPr/>
          <p:nvPr/>
        </p:nvSpPr>
        <p:spPr>
          <a:xfrm>
            <a:off x="2608216" y="1045197"/>
            <a:ext cx="5474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11111111.</a:t>
            </a:r>
            <a:r>
              <a:rPr lang="en-US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000000</a:t>
            </a:r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00000000.00000000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3CC45-A9CF-8FCC-E76A-A4C48FB1131B}"/>
              </a:ext>
            </a:extLst>
          </p:cNvPr>
          <p:cNvSpPr/>
          <p:nvPr/>
        </p:nvSpPr>
        <p:spPr>
          <a:xfrm>
            <a:off x="2852855" y="1398173"/>
            <a:ext cx="8727454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255.	       </a:t>
            </a:r>
            <a:r>
              <a:rPr lang="en-US" sz="32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192.              </a:t>
            </a: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             0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6786" y="3070085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</a:t>
            </a:r>
            <a:r>
              <a:rPr lang="en-US" dirty="0" smtClean="0"/>
              <a:t>= </a:t>
            </a:r>
            <a:r>
              <a:rPr lang="en-US" b="1" u="sng" dirty="0"/>
              <a:t>4194304</a:t>
            </a:r>
            <a:r>
              <a:rPr lang="en-US" u="sng" dirty="0" smtClean="0"/>
              <a:t>  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b="1" dirty="0" smtClean="0"/>
              <a:t>16384</a:t>
            </a:r>
            <a:endParaRPr lang="en-US" b="1" u="sng" dirty="0"/>
          </a:p>
          <a:p>
            <a:r>
              <a:rPr lang="en-US" dirty="0" smtClean="0"/>
              <a:t>		        256</a:t>
            </a:r>
          </a:p>
          <a:p>
            <a:endParaRPr lang="en-US" dirty="0"/>
          </a:p>
          <a:p>
            <a:r>
              <a:rPr lang="en-US" dirty="0" smtClean="0"/>
              <a:t>                        Again we have to  divide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dirty="0" smtClean="0"/>
              <a:t>	= </a:t>
            </a:r>
            <a:r>
              <a:rPr lang="en-US" b="1" u="sng" dirty="0" smtClean="0"/>
              <a:t>16384	 </a:t>
            </a:r>
            <a:r>
              <a:rPr lang="en-US" b="1" dirty="0" smtClean="0"/>
              <a:t>  =64</a:t>
            </a:r>
            <a:endParaRPr lang="en-US" b="1" u="sng" dirty="0" smtClean="0"/>
          </a:p>
          <a:p>
            <a:r>
              <a:rPr lang="en-US" dirty="0" smtClean="0"/>
              <a:t>		     256</a:t>
            </a:r>
          </a:p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693382" y="2414427"/>
            <a:ext cx="3177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</p:spTree>
    <p:extLst>
      <p:ext uri="{BB962C8B-B14F-4D97-AF65-F5344CB8AC3E}">
        <p14:creationId xmlns:p14="http://schemas.microsoft.com/office/powerpoint/2010/main" val="12480651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015"/>
            <a:ext cx="10808930" cy="37865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744" y="4122794"/>
            <a:ext cx="5019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4 of the Possible /10 Networks for 10.*.*.*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44" y="4492126"/>
            <a:ext cx="10808930" cy="224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8320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</a:t>
            </a: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10.0.0.0/11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 smtClean="0"/>
              <a:t>2</a:t>
            </a:r>
            <a:r>
              <a:rPr lang="en-US" sz="2000" b="1" baseline="30000" dirty="0" smtClean="0"/>
              <a:t>21</a:t>
            </a:r>
            <a:r>
              <a:rPr lang="en-US" sz="2000" b="1" dirty="0" smtClean="0"/>
              <a:t> </a:t>
            </a:r>
            <a:r>
              <a:rPr lang="en-US" sz="2000" b="1" dirty="0"/>
              <a:t>-2 </a:t>
            </a:r>
            <a:endParaRPr lang="en-US" sz="2000" dirty="0"/>
          </a:p>
          <a:p>
            <a:r>
              <a:rPr lang="en-US" sz="2000" b="1" dirty="0"/>
              <a:t>	</a:t>
            </a:r>
            <a:r>
              <a:rPr lang="en-US" sz="2000" b="1" dirty="0" smtClean="0"/>
              <a:t>2097152– </a:t>
            </a:r>
            <a:r>
              <a:rPr lang="en-US" sz="2000" b="1" dirty="0"/>
              <a:t>2</a:t>
            </a:r>
            <a:endParaRPr lang="en-US" sz="2000" dirty="0"/>
          </a:p>
          <a:p>
            <a:r>
              <a:rPr lang="en-US" sz="2000" b="1" dirty="0"/>
              <a:t>	 </a:t>
            </a:r>
            <a:r>
              <a:rPr lang="en-US" sz="2000" b="1" dirty="0" smtClean="0"/>
              <a:t>2097150hosts/network</a:t>
            </a:r>
            <a:endParaRPr lang="en-US" sz="2000" dirty="0"/>
          </a:p>
          <a:p>
            <a:r>
              <a:rPr lang="en-US" b="1" dirty="0"/>
              <a:t>      Total number of IP’s is 2097152</a:t>
            </a:r>
            <a:r>
              <a:rPr lang="en-US" b="1" dirty="0" smtClean="0"/>
              <a:t> </a:t>
            </a:r>
            <a:r>
              <a:rPr lang="en-US" b="1" dirty="0"/>
              <a:t>per network</a:t>
            </a:r>
            <a:endParaRPr lang="en-US" dirty="0"/>
          </a:p>
          <a:p>
            <a:r>
              <a:rPr lang="en-US" b="1" dirty="0"/>
              <a:t>      Total number of usable IP’s is </a:t>
            </a:r>
            <a:r>
              <a:rPr lang="en-US" b="1" dirty="0" smtClean="0"/>
              <a:t>2097150 </a:t>
            </a:r>
            <a:r>
              <a:rPr lang="en-US" b="1" dirty="0"/>
              <a:t>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 smtClean="0"/>
              <a:t>2</a:t>
            </a:r>
            <a:r>
              <a:rPr lang="en-US" sz="2400" b="1" baseline="30000" dirty="0" smtClean="0"/>
              <a:t>3</a:t>
            </a:r>
            <a:endParaRPr lang="en-US" sz="2000" b="1" dirty="0"/>
          </a:p>
          <a:p>
            <a:r>
              <a:rPr lang="en-US" sz="2800" b="1" dirty="0" smtClean="0"/>
              <a:t>N=8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20E417-18A6-A38D-7DA7-1416C7B28339}"/>
              </a:ext>
            </a:extLst>
          </p:cNvPr>
          <p:cNvSpPr/>
          <p:nvPr/>
        </p:nvSpPr>
        <p:spPr>
          <a:xfrm>
            <a:off x="2608216" y="1045197"/>
            <a:ext cx="5474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11111111.</a:t>
            </a:r>
            <a:r>
              <a:rPr lang="en-US" sz="2400" b="1" kern="1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n-US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00000</a:t>
            </a:r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00000000.00000000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3CC45-A9CF-8FCC-E76A-A4C48FB1131B}"/>
              </a:ext>
            </a:extLst>
          </p:cNvPr>
          <p:cNvSpPr/>
          <p:nvPr/>
        </p:nvSpPr>
        <p:spPr>
          <a:xfrm>
            <a:off x="2852855" y="1398173"/>
            <a:ext cx="8727454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255.	       </a:t>
            </a:r>
            <a:r>
              <a:rPr lang="en-US" sz="32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224.              </a:t>
            </a: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             0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6786" y="3070085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</a:t>
            </a:r>
            <a:r>
              <a:rPr lang="en-US" dirty="0" smtClean="0"/>
              <a:t>= </a:t>
            </a:r>
            <a:r>
              <a:rPr lang="en-US" b="1" u="sng" dirty="0" smtClean="0"/>
              <a:t>2097152</a:t>
            </a:r>
            <a:r>
              <a:rPr lang="en-US" u="sng" dirty="0" smtClean="0"/>
              <a:t>  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b="1" dirty="0" smtClean="0"/>
              <a:t>8192</a:t>
            </a:r>
            <a:endParaRPr lang="en-US" b="1" u="sng" dirty="0"/>
          </a:p>
          <a:p>
            <a:r>
              <a:rPr lang="en-US" dirty="0" smtClean="0"/>
              <a:t>		        256</a:t>
            </a:r>
          </a:p>
          <a:p>
            <a:endParaRPr lang="en-US" dirty="0"/>
          </a:p>
          <a:p>
            <a:r>
              <a:rPr lang="en-US" dirty="0" smtClean="0"/>
              <a:t>                        Again we have to  divide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dirty="0" smtClean="0"/>
              <a:t>	= </a:t>
            </a:r>
            <a:r>
              <a:rPr lang="en-US" b="1" u="sng" dirty="0" smtClean="0"/>
              <a:t>8192	 </a:t>
            </a:r>
            <a:r>
              <a:rPr lang="en-US" b="1" dirty="0" smtClean="0"/>
              <a:t>  =32</a:t>
            </a:r>
            <a:endParaRPr lang="en-US" b="1" u="sng" dirty="0" smtClean="0"/>
          </a:p>
          <a:p>
            <a:r>
              <a:rPr lang="en-US" dirty="0" smtClean="0"/>
              <a:t>		     256</a:t>
            </a:r>
          </a:p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693382" y="2414427"/>
            <a:ext cx="3177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</p:spTree>
    <p:extLst>
      <p:ext uri="{BB962C8B-B14F-4D97-AF65-F5344CB8AC3E}">
        <p14:creationId xmlns:p14="http://schemas.microsoft.com/office/powerpoint/2010/main" val="7503113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070080" cy="356616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4569" y="3608537"/>
            <a:ext cx="5006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8 of the Possible /11 Networks for 10.*.*.*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58" y="4020247"/>
            <a:ext cx="9591947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326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</a:t>
            </a: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10.0.0.0/12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931860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 smtClean="0"/>
              <a:t>2</a:t>
            </a:r>
            <a:r>
              <a:rPr lang="en-US" sz="2000" b="1" baseline="30000" dirty="0" smtClean="0"/>
              <a:t>20</a:t>
            </a:r>
            <a:r>
              <a:rPr lang="en-US" sz="2000" b="1" dirty="0" smtClean="0"/>
              <a:t> </a:t>
            </a:r>
            <a:r>
              <a:rPr lang="en-US" sz="2000" b="1" dirty="0"/>
              <a:t>-2 </a:t>
            </a:r>
            <a:endParaRPr lang="en-US" sz="2000" dirty="0"/>
          </a:p>
          <a:p>
            <a:r>
              <a:rPr lang="en-US" sz="2000" b="1" dirty="0"/>
              <a:t>	</a:t>
            </a:r>
            <a:r>
              <a:rPr lang="en-US" sz="2000" b="1" dirty="0" smtClean="0"/>
              <a:t>1048576– </a:t>
            </a:r>
            <a:r>
              <a:rPr lang="en-US" sz="2000" b="1" dirty="0"/>
              <a:t>2</a:t>
            </a:r>
            <a:endParaRPr lang="en-US" sz="2000" dirty="0"/>
          </a:p>
          <a:p>
            <a:r>
              <a:rPr lang="en-US" sz="2000" b="1" dirty="0"/>
              <a:t>	 </a:t>
            </a:r>
            <a:r>
              <a:rPr lang="en-US" sz="2000" b="1" dirty="0" smtClean="0"/>
              <a:t>1048574 hosts/network</a:t>
            </a:r>
            <a:endParaRPr lang="en-US" sz="2000" dirty="0"/>
          </a:p>
          <a:p>
            <a:r>
              <a:rPr lang="en-US" b="1" dirty="0"/>
              <a:t>      Total number of IP’s is 1048576</a:t>
            </a:r>
            <a:r>
              <a:rPr lang="en-US" b="1" dirty="0" smtClean="0"/>
              <a:t> </a:t>
            </a:r>
            <a:r>
              <a:rPr lang="en-US" b="1" dirty="0"/>
              <a:t>per network</a:t>
            </a:r>
            <a:endParaRPr lang="en-US" dirty="0"/>
          </a:p>
          <a:p>
            <a:r>
              <a:rPr lang="en-US" b="1" dirty="0"/>
              <a:t>      Total number of usable IP’s is 1048574</a:t>
            </a:r>
            <a:r>
              <a:rPr lang="en-US" b="1" dirty="0" smtClean="0"/>
              <a:t> </a:t>
            </a:r>
            <a:r>
              <a:rPr lang="en-US" b="1" dirty="0"/>
              <a:t>per 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 smtClean="0"/>
              <a:t>2</a:t>
            </a:r>
            <a:r>
              <a:rPr lang="en-US" sz="2400" b="1" baseline="30000" dirty="0"/>
              <a:t>4</a:t>
            </a:r>
            <a:endParaRPr lang="en-US" sz="2000" b="1" dirty="0"/>
          </a:p>
          <a:p>
            <a:r>
              <a:rPr lang="en-US" sz="2800" b="1" dirty="0" smtClean="0"/>
              <a:t>N=16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20E417-18A6-A38D-7DA7-1416C7B28339}"/>
              </a:ext>
            </a:extLst>
          </p:cNvPr>
          <p:cNvSpPr/>
          <p:nvPr/>
        </p:nvSpPr>
        <p:spPr>
          <a:xfrm>
            <a:off x="2608216" y="1045197"/>
            <a:ext cx="5474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11111111.</a:t>
            </a:r>
            <a:r>
              <a:rPr lang="en-US" sz="2400" b="1" kern="1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</a:t>
            </a:r>
            <a:r>
              <a:rPr lang="en-US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0000</a:t>
            </a:r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00000000.00000000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3CC45-A9CF-8FCC-E76A-A4C48FB1131B}"/>
              </a:ext>
            </a:extLst>
          </p:cNvPr>
          <p:cNvSpPr/>
          <p:nvPr/>
        </p:nvSpPr>
        <p:spPr>
          <a:xfrm>
            <a:off x="2852855" y="1398173"/>
            <a:ext cx="8727454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255.	       </a:t>
            </a:r>
            <a:r>
              <a:rPr lang="en-US" sz="32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240.              </a:t>
            </a: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             0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6786" y="3070085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</a:t>
            </a:r>
            <a:r>
              <a:rPr lang="en-US" dirty="0" smtClean="0"/>
              <a:t>= </a:t>
            </a:r>
            <a:r>
              <a:rPr lang="en-US" b="1" u="sng" dirty="0"/>
              <a:t>1048574</a:t>
            </a:r>
            <a:r>
              <a:rPr lang="en-US" u="sng" dirty="0" smtClean="0"/>
              <a:t>  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b="1" dirty="0" smtClean="0"/>
              <a:t>4096</a:t>
            </a:r>
            <a:endParaRPr lang="en-US" b="1" u="sng" dirty="0"/>
          </a:p>
          <a:p>
            <a:r>
              <a:rPr lang="en-US" dirty="0" smtClean="0"/>
              <a:t>		        256</a:t>
            </a:r>
          </a:p>
          <a:p>
            <a:endParaRPr lang="en-US" dirty="0"/>
          </a:p>
          <a:p>
            <a:r>
              <a:rPr lang="en-US" dirty="0" smtClean="0"/>
              <a:t>                        Again we have to  divide</a:t>
            </a:r>
          </a:p>
          <a:p>
            <a:endParaRPr lang="en-US" dirty="0"/>
          </a:p>
          <a:p>
            <a:r>
              <a:rPr lang="en-US" dirty="0" smtClean="0"/>
              <a:t>		= </a:t>
            </a:r>
            <a:r>
              <a:rPr lang="en-US" b="1" u="sng" dirty="0" smtClean="0"/>
              <a:t>4096	 </a:t>
            </a:r>
            <a:r>
              <a:rPr lang="en-US" b="1" dirty="0" smtClean="0"/>
              <a:t>  =16</a:t>
            </a:r>
            <a:endParaRPr lang="en-US" b="1" u="sng" dirty="0" smtClean="0"/>
          </a:p>
          <a:p>
            <a:r>
              <a:rPr lang="en-US" dirty="0" smtClean="0"/>
              <a:t>		     256</a:t>
            </a:r>
          </a:p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693382" y="2414427"/>
            <a:ext cx="3177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</p:spTree>
    <p:extLst>
      <p:ext uri="{BB962C8B-B14F-4D97-AF65-F5344CB8AC3E}">
        <p14:creationId xmlns:p14="http://schemas.microsoft.com/office/powerpoint/2010/main" val="2006795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86425" cy="50161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38847" y="0"/>
            <a:ext cx="5147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16 of the Possible /12 Networks for 10.*.*.*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411" y="369332"/>
            <a:ext cx="602932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112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</a:t>
            </a: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                     </a:t>
            </a: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10.0.0.0/13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56333" y="3999438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 smtClean="0"/>
              <a:t>2</a:t>
            </a:r>
            <a:r>
              <a:rPr lang="en-US" sz="2000" b="1" baseline="30000" dirty="0" smtClean="0"/>
              <a:t>19</a:t>
            </a:r>
            <a:r>
              <a:rPr lang="en-US" sz="2000" b="1" dirty="0" smtClean="0"/>
              <a:t> </a:t>
            </a:r>
            <a:r>
              <a:rPr lang="en-US" sz="2000" b="1" dirty="0"/>
              <a:t>-2 </a:t>
            </a:r>
            <a:endParaRPr lang="en-US" sz="2000" dirty="0"/>
          </a:p>
          <a:p>
            <a:r>
              <a:rPr lang="en-US" sz="2000" b="1" dirty="0"/>
              <a:t>	</a:t>
            </a:r>
            <a:r>
              <a:rPr lang="en-US" sz="2000" b="1" dirty="0" smtClean="0"/>
              <a:t>524288– </a:t>
            </a:r>
            <a:r>
              <a:rPr lang="en-US" sz="2000" b="1" dirty="0"/>
              <a:t>2</a:t>
            </a:r>
            <a:endParaRPr lang="en-US" sz="2000" dirty="0"/>
          </a:p>
          <a:p>
            <a:r>
              <a:rPr lang="en-US" sz="2000" b="1" dirty="0"/>
              <a:t>	 </a:t>
            </a:r>
            <a:r>
              <a:rPr lang="en-US" sz="2000" b="1" dirty="0" smtClean="0"/>
              <a:t>524286 hosts/network</a:t>
            </a:r>
            <a:endParaRPr lang="en-US" sz="2000" dirty="0"/>
          </a:p>
          <a:p>
            <a:r>
              <a:rPr lang="en-US" b="1" dirty="0"/>
              <a:t>      Total number of IP’s is 524288</a:t>
            </a:r>
            <a:r>
              <a:rPr lang="en-US" b="1" dirty="0" smtClean="0"/>
              <a:t> </a:t>
            </a:r>
            <a:r>
              <a:rPr lang="en-US" b="1" dirty="0"/>
              <a:t>per network</a:t>
            </a:r>
            <a:endParaRPr lang="en-US" dirty="0"/>
          </a:p>
          <a:p>
            <a:r>
              <a:rPr lang="en-US" b="1" dirty="0"/>
              <a:t>      Total number of usable IP’s is </a:t>
            </a:r>
            <a:r>
              <a:rPr lang="en-US" b="1" dirty="0" smtClean="0"/>
              <a:t>524286 per </a:t>
            </a:r>
            <a:r>
              <a:rPr lang="en-US" b="1" dirty="0"/>
              <a:t>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 smtClean="0"/>
              <a:t>2</a:t>
            </a:r>
            <a:r>
              <a:rPr lang="en-US" sz="2400" b="1" baseline="30000" dirty="0" smtClean="0"/>
              <a:t>5</a:t>
            </a:r>
            <a:endParaRPr lang="en-US" sz="2000" b="1" dirty="0"/>
          </a:p>
          <a:p>
            <a:r>
              <a:rPr lang="en-US" sz="2800" b="1" dirty="0" smtClean="0"/>
              <a:t>N=32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20E417-18A6-A38D-7DA7-1416C7B28339}"/>
              </a:ext>
            </a:extLst>
          </p:cNvPr>
          <p:cNvSpPr/>
          <p:nvPr/>
        </p:nvSpPr>
        <p:spPr>
          <a:xfrm>
            <a:off x="2608216" y="1045197"/>
            <a:ext cx="5630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11111111.</a:t>
            </a:r>
            <a:r>
              <a:rPr lang="en-US" sz="2400" b="1" kern="1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</a:t>
            </a:r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000</a:t>
            </a:r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00000000.00000000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3CC45-A9CF-8FCC-E76A-A4C48FB1131B}"/>
              </a:ext>
            </a:extLst>
          </p:cNvPr>
          <p:cNvSpPr/>
          <p:nvPr/>
        </p:nvSpPr>
        <p:spPr>
          <a:xfrm>
            <a:off x="2852855" y="1398173"/>
            <a:ext cx="8727454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255.	       </a:t>
            </a:r>
            <a:r>
              <a:rPr lang="en-US" sz="32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248.              </a:t>
            </a: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             0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6786" y="3070085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</a:t>
            </a:r>
            <a:r>
              <a:rPr lang="en-US" dirty="0" smtClean="0"/>
              <a:t>= </a:t>
            </a:r>
            <a:r>
              <a:rPr lang="en-US" b="1" u="sng" dirty="0" smtClean="0"/>
              <a:t>524288</a:t>
            </a:r>
            <a:r>
              <a:rPr lang="en-US" u="sng" dirty="0" smtClean="0"/>
              <a:t>  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b="1" dirty="0" smtClean="0"/>
              <a:t>2048</a:t>
            </a:r>
            <a:endParaRPr lang="en-US" b="1" u="sng" dirty="0"/>
          </a:p>
          <a:p>
            <a:r>
              <a:rPr lang="en-US" dirty="0" smtClean="0"/>
              <a:t>		        256</a:t>
            </a:r>
          </a:p>
          <a:p>
            <a:endParaRPr lang="en-US" dirty="0"/>
          </a:p>
          <a:p>
            <a:r>
              <a:rPr lang="en-US" dirty="0" smtClean="0"/>
              <a:t>                        Again we have to  divide</a:t>
            </a:r>
          </a:p>
          <a:p>
            <a:endParaRPr lang="en-US" dirty="0"/>
          </a:p>
          <a:p>
            <a:r>
              <a:rPr lang="en-US" dirty="0" smtClean="0"/>
              <a:t>		= </a:t>
            </a:r>
            <a:r>
              <a:rPr lang="en-US" b="1" u="sng" dirty="0" smtClean="0"/>
              <a:t>2048	 </a:t>
            </a:r>
            <a:r>
              <a:rPr lang="en-US" b="1" dirty="0" smtClean="0"/>
              <a:t>  = 8</a:t>
            </a:r>
            <a:endParaRPr lang="en-US" b="1" u="sng" dirty="0" smtClean="0"/>
          </a:p>
          <a:p>
            <a:r>
              <a:rPr lang="en-US" dirty="0" smtClean="0"/>
              <a:t>		     256</a:t>
            </a:r>
          </a:p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693382" y="2414427"/>
            <a:ext cx="3177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</p:spTree>
    <p:extLst>
      <p:ext uri="{BB962C8B-B14F-4D97-AF65-F5344CB8AC3E}">
        <p14:creationId xmlns:p14="http://schemas.microsoft.com/office/powerpoint/2010/main" val="26221910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152606" cy="467650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17670" y="0"/>
            <a:ext cx="5147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32 of the Possible /13 Networks for 10.*.*.*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166" y="369332"/>
            <a:ext cx="5471160" cy="648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334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</a:t>
            </a: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                     </a:t>
            </a: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10.0.0.0/14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56333" y="3999438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 smtClean="0"/>
              <a:t>2</a:t>
            </a:r>
            <a:r>
              <a:rPr lang="en-US" sz="2000" b="1" baseline="30000" dirty="0" smtClean="0"/>
              <a:t>18</a:t>
            </a:r>
            <a:r>
              <a:rPr lang="en-US" sz="2000" b="1" dirty="0" smtClean="0"/>
              <a:t> </a:t>
            </a:r>
            <a:r>
              <a:rPr lang="en-US" sz="2000" b="1" dirty="0"/>
              <a:t>-2 </a:t>
            </a:r>
            <a:endParaRPr lang="en-US" sz="2000" dirty="0"/>
          </a:p>
          <a:p>
            <a:r>
              <a:rPr lang="en-US" sz="2000" b="1" dirty="0"/>
              <a:t>	</a:t>
            </a:r>
            <a:r>
              <a:rPr lang="en-US" sz="2000" b="1" dirty="0" smtClean="0"/>
              <a:t>262144– </a:t>
            </a:r>
            <a:r>
              <a:rPr lang="en-US" sz="2000" b="1" dirty="0"/>
              <a:t>2</a:t>
            </a:r>
            <a:endParaRPr lang="en-US" sz="2000" dirty="0"/>
          </a:p>
          <a:p>
            <a:r>
              <a:rPr lang="en-US" sz="2000" b="1" dirty="0"/>
              <a:t>	 </a:t>
            </a:r>
            <a:r>
              <a:rPr lang="en-US" sz="2000" b="1" dirty="0" smtClean="0"/>
              <a:t>262142 hosts/network</a:t>
            </a:r>
            <a:endParaRPr lang="en-US" sz="2000" dirty="0"/>
          </a:p>
          <a:p>
            <a:r>
              <a:rPr lang="en-US" b="1" dirty="0"/>
              <a:t>      Total number of IP’s is 262144</a:t>
            </a:r>
            <a:r>
              <a:rPr lang="en-US" b="1" dirty="0" smtClean="0"/>
              <a:t> </a:t>
            </a:r>
            <a:r>
              <a:rPr lang="en-US" b="1" dirty="0"/>
              <a:t>per network</a:t>
            </a:r>
            <a:endParaRPr lang="en-US" dirty="0"/>
          </a:p>
          <a:p>
            <a:r>
              <a:rPr lang="en-US" b="1" dirty="0"/>
              <a:t>      Total number of usable IP’s is 262142</a:t>
            </a:r>
            <a:r>
              <a:rPr lang="en-US" b="1" dirty="0" smtClean="0"/>
              <a:t> per </a:t>
            </a:r>
            <a:r>
              <a:rPr lang="en-US" b="1" dirty="0"/>
              <a:t>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 smtClean="0"/>
              <a:t>2</a:t>
            </a:r>
            <a:r>
              <a:rPr lang="en-US" sz="2400" b="1" baseline="30000" dirty="0"/>
              <a:t>6</a:t>
            </a:r>
            <a:endParaRPr lang="en-US" sz="2000" b="1" dirty="0"/>
          </a:p>
          <a:p>
            <a:r>
              <a:rPr lang="en-US" sz="2800" b="1" dirty="0" smtClean="0"/>
              <a:t>N=64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20E417-18A6-A38D-7DA7-1416C7B28339}"/>
              </a:ext>
            </a:extLst>
          </p:cNvPr>
          <p:cNvSpPr/>
          <p:nvPr/>
        </p:nvSpPr>
        <p:spPr>
          <a:xfrm>
            <a:off x="2608216" y="1045197"/>
            <a:ext cx="5474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11111111.</a:t>
            </a:r>
            <a:r>
              <a:rPr lang="en-US" sz="2400" b="1" kern="1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</a:t>
            </a:r>
            <a:r>
              <a:rPr lang="en-US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</a:t>
            </a:r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00000000.00000000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3CC45-A9CF-8FCC-E76A-A4C48FB1131B}"/>
              </a:ext>
            </a:extLst>
          </p:cNvPr>
          <p:cNvSpPr/>
          <p:nvPr/>
        </p:nvSpPr>
        <p:spPr>
          <a:xfrm>
            <a:off x="2852855" y="1398173"/>
            <a:ext cx="8727454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255.	       </a:t>
            </a:r>
            <a:r>
              <a:rPr lang="en-US" sz="32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252.              </a:t>
            </a: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             0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6786" y="3070085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</a:t>
            </a:r>
            <a:r>
              <a:rPr lang="en-US" dirty="0" smtClean="0"/>
              <a:t>= </a:t>
            </a:r>
            <a:r>
              <a:rPr lang="en-US" b="1" u="sng" dirty="0" smtClean="0"/>
              <a:t>262144</a:t>
            </a:r>
            <a:r>
              <a:rPr lang="en-US" u="sng" dirty="0" smtClean="0"/>
              <a:t>  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b="1" dirty="0" smtClean="0"/>
              <a:t>1024</a:t>
            </a:r>
            <a:endParaRPr lang="en-US" b="1" u="sng" dirty="0"/>
          </a:p>
          <a:p>
            <a:r>
              <a:rPr lang="en-US" dirty="0" smtClean="0"/>
              <a:t>		        256</a:t>
            </a:r>
          </a:p>
          <a:p>
            <a:endParaRPr lang="en-US" dirty="0"/>
          </a:p>
          <a:p>
            <a:r>
              <a:rPr lang="en-US" dirty="0" smtClean="0"/>
              <a:t>                        Again we have to  divide</a:t>
            </a:r>
          </a:p>
          <a:p>
            <a:endParaRPr lang="en-US" dirty="0"/>
          </a:p>
          <a:p>
            <a:r>
              <a:rPr lang="en-US" dirty="0" smtClean="0"/>
              <a:t>		= </a:t>
            </a:r>
            <a:r>
              <a:rPr lang="en-US" b="1" u="sng" dirty="0" smtClean="0"/>
              <a:t>1024	 </a:t>
            </a:r>
            <a:r>
              <a:rPr lang="en-US" b="1" dirty="0" smtClean="0"/>
              <a:t>  = 4</a:t>
            </a:r>
            <a:endParaRPr lang="en-US" b="1" u="sng" dirty="0" smtClean="0"/>
          </a:p>
          <a:p>
            <a:r>
              <a:rPr lang="en-US" dirty="0" smtClean="0"/>
              <a:t>		     256</a:t>
            </a:r>
          </a:p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693382" y="2414427"/>
            <a:ext cx="3177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</p:spTree>
    <p:extLst>
      <p:ext uri="{BB962C8B-B14F-4D97-AF65-F5344CB8AC3E}">
        <p14:creationId xmlns:p14="http://schemas.microsoft.com/office/powerpoint/2010/main" val="31873534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74" y="509450"/>
            <a:ext cx="10698480" cy="589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693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2311"/>
            <a:ext cx="5147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64 of the Possible /14 Networks for 10.*.*.*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30" y="491643"/>
            <a:ext cx="4741816" cy="62338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675" y="491643"/>
            <a:ext cx="4924696" cy="623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890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42" y="336776"/>
            <a:ext cx="5220223" cy="62338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416" y="1002981"/>
            <a:ext cx="5055326" cy="437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027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44137" y="0"/>
            <a:ext cx="11473543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Class </a:t>
            </a: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                     </a:t>
            </a:r>
            <a:endParaRPr lang="en-US" sz="2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0" marR="0" indent="1895475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10.0.0.0/15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0" y="82796"/>
            <a:ext cx="260821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no of n/w’s   n = 1’s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= no of hosts   m = 0’s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56333" y="3999438"/>
            <a:ext cx="5716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HOSTS/NETWORK </a:t>
            </a:r>
          </a:p>
          <a:p>
            <a:r>
              <a:rPr lang="en-US" sz="4400" b="1" dirty="0"/>
              <a:t>       </a:t>
            </a:r>
            <a:r>
              <a:rPr lang="en-US" sz="4400" b="1" dirty="0">
                <a:solidFill>
                  <a:srgbClr val="00B050"/>
                </a:solidFill>
              </a:rPr>
              <a:t>2</a:t>
            </a:r>
            <a:r>
              <a:rPr lang="en-US" sz="4400" b="1" baseline="30000" dirty="0">
                <a:solidFill>
                  <a:srgbClr val="00B050"/>
                </a:solidFill>
              </a:rPr>
              <a:t>m </a:t>
            </a:r>
            <a:r>
              <a:rPr lang="en-US" sz="4400" b="1" dirty="0">
                <a:solidFill>
                  <a:srgbClr val="00B050"/>
                </a:solidFill>
              </a:rPr>
              <a:t>-2  </a:t>
            </a:r>
          </a:p>
          <a:p>
            <a:endParaRPr lang="en-US" b="1" dirty="0"/>
          </a:p>
          <a:p>
            <a:r>
              <a:rPr lang="en-US" b="1" dirty="0"/>
              <a:t>	 </a:t>
            </a:r>
            <a:r>
              <a:rPr lang="en-US" sz="2000" b="1" dirty="0" smtClean="0"/>
              <a:t>2</a:t>
            </a:r>
            <a:r>
              <a:rPr lang="en-US" sz="2000" b="1" baseline="30000" dirty="0" smtClean="0"/>
              <a:t>17</a:t>
            </a:r>
            <a:r>
              <a:rPr lang="en-US" sz="2000" b="1" dirty="0" smtClean="0"/>
              <a:t> </a:t>
            </a:r>
            <a:r>
              <a:rPr lang="en-US" sz="2000" b="1" dirty="0"/>
              <a:t>-2 </a:t>
            </a:r>
            <a:endParaRPr lang="en-US" sz="2000" dirty="0"/>
          </a:p>
          <a:p>
            <a:r>
              <a:rPr lang="en-US" sz="2000" b="1" dirty="0"/>
              <a:t>	</a:t>
            </a:r>
            <a:r>
              <a:rPr lang="en-US" sz="2000" b="1" dirty="0" smtClean="0"/>
              <a:t>131072– </a:t>
            </a:r>
            <a:r>
              <a:rPr lang="en-US" sz="2000" b="1" dirty="0"/>
              <a:t>2</a:t>
            </a:r>
            <a:endParaRPr lang="en-US" sz="2000" dirty="0"/>
          </a:p>
          <a:p>
            <a:r>
              <a:rPr lang="en-US" sz="2000" b="1" dirty="0"/>
              <a:t>	 </a:t>
            </a:r>
            <a:r>
              <a:rPr lang="en-US" sz="2000" b="1" dirty="0" smtClean="0"/>
              <a:t>131070 hosts/network</a:t>
            </a:r>
            <a:endParaRPr lang="en-US" sz="2000" dirty="0"/>
          </a:p>
          <a:p>
            <a:r>
              <a:rPr lang="en-US" b="1" dirty="0"/>
              <a:t>      Total number of IP’s is 131072</a:t>
            </a:r>
            <a:r>
              <a:rPr lang="en-US" b="1" dirty="0" smtClean="0"/>
              <a:t> </a:t>
            </a:r>
            <a:r>
              <a:rPr lang="en-US" b="1" dirty="0"/>
              <a:t>per network</a:t>
            </a:r>
            <a:endParaRPr lang="en-US" dirty="0"/>
          </a:p>
          <a:p>
            <a:r>
              <a:rPr lang="en-US" b="1" dirty="0"/>
              <a:t>      Total number of usable IP’s is 131070</a:t>
            </a:r>
            <a:r>
              <a:rPr lang="en-US" b="1" dirty="0" smtClean="0"/>
              <a:t> per </a:t>
            </a:r>
            <a:r>
              <a:rPr lang="en-US" b="1" dirty="0"/>
              <a:t>network </a:t>
            </a:r>
            <a:endParaRPr lang="en-US" dirty="0"/>
          </a:p>
          <a:p>
            <a:endParaRPr lang="en-US" sz="44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36" y="4281495"/>
            <a:ext cx="3000375" cy="152835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2208311"/>
            <a:ext cx="3966150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 TO CALCULATE NO OF N/W’S</a:t>
            </a:r>
          </a:p>
          <a:p>
            <a:r>
              <a:rPr lang="en-US" sz="3600" b="1" dirty="0">
                <a:solidFill>
                  <a:srgbClr val="00B050"/>
                </a:solidFill>
              </a:rPr>
              <a:t>2</a:t>
            </a:r>
            <a:r>
              <a:rPr lang="en-US" sz="3600" b="1" baseline="30000" dirty="0">
                <a:solidFill>
                  <a:srgbClr val="00B050"/>
                </a:solidFill>
              </a:rPr>
              <a:t>n </a:t>
            </a:r>
          </a:p>
          <a:p>
            <a:r>
              <a:rPr lang="en-US" sz="2400" b="1" dirty="0" smtClean="0"/>
              <a:t>2</a:t>
            </a:r>
            <a:r>
              <a:rPr lang="en-US" sz="2400" b="1" baseline="30000" dirty="0" smtClean="0"/>
              <a:t>7</a:t>
            </a:r>
            <a:endParaRPr lang="en-US" sz="2000" b="1" dirty="0"/>
          </a:p>
          <a:p>
            <a:r>
              <a:rPr lang="en-US" sz="2800" b="1" dirty="0" smtClean="0"/>
              <a:t>N=128</a:t>
            </a:r>
            <a:endParaRPr lang="en-US" sz="2800" u="sng" dirty="0">
              <a:solidFill>
                <a:srgbClr val="00B05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214531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124166" y="2145310"/>
            <a:ext cx="0" cy="471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3884247"/>
            <a:ext cx="6124166" cy="47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20E417-18A6-A38D-7DA7-1416C7B28339}"/>
              </a:ext>
            </a:extLst>
          </p:cNvPr>
          <p:cNvSpPr/>
          <p:nvPr/>
        </p:nvSpPr>
        <p:spPr>
          <a:xfrm>
            <a:off x="2608216" y="1045197"/>
            <a:ext cx="5474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11111111.</a:t>
            </a:r>
            <a:r>
              <a:rPr lang="en-US" sz="2400" b="1" kern="1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1111111</a:t>
            </a:r>
            <a:r>
              <a:rPr lang="en-US" sz="24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00000000.00000000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3CC45-A9CF-8FCC-E76A-A4C48FB1131B}"/>
              </a:ext>
            </a:extLst>
          </p:cNvPr>
          <p:cNvSpPr/>
          <p:nvPr/>
        </p:nvSpPr>
        <p:spPr>
          <a:xfrm>
            <a:off x="2852855" y="1398173"/>
            <a:ext cx="8727454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255.	       </a:t>
            </a:r>
            <a:r>
              <a:rPr lang="en-US" sz="3200" b="1" kern="1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254.              </a:t>
            </a:r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             0       [ Subnet mask]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36786" y="3070085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Block size of each subnet =  </a:t>
            </a:r>
            <a:r>
              <a:rPr lang="en-US" b="1" u="sng" dirty="0"/>
              <a:t>Total number of IP address</a:t>
            </a:r>
          </a:p>
          <a:p>
            <a:r>
              <a:rPr lang="en-US" b="1" dirty="0"/>
              <a:t>				256</a:t>
            </a:r>
          </a:p>
          <a:p>
            <a:endParaRPr lang="en-US" b="1" dirty="0"/>
          </a:p>
          <a:p>
            <a:r>
              <a:rPr lang="en-US" dirty="0"/>
              <a:t>		</a:t>
            </a:r>
            <a:r>
              <a:rPr lang="en-US" dirty="0" smtClean="0"/>
              <a:t>= </a:t>
            </a:r>
            <a:r>
              <a:rPr lang="en-US" b="1" u="sng" dirty="0" smtClean="0"/>
              <a:t>131072</a:t>
            </a:r>
            <a:r>
              <a:rPr lang="en-US" u="sng" dirty="0" smtClean="0"/>
              <a:t>  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b="1" dirty="0" smtClean="0"/>
              <a:t>512</a:t>
            </a:r>
            <a:endParaRPr lang="en-US" b="1" u="sng" dirty="0"/>
          </a:p>
          <a:p>
            <a:r>
              <a:rPr lang="en-US" dirty="0" smtClean="0"/>
              <a:t>		        256</a:t>
            </a:r>
          </a:p>
          <a:p>
            <a:endParaRPr lang="en-US" dirty="0"/>
          </a:p>
          <a:p>
            <a:r>
              <a:rPr lang="en-US" dirty="0" smtClean="0"/>
              <a:t>                        Again we have to  divide</a:t>
            </a:r>
          </a:p>
          <a:p>
            <a:endParaRPr lang="en-US" dirty="0"/>
          </a:p>
          <a:p>
            <a:r>
              <a:rPr lang="en-US" dirty="0" smtClean="0"/>
              <a:t>		= </a:t>
            </a:r>
            <a:r>
              <a:rPr lang="en-US" b="1" u="sng" dirty="0" smtClean="0"/>
              <a:t>512	 </a:t>
            </a:r>
            <a:r>
              <a:rPr lang="en-US" b="1" dirty="0" smtClean="0"/>
              <a:t>  = 2</a:t>
            </a:r>
            <a:endParaRPr lang="en-US" b="1" u="sng" dirty="0" smtClean="0"/>
          </a:p>
          <a:p>
            <a:r>
              <a:rPr lang="en-US" dirty="0" smtClean="0"/>
              <a:t>		     256</a:t>
            </a:r>
          </a:p>
          <a:p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693382" y="2414427"/>
            <a:ext cx="3177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Formula to Calculate Block size </a:t>
            </a:r>
          </a:p>
        </p:txBody>
      </p:sp>
    </p:spTree>
    <p:extLst>
      <p:ext uri="{BB962C8B-B14F-4D97-AF65-F5344CB8AC3E}">
        <p14:creationId xmlns:p14="http://schemas.microsoft.com/office/powerpoint/2010/main" val="32794382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75" y="567010"/>
            <a:ext cx="9596302" cy="515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560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275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All 128 of the Possible /15 Networks for 10.*.*.*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78" y="741589"/>
            <a:ext cx="4743450" cy="5715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893" y="741589"/>
            <a:ext cx="47625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742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83" y="483598"/>
            <a:ext cx="5527903" cy="5734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543" y="445498"/>
            <a:ext cx="4829175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786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2" y="488359"/>
            <a:ext cx="4800600" cy="5724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244" y="1012779"/>
            <a:ext cx="4772025" cy="353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995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2" y="174850"/>
            <a:ext cx="9888582" cy="655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265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7599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357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7796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6416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1942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8393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796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8448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9143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1941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44700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6731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4021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011200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74969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959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587083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469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2148</Words>
  <Application>Microsoft Office PowerPoint</Application>
  <PresentationFormat>Widescreen</PresentationFormat>
  <Paragraphs>861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8" baseType="lpstr">
      <vt:lpstr>Arial</vt:lpstr>
      <vt:lpstr>Arial</vt:lpstr>
      <vt:lpstr>Arimo</vt:lpstr>
      <vt:lpstr>Calibri</vt:lpstr>
      <vt:lpstr>Calibri Light</vt:lpstr>
      <vt:lpstr>helvetica</vt:lpstr>
      <vt:lpstr>Open Sans</vt:lpstr>
      <vt:lpstr>Roboto</vt:lpstr>
      <vt:lpstr>Roboto Condensed</vt:lpstr>
      <vt:lpstr>Söhne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naveen S</dc:creator>
  <cp:lastModifiedBy>HP-PC</cp:lastModifiedBy>
  <cp:revision>69</cp:revision>
  <dcterms:created xsi:type="dcterms:W3CDTF">2023-10-30T05:38:27Z</dcterms:created>
  <dcterms:modified xsi:type="dcterms:W3CDTF">2024-06-27T05:49:16Z</dcterms:modified>
</cp:coreProperties>
</file>