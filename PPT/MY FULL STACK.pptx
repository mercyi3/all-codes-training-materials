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303" r:id="rId4"/>
    <p:sldId id="307" r:id="rId5"/>
    <p:sldId id="308" r:id="rId6"/>
    <p:sldId id="269" r:id="rId7"/>
    <p:sldId id="258" r:id="rId8"/>
    <p:sldId id="259" r:id="rId9"/>
    <p:sldId id="260" r:id="rId10"/>
    <p:sldId id="261" r:id="rId11"/>
    <p:sldId id="262" r:id="rId12"/>
    <p:sldId id="273" r:id="rId13"/>
    <p:sldId id="270" r:id="rId14"/>
    <p:sldId id="271" r:id="rId15"/>
    <p:sldId id="272" r:id="rId16"/>
    <p:sldId id="290" r:id="rId17"/>
    <p:sldId id="299" r:id="rId18"/>
    <p:sldId id="282" r:id="rId19"/>
    <p:sldId id="263" r:id="rId20"/>
    <p:sldId id="284" r:id="rId21"/>
    <p:sldId id="265" r:id="rId22"/>
    <p:sldId id="266" r:id="rId23"/>
    <p:sldId id="285" r:id="rId24"/>
    <p:sldId id="287" r:id="rId25"/>
    <p:sldId id="288" r:id="rId26"/>
    <p:sldId id="289" r:id="rId27"/>
    <p:sldId id="267" r:id="rId28"/>
    <p:sldId id="268" r:id="rId29"/>
    <p:sldId id="300" r:id="rId30"/>
    <p:sldId id="291" r:id="rId31"/>
    <p:sldId id="292" r:id="rId32"/>
    <p:sldId id="301" r:id="rId33"/>
    <p:sldId id="302" r:id="rId34"/>
    <p:sldId id="298" r:id="rId35"/>
    <p:sldId id="293" r:id="rId36"/>
    <p:sldId id="294" r:id="rId37"/>
    <p:sldId id="295" r:id="rId38"/>
    <p:sldId id="296" r:id="rId39"/>
    <p:sldId id="297" r:id="rId40"/>
    <p:sldId id="311" r:id="rId41"/>
    <p:sldId id="312" r:id="rId42"/>
    <p:sldId id="313" r:id="rId43"/>
    <p:sldId id="314" r:id="rId44"/>
    <p:sldId id="316" r:id="rId45"/>
    <p:sldId id="317" r:id="rId46"/>
    <p:sldId id="318" r:id="rId47"/>
    <p:sldId id="319" r:id="rId48"/>
    <p:sldId id="320" r:id="rId49"/>
    <p:sldId id="276" r:id="rId50"/>
    <p:sldId id="321" r:id="rId51"/>
    <p:sldId id="323" r:id="rId52"/>
    <p:sldId id="322" r:id="rId53"/>
    <p:sldId id="326" r:id="rId54"/>
    <p:sldId id="327" r:id="rId55"/>
    <p:sldId id="328" r:id="rId56"/>
    <p:sldId id="330" r:id="rId57"/>
    <p:sldId id="331" r:id="rId58"/>
    <p:sldId id="334" r:id="rId59"/>
    <p:sldId id="337" r:id="rId60"/>
    <p:sldId id="338" r:id="rId61"/>
    <p:sldId id="339" r:id="rId62"/>
    <p:sldId id="342" r:id="rId63"/>
    <p:sldId id="367" r:id="rId64"/>
    <p:sldId id="368" r:id="rId65"/>
    <p:sldId id="369" r:id="rId66"/>
    <p:sldId id="370" r:id="rId67"/>
    <p:sldId id="371" r:id="rId68"/>
    <p:sldId id="372" r:id="rId69"/>
    <p:sldId id="373" r:id="rId70"/>
    <p:sldId id="374" r:id="rId71"/>
    <p:sldId id="375" r:id="rId72"/>
    <p:sldId id="376" r:id="rId73"/>
    <p:sldId id="377" r:id="rId74"/>
    <p:sldId id="344" r:id="rId75"/>
    <p:sldId id="359" r:id="rId76"/>
    <p:sldId id="360" r:id="rId77"/>
    <p:sldId id="361" r:id="rId78"/>
    <p:sldId id="362" r:id="rId79"/>
    <p:sldId id="364" r:id="rId80"/>
    <p:sldId id="365" r:id="rId81"/>
    <p:sldId id="366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29" autoAdjust="0"/>
    <p:restoredTop sz="94660"/>
  </p:normalViewPr>
  <p:slideViewPr>
    <p:cSldViewPr snapToGrid="0">
      <p:cViewPr varScale="1">
        <p:scale>
          <a:sx n="73" d="100"/>
          <a:sy n="73" d="100"/>
        </p:scale>
        <p:origin x="7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81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67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2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37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3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98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18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22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82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73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09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BB54D5C-CC5A-411E-9A20-C0858388024E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5E05CCC-514E-46F3-AFF2-8D9878A165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46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D0F4-9F95-80DA-D480-22B42AEF8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FULL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D09B2-1985-E45C-328E-F727AAC40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2165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13B797-7807-F8BD-7650-EF5E2767EA69}"/>
              </a:ext>
            </a:extLst>
          </p:cNvPr>
          <p:cNvSpPr/>
          <p:nvPr/>
        </p:nvSpPr>
        <p:spPr>
          <a:xfrm>
            <a:off x="1296537" y="1900449"/>
            <a:ext cx="2306472" cy="2538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 u="sng" dirty="0"/>
              <a:t>Front End</a:t>
            </a:r>
            <a:r>
              <a:rPr lang="en-US" sz="2400" b="1" dirty="0"/>
              <a:t>:</a:t>
            </a:r>
          </a:p>
          <a:p>
            <a:pPr algn="ctr"/>
            <a:r>
              <a:rPr lang="en-US" sz="2400" b="1" dirty="0"/>
              <a:t>HTML</a:t>
            </a:r>
          </a:p>
          <a:p>
            <a:pPr algn="ctr"/>
            <a:r>
              <a:rPr lang="en-US" sz="2400" b="1" dirty="0"/>
              <a:t>CSS</a:t>
            </a:r>
          </a:p>
          <a:p>
            <a:pPr algn="ctr"/>
            <a:r>
              <a:rPr lang="en-US" sz="2400" b="1" dirty="0"/>
              <a:t>JavaScript</a:t>
            </a:r>
            <a:endParaRPr lang="en-IN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08CCA-D982-B4FE-B718-17D0294BD66A}"/>
              </a:ext>
            </a:extLst>
          </p:cNvPr>
          <p:cNvSpPr/>
          <p:nvPr/>
        </p:nvSpPr>
        <p:spPr>
          <a:xfrm>
            <a:off x="4793206" y="1900447"/>
            <a:ext cx="2306472" cy="2538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 u="sng" dirty="0"/>
              <a:t>Back End:</a:t>
            </a:r>
          </a:p>
          <a:p>
            <a:pPr algn="ctr"/>
            <a:r>
              <a:rPr lang="en-US" sz="2400" b="1" dirty="0"/>
              <a:t>Java</a:t>
            </a:r>
          </a:p>
          <a:p>
            <a:pPr algn="ctr"/>
            <a:r>
              <a:rPr lang="en-US" sz="2400" b="1" dirty="0"/>
              <a:t>Python</a:t>
            </a:r>
          </a:p>
          <a:p>
            <a:pPr algn="ctr"/>
            <a:r>
              <a:rPr lang="en-US" sz="2400" b="1" dirty="0"/>
              <a:t>Node.js</a:t>
            </a:r>
          </a:p>
          <a:p>
            <a:pPr algn="ctr"/>
            <a:r>
              <a:rPr lang="en-US" sz="2400" b="1" dirty="0"/>
              <a:t>C, C++</a:t>
            </a:r>
            <a:endParaRPr lang="en-IN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DE5147-953C-E9B2-9060-971A47E03EAA}"/>
              </a:ext>
            </a:extLst>
          </p:cNvPr>
          <p:cNvSpPr/>
          <p:nvPr/>
        </p:nvSpPr>
        <p:spPr>
          <a:xfrm>
            <a:off x="8550322" y="1900448"/>
            <a:ext cx="2306472" cy="2538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Database</a:t>
            </a:r>
            <a:r>
              <a:rPr lang="en-US" sz="2400" b="1" dirty="0"/>
              <a:t>:</a:t>
            </a:r>
          </a:p>
          <a:p>
            <a:pPr algn="ctr">
              <a:lnSpc>
                <a:spcPct val="150000"/>
              </a:lnSpc>
            </a:pPr>
            <a:r>
              <a:rPr lang="en-US" sz="2400" b="1" dirty="0"/>
              <a:t>MySQL</a:t>
            </a:r>
          </a:p>
          <a:p>
            <a:pPr algn="ctr"/>
            <a:r>
              <a:rPr lang="en-US" sz="2400" b="1" dirty="0"/>
              <a:t>MongoDB</a:t>
            </a:r>
          </a:p>
          <a:p>
            <a:pPr algn="ctr"/>
            <a:r>
              <a:rPr lang="en-US" sz="2400" b="1" dirty="0"/>
              <a:t>Oracle</a:t>
            </a:r>
            <a:endParaRPr lang="en-IN" sz="2400" b="1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97D9AAF-B809-A627-EC17-A8DF0D8C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379" y="691488"/>
            <a:ext cx="6909179" cy="850710"/>
          </a:xfrm>
        </p:spPr>
        <p:txBody>
          <a:bodyPr/>
          <a:lstStyle/>
          <a:p>
            <a:r>
              <a:rPr lang="en-US" b="1" dirty="0"/>
              <a:t>Full Stack Development</a:t>
            </a:r>
            <a:endParaRPr lang="en-IN" b="1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838D63-4F46-68BA-8A78-B8D015DAE9DF}"/>
              </a:ext>
            </a:extLst>
          </p:cNvPr>
          <p:cNvSpPr/>
          <p:nvPr/>
        </p:nvSpPr>
        <p:spPr>
          <a:xfrm>
            <a:off x="3712191" y="2784143"/>
            <a:ext cx="900752" cy="2047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8FA6B5B-434C-D80F-EB33-D085DA4EE454}"/>
              </a:ext>
            </a:extLst>
          </p:cNvPr>
          <p:cNvSpPr/>
          <p:nvPr/>
        </p:nvSpPr>
        <p:spPr>
          <a:xfrm rot="10800000">
            <a:off x="3740624" y="3864591"/>
            <a:ext cx="900752" cy="2047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7928E7-EA5B-3E9D-C71C-873E8A59712B}"/>
              </a:ext>
            </a:extLst>
          </p:cNvPr>
          <p:cNvSpPr/>
          <p:nvPr/>
        </p:nvSpPr>
        <p:spPr>
          <a:xfrm rot="10800000">
            <a:off x="7251509" y="3864591"/>
            <a:ext cx="900752" cy="2047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DA8CD06-B732-7D79-D7D5-2E1C647AFB87}"/>
              </a:ext>
            </a:extLst>
          </p:cNvPr>
          <p:cNvSpPr/>
          <p:nvPr/>
        </p:nvSpPr>
        <p:spPr>
          <a:xfrm>
            <a:off x="7251509" y="2750023"/>
            <a:ext cx="900752" cy="2047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2F9B45-19FD-AD92-AF23-7D9682EF3DEE}"/>
              </a:ext>
            </a:extLst>
          </p:cNvPr>
          <p:cNvSpPr/>
          <p:nvPr/>
        </p:nvSpPr>
        <p:spPr>
          <a:xfrm>
            <a:off x="1330088" y="5175901"/>
            <a:ext cx="2239369" cy="1048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/>
              <a:t>Framework:</a:t>
            </a:r>
          </a:p>
          <a:p>
            <a:pPr algn="ctr"/>
            <a:r>
              <a:rPr lang="en-US" sz="2000" b="1" dirty="0"/>
              <a:t>Bootstrap</a:t>
            </a:r>
          </a:p>
          <a:p>
            <a:pPr algn="ctr"/>
            <a:r>
              <a:rPr lang="en-US" sz="2000" b="1" dirty="0" smtClean="0"/>
              <a:t>Angular, React</a:t>
            </a:r>
            <a:endParaRPr lang="en-US" sz="2000" b="1" dirty="0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24354DC9-40B3-71ED-146A-FAB5E58B8317}"/>
              </a:ext>
            </a:extLst>
          </p:cNvPr>
          <p:cNvSpPr/>
          <p:nvPr/>
        </p:nvSpPr>
        <p:spPr>
          <a:xfrm>
            <a:off x="2299647" y="4560052"/>
            <a:ext cx="163773" cy="47426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51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22F0-267B-AC95-8E03-91DC9175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55728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Front End </a:t>
            </a:r>
            <a:r>
              <a:rPr lang="en-US" dirty="0">
                <a:sym typeface="Wingdings" panose="05000000000000000000" pitchFamily="2" charset="2"/>
              </a:rPr>
              <a:t> What you see in web site.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Framework   Template for Front End.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Back End  Does all the work.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Database   To store all the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25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0782" y="1336964"/>
            <a:ext cx="9872871" cy="4038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 Java </a:t>
            </a:r>
            <a:r>
              <a:rPr lang="en-US" sz="4000" b="1" dirty="0"/>
              <a:t>Full </a:t>
            </a:r>
            <a:r>
              <a:rPr lang="en-US" sz="4000" b="1" dirty="0" smtClean="0"/>
              <a:t>stack       </a:t>
            </a:r>
            <a:r>
              <a:rPr lang="en-US" sz="4000" dirty="0" smtClean="0"/>
              <a:t>- </a:t>
            </a:r>
            <a:r>
              <a:rPr lang="en-US" sz="4000" dirty="0"/>
              <a:t>Java, </a:t>
            </a:r>
            <a:r>
              <a:rPr lang="en-US" sz="4000" dirty="0" err="1" smtClean="0"/>
              <a:t>SpringBoot</a:t>
            </a:r>
            <a:endParaRPr lang="en-US" sz="4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 Python </a:t>
            </a:r>
            <a:r>
              <a:rPr lang="en-US" sz="4000" b="1" dirty="0"/>
              <a:t>Full Stack </a:t>
            </a:r>
            <a:r>
              <a:rPr lang="en-US" sz="4000" dirty="0" smtClean="0"/>
              <a:t>- </a:t>
            </a:r>
            <a:r>
              <a:rPr lang="en-US" sz="4000" dirty="0"/>
              <a:t>python, </a:t>
            </a:r>
            <a:r>
              <a:rPr lang="en-US" sz="4000" dirty="0" smtClean="0"/>
              <a:t>Django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 </a:t>
            </a:r>
            <a:r>
              <a:rPr lang="en-US" sz="4000" b="1" dirty="0" smtClean="0"/>
              <a:t>MERN Stack            </a:t>
            </a:r>
            <a:r>
              <a:rPr lang="en-US" sz="4000" dirty="0" smtClean="0"/>
              <a:t>- MongoDB</a:t>
            </a:r>
            <a:r>
              <a:rPr lang="en-US" sz="4000" dirty="0"/>
              <a:t>, </a:t>
            </a:r>
            <a:r>
              <a:rPr lang="en-US" sz="4000" dirty="0" err="1"/>
              <a:t>Expressjs</a:t>
            </a:r>
            <a:r>
              <a:rPr lang="en-US" sz="4000" dirty="0"/>
              <a:t>, </a:t>
            </a:r>
            <a:r>
              <a:rPr lang="en-US" sz="4000" dirty="0" smtClean="0"/>
              <a:t>        					React.js</a:t>
            </a:r>
            <a:r>
              <a:rPr lang="en-US" sz="4000" dirty="0"/>
              <a:t>, </a:t>
            </a:r>
            <a:r>
              <a:rPr lang="en-US" sz="4000" dirty="0" smtClean="0"/>
              <a:t>Node.js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 </a:t>
            </a:r>
            <a:r>
              <a:rPr lang="en-US" sz="4000" b="1" dirty="0" smtClean="0"/>
              <a:t>MEAN </a:t>
            </a:r>
            <a:r>
              <a:rPr lang="en-US" sz="4000" b="1" dirty="0"/>
              <a:t>Stack </a:t>
            </a:r>
            <a:r>
              <a:rPr lang="en-US" sz="4000" b="1" dirty="0" smtClean="0"/>
              <a:t>          </a:t>
            </a:r>
            <a:r>
              <a:rPr lang="en-US" sz="4000" dirty="0" smtClean="0"/>
              <a:t>- </a:t>
            </a:r>
            <a:r>
              <a:rPr lang="en-US" sz="4000" dirty="0"/>
              <a:t>MongoDB, </a:t>
            </a:r>
            <a:r>
              <a:rPr lang="en-US" sz="4000" dirty="0" err="1"/>
              <a:t>Expressjs</a:t>
            </a:r>
            <a:r>
              <a:rPr lang="en-US" sz="4000" dirty="0"/>
              <a:t>, </a:t>
            </a:r>
            <a:r>
              <a:rPr lang="en-US" sz="4000" dirty="0" smtClean="0"/>
              <a:t>					Angular.js</a:t>
            </a:r>
            <a:r>
              <a:rPr lang="en-US" sz="4000" dirty="0"/>
              <a:t>, Node.js</a:t>
            </a:r>
          </a:p>
        </p:txBody>
      </p:sp>
    </p:spTree>
    <p:extLst>
      <p:ext uri="{BB962C8B-B14F-4D97-AF65-F5344CB8AC3E}">
        <p14:creationId xmlns:p14="http://schemas.microsoft.com/office/powerpoint/2010/main" val="201318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11680"/>
            <a:ext cx="9872871" cy="408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3AF4BF-19BB-5A8A-E376-ED8097A46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HTML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94FCDB-2EA6-403D-FEF3-5D91129C2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6422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9F56-BA9F-1B3B-E8B0-C7EB16ABB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2" y="461682"/>
            <a:ext cx="9875520" cy="842682"/>
          </a:xfrm>
        </p:spPr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1488-594E-BE02-3A96-0A6D78DCC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293" y="1434353"/>
            <a:ext cx="9875519" cy="496196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HTML stands for Hypertext Markup Language. </a:t>
            </a:r>
          </a:p>
          <a:p>
            <a:r>
              <a:rPr lang="en-US" dirty="0">
                <a:solidFill>
                  <a:schemeClr val="tx1"/>
                </a:solidFill>
              </a:rPr>
              <a:t>In 1991 Tim </a:t>
            </a:r>
            <a:r>
              <a:rPr lang="en-US" dirty="0" err="1">
                <a:solidFill>
                  <a:schemeClr val="tx1"/>
                </a:solidFill>
              </a:rPr>
              <a:t>berners</a:t>
            </a:r>
            <a:r>
              <a:rPr lang="en-US" dirty="0">
                <a:solidFill>
                  <a:schemeClr val="tx1"/>
                </a:solidFill>
              </a:rPr>
              <a:t> Lee invented HTML also he invented WWW in 1989.</a:t>
            </a:r>
          </a:p>
          <a:p>
            <a:r>
              <a:rPr lang="en-US" dirty="0">
                <a:solidFill>
                  <a:schemeClr val="tx1"/>
                </a:solidFill>
              </a:rPr>
              <a:t>2008 HTML5 is first published and in 2014 it was recommended.</a:t>
            </a:r>
          </a:p>
          <a:p>
            <a:r>
              <a:rPr lang="en-US" dirty="0">
                <a:solidFill>
                  <a:schemeClr val="tx1"/>
                </a:solidFill>
              </a:rPr>
              <a:t>It is the most widely used language to write Web Pages. </a:t>
            </a:r>
          </a:p>
          <a:p>
            <a:r>
              <a:rPr lang="en-US" dirty="0">
                <a:solidFill>
                  <a:schemeClr val="tx1"/>
                </a:solidFill>
              </a:rPr>
              <a:t>It used as a content writer in web pages.</a:t>
            </a:r>
          </a:p>
          <a:p>
            <a:pPr>
              <a:lnSpc>
                <a:spcPct val="100000"/>
              </a:lnSpc>
            </a:pPr>
            <a:r>
              <a:rPr lang="en-US" b="1" u="sng" dirty="0"/>
              <a:t>Hypertext: </a:t>
            </a:r>
          </a:p>
          <a:p>
            <a:pPr lvl="1">
              <a:lnSpc>
                <a:spcPct val="100000"/>
              </a:lnSpc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It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b="1" spc="3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refers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2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to </a:t>
            </a:r>
            <a:r>
              <a:rPr lang="en-US" spc="1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the </a:t>
            </a:r>
            <a:r>
              <a:rPr lang="en-US" spc="2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way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2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in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2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which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Web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1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pages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are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2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linked</a:t>
            </a:r>
            <a:r>
              <a:rPr lang="en-US" spc="23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together. </a:t>
            </a:r>
          </a:p>
          <a:p>
            <a:pPr lvl="1">
              <a:lnSpc>
                <a:spcPct val="100000"/>
              </a:lnSpc>
            </a:pP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When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you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click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a</a:t>
            </a:r>
            <a:r>
              <a:rPr lang="en-US" spc="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link in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a</a:t>
            </a:r>
            <a:r>
              <a:rPr lang="en-US" spc="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Web</a:t>
            </a:r>
            <a:r>
              <a:rPr lang="en-US" spc="-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page,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you</a:t>
            </a:r>
            <a:r>
              <a:rPr lang="en-US" spc="-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are</a:t>
            </a:r>
            <a:r>
              <a:rPr lang="en-US" spc="-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using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hypertext.</a:t>
            </a:r>
            <a:endParaRPr lang="en-US" b="1" dirty="0"/>
          </a:p>
          <a:p>
            <a:pPr>
              <a:lnSpc>
                <a:spcPct val="100000"/>
              </a:lnSpc>
            </a:pPr>
            <a:r>
              <a:rPr lang="en-US" u="sng" dirty="0"/>
              <a:t>Markup Language</a:t>
            </a:r>
            <a:r>
              <a:rPr lang="en-US" b="1" u="sng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It describes</a:t>
            </a:r>
            <a:r>
              <a:rPr lang="en-US" sz="2000" spc="10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how</a:t>
            </a:r>
            <a:r>
              <a:rPr lang="en-US" sz="2000" spc="10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HTML</a:t>
            </a:r>
            <a:r>
              <a:rPr lang="en-US" sz="2000" spc="1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works.</a:t>
            </a:r>
            <a:r>
              <a:rPr lang="en-US" sz="2000" spc="10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With</a:t>
            </a:r>
            <a:r>
              <a:rPr lang="en-US" sz="2000" spc="12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sz="2000" spc="1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markup</a:t>
            </a:r>
            <a:r>
              <a:rPr lang="en-US" sz="2000" spc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language,</a:t>
            </a:r>
            <a:r>
              <a:rPr lang="en-US" sz="2000" spc="1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you</a:t>
            </a:r>
            <a:r>
              <a:rPr lang="en-US" sz="2000" spc="10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simply</a:t>
            </a:r>
            <a:r>
              <a:rPr lang="en-US" sz="2000" spc="23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"mark</a:t>
            </a:r>
            <a:r>
              <a:rPr lang="en-US" sz="2000" spc="14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up"</a:t>
            </a:r>
            <a:r>
              <a:rPr lang="en-US" sz="2000" spc="13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sz="2000" spc="14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text</a:t>
            </a:r>
            <a:r>
              <a:rPr lang="en-US" sz="2000" spc="14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document</a:t>
            </a:r>
            <a:r>
              <a:rPr lang="en-US" sz="2000" spc="13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with</a:t>
            </a:r>
            <a:r>
              <a:rPr lang="en-US" sz="2000" spc="14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tags</a:t>
            </a:r>
            <a:r>
              <a:rPr lang="en-US" sz="2000" spc="14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that</a:t>
            </a:r>
            <a:r>
              <a:rPr lang="en-US" sz="2000" spc="14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tell</a:t>
            </a:r>
            <a:r>
              <a:rPr lang="en-US" sz="2000" spc="13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sz="2000" spc="14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Web</a:t>
            </a:r>
            <a:r>
              <a:rPr lang="en-US" sz="2000" spc="1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browser</a:t>
            </a:r>
            <a:r>
              <a:rPr lang="en-US" sz="2000" spc="13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how</a:t>
            </a:r>
            <a:r>
              <a:rPr lang="en-US" sz="2000" spc="14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to</a:t>
            </a:r>
            <a:r>
              <a:rPr lang="en-US" sz="2000" spc="14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structure</a:t>
            </a:r>
            <a:r>
              <a:rPr lang="en-US" sz="2000" spc="13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it</a:t>
            </a:r>
            <a:r>
              <a:rPr lang="en-US" sz="2000" spc="1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to</a:t>
            </a:r>
            <a:r>
              <a:rPr lang="en-US" sz="2000" spc="27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display.</a:t>
            </a:r>
            <a:endParaRPr lang="en-US" b="1" dirty="0"/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16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B0BB-84FF-1628-8053-AF3E1506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15788"/>
          </a:xfrm>
        </p:spPr>
        <p:txBody>
          <a:bodyPr/>
          <a:lstStyle/>
          <a:p>
            <a:r>
              <a:rPr lang="en-IN" dirty="0"/>
              <a:t>Basics: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3B31B-FA5F-AAC4-2B04-549DEA460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868" y="1667435"/>
            <a:ext cx="9872871" cy="458096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HTML document are created with HTML Tags.</a:t>
            </a:r>
          </a:p>
          <a:p>
            <a:r>
              <a:rPr lang="en-US" dirty="0">
                <a:solidFill>
                  <a:schemeClr val="tx2"/>
                </a:solidFill>
              </a:rPr>
              <a:t>HTML tags are building blocks of an HTML document.</a:t>
            </a:r>
          </a:p>
          <a:p>
            <a:r>
              <a:rPr lang="en-US" dirty="0">
                <a:solidFill>
                  <a:schemeClr val="tx2"/>
                </a:solidFill>
              </a:rPr>
              <a:t>Every tag has Starting tag&lt;html&gt; and its Ending tag&lt;/html&gt;.</a:t>
            </a:r>
          </a:p>
          <a:p>
            <a:r>
              <a:rPr lang="en-US" b="1" u="sng" dirty="0">
                <a:cs typeface="Times New Roman" panose="02020603050405020304" pitchFamily="18" charset="0"/>
              </a:rPr>
              <a:t>HTML Tags:</a:t>
            </a:r>
          </a:p>
          <a:p>
            <a:pPr marL="45720" indent="0">
              <a:buNone/>
            </a:pPr>
            <a:r>
              <a:rPr lang="en-US" dirty="0">
                <a:cs typeface="Times New Roman" panose="02020603050405020304" pitchFamily="18" charset="0"/>
              </a:rPr>
              <a:t>	</a:t>
            </a:r>
            <a:r>
              <a:rPr lang="en-US" b="1" dirty="0">
                <a:cs typeface="Times New Roman" panose="02020603050405020304" pitchFamily="18" charset="0"/>
              </a:rPr>
              <a:t>&lt;!DOCTYPE html&gt;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It Denotes the document Type which is 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HTML5.</a:t>
            </a: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b="1" dirty="0">
                <a:cs typeface="Times New Roman" panose="02020603050405020304" pitchFamily="18" charset="0"/>
              </a:rPr>
              <a:t>	&lt;html&gt;  </a:t>
            </a:r>
            <a:r>
              <a:rPr lang="en-US" b="1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</a:rPr>
              <a:t>HTML document itself begins with this tag</a:t>
            </a:r>
          </a:p>
          <a:p>
            <a:pPr marL="45720" indent="0">
              <a:buNone/>
            </a:pPr>
            <a:r>
              <a:rPr lang="en-US" b="1" dirty="0">
                <a:cs typeface="Times New Roman" panose="02020603050405020304" pitchFamily="18" charset="0"/>
              </a:rPr>
              <a:t>	&lt;/html&gt; </a:t>
            </a:r>
            <a:r>
              <a:rPr lang="en-US" b="1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This is an Ending of the HTML document.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b="1" dirty="0">
                <a:cs typeface="Times New Roman" panose="02020603050405020304" pitchFamily="18" charset="0"/>
                <a:sym typeface="Wingdings" panose="05000000000000000000" pitchFamily="2" charset="2"/>
              </a:rPr>
              <a:t> &lt;head&gt; </a:t>
            </a:r>
            <a:r>
              <a:rPr lang="en-US" b="1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Here we can give Heading of HTML document.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	 </a:t>
            </a:r>
            <a:r>
              <a:rPr lang="en-US" b="1" dirty="0">
                <a:cs typeface="Times New Roman" panose="02020603050405020304" pitchFamily="18" charset="0"/>
                <a:sym typeface="Wingdings" panose="05000000000000000000" pitchFamily="2" charset="2"/>
              </a:rPr>
              <a:t>&lt;title&gt;    </a:t>
            </a: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Here we can give Title of our HTML page.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	 </a:t>
            </a:r>
            <a:r>
              <a:rPr lang="en-US" b="1" dirty="0">
                <a:cs typeface="Times New Roman" panose="02020603050405020304" pitchFamily="18" charset="0"/>
                <a:sym typeface="Wingdings" panose="05000000000000000000" pitchFamily="2" charset="2"/>
              </a:rPr>
              <a:t>&lt;body&gt;   </a:t>
            </a:r>
            <a:r>
              <a:rPr lang="en-US" dirty="0">
                <a:solidFill>
                  <a:schemeClr val="tx2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The visible part of the HTML document is written here.</a:t>
            </a:r>
          </a:p>
          <a:p>
            <a:pPr marL="45720" indent="0">
              <a:buNone/>
            </a:pPr>
            <a:endParaRPr lang="en-US" dirty="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21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F880-D881-57CA-343A-F2ACA19E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83024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HTML Headings: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8346C-4C96-158F-77A9-00CA30064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045" y="1667434"/>
            <a:ext cx="9872871" cy="423582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HTML headings are defined with the &lt;h1&gt; to &lt;h6&gt; tags.</a:t>
            </a:r>
          </a:p>
          <a:p>
            <a:r>
              <a:rPr lang="en-US" dirty="0">
                <a:solidFill>
                  <a:schemeClr val="tx2"/>
                </a:solidFill>
              </a:rPr>
              <a:t>&lt;h1&gt; defines the most important heading. </a:t>
            </a:r>
          </a:p>
          <a:p>
            <a:r>
              <a:rPr lang="en-US" dirty="0">
                <a:solidFill>
                  <a:schemeClr val="tx2"/>
                </a:solidFill>
              </a:rPr>
              <a:t>&lt;h6&gt; defines the least important heading.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&lt;h1&gt;This is heading 1&lt;/h1&gt;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&lt;h2&gt;This is heading 2&lt;/h2&gt;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&lt;h3&gt;This is heading 3&lt;/h3&gt;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&lt;h4&gt;This is heading 3&lt;/h4&gt;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&lt;h5&gt;This is heading 3&lt;/h5&gt;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&lt;h6&gt;This is heading 3&lt;/h6&gt;</a:t>
            </a:r>
          </a:p>
        </p:txBody>
      </p:sp>
    </p:spTree>
    <p:extLst>
      <p:ext uri="{BB962C8B-B14F-4D97-AF65-F5344CB8AC3E}">
        <p14:creationId xmlns:p14="http://schemas.microsoft.com/office/powerpoint/2010/main" val="288267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85E0-8F70-5B89-91FD-DCCE82D0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HTML Paragraphs: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0185-2752-A90A-8A75-1DA89E33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7776" y="2070847"/>
            <a:ext cx="9872871" cy="4038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HTML paragraphs are defined with the </a:t>
            </a:r>
            <a:r>
              <a:rPr lang="en-US" b="1" dirty="0">
                <a:solidFill>
                  <a:schemeClr val="tx2"/>
                </a:solidFill>
              </a:rPr>
              <a:t>&lt;p&gt;</a:t>
            </a:r>
            <a:r>
              <a:rPr lang="en-US" dirty="0">
                <a:solidFill>
                  <a:schemeClr val="tx2"/>
                </a:solidFill>
              </a:rPr>
              <a:t> tag: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&lt;p&gt;This is a paragraph.&lt;/p&gt; &lt;br&gt;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&lt;p&gt;This is another paragraph.&lt;/p&gt;</a:t>
            </a:r>
          </a:p>
          <a:p>
            <a:r>
              <a:rPr lang="en-US" dirty="0">
                <a:solidFill>
                  <a:schemeClr val="tx2"/>
                </a:solidFill>
              </a:rPr>
              <a:t>Here </a:t>
            </a:r>
            <a:r>
              <a:rPr lang="en-US" b="1" dirty="0">
                <a:solidFill>
                  <a:schemeClr val="tx2"/>
                </a:solidFill>
              </a:rPr>
              <a:t>&lt;br&gt; </a:t>
            </a:r>
            <a:r>
              <a:rPr lang="en-US" dirty="0">
                <a:solidFill>
                  <a:schemeClr val="tx2"/>
                </a:solidFill>
              </a:rPr>
              <a:t>is an </a:t>
            </a:r>
            <a:r>
              <a:rPr lang="en-US" b="1" dirty="0">
                <a:solidFill>
                  <a:schemeClr val="tx2"/>
                </a:solidFill>
              </a:rPr>
              <a:t>Break tag </a:t>
            </a:r>
            <a:r>
              <a:rPr lang="en-US" dirty="0">
                <a:solidFill>
                  <a:schemeClr val="tx2"/>
                </a:solidFill>
              </a:rPr>
              <a:t>used to break the line to the next line.</a:t>
            </a:r>
          </a:p>
          <a:p>
            <a:r>
              <a:rPr lang="en-US" dirty="0">
                <a:solidFill>
                  <a:schemeClr val="tx2"/>
                </a:solidFill>
              </a:rPr>
              <a:t>We can give </a:t>
            </a:r>
            <a:r>
              <a:rPr lang="en-US" b="1" dirty="0">
                <a:solidFill>
                  <a:schemeClr val="tx2"/>
                </a:solidFill>
              </a:rPr>
              <a:t>&lt;br /&gt; </a:t>
            </a:r>
            <a:r>
              <a:rPr lang="en-US" dirty="0">
                <a:solidFill>
                  <a:schemeClr val="tx2"/>
                </a:solidFill>
              </a:rPr>
              <a:t>directly into paragraph tag to break line.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&lt;p&gt;This is a paragraph &lt;br /&gt;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         This is another paragraph &lt;/p&gt;</a:t>
            </a:r>
          </a:p>
          <a:p>
            <a:r>
              <a:rPr lang="en-US" dirty="0">
                <a:solidFill>
                  <a:schemeClr val="tx2"/>
                </a:solidFill>
              </a:rPr>
              <a:t>&lt;</a:t>
            </a:r>
            <a:r>
              <a:rPr lang="en-US" b="1" dirty="0" err="1">
                <a:solidFill>
                  <a:schemeClr val="tx2"/>
                </a:solidFill>
              </a:rPr>
              <a:t>hr</a:t>
            </a:r>
            <a:r>
              <a:rPr lang="en-US" dirty="0">
                <a:solidFill>
                  <a:schemeClr val="tx2"/>
                </a:solidFill>
              </a:rPr>
              <a:t>&gt; tag is used to draw an </a:t>
            </a:r>
            <a:r>
              <a:rPr lang="en-US" b="1" dirty="0">
                <a:solidFill>
                  <a:schemeClr val="tx2"/>
                </a:solidFill>
              </a:rPr>
              <a:t>horizontal line.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Input tag </a:t>
            </a:r>
            <a:r>
              <a:rPr lang="en-US" smtClean="0">
                <a:solidFill>
                  <a:schemeClr val="tx2"/>
                </a:solidFill>
              </a:rPr>
              <a:t>and link </a:t>
            </a:r>
            <a:r>
              <a:rPr lang="en-US" dirty="0">
                <a:solidFill>
                  <a:schemeClr val="tx2"/>
                </a:solidFill>
              </a:rPr>
              <a:t>tag has </a:t>
            </a:r>
            <a:r>
              <a:rPr lang="en-US" b="1" dirty="0">
                <a:solidFill>
                  <a:schemeClr val="tx2"/>
                </a:solidFill>
              </a:rPr>
              <a:t>no end tag</a:t>
            </a:r>
            <a:r>
              <a:rPr lang="en-US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2992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21C5-B4AE-6A44-367C-C21144B7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69576"/>
          </a:xfrm>
        </p:spPr>
        <p:txBody>
          <a:bodyPr/>
          <a:lstStyle/>
          <a:p>
            <a:r>
              <a:rPr lang="en-IN" dirty="0"/>
              <a:t>Basic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4456-ACBA-606A-29A0-B46320579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75011"/>
            <a:ext cx="9872871" cy="4585447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&lt;!DOCTYPE html&gt;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&lt;html&gt;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  		      &lt;head&gt;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	&lt;title&gt;Page Title&lt;/title&gt;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  		      &lt;/head&gt;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  		      &lt;body&gt;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 			&lt;h1&gt;My First Heading&lt;/h1&gt;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	&lt;p&gt;My first paragraph.&lt;/p&gt;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  		       &lt;/body&gt;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&lt;/html&gt;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7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8067C4-12CE-EE5D-D618-1EA06B72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1" y="492035"/>
            <a:ext cx="9875520" cy="600635"/>
          </a:xfrm>
        </p:spPr>
        <p:txBody>
          <a:bodyPr>
            <a:normAutofit/>
          </a:bodyPr>
          <a:lstStyle/>
          <a:p>
            <a:r>
              <a:rPr lang="en-US" sz="3600" b="1" dirty="0"/>
              <a:t>HTML Formatting:</a:t>
            </a:r>
            <a:endParaRPr lang="en-IN" sz="36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E80CF-3A41-DED9-D655-9C58398E5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54035"/>
            <a:ext cx="10391503" cy="514676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300" dirty="0" smtClean="0">
                <a:solidFill>
                  <a:schemeClr val="tx2"/>
                </a:solidFill>
              </a:rPr>
              <a:t> HTML </a:t>
            </a:r>
            <a:r>
              <a:rPr lang="en-US" sz="2300" dirty="0">
                <a:solidFill>
                  <a:schemeClr val="tx2"/>
                </a:solidFill>
              </a:rPr>
              <a:t>also defines special elements for defining text with a special meaning.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300" dirty="0" smtClean="0">
                <a:solidFill>
                  <a:schemeClr val="tx2"/>
                </a:solidFill>
              </a:rPr>
              <a:t> HTML </a:t>
            </a:r>
            <a:r>
              <a:rPr lang="en-US" sz="2300" dirty="0">
                <a:solidFill>
                  <a:schemeClr val="tx2"/>
                </a:solidFill>
              </a:rPr>
              <a:t>uses elements like &lt;b&gt; and &lt;i&gt; for formatting output, like bold or italic text.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300" dirty="0" smtClean="0">
                <a:solidFill>
                  <a:schemeClr val="tx2"/>
                </a:solidFill>
              </a:rPr>
              <a:t> Formatting </a:t>
            </a:r>
            <a:r>
              <a:rPr lang="en-US" sz="2300" dirty="0">
                <a:solidFill>
                  <a:schemeClr val="tx2"/>
                </a:solidFill>
              </a:rPr>
              <a:t>elements were designed to display special types of text: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2"/>
                </a:solidFill>
              </a:rPr>
              <a:t>	</a:t>
            </a:r>
            <a:r>
              <a:rPr lang="en-US" sz="2300" b="1" dirty="0">
                <a:solidFill>
                  <a:schemeClr val="tx2"/>
                </a:solidFill>
              </a:rPr>
              <a:t>&lt;b&gt;</a:t>
            </a:r>
            <a:r>
              <a:rPr lang="en-US" sz="2300" dirty="0">
                <a:solidFill>
                  <a:schemeClr val="tx2"/>
                </a:solidFill>
              </a:rPr>
              <a:t> - Bold text			 </a:t>
            </a:r>
            <a:r>
              <a:rPr lang="en-US" sz="2300" b="1" dirty="0">
                <a:solidFill>
                  <a:schemeClr val="tx2"/>
                </a:solidFill>
              </a:rPr>
              <a:t>&lt;i&gt; </a:t>
            </a:r>
            <a:r>
              <a:rPr lang="en-US" sz="2300" dirty="0">
                <a:solidFill>
                  <a:schemeClr val="tx2"/>
                </a:solidFill>
              </a:rPr>
              <a:t>- Italic text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2"/>
                </a:solidFill>
              </a:rPr>
              <a:t>	</a:t>
            </a:r>
            <a:r>
              <a:rPr lang="en-US" sz="2300" b="1" dirty="0">
                <a:solidFill>
                  <a:schemeClr val="tx2"/>
                </a:solidFill>
              </a:rPr>
              <a:t>&lt;strong&gt; </a:t>
            </a:r>
            <a:r>
              <a:rPr lang="en-US" sz="2300" dirty="0">
                <a:solidFill>
                  <a:schemeClr val="tx2"/>
                </a:solidFill>
              </a:rPr>
              <a:t>- Important text	</a:t>
            </a:r>
            <a:r>
              <a:rPr lang="en-US" sz="2300" b="1" dirty="0" smtClean="0">
                <a:solidFill>
                  <a:schemeClr val="tx2"/>
                </a:solidFill>
              </a:rPr>
              <a:t>&lt;</a:t>
            </a:r>
            <a:r>
              <a:rPr lang="en-US" sz="2300" b="1" dirty="0">
                <a:solidFill>
                  <a:schemeClr val="tx2"/>
                </a:solidFill>
              </a:rPr>
              <a:t>em&gt; </a:t>
            </a:r>
            <a:r>
              <a:rPr lang="en-US" sz="2300" dirty="0">
                <a:solidFill>
                  <a:schemeClr val="tx2"/>
                </a:solidFill>
              </a:rPr>
              <a:t>- Emphasized text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2"/>
                </a:solidFill>
              </a:rPr>
              <a:t>	</a:t>
            </a:r>
            <a:r>
              <a:rPr lang="en-US" sz="2300" b="1" dirty="0">
                <a:solidFill>
                  <a:schemeClr val="tx2"/>
                </a:solidFill>
              </a:rPr>
              <a:t>&lt;mark&gt; </a:t>
            </a:r>
            <a:r>
              <a:rPr lang="en-US" sz="2300" dirty="0">
                <a:solidFill>
                  <a:schemeClr val="tx2"/>
                </a:solidFill>
              </a:rPr>
              <a:t>- Marked text		 </a:t>
            </a:r>
            <a:r>
              <a:rPr lang="en-US" sz="2300" b="1" dirty="0">
                <a:solidFill>
                  <a:schemeClr val="tx2"/>
                </a:solidFill>
              </a:rPr>
              <a:t>&lt;small&gt; </a:t>
            </a:r>
            <a:r>
              <a:rPr lang="en-US" sz="2300" dirty="0">
                <a:solidFill>
                  <a:schemeClr val="tx2"/>
                </a:solidFill>
              </a:rPr>
              <a:t>- Small </a:t>
            </a:r>
            <a:r>
              <a:rPr lang="en-US" sz="2300" dirty="0" smtClean="0">
                <a:solidFill>
                  <a:schemeClr val="tx2"/>
                </a:solidFill>
              </a:rPr>
              <a:t>text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2"/>
                </a:solidFill>
              </a:rPr>
              <a:t>	 </a:t>
            </a:r>
            <a:r>
              <a:rPr lang="en-US" sz="2300" b="1" dirty="0">
                <a:solidFill>
                  <a:schemeClr val="tx2"/>
                </a:solidFill>
              </a:rPr>
              <a:t>&lt;ins&gt; </a:t>
            </a:r>
            <a:r>
              <a:rPr lang="en-US" sz="2300" dirty="0">
                <a:solidFill>
                  <a:schemeClr val="tx2"/>
                </a:solidFill>
              </a:rPr>
              <a:t>- Inserted text 		</a:t>
            </a:r>
            <a:r>
              <a:rPr lang="en-US" sz="2300" b="1" dirty="0">
                <a:solidFill>
                  <a:schemeClr val="tx2"/>
                </a:solidFill>
              </a:rPr>
              <a:t>&lt;del&gt;</a:t>
            </a:r>
            <a:r>
              <a:rPr lang="en-US" sz="2300" dirty="0">
                <a:solidFill>
                  <a:schemeClr val="tx2"/>
                </a:solidFill>
              </a:rPr>
              <a:t> - Deleted </a:t>
            </a:r>
            <a:r>
              <a:rPr lang="en-US" sz="2300" dirty="0" smtClean="0">
                <a:solidFill>
                  <a:schemeClr val="tx2"/>
                </a:solidFill>
              </a:rPr>
              <a:t>text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2"/>
                </a:solidFill>
              </a:rPr>
              <a:t>	</a:t>
            </a:r>
            <a:r>
              <a:rPr lang="en-US" sz="2300" b="1" dirty="0">
                <a:solidFill>
                  <a:schemeClr val="tx2"/>
                </a:solidFill>
              </a:rPr>
              <a:t>&lt;</a:t>
            </a:r>
            <a:r>
              <a:rPr lang="en-US" sz="2300" b="1" dirty="0" err="1">
                <a:solidFill>
                  <a:schemeClr val="tx2"/>
                </a:solidFill>
              </a:rPr>
              <a:t>abbr</a:t>
            </a:r>
            <a:r>
              <a:rPr lang="en-US" sz="2300" b="1" dirty="0">
                <a:solidFill>
                  <a:schemeClr val="tx2"/>
                </a:solidFill>
              </a:rPr>
              <a:t>&gt; - </a:t>
            </a:r>
            <a:r>
              <a:rPr lang="en-US" sz="2300" dirty="0">
                <a:solidFill>
                  <a:schemeClr val="tx2"/>
                </a:solidFill>
              </a:rPr>
              <a:t>Abbreviations	</a:t>
            </a:r>
            <a:r>
              <a:rPr lang="en-US" sz="2300" b="1" dirty="0">
                <a:solidFill>
                  <a:schemeClr val="tx2"/>
                </a:solidFill>
              </a:rPr>
              <a:t>&lt;address&gt; -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smtClean="0">
                <a:solidFill>
                  <a:schemeClr val="tx2"/>
                </a:solidFill>
              </a:rPr>
              <a:t>Address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300" b="1" dirty="0" smtClean="0">
                <a:solidFill>
                  <a:schemeClr val="tx2"/>
                </a:solidFill>
              </a:rPr>
              <a:t>	&lt;</a:t>
            </a:r>
            <a:r>
              <a:rPr lang="en-US" sz="2300" b="1" dirty="0">
                <a:solidFill>
                  <a:schemeClr val="tx2"/>
                </a:solidFill>
              </a:rPr>
              <a:t>cite&gt; </a:t>
            </a:r>
            <a:r>
              <a:rPr lang="en-US" sz="2300" dirty="0">
                <a:solidFill>
                  <a:schemeClr val="tx2"/>
                </a:solidFill>
              </a:rPr>
              <a:t>- Work title		</a:t>
            </a:r>
            <a:r>
              <a:rPr lang="en-US" sz="2300" b="1" dirty="0">
                <a:solidFill>
                  <a:schemeClr val="tx2"/>
                </a:solidFill>
              </a:rPr>
              <a:t>&lt;q&gt; </a:t>
            </a:r>
            <a:r>
              <a:rPr lang="en-US" sz="2300" dirty="0">
                <a:solidFill>
                  <a:schemeClr val="tx2"/>
                </a:solidFill>
              </a:rPr>
              <a:t>- Short </a:t>
            </a:r>
            <a:r>
              <a:rPr lang="en-US" sz="2300" dirty="0" smtClean="0">
                <a:solidFill>
                  <a:schemeClr val="tx2"/>
                </a:solidFill>
              </a:rPr>
              <a:t>Quote</a:t>
            </a:r>
            <a:endParaRPr lang="en-US" sz="2300" dirty="0">
              <a:solidFill>
                <a:schemeClr val="tx2"/>
              </a:solidFill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2"/>
                </a:solidFill>
              </a:rPr>
              <a:t>	</a:t>
            </a:r>
            <a:r>
              <a:rPr lang="en-US" sz="2300" b="1" dirty="0" smtClean="0">
                <a:solidFill>
                  <a:schemeClr val="tx2"/>
                </a:solidFill>
              </a:rPr>
              <a:t>&lt;</a:t>
            </a:r>
            <a:r>
              <a:rPr lang="en-US" sz="2300" b="1" dirty="0" err="1" smtClean="0">
                <a:solidFill>
                  <a:schemeClr val="tx2"/>
                </a:solidFill>
              </a:rPr>
              <a:t>blockquote</a:t>
            </a:r>
            <a:r>
              <a:rPr lang="en-US" sz="2300" b="1" dirty="0" smtClean="0">
                <a:solidFill>
                  <a:schemeClr val="tx2"/>
                </a:solidFill>
              </a:rPr>
              <a:t>&gt; </a:t>
            </a:r>
            <a:r>
              <a:rPr lang="en-US" sz="2300" dirty="0" smtClean="0">
                <a:solidFill>
                  <a:schemeClr val="tx2"/>
                </a:solidFill>
              </a:rPr>
              <a:t>- paragraph quotes	</a:t>
            </a:r>
            <a:endParaRPr lang="en-US" sz="23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36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DCEA10-59CA-62CB-F4A9-B5D5F0EF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8131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HTML Attributes: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32377-3AC6-037F-21F0-CBCC2A47A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90918"/>
            <a:ext cx="9872871" cy="5123329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Attributes provide 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additional information</a:t>
            </a:r>
            <a:r>
              <a:rPr lang="en-US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 about an element</a:t>
            </a:r>
            <a:endParaRPr lang="en-IN" sz="2400" dirty="0">
              <a:solidFill>
                <a:schemeClr val="tx2"/>
              </a:solidFill>
              <a:effectLst/>
              <a:latin typeface="Symbol" panose="05050102010706020507" pitchFamily="18" charset="2"/>
              <a:ea typeface="SimSun" panose="02010600030101010101" pitchFamily="2" charset="-122"/>
              <a:cs typeface="Symbol" panose="05050102010706020507" pitchFamily="18" charset="2"/>
            </a:endParaRPr>
          </a:p>
          <a:p>
            <a:pPr marL="342900" lvl="0" indent="-342900" algn="just">
              <a:lnSpc>
                <a:spcPct val="1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Attributes are always specified in 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the start tag</a:t>
            </a:r>
            <a:endParaRPr lang="en-IN" sz="2400" dirty="0">
              <a:solidFill>
                <a:schemeClr val="tx2"/>
              </a:solidFill>
              <a:effectLst/>
              <a:latin typeface="Symbol" panose="05050102010706020507" pitchFamily="18" charset="2"/>
              <a:ea typeface="SimSun" panose="02010600030101010101" pitchFamily="2" charset="-122"/>
              <a:cs typeface="Symbol" panose="05050102010706020507" pitchFamily="18" charset="2"/>
            </a:endParaRPr>
          </a:p>
          <a:p>
            <a:pPr marL="342900" lvl="0" indent="-342900" algn="just">
              <a:lnSpc>
                <a:spcPct val="1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Attributes usually come in name/value pairs like: 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ymbol" panose="05050102010706020507" pitchFamily="18" charset="2"/>
              </a:rPr>
              <a:t>name="value“</a:t>
            </a:r>
          </a:p>
          <a:p>
            <a:pPr marL="0" indent="0" algn="just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IN" sz="2800" b="1" i="0" dirty="0">
                <a:effectLst/>
                <a:latin typeface="inter-regular"/>
              </a:rPr>
              <a:t>Syntax:</a:t>
            </a:r>
          </a:p>
          <a:p>
            <a:pPr marL="0" indent="0" algn="just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IN" sz="1600" b="1" dirty="0">
                <a:solidFill>
                  <a:srgbClr val="006699"/>
                </a:solidFill>
                <a:latin typeface="inter-regular"/>
              </a:rPr>
              <a:t>	</a:t>
            </a:r>
            <a:r>
              <a:rPr lang="en-IN" sz="2400" i="0" dirty="0">
                <a:solidFill>
                  <a:schemeClr val="tx2"/>
                </a:solidFill>
                <a:effectLst/>
                <a:latin typeface="inter-regular"/>
              </a:rPr>
              <a:t>&lt;element attributename="value"&gt;content&lt;/element&gt;  </a:t>
            </a:r>
          </a:p>
          <a:p>
            <a:pPr marL="0" indent="0" algn="just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IN" sz="2400" b="1" dirty="0">
                <a:latin typeface="inter-regular"/>
              </a:rPr>
              <a:t>Example:</a:t>
            </a:r>
          </a:p>
          <a:p>
            <a:pPr marL="0" indent="0" algn="just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IN" sz="2400" i="0" dirty="0">
                <a:solidFill>
                  <a:schemeClr val="tx2"/>
                </a:solidFill>
                <a:effectLst/>
                <a:latin typeface="inter-regular"/>
              </a:rPr>
              <a:t>	</a:t>
            </a:r>
            <a:r>
              <a:rPr lang="en-US" sz="2400" i="0" dirty="0">
                <a:solidFill>
                  <a:schemeClr val="tx2"/>
                </a:solidFill>
                <a:effectLst/>
                <a:latin typeface="inter-regular"/>
              </a:rPr>
              <a:t>&lt;p </a:t>
            </a:r>
            <a:r>
              <a:rPr lang="en-US" sz="2400" b="1" i="0" dirty="0">
                <a:solidFill>
                  <a:schemeClr val="tx2"/>
                </a:solidFill>
                <a:effectLst/>
                <a:latin typeface="inter-regular"/>
              </a:rPr>
              <a:t>style</a:t>
            </a:r>
            <a:r>
              <a:rPr lang="en-US" sz="2400" i="0" dirty="0">
                <a:solidFill>
                  <a:schemeClr val="tx2"/>
                </a:solidFill>
                <a:effectLst/>
                <a:latin typeface="inter-regular"/>
              </a:rPr>
              <a:t>="color: red"&gt;It will change the color of content&lt;/p&gt;</a:t>
            </a:r>
          </a:p>
          <a:p>
            <a:pPr marL="0" indent="0" algn="just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US" sz="2400" dirty="0">
                <a:solidFill>
                  <a:schemeClr val="tx2"/>
                </a:solidFill>
                <a:latin typeface="inter-regular"/>
              </a:rPr>
              <a:t>	&lt;p </a:t>
            </a:r>
            <a:r>
              <a:rPr lang="en-US" sz="2400" b="1" dirty="0">
                <a:solidFill>
                  <a:schemeClr val="tx2"/>
                </a:solidFill>
                <a:latin typeface="inter-regular"/>
              </a:rPr>
              <a:t>id</a:t>
            </a:r>
            <a:r>
              <a:rPr lang="en-US" sz="2400" dirty="0">
                <a:solidFill>
                  <a:schemeClr val="tx2"/>
                </a:solidFill>
                <a:latin typeface="inter-regular"/>
              </a:rPr>
              <a:t>="p01"&gt;I am different&lt;/p&gt; </a:t>
            </a:r>
            <a:r>
              <a:rPr lang="en-US" sz="2400" dirty="0">
                <a:solidFill>
                  <a:schemeClr val="tx2"/>
                </a:solidFill>
                <a:latin typeface="inter-regular"/>
                <a:sym typeface="Wingdings" panose="05000000000000000000" pitchFamily="2" charset="2"/>
              </a:rPr>
              <a:t> Specific style</a:t>
            </a:r>
            <a:endParaRPr lang="en-US" sz="2400" dirty="0">
              <a:solidFill>
                <a:schemeClr val="tx2"/>
              </a:solidFill>
              <a:latin typeface="inter-regular"/>
            </a:endParaRPr>
          </a:p>
          <a:p>
            <a:pPr marL="0" indent="0" algn="just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US" sz="2400" dirty="0">
                <a:solidFill>
                  <a:schemeClr val="tx2"/>
                </a:solidFill>
                <a:latin typeface="inter-regular"/>
              </a:rPr>
              <a:t>	&lt;p </a:t>
            </a:r>
            <a:r>
              <a:rPr lang="en-US" sz="2400" b="1" dirty="0">
                <a:solidFill>
                  <a:schemeClr val="tx2"/>
                </a:solidFill>
                <a:latin typeface="inter-regular"/>
              </a:rPr>
              <a:t>class</a:t>
            </a:r>
            <a:r>
              <a:rPr lang="en-US" sz="2400" dirty="0">
                <a:solidFill>
                  <a:schemeClr val="tx2"/>
                </a:solidFill>
                <a:latin typeface="inter-regular"/>
              </a:rPr>
              <a:t>="error"&gt;I am different&lt;/p&gt;  </a:t>
            </a:r>
            <a:r>
              <a:rPr lang="en-US" sz="2400" dirty="0">
                <a:solidFill>
                  <a:schemeClr val="tx2"/>
                </a:solidFill>
                <a:latin typeface="inter-regular"/>
                <a:sym typeface="Wingdings" panose="05000000000000000000" pitchFamily="2" charset="2"/>
              </a:rPr>
              <a:t> style for special types of elements.</a:t>
            </a:r>
            <a:endParaRPr lang="en-IN" sz="2400" i="0" dirty="0">
              <a:solidFill>
                <a:schemeClr val="tx2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1891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5A9F0-3BAB-4C5B-674D-97B42D46D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635" y="470646"/>
            <a:ext cx="9875520" cy="917089"/>
          </a:xfrm>
        </p:spPr>
        <p:txBody>
          <a:bodyPr>
            <a:normAutofit/>
          </a:bodyPr>
          <a:lstStyle/>
          <a:p>
            <a:r>
              <a:rPr lang="en-US" b="1" dirty="0"/>
              <a:t>HTML Style:</a:t>
            </a:r>
            <a:endParaRPr lang="en-IN" b="1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7DEE946-FC1A-720D-735A-FB16A1570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952" y="1496291"/>
            <a:ext cx="9872871" cy="462660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Setting the style of an HTML element, can be done with the style attribute.</a:t>
            </a:r>
          </a:p>
          <a:p>
            <a:r>
              <a:rPr lang="en-US" sz="3200" b="1" dirty="0"/>
              <a:t>Syntax: </a:t>
            </a:r>
          </a:p>
          <a:p>
            <a:pPr marL="4572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	&lt;tagname style="property:value;"&gt;</a:t>
            </a:r>
          </a:p>
          <a:p>
            <a:pPr marL="45720" indent="0">
              <a:buNone/>
            </a:pPr>
            <a:r>
              <a:rPr lang="en-US" sz="2800" b="1" dirty="0"/>
              <a:t>Background Color:</a:t>
            </a:r>
          </a:p>
          <a:p>
            <a:r>
              <a:rPr lang="en-US" sz="2800" dirty="0">
                <a:solidFill>
                  <a:schemeClr val="tx2"/>
                </a:solidFill>
              </a:rPr>
              <a:t>The CSS background-color property defines the background color for an HTML element.</a:t>
            </a:r>
          </a:p>
          <a:p>
            <a:r>
              <a:rPr lang="en-US" sz="2800" b="1" dirty="0"/>
              <a:t>Example:</a:t>
            </a:r>
          </a:p>
          <a:p>
            <a:pPr marL="4572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	&lt;body style="</a:t>
            </a:r>
            <a:r>
              <a:rPr lang="en-US" sz="2800" b="1" dirty="0" err="1">
                <a:solidFill>
                  <a:schemeClr val="tx2"/>
                </a:solidFill>
              </a:rPr>
              <a:t>background-color:powderblue</a:t>
            </a:r>
            <a:r>
              <a:rPr lang="en-US" sz="2800" dirty="0" smtClean="0">
                <a:solidFill>
                  <a:schemeClr val="tx2"/>
                </a:solidFill>
              </a:rPr>
              <a:t>;"&gt;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64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5F6173-5A87-A418-EA76-8A9175E500AA}"/>
              </a:ext>
            </a:extLst>
          </p:cNvPr>
          <p:cNvSpPr txBox="1"/>
          <p:nvPr/>
        </p:nvSpPr>
        <p:spPr>
          <a:xfrm>
            <a:off x="995082" y="524435"/>
            <a:ext cx="1093245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Text Color: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1"/>
                </a:solidFill>
              </a:rPr>
              <a:t>	</a:t>
            </a:r>
            <a:r>
              <a:rPr lang="en-US" sz="2400" dirty="0">
                <a:solidFill>
                  <a:schemeClr val="tx2"/>
                </a:solidFill>
              </a:rPr>
              <a:t>The CSS color property defines the text color for an HTML element: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		&lt;h1 style="color:blue;"&gt;This is a heading&lt;/h1&gt;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Fonts: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1"/>
                </a:solidFill>
              </a:rPr>
              <a:t>	</a:t>
            </a:r>
            <a:r>
              <a:rPr lang="en-US" sz="2400" dirty="0">
                <a:solidFill>
                  <a:schemeClr val="tx2"/>
                </a:solidFill>
              </a:rPr>
              <a:t>The CSS font-family property defines the font.</a:t>
            </a:r>
          </a:p>
          <a:p>
            <a:pPr lvl="2"/>
            <a:r>
              <a:rPr lang="en-US" sz="2400" dirty="0">
                <a:solidFill>
                  <a:schemeClr val="tx2"/>
                </a:solidFill>
              </a:rPr>
              <a:t>	&lt;h1 style="font-family:verdana;"&gt;This is a heading&lt;/h1&gt;</a:t>
            </a:r>
            <a:endParaRPr lang="en-US" sz="2800" b="1" dirty="0">
              <a:solidFill>
                <a:schemeClr val="accent1"/>
              </a:solidFill>
            </a:endParaRPr>
          </a:p>
          <a:p>
            <a:r>
              <a:rPr lang="en-US" sz="2800" b="1" dirty="0">
                <a:solidFill>
                  <a:schemeClr val="accent1"/>
                </a:solidFill>
              </a:rPr>
              <a:t>Text Size: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1"/>
                </a:solidFill>
              </a:rPr>
              <a:t>	</a:t>
            </a:r>
            <a:r>
              <a:rPr lang="en-US" sz="2400" dirty="0">
                <a:solidFill>
                  <a:schemeClr val="tx2"/>
                </a:solidFill>
              </a:rPr>
              <a:t>The CSS font-size property defines the text size:</a:t>
            </a:r>
          </a:p>
          <a:p>
            <a:r>
              <a:rPr lang="en-US" sz="2400" dirty="0">
                <a:solidFill>
                  <a:schemeClr val="tx2"/>
                </a:solidFill>
              </a:rPr>
              <a:t>			&lt;h1 style="font-size:300%;"&gt;This is a heading&lt;/h1</a:t>
            </a:r>
            <a:r>
              <a:rPr lang="en-US" sz="2400" dirty="0" smtClean="0">
                <a:solidFill>
                  <a:schemeClr val="tx2"/>
                </a:solidFill>
              </a:rPr>
              <a:t>&gt;</a:t>
            </a:r>
          </a:p>
          <a:p>
            <a:r>
              <a:rPr lang="en-US" sz="2800" b="1" dirty="0" smtClean="0">
                <a:solidFill>
                  <a:schemeClr val="accent1"/>
                </a:solidFill>
              </a:rPr>
              <a:t>Text Alignment</a:t>
            </a:r>
            <a:r>
              <a:rPr lang="en-IN" sz="2800" b="1" dirty="0" smtClean="0">
                <a:solidFill>
                  <a:schemeClr val="accent1"/>
                </a:solidFill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 smtClean="0">
                <a:solidFill>
                  <a:schemeClr val="accent1"/>
                </a:solidFill>
              </a:rPr>
              <a:t>	</a:t>
            </a:r>
            <a:r>
              <a:rPr lang="en-US" sz="2400" dirty="0" smtClean="0">
                <a:solidFill>
                  <a:schemeClr val="tx2"/>
                </a:solidFill>
              </a:rPr>
              <a:t>The CSS text-align property defines the horizontal text alignment.</a:t>
            </a:r>
          </a:p>
          <a:p>
            <a:r>
              <a:rPr lang="en-US" sz="2400" dirty="0" smtClean="0">
                <a:solidFill>
                  <a:schemeClr val="tx2"/>
                </a:solidFill>
              </a:rPr>
              <a:t>				&lt;h1 style="</a:t>
            </a:r>
            <a:r>
              <a:rPr lang="en-US" sz="2400" dirty="0" err="1" smtClean="0">
                <a:solidFill>
                  <a:schemeClr val="tx2"/>
                </a:solidFill>
              </a:rPr>
              <a:t>text-align:center</a:t>
            </a:r>
            <a:r>
              <a:rPr lang="en-US" sz="2400" dirty="0" smtClean="0">
                <a:solidFill>
                  <a:schemeClr val="tx2"/>
                </a:solidFill>
              </a:rPr>
              <a:t>;"&gt;Centered Heading&lt;/h1&gt;</a:t>
            </a:r>
            <a:endParaRPr 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15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F30B-F5B6-8B60-68D9-6EE68455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696" y="623047"/>
            <a:ext cx="9875520" cy="425824"/>
          </a:xfrm>
        </p:spPr>
        <p:txBody>
          <a:bodyPr>
            <a:noAutofit/>
          </a:bodyPr>
          <a:lstStyle/>
          <a:p>
            <a:r>
              <a:rPr lang="en-IN" sz="3200" b="1" dirty="0"/>
              <a:t>Span tag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2454-0DE9-8EE1-EB20-6F5F19DF2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1264023"/>
            <a:ext cx="9872871" cy="5044888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&lt;p&gt;I have choosen only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    &lt;span style="color: red;"&gt;red&lt;/span&gt; and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    &lt;span style="color: green;"&gt;green&lt;/span&gt; colors for my painting.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  &lt;/p&gt; </a:t>
            </a:r>
          </a:p>
          <a:p>
            <a:pPr marL="45720" indent="0">
              <a:buNone/>
            </a:pPr>
            <a:r>
              <a:rPr lang="en-US" sz="2800" b="1" dirty="0"/>
              <a:t>HTML Class:</a:t>
            </a:r>
          </a:p>
          <a:p>
            <a:r>
              <a:rPr lang="en-US" dirty="0">
                <a:solidFill>
                  <a:schemeClr val="tx2"/>
                </a:solidFill>
              </a:rPr>
              <a:t>The HTML class attribute is used to define equal styles for elements with the same class name.</a:t>
            </a:r>
          </a:p>
          <a:p>
            <a:r>
              <a:rPr lang="en-US" dirty="0">
                <a:solidFill>
                  <a:schemeClr val="tx2"/>
                </a:solidFill>
              </a:rPr>
              <a:t>So, all HTML elements with the same class attribute will get the same style.</a:t>
            </a:r>
          </a:p>
          <a:p>
            <a:r>
              <a:rPr lang="en-US" dirty="0">
                <a:solidFill>
                  <a:schemeClr val="tx2"/>
                </a:solidFill>
              </a:rPr>
              <a:t>Here we have &lt;div&gt; elements that point to the same class name.</a:t>
            </a:r>
          </a:p>
          <a:p>
            <a:r>
              <a:rPr lang="en-US" b="1" dirty="0">
                <a:solidFill>
                  <a:schemeClr val="tx2"/>
                </a:solidFill>
              </a:rPr>
              <a:t>Example: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	&lt;div class="cities"&gt;</a:t>
            </a:r>
            <a:endParaRPr lang="en-IN" dirty="0">
              <a:solidFill>
                <a:schemeClr val="tx2"/>
              </a:solidFill>
            </a:endParaRPr>
          </a:p>
          <a:p>
            <a:pPr marL="45720" indent="0">
              <a:buNone/>
            </a:pP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45720" indent="0">
              <a:buNone/>
            </a:pP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4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C0155-77D5-4083-4FFF-96267234A6EE}"/>
              </a:ext>
            </a:extLst>
          </p:cNvPr>
          <p:cNvSpPr txBox="1"/>
          <p:nvPr/>
        </p:nvSpPr>
        <p:spPr>
          <a:xfrm>
            <a:off x="954741" y="487024"/>
            <a:ext cx="485438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Example for Class: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dirty="0"/>
              <a:t>&lt;!DOCTYPE html&gt;</a:t>
            </a:r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&lt;head&gt;</a:t>
            </a:r>
          </a:p>
          <a:p>
            <a:endParaRPr lang="en-US" sz="2400" dirty="0"/>
          </a:p>
          <a:p>
            <a:r>
              <a:rPr lang="en-US" sz="2400" dirty="0"/>
              <a:t>&lt;style&gt;</a:t>
            </a:r>
          </a:p>
          <a:p>
            <a:r>
              <a:rPr lang="en-US" sz="2400" dirty="0"/>
              <a:t>.cities {</a:t>
            </a:r>
          </a:p>
          <a:p>
            <a:r>
              <a:rPr lang="en-US" sz="2400" dirty="0"/>
              <a:t>  	background-color: black;</a:t>
            </a:r>
          </a:p>
          <a:p>
            <a:r>
              <a:rPr lang="en-US" sz="2400" dirty="0"/>
              <a:t>  	color: white;</a:t>
            </a:r>
          </a:p>
          <a:p>
            <a:r>
              <a:rPr lang="en-US" sz="2400" dirty="0"/>
              <a:t>  	margin: 20px;</a:t>
            </a:r>
          </a:p>
          <a:p>
            <a:r>
              <a:rPr lang="en-US" sz="2400" dirty="0"/>
              <a:t>  	padding: 20px;</a:t>
            </a:r>
          </a:p>
          <a:p>
            <a:r>
              <a:rPr lang="en-US" sz="2400" dirty="0"/>
              <a:t>	} </a:t>
            </a:r>
          </a:p>
          <a:p>
            <a:r>
              <a:rPr lang="en-US" sz="2400" dirty="0"/>
              <a:t>&lt;/style&gt;</a:t>
            </a:r>
          </a:p>
          <a:p>
            <a:r>
              <a:rPr lang="en-US" sz="2400" dirty="0"/>
              <a:t>&lt;/head&gt;</a:t>
            </a:r>
          </a:p>
          <a:p>
            <a:r>
              <a:rPr lang="en-US" sz="2400" dirty="0"/>
              <a:t>&lt;body</a:t>
            </a:r>
            <a:r>
              <a:rPr lang="en-US" sz="2400" dirty="0" smtClean="0"/>
              <a:t>&gt;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31A5E-BBFC-5260-EB67-C9B3CD3E86B7}"/>
              </a:ext>
            </a:extLst>
          </p:cNvPr>
          <p:cNvSpPr txBox="1"/>
          <p:nvPr/>
        </p:nvSpPr>
        <p:spPr>
          <a:xfrm>
            <a:off x="5809129" y="487024"/>
            <a:ext cx="591222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&lt;div </a:t>
            </a:r>
            <a:r>
              <a:rPr lang="en-US" sz="2400" b="1" dirty="0"/>
              <a:t>class="cities"&gt;</a:t>
            </a:r>
          </a:p>
          <a:p>
            <a:r>
              <a:rPr lang="en-US" sz="2400" dirty="0"/>
              <a:t>  &lt;h2&gt;London&lt;/h2&gt;</a:t>
            </a:r>
          </a:p>
          <a:p>
            <a:r>
              <a:rPr lang="en-US" sz="2400" dirty="0"/>
              <a:t>  &lt;p&gt;London is the capital of England.&lt;/p&gt;</a:t>
            </a:r>
          </a:p>
          <a:p>
            <a:r>
              <a:rPr lang="en-US" sz="2400" dirty="0"/>
              <a:t>&lt;/div&gt;</a:t>
            </a:r>
          </a:p>
          <a:p>
            <a:endParaRPr lang="en-US" sz="2400" dirty="0"/>
          </a:p>
          <a:p>
            <a:r>
              <a:rPr lang="en-US" sz="2400" dirty="0"/>
              <a:t>&lt;div </a:t>
            </a:r>
            <a:r>
              <a:rPr lang="en-US" sz="2400" b="1" dirty="0"/>
              <a:t>class="cities"&gt;</a:t>
            </a:r>
          </a:p>
          <a:p>
            <a:r>
              <a:rPr lang="en-US" sz="2400" dirty="0"/>
              <a:t>  &lt;h2&gt;Paris&lt;/h2&gt;</a:t>
            </a:r>
          </a:p>
          <a:p>
            <a:r>
              <a:rPr lang="en-US" sz="2400" dirty="0"/>
              <a:t>  &lt;p&gt;Paris is the capital of France.&lt;/p&gt;</a:t>
            </a:r>
          </a:p>
          <a:p>
            <a:r>
              <a:rPr lang="en-US" sz="2400" dirty="0"/>
              <a:t>&lt;/div&gt;</a:t>
            </a:r>
          </a:p>
          <a:p>
            <a:endParaRPr lang="en-US" sz="2400" dirty="0"/>
          </a:p>
          <a:p>
            <a:r>
              <a:rPr lang="en-US" sz="2400" dirty="0"/>
              <a:t>&lt;div </a:t>
            </a:r>
            <a:r>
              <a:rPr lang="en-US" sz="2400" b="1" dirty="0"/>
              <a:t>class="cities"&gt;</a:t>
            </a:r>
          </a:p>
          <a:p>
            <a:r>
              <a:rPr lang="en-US" sz="2400" dirty="0"/>
              <a:t>  &lt;h2&gt;India&lt;/h2&gt;</a:t>
            </a:r>
          </a:p>
          <a:p>
            <a:r>
              <a:rPr lang="en-US" sz="2400" dirty="0"/>
              <a:t>  &lt;p&gt;Delhi is the capital of India.&lt;/p&gt;</a:t>
            </a:r>
          </a:p>
          <a:p>
            <a:r>
              <a:rPr lang="en-US" sz="2400" dirty="0"/>
              <a:t>&lt;/div&gt;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122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237E-ECF7-D339-B185-346E76C9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782171"/>
            <a:ext cx="9875520" cy="61408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External Reference: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A56EC-D2CE-C05C-8B2D-8192E638A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410" y="1641373"/>
            <a:ext cx="10137460" cy="4602673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400" dirty="0" smtClean="0">
                <a:solidFill>
                  <a:schemeClr val="tx2"/>
                </a:solidFill>
              </a:rPr>
              <a:t>External </a:t>
            </a:r>
            <a:r>
              <a:rPr lang="en-US" sz="2400" dirty="0">
                <a:solidFill>
                  <a:schemeClr val="tx2"/>
                </a:solidFill>
              </a:rPr>
              <a:t>style sheets can be referenced with a full URL or with a path relative to the current web page.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This </a:t>
            </a:r>
            <a:r>
              <a:rPr lang="en-US" sz="2400" b="1" dirty="0">
                <a:solidFill>
                  <a:schemeClr val="tx2"/>
                </a:solidFill>
              </a:rPr>
              <a:t>example</a:t>
            </a:r>
            <a:r>
              <a:rPr lang="en-US" sz="2400" dirty="0">
                <a:solidFill>
                  <a:schemeClr val="tx2"/>
                </a:solidFill>
              </a:rPr>
              <a:t> uses a full URL to link to a style sheet: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     &lt;link rel="stylesheet" </a:t>
            </a:r>
            <a:r>
              <a:rPr lang="en-US" sz="2400" dirty="0" err="1">
                <a:solidFill>
                  <a:schemeClr val="tx2"/>
                </a:solidFill>
              </a:rPr>
              <a:t>href</a:t>
            </a:r>
            <a:r>
              <a:rPr lang="en-US" sz="2400" dirty="0">
                <a:solidFill>
                  <a:schemeClr val="tx2"/>
                </a:solidFill>
              </a:rPr>
              <a:t>=“</a:t>
            </a:r>
            <a:r>
              <a:rPr lang="en-US" sz="2400" dirty="0" err="1">
                <a:solidFill>
                  <a:schemeClr val="tx2"/>
                </a:solidFill>
              </a:rPr>
              <a:t>Fullstack</a:t>
            </a:r>
            <a:r>
              <a:rPr lang="en-US" sz="2400" dirty="0">
                <a:solidFill>
                  <a:schemeClr val="tx2"/>
                </a:solidFill>
              </a:rPr>
              <a:t>/html/styles.css"&gt;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3000" b="1" dirty="0"/>
              <a:t>HTML Links – Hyperlinks: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HTML links are hyperlinks.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You can click on a link and jump to another document.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When you move the mouse over a link, the mouse arrow will turn into a little hand.</a:t>
            </a:r>
          </a:p>
        </p:txBody>
      </p:sp>
    </p:spTree>
    <p:extLst>
      <p:ext uri="{BB962C8B-B14F-4D97-AF65-F5344CB8AC3E}">
        <p14:creationId xmlns:p14="http://schemas.microsoft.com/office/powerpoint/2010/main" val="82123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352C-79BD-8A2F-CCBE-E434425291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4059" y="484094"/>
            <a:ext cx="9875838" cy="679688"/>
          </a:xfrm>
        </p:spPr>
        <p:txBody>
          <a:bodyPr>
            <a:noAutofit/>
          </a:bodyPr>
          <a:lstStyle/>
          <a:p>
            <a:r>
              <a:rPr lang="en-US" sz="3600" b="1" dirty="0"/>
              <a:t>HTML Links: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AC7F-EF3D-D953-10F9-BE6F186BCAC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8010" y="1237674"/>
            <a:ext cx="10501882" cy="5338618"/>
          </a:xfrm>
        </p:spPr>
        <p:txBody>
          <a:bodyPr>
            <a:noAutofit/>
          </a:bodyPr>
          <a:lstStyle/>
          <a:p>
            <a:pPr lvl="2"/>
            <a:r>
              <a:rPr lang="en-US" sz="2800" dirty="0" smtClean="0">
                <a:solidFill>
                  <a:schemeClr val="tx2"/>
                </a:solidFill>
              </a:rPr>
              <a:t>	HTML links are defined with the </a:t>
            </a:r>
            <a:r>
              <a:rPr lang="en-US" sz="2800" b="1" dirty="0" smtClean="0">
                <a:solidFill>
                  <a:schemeClr val="tx2"/>
                </a:solidFill>
              </a:rPr>
              <a:t>&lt;a&gt; </a:t>
            </a:r>
            <a:r>
              <a:rPr lang="en-US" sz="2800" dirty="0" smtClean="0">
                <a:solidFill>
                  <a:schemeClr val="tx2"/>
                </a:solidFill>
              </a:rPr>
              <a:t>tag:</a:t>
            </a:r>
          </a:p>
          <a:p>
            <a:pPr marL="548640" lvl="2" indent="0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		&lt;a </a:t>
            </a:r>
            <a:r>
              <a:rPr lang="en-US" sz="2800" dirty="0" err="1" smtClean="0">
                <a:solidFill>
                  <a:schemeClr val="tx2"/>
                </a:solidFill>
              </a:rPr>
              <a:t>href</a:t>
            </a:r>
            <a:r>
              <a:rPr lang="en-US" sz="2800" dirty="0" smtClean="0">
                <a:solidFill>
                  <a:schemeClr val="tx2"/>
                </a:solidFill>
              </a:rPr>
              <a:t>="https://www.facebook.com"&gt;This is a link&lt;/a&gt;</a:t>
            </a:r>
          </a:p>
          <a:p>
            <a:pPr lvl="2"/>
            <a:r>
              <a:rPr lang="en-US" sz="2800" dirty="0" smtClean="0">
                <a:solidFill>
                  <a:schemeClr val="tx2"/>
                </a:solidFill>
              </a:rPr>
              <a:t>	The link's destination is specified in the </a:t>
            </a:r>
            <a:r>
              <a:rPr lang="en-US" sz="2800" dirty="0" err="1" smtClean="0">
                <a:solidFill>
                  <a:schemeClr val="tx2"/>
                </a:solidFill>
              </a:rPr>
              <a:t>href</a:t>
            </a:r>
            <a:r>
              <a:rPr lang="en-US" sz="2800" dirty="0" smtClean="0">
                <a:solidFill>
                  <a:schemeClr val="tx2"/>
                </a:solidFill>
              </a:rPr>
              <a:t> attribute. </a:t>
            </a:r>
          </a:p>
          <a:p>
            <a:pPr marL="45720" indent="0">
              <a:buNone/>
            </a:pPr>
            <a:r>
              <a:rPr lang="en-US" sz="2800" b="1" dirty="0" smtClean="0"/>
              <a:t>HTML </a:t>
            </a:r>
            <a:r>
              <a:rPr lang="en-US" sz="2800" b="1" dirty="0"/>
              <a:t>Images: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HTML images are defined with the </a:t>
            </a:r>
            <a:r>
              <a:rPr lang="en-US" sz="2400" b="1" dirty="0">
                <a:solidFill>
                  <a:schemeClr val="tx2"/>
                </a:solidFill>
              </a:rPr>
              <a:t>&lt;img&gt; </a:t>
            </a:r>
            <a:r>
              <a:rPr lang="en-US" sz="2400" dirty="0">
                <a:solidFill>
                  <a:schemeClr val="tx2"/>
                </a:solidFill>
              </a:rPr>
              <a:t>tag.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&lt;img </a:t>
            </a:r>
            <a:r>
              <a:rPr lang="en-US" sz="2400" dirty="0" err="1">
                <a:solidFill>
                  <a:schemeClr val="tx2"/>
                </a:solidFill>
              </a:rPr>
              <a:t>src</a:t>
            </a:r>
            <a:r>
              <a:rPr lang="en-US" sz="2400" dirty="0" smtClean="0">
                <a:solidFill>
                  <a:schemeClr val="tx2"/>
                </a:solidFill>
              </a:rPr>
              <a:t>=“flower.jpg</a:t>
            </a:r>
            <a:r>
              <a:rPr lang="en-US" sz="2400" dirty="0">
                <a:solidFill>
                  <a:schemeClr val="tx2"/>
                </a:solidFill>
              </a:rPr>
              <a:t>" alt</a:t>
            </a:r>
            <a:r>
              <a:rPr lang="en-US" sz="2400" dirty="0" smtClean="0">
                <a:solidFill>
                  <a:schemeClr val="tx2"/>
                </a:solidFill>
              </a:rPr>
              <a:t>=“Flower" </a:t>
            </a:r>
            <a:r>
              <a:rPr lang="en-US" sz="2400" dirty="0">
                <a:solidFill>
                  <a:schemeClr val="tx2"/>
                </a:solidFill>
              </a:rPr>
              <a:t>width="104" height="142"&gt;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Here,	</a:t>
            </a:r>
          </a:p>
          <a:p>
            <a:pPr marL="822960" lvl="3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	</a:t>
            </a:r>
            <a:r>
              <a:rPr lang="en-US" sz="2400" b="1" dirty="0">
                <a:solidFill>
                  <a:schemeClr val="tx2"/>
                </a:solidFill>
              </a:rPr>
              <a:t>src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 Source file- specifies the URL (web address) of the image</a:t>
            </a:r>
          </a:p>
          <a:p>
            <a:pPr marL="822960" lvl="3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		</a:t>
            </a:r>
            <a:r>
              <a:rPr 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alt </a:t>
            </a: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 Alternative text</a:t>
            </a:r>
          </a:p>
          <a:p>
            <a:pPr marL="822960" lvl="3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		Width and </a:t>
            </a:r>
            <a:r>
              <a:rPr lang="en-US" sz="2400" dirty="0" smtClean="0">
                <a:solidFill>
                  <a:schemeClr val="tx2"/>
                </a:solidFill>
                <a:sym typeface="Wingdings" panose="05000000000000000000" pitchFamily="2" charset="2"/>
              </a:rPr>
              <a:t>Height are </a:t>
            </a: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provided as a attributes.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21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49DC4-3354-A7EC-52D0-6648C4AC5B71}"/>
              </a:ext>
            </a:extLst>
          </p:cNvPr>
          <p:cNvSpPr txBox="1"/>
          <p:nvPr/>
        </p:nvSpPr>
        <p:spPr>
          <a:xfrm>
            <a:off x="865094" y="793376"/>
            <a:ext cx="104618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/>
                </a:solidFill>
              </a:rPr>
              <a:t>Animated Images: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2"/>
                </a:solidFill>
              </a:rPr>
              <a:t>HTML allows animated GIFs.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tx2"/>
                </a:solidFill>
              </a:rPr>
              <a:t>			&lt;</a:t>
            </a:r>
            <a:r>
              <a:rPr lang="en-IN" sz="2800" dirty="0" err="1">
                <a:solidFill>
                  <a:schemeClr val="tx2"/>
                </a:solidFill>
              </a:rPr>
              <a:t>img</a:t>
            </a:r>
            <a:r>
              <a:rPr lang="en-IN" sz="2800" dirty="0">
                <a:solidFill>
                  <a:schemeClr val="tx2"/>
                </a:solidFill>
              </a:rPr>
              <a:t> </a:t>
            </a:r>
            <a:r>
              <a:rPr lang="en-IN" sz="2800" dirty="0" err="1">
                <a:solidFill>
                  <a:schemeClr val="tx2"/>
                </a:solidFill>
              </a:rPr>
              <a:t>src</a:t>
            </a:r>
            <a:r>
              <a:rPr lang="en-IN" sz="2800" dirty="0">
                <a:solidFill>
                  <a:schemeClr val="tx2"/>
                </a:solidFill>
              </a:rPr>
              <a:t>="programming.gif" alt="</a:t>
            </a:r>
            <a:r>
              <a:rPr lang="en-IN" sz="2800" dirty="0" err="1">
                <a:solidFill>
                  <a:schemeClr val="tx2"/>
                </a:solidFill>
              </a:rPr>
              <a:t>ComputerMan</a:t>
            </a:r>
            <a:r>
              <a:rPr lang="en-IN" sz="2800" dirty="0">
                <a:solidFill>
                  <a:schemeClr val="tx2"/>
                </a:solidFill>
              </a:rPr>
              <a:t>" </a:t>
            </a:r>
          </a:p>
          <a:p>
            <a:r>
              <a:rPr lang="en-IN" sz="2800" dirty="0">
                <a:solidFill>
                  <a:schemeClr val="tx2"/>
                </a:solidFill>
              </a:rPr>
              <a:t>									style="width:48px;height:48px</a:t>
            </a:r>
            <a:r>
              <a:rPr lang="en-IN" sz="2800" dirty="0" smtClean="0">
                <a:solidFill>
                  <a:schemeClr val="tx2"/>
                </a:solidFill>
              </a:rPr>
              <a:t>;"&gt;</a:t>
            </a:r>
            <a:endParaRPr lang="en-US" sz="3200" b="1" dirty="0" smtClean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 dirty="0" smtClean="0">
                <a:solidFill>
                  <a:schemeClr val="accent1"/>
                </a:solidFill>
              </a:rPr>
              <a:t>Image </a:t>
            </a:r>
            <a:r>
              <a:rPr lang="en-US" sz="3200" b="1" dirty="0">
                <a:solidFill>
                  <a:schemeClr val="accent1"/>
                </a:solidFill>
              </a:rPr>
              <a:t>as a Link: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2"/>
                </a:solidFill>
              </a:rPr>
              <a:t>To use an image as a link, put the &lt;img&gt; tag inside the &lt;a&gt; tag.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2"/>
                </a:solidFill>
              </a:rPr>
              <a:t>			&lt;a href="default.asp"&gt;&lt;img src="smiley.gif" alt="HTML" </a:t>
            </a:r>
          </a:p>
          <a:p>
            <a:r>
              <a:rPr lang="en-US" sz="2800" dirty="0">
                <a:solidFill>
                  <a:schemeClr val="tx2"/>
                </a:solidFill>
              </a:rPr>
              <a:t>							style="</a:t>
            </a:r>
            <a:r>
              <a:rPr lang="en-US" sz="2800" dirty="0" smtClean="0">
                <a:solidFill>
                  <a:schemeClr val="tx2"/>
                </a:solidFill>
              </a:rPr>
              <a:t>width:42px;height:42px; "&gt;&lt;/</a:t>
            </a:r>
            <a:r>
              <a:rPr lang="en-US" sz="2800" dirty="0">
                <a:solidFill>
                  <a:schemeClr val="tx2"/>
                </a:solidFill>
              </a:rPr>
              <a:t>a&gt;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638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62B0C-A575-2107-8CA4-41CC5C8D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8131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HTML Lists: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95F9D5-95DF-3F24-2A34-4B8C45C6D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387" y="1290918"/>
            <a:ext cx="10410672" cy="50560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2"/>
                </a:solidFill>
              </a:rPr>
              <a:t>HTML list tag is used to create List in Web page.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2"/>
                </a:solidFill>
              </a:rPr>
              <a:t> HTML has two types of List: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800" b="1" dirty="0"/>
              <a:t>Ordered List: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solidFill>
                  <a:schemeClr val="tx2"/>
                </a:solidFill>
              </a:rPr>
              <a:t>It creates Ordered List with the tag </a:t>
            </a:r>
            <a:r>
              <a:rPr lang="en-US" sz="2800" b="1" dirty="0">
                <a:solidFill>
                  <a:schemeClr val="tx2"/>
                </a:solidFill>
              </a:rPr>
              <a:t>&lt;ol&gt;</a:t>
            </a:r>
          </a:p>
          <a:p>
            <a:pPr marL="1097280" lvl="4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&lt;ol&gt;</a:t>
            </a:r>
          </a:p>
          <a:p>
            <a:pPr marL="1097280" lvl="4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&lt;li&gt;Coffee&lt;/li&gt;</a:t>
            </a:r>
          </a:p>
          <a:p>
            <a:pPr marL="1097280" lvl="4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&lt;li&gt;Tae&lt;/li&gt;</a:t>
            </a:r>
          </a:p>
          <a:p>
            <a:pPr marL="1097280" lvl="4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&lt;li&gt;Milk&lt;/li&gt;</a:t>
            </a:r>
          </a:p>
          <a:p>
            <a:pPr marL="1097280" lvl="4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&lt;/ol&gt;</a:t>
            </a:r>
          </a:p>
          <a:p>
            <a:pPr lvl="2">
              <a:lnSpc>
                <a:spcPct val="100000"/>
              </a:lnSpc>
            </a:pPr>
            <a:r>
              <a:rPr lang="en-US" sz="2800" dirty="0">
                <a:solidFill>
                  <a:schemeClr val="tx2"/>
                </a:solidFill>
              </a:rPr>
              <a:t>Here, </a:t>
            </a:r>
            <a:r>
              <a:rPr lang="en-US" sz="2800" b="1" dirty="0">
                <a:solidFill>
                  <a:schemeClr val="tx2"/>
                </a:solidFill>
              </a:rPr>
              <a:t>&lt;li&gt; </a:t>
            </a:r>
            <a:r>
              <a:rPr lang="en-US" sz="2800" dirty="0">
                <a:solidFill>
                  <a:schemeClr val="tx2"/>
                </a:solidFill>
              </a:rPr>
              <a:t>is an </a:t>
            </a:r>
            <a:r>
              <a:rPr lang="en-US" sz="2800" b="1" dirty="0">
                <a:solidFill>
                  <a:schemeClr val="tx2"/>
                </a:solidFill>
              </a:rPr>
              <a:t>List Item.</a:t>
            </a:r>
            <a:r>
              <a:rPr lang="en-IN" sz="2400" dirty="0">
                <a:solidFill>
                  <a:schemeClr val="tx2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8743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D0AC4-BC5A-A0A9-02EF-FA2AB6E1E86A}"/>
              </a:ext>
            </a:extLst>
          </p:cNvPr>
          <p:cNvSpPr txBox="1"/>
          <p:nvPr/>
        </p:nvSpPr>
        <p:spPr>
          <a:xfrm>
            <a:off x="1378527" y="381890"/>
            <a:ext cx="997296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Unordered List:</a:t>
            </a:r>
          </a:p>
          <a:p>
            <a:r>
              <a:rPr lang="en-IN" sz="2000" dirty="0"/>
              <a:t>		</a:t>
            </a:r>
            <a:r>
              <a:rPr lang="en-IN" sz="2800" dirty="0">
                <a:solidFill>
                  <a:schemeClr val="tx2"/>
                </a:solidFill>
              </a:rPr>
              <a:t>&lt;ul&gt;</a:t>
            </a:r>
          </a:p>
          <a:p>
            <a:r>
              <a:rPr lang="en-IN" sz="2800" dirty="0">
                <a:solidFill>
                  <a:schemeClr val="tx2"/>
                </a:solidFill>
              </a:rPr>
              <a:t>  			&lt;li&gt;Coffee&lt;/li&gt;</a:t>
            </a:r>
          </a:p>
          <a:p>
            <a:r>
              <a:rPr lang="en-IN" sz="2800" dirty="0">
                <a:solidFill>
                  <a:schemeClr val="tx2"/>
                </a:solidFill>
              </a:rPr>
              <a:t>  			&lt;li&gt;Tea&lt;/li&gt;</a:t>
            </a:r>
          </a:p>
          <a:p>
            <a:r>
              <a:rPr lang="en-IN" sz="2800" dirty="0">
                <a:solidFill>
                  <a:schemeClr val="tx2"/>
                </a:solidFill>
              </a:rPr>
              <a:t>  		&lt;/</a:t>
            </a:r>
            <a:r>
              <a:rPr lang="en-IN" sz="2800" dirty="0" err="1">
                <a:solidFill>
                  <a:schemeClr val="tx2"/>
                </a:solidFill>
              </a:rPr>
              <a:t>ul</a:t>
            </a:r>
            <a:r>
              <a:rPr lang="en-IN" sz="2800" dirty="0" smtClean="0">
                <a:solidFill>
                  <a:schemeClr val="tx2"/>
                </a:solidFill>
              </a:rPr>
              <a:t>&gt;</a:t>
            </a:r>
            <a:endParaRPr lang="en-IN" sz="2000" dirty="0"/>
          </a:p>
          <a:p>
            <a:r>
              <a:rPr lang="en-IN" sz="2800" b="1" dirty="0">
                <a:solidFill>
                  <a:schemeClr val="accent1"/>
                </a:solidFill>
              </a:rPr>
              <a:t>Specific Order: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	</a:t>
            </a:r>
            <a:r>
              <a:rPr lang="en-IN" sz="2800" dirty="0">
                <a:solidFill>
                  <a:schemeClr val="tx2"/>
                </a:solidFill>
              </a:rPr>
              <a:t>We can create specific order using </a:t>
            </a:r>
            <a:r>
              <a:rPr lang="en-IN" sz="2800" b="1" dirty="0">
                <a:solidFill>
                  <a:schemeClr val="tx2"/>
                </a:solidFill>
              </a:rPr>
              <a:t>type</a:t>
            </a:r>
            <a:r>
              <a:rPr lang="en-IN" sz="2800" dirty="0">
                <a:solidFill>
                  <a:schemeClr val="tx2"/>
                </a:solidFill>
              </a:rPr>
              <a:t> attribute.</a:t>
            </a:r>
          </a:p>
          <a:p>
            <a:r>
              <a:rPr lang="en-IN" sz="2800" dirty="0">
                <a:solidFill>
                  <a:schemeClr val="tx2"/>
                </a:solidFill>
              </a:rPr>
              <a:t>		&lt;</a:t>
            </a:r>
            <a:r>
              <a:rPr lang="en-IN" sz="2800" b="1" dirty="0">
                <a:solidFill>
                  <a:schemeClr val="tx2"/>
                </a:solidFill>
              </a:rPr>
              <a:t>ol type=“A”</a:t>
            </a:r>
            <a:r>
              <a:rPr lang="en-IN" sz="2800" dirty="0">
                <a:solidFill>
                  <a:schemeClr val="tx2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Control List: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By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</a:rPr>
              <a:t>default, an ordered list will start counting from 1. </a:t>
            </a:r>
            <a:endParaRPr lang="en-US" sz="2800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If we want we can start </a:t>
            </a:r>
            <a:r>
              <a:rPr lang="en-US" sz="2800" dirty="0" err="1" smtClean="0">
                <a:solidFill>
                  <a:schemeClr val="bg2">
                    <a:lumMod val="25000"/>
                  </a:schemeClr>
                </a:solidFill>
              </a:rPr>
              <a:t>inbetween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en-US" sz="2800" dirty="0"/>
              <a:t>	</a:t>
            </a:r>
            <a:r>
              <a:rPr lang="en-US" sz="2800" dirty="0" smtClean="0"/>
              <a:t>	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&lt;</a:t>
            </a:r>
            <a:r>
              <a:rPr lang="en-US" sz="2800" dirty="0" err="1">
                <a:solidFill>
                  <a:schemeClr val="bg2">
                    <a:lumMod val="25000"/>
                  </a:schemeClr>
                </a:solidFill>
              </a:rPr>
              <a:t>ol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start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</a:rPr>
              <a:t>="50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"&gt;</a:t>
            </a:r>
            <a:endParaRPr 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63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FB8A-E603-942B-D58A-52FE38AC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0"/>
            <a:ext cx="9875520" cy="64097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Description List: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A3697-E01B-C703-1958-95296525C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005" y="1573305"/>
            <a:ext cx="9872871" cy="492162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HTML also supports description lists.</a:t>
            </a:r>
          </a:p>
          <a:p>
            <a:r>
              <a:rPr lang="en-US" dirty="0">
                <a:solidFill>
                  <a:schemeClr val="tx2"/>
                </a:solidFill>
              </a:rPr>
              <a:t>A description list is a list of terms, with a description of each term.</a:t>
            </a:r>
          </a:p>
          <a:p>
            <a:pPr marL="45720" indent="0">
              <a:buNone/>
            </a:pPr>
            <a:r>
              <a:rPr lang="en-US" b="1" dirty="0">
                <a:solidFill>
                  <a:schemeClr val="tx2"/>
                </a:solidFill>
              </a:rPr>
              <a:t>Example: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dl&gt;</a:t>
            </a:r>
          </a:p>
          <a:p>
            <a:pPr marL="822960" lvl="3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&gt;Coffee&lt;/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marL="822960" lvl="3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&gt;Normal Coffee&lt;/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marL="822960" lvl="3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&gt;black Coffee&lt;/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marL="822960" lvl="3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&gt;Tea&lt;/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marL="822960" lvl="3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   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&gt;Ginger Tea&lt;/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</a:p>
          <a:p>
            <a:pPr marL="822960" lvl="3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   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&gt;Green Tea&lt;/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dd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22960" lvl="3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&lt;/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72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237C8-D520-37B3-9974-AB412CCBF91B}"/>
              </a:ext>
            </a:extLst>
          </p:cNvPr>
          <p:cNvSpPr txBox="1"/>
          <p:nvPr/>
        </p:nvSpPr>
        <p:spPr>
          <a:xfrm>
            <a:off x="852385" y="388221"/>
            <a:ext cx="5370402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solidFill>
                  <a:schemeClr val="accent1"/>
                </a:solidFill>
              </a:rPr>
              <a:t>Example</a:t>
            </a:r>
            <a:r>
              <a:rPr lang="en-IN" sz="2600" b="1" dirty="0" smtClean="0">
                <a:solidFill>
                  <a:schemeClr val="accent1"/>
                </a:solidFill>
              </a:rPr>
              <a:t>: Horizontal List</a:t>
            </a: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r>
              <a:rPr lang="en-IN" sz="2200" dirty="0"/>
              <a:t>&lt;!DOCTYPE html&gt;</a:t>
            </a:r>
          </a:p>
          <a:p>
            <a:r>
              <a:rPr lang="en-IN" sz="2200" dirty="0"/>
              <a:t>&lt;html&gt;</a:t>
            </a:r>
          </a:p>
          <a:p>
            <a:r>
              <a:rPr lang="en-IN" sz="2200" dirty="0"/>
              <a:t>&lt;head&gt;</a:t>
            </a:r>
          </a:p>
          <a:p>
            <a:r>
              <a:rPr lang="en-IN" sz="2200" dirty="0"/>
              <a:t>	&lt;style&gt;</a:t>
            </a:r>
          </a:p>
          <a:p>
            <a:r>
              <a:rPr lang="en-IN" sz="2200" dirty="0"/>
              <a:t>	ul {</a:t>
            </a:r>
          </a:p>
          <a:p>
            <a:r>
              <a:rPr lang="en-IN" sz="2200" dirty="0"/>
              <a:t>		  list-style-type: none;</a:t>
            </a:r>
          </a:p>
          <a:p>
            <a:r>
              <a:rPr lang="en-IN" sz="2200" dirty="0"/>
              <a:t>		  overflow: hidden;</a:t>
            </a:r>
          </a:p>
          <a:p>
            <a:r>
              <a:rPr lang="en-IN" sz="2200" dirty="0"/>
              <a:t>		  background-color: #333333;</a:t>
            </a:r>
          </a:p>
          <a:p>
            <a:r>
              <a:rPr lang="en-IN" sz="2200" dirty="0"/>
              <a:t>	   </a:t>
            </a:r>
            <a:r>
              <a:rPr lang="en-IN" sz="2200" dirty="0" smtClean="0"/>
              <a:t>}</a:t>
            </a:r>
            <a:endParaRPr lang="en-IN" sz="2200" dirty="0"/>
          </a:p>
          <a:p>
            <a:r>
              <a:rPr lang="en-IN" sz="2200" dirty="0"/>
              <a:t>	li a {</a:t>
            </a:r>
          </a:p>
          <a:p>
            <a:r>
              <a:rPr lang="en-IN" sz="2200" dirty="0"/>
              <a:t>  		display: block;</a:t>
            </a:r>
          </a:p>
          <a:p>
            <a:r>
              <a:rPr lang="en-IN" sz="2200" dirty="0"/>
              <a:t>  		color: white;</a:t>
            </a:r>
          </a:p>
          <a:p>
            <a:r>
              <a:rPr lang="en-IN" sz="2200" dirty="0"/>
              <a:t>  		text-align: </a:t>
            </a:r>
            <a:r>
              <a:rPr lang="en-IN" sz="2200" dirty="0" err="1"/>
              <a:t>center</a:t>
            </a:r>
            <a:r>
              <a:rPr lang="en-IN" sz="2200" dirty="0"/>
              <a:t>;</a:t>
            </a:r>
          </a:p>
          <a:p>
            <a:r>
              <a:rPr lang="en-IN" sz="2200" dirty="0"/>
              <a:t>		padding: 16px;</a:t>
            </a:r>
          </a:p>
          <a:p>
            <a:r>
              <a:rPr lang="en-IN" sz="2200" dirty="0"/>
              <a:t>		text-decoration: none;</a:t>
            </a:r>
          </a:p>
          <a:p>
            <a:r>
              <a:rPr lang="en-IN" sz="2200" dirty="0"/>
              <a:t>	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0E708-2F4E-0CF8-01E1-890D8A88163D}"/>
              </a:ext>
            </a:extLst>
          </p:cNvPr>
          <p:cNvSpPr txBox="1"/>
          <p:nvPr/>
        </p:nvSpPr>
        <p:spPr>
          <a:xfrm>
            <a:off x="6096000" y="434388"/>
            <a:ext cx="535641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	li {</a:t>
            </a:r>
          </a:p>
          <a:p>
            <a:r>
              <a:rPr lang="en-IN" sz="2200" dirty="0"/>
              <a:t>		  float: left;</a:t>
            </a:r>
          </a:p>
          <a:p>
            <a:r>
              <a:rPr lang="en-IN" sz="2200" dirty="0"/>
              <a:t>	   </a:t>
            </a:r>
            <a:r>
              <a:rPr lang="en-IN" sz="2200" dirty="0" smtClean="0"/>
              <a:t>}</a:t>
            </a:r>
            <a:endParaRPr lang="en-US" sz="2200" dirty="0"/>
          </a:p>
          <a:p>
            <a:r>
              <a:rPr lang="en-US" sz="2200" dirty="0"/>
              <a:t>	li a:hover {</a:t>
            </a:r>
          </a:p>
          <a:p>
            <a:r>
              <a:rPr lang="en-US" sz="2200" dirty="0"/>
              <a:t>		  background-color: #111111;</a:t>
            </a:r>
          </a:p>
          <a:p>
            <a:r>
              <a:rPr lang="en-US" sz="2200" dirty="0"/>
              <a:t>	}</a:t>
            </a:r>
          </a:p>
          <a:p>
            <a:r>
              <a:rPr lang="en-US" sz="2200" dirty="0"/>
              <a:t>	&lt;/style&gt;</a:t>
            </a:r>
          </a:p>
          <a:p>
            <a:r>
              <a:rPr lang="en-US" sz="2200" dirty="0"/>
              <a:t>&lt;/head&gt;</a:t>
            </a:r>
          </a:p>
          <a:p>
            <a:r>
              <a:rPr lang="en-US" sz="2200" dirty="0"/>
              <a:t>&lt;body</a:t>
            </a:r>
            <a:r>
              <a:rPr lang="en-US" sz="2200" dirty="0" smtClean="0"/>
              <a:t>&gt;</a:t>
            </a:r>
            <a:endParaRPr lang="en-US" sz="2200" dirty="0"/>
          </a:p>
          <a:p>
            <a:r>
              <a:rPr lang="en-US" sz="2200" dirty="0"/>
              <a:t>	&lt;ul&gt;</a:t>
            </a:r>
          </a:p>
          <a:p>
            <a:r>
              <a:rPr lang="en-US" sz="2200" dirty="0"/>
              <a:t>	  &lt;li&gt;&lt;a href="#home"&gt;Home&lt;/a&gt;&lt;/li&gt;</a:t>
            </a:r>
          </a:p>
          <a:p>
            <a:r>
              <a:rPr lang="en-US" sz="2200" dirty="0"/>
              <a:t>	  &lt;li&gt;&lt;a href="#news"&gt;News&lt;/a&gt;&lt;/li&gt;</a:t>
            </a:r>
          </a:p>
          <a:p>
            <a:r>
              <a:rPr lang="en-US" sz="2200" dirty="0"/>
              <a:t>	  &lt;li&gt;&lt;a href="#contact</a:t>
            </a:r>
            <a:r>
              <a:rPr lang="en-US" sz="2200" dirty="0" smtClean="0"/>
              <a:t>"&gt; 		  	Contact</a:t>
            </a:r>
            <a:r>
              <a:rPr lang="en-US" sz="2200" dirty="0"/>
              <a:t>&lt;/a&gt;&lt;/li&gt;</a:t>
            </a:r>
          </a:p>
          <a:p>
            <a:r>
              <a:rPr lang="en-US" sz="2200" dirty="0"/>
              <a:t>  	</a:t>
            </a:r>
            <a:r>
              <a:rPr lang="en-US" sz="2200" dirty="0" smtClean="0"/>
              <a:t>  &lt;</a:t>
            </a:r>
            <a:r>
              <a:rPr lang="en-US" sz="2200" dirty="0"/>
              <a:t>li&gt;&lt;a href="#about"&gt;About&lt;/a&gt;&lt;/li&gt;</a:t>
            </a:r>
          </a:p>
          <a:p>
            <a:r>
              <a:rPr lang="en-US" sz="2200" dirty="0"/>
              <a:t>	&lt;/ul&gt;</a:t>
            </a:r>
          </a:p>
          <a:p>
            <a:r>
              <a:rPr lang="en-US" sz="2200" dirty="0"/>
              <a:t>&lt;/body&gt;</a:t>
            </a:r>
          </a:p>
          <a:p>
            <a:r>
              <a:rPr lang="en-US" sz="2200" dirty="0"/>
              <a:t>&lt;/html&gt;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6274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AAFF-8B31-38B6-31D7-8F80554F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18" y="762000"/>
            <a:ext cx="9875520" cy="50650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HTML Block: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A39AF-8446-1FFD-BA8F-3335A06BC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321" y="1575547"/>
            <a:ext cx="9291917" cy="116989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A block-level element always starts on a new line and takes up the full width available (stretches out to the left and right as far as it can).</a:t>
            </a:r>
          </a:p>
          <a:p>
            <a:r>
              <a:rPr lang="en-US" dirty="0">
                <a:solidFill>
                  <a:schemeClr val="tx2"/>
                </a:solidFill>
              </a:rPr>
              <a:t>Block level elements in HTML: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6275A-9DCB-D703-4CDF-06F167D83ECE}"/>
              </a:ext>
            </a:extLst>
          </p:cNvPr>
          <p:cNvSpPr txBox="1"/>
          <p:nvPr/>
        </p:nvSpPr>
        <p:spPr>
          <a:xfrm>
            <a:off x="1697019" y="3049012"/>
            <a:ext cx="23209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&lt;address&gt;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&lt;article&gt;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&lt;aside&gt;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&lt;blockquote&gt;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&lt;figcaption&gt;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&lt;figure&gt;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&lt;footer&gt;</a:t>
            </a:r>
            <a:endParaRPr lang="it-IT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&lt;table&gt;</a:t>
            </a: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A7850-5953-79B3-8F28-2A89C895C143}"/>
              </a:ext>
            </a:extLst>
          </p:cNvPr>
          <p:cNvSpPr txBox="1"/>
          <p:nvPr/>
        </p:nvSpPr>
        <p:spPr>
          <a:xfrm>
            <a:off x="4902798" y="3049012"/>
            <a:ext cx="23209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&lt;div&gt;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&lt;form&gt;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&lt;h1&gt;-&lt;h6&gt;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&lt;header&gt;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&lt;main&gt;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&lt;nav&gt;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&lt;section&gt;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</a:t>
            </a:r>
            <a:r>
              <a:rPr lang="en-IN" sz="2400" dirty="0" err="1">
                <a:solidFill>
                  <a:schemeClr val="tx2"/>
                </a:solidFill>
              </a:rPr>
              <a:t>ul</a:t>
            </a:r>
            <a:r>
              <a:rPr lang="en-IN" sz="2400" dirty="0">
                <a:solidFill>
                  <a:schemeClr val="tx2"/>
                </a:solidFill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A24DF-FBC8-1B16-87FC-039B7E60F5B5}"/>
              </a:ext>
            </a:extLst>
          </p:cNvPr>
          <p:cNvSpPr txBox="1"/>
          <p:nvPr/>
        </p:nvSpPr>
        <p:spPr>
          <a:xfrm>
            <a:off x="8108577" y="3049012"/>
            <a:ext cx="29233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&lt;dd&gt;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&lt;dl&gt;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&lt;dt</a:t>
            </a:r>
            <a:r>
              <a:rPr lang="it-IT" sz="2400" dirty="0" smtClean="0">
                <a:solidFill>
                  <a:schemeClr val="tx2"/>
                </a:solidFill>
              </a:rPr>
              <a:t>&gt;</a:t>
            </a:r>
            <a:endParaRPr lang="it-IT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&lt;li&gt;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&lt;ol&gt;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2"/>
                </a:solidFill>
              </a:rPr>
              <a:t>&lt;p&gt;</a:t>
            </a:r>
          </a:p>
        </p:txBody>
      </p:sp>
    </p:spTree>
    <p:extLst>
      <p:ext uri="{BB962C8B-B14F-4D97-AF65-F5344CB8AC3E}">
        <p14:creationId xmlns:p14="http://schemas.microsoft.com/office/powerpoint/2010/main" val="9181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088E-2374-85F8-E443-9A399394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424" y="636494"/>
            <a:ext cx="9875520" cy="5602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Inline Elements: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CE3E9-3324-49C0-C630-C8984A9F8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1409700"/>
            <a:ext cx="9872871" cy="161588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An inline element does not start on a new line and only takes up as much width as necessary. </a:t>
            </a:r>
          </a:p>
          <a:p>
            <a:r>
              <a:rPr lang="en-US" dirty="0">
                <a:solidFill>
                  <a:schemeClr val="tx2"/>
                </a:solidFill>
              </a:rPr>
              <a:t>This is an inline </a:t>
            </a:r>
            <a:r>
              <a:rPr lang="en-US" b="1" dirty="0">
                <a:solidFill>
                  <a:schemeClr val="tx2"/>
                </a:solidFill>
              </a:rPr>
              <a:t>&lt;span&gt; </a:t>
            </a:r>
            <a:r>
              <a:rPr lang="en-US" dirty="0">
                <a:solidFill>
                  <a:schemeClr val="tx2"/>
                </a:solidFill>
              </a:rPr>
              <a:t>element inside a paragraph. </a:t>
            </a:r>
          </a:p>
          <a:p>
            <a:r>
              <a:rPr lang="en-US" dirty="0">
                <a:solidFill>
                  <a:schemeClr val="tx2"/>
                </a:solidFill>
              </a:rPr>
              <a:t>Inline elements in HTML: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D9C0B-E94A-3F96-F095-2EF25AB6C184}"/>
              </a:ext>
            </a:extLst>
          </p:cNvPr>
          <p:cNvSpPr txBox="1"/>
          <p:nvPr/>
        </p:nvSpPr>
        <p:spPr>
          <a:xfrm>
            <a:off x="1559859" y="3025588"/>
            <a:ext cx="27297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&lt;a&gt;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&lt;abbr&gt;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&lt;b&gt;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&lt;bdo&gt;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&lt;big&gt;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&lt;br&gt;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&lt;cite&gt;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CB65F-3ADB-AB02-9FBD-4BBC276931E4}"/>
              </a:ext>
            </a:extLst>
          </p:cNvPr>
          <p:cNvSpPr txBox="1"/>
          <p:nvPr/>
        </p:nvSpPr>
        <p:spPr>
          <a:xfrm>
            <a:off x="4689907" y="3025588"/>
            <a:ext cx="25177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&lt;img&gt;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&lt;input&gt;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&lt;label&gt;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&lt;map&gt;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&lt;object&gt;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&lt;script&gt;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&lt;select&gt;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&lt;small&gt;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EF30E-9664-6675-EAD1-FCAC5584C1A2}"/>
              </a:ext>
            </a:extLst>
          </p:cNvPr>
          <p:cNvSpPr txBox="1"/>
          <p:nvPr/>
        </p:nvSpPr>
        <p:spPr>
          <a:xfrm>
            <a:off x="8181191" y="3025588"/>
            <a:ext cx="27297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&lt;dfn&gt;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&lt;i&gt;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&lt;q&gt;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&lt;strong&gt;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&lt;textarea&gt;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&lt;time&gt;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&lt;var&gt;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/>
                </a:solidFill>
              </a:rPr>
              <a:t>&lt;</a:t>
            </a:r>
            <a:r>
              <a:rPr lang="en-IN" sz="2400" dirty="0" smtClean="0">
                <a:solidFill>
                  <a:schemeClr val="tx2"/>
                </a:solidFill>
              </a:rPr>
              <a:t>code&gt;</a:t>
            </a:r>
            <a:endParaRPr lang="en-IN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88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68BE-554F-FB81-B868-024DD0E2A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4" y="757517"/>
            <a:ext cx="9875520" cy="802341"/>
          </a:xfrm>
        </p:spPr>
        <p:txBody>
          <a:bodyPr/>
          <a:lstStyle/>
          <a:p>
            <a:r>
              <a:rPr lang="en-IN" dirty="0"/>
              <a:t>HTML Semantic: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C344C-5F1B-1C15-8ABD-0F57FFADA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918" y="1963271"/>
            <a:ext cx="10058481" cy="46347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A semantic element clearly describes its meaning to both the browser and the developer.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tx2"/>
                </a:solidFill>
              </a:rPr>
              <a:t>Examples: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&lt;form&gt;, &lt;table&gt;, and &lt;article&gt; - Clearly defines its content.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tx2"/>
                </a:solidFill>
              </a:rPr>
              <a:t>Examples</a:t>
            </a:r>
            <a:r>
              <a:rPr lang="en-US" sz="2400" dirty="0">
                <a:solidFill>
                  <a:schemeClr val="tx2"/>
                </a:solidFill>
              </a:rPr>
              <a:t> of</a:t>
            </a:r>
            <a:r>
              <a:rPr lang="en-US" sz="2400" b="1" dirty="0">
                <a:solidFill>
                  <a:schemeClr val="tx2"/>
                </a:solidFill>
              </a:rPr>
              <a:t> non-semantic </a:t>
            </a:r>
            <a:r>
              <a:rPr lang="en-US" sz="2400" dirty="0">
                <a:solidFill>
                  <a:schemeClr val="tx2"/>
                </a:solidFill>
              </a:rPr>
              <a:t>elements: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	&lt;div&gt; and &lt;span&gt; - Tells nothing about its content.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2400" dirty="0">
                <a:solidFill>
                  <a:schemeClr val="tx2"/>
                </a:solidFill>
              </a:rPr>
              <a:t> offers new semantic elements to define different parts of a web page.</a:t>
            </a:r>
          </a:p>
        </p:txBody>
      </p:sp>
    </p:spTree>
    <p:extLst>
      <p:ext uri="{BB962C8B-B14F-4D97-AF65-F5344CB8AC3E}">
        <p14:creationId xmlns:p14="http://schemas.microsoft.com/office/powerpoint/2010/main" val="214463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5073-FEBA-19AD-2DB4-F0C195FE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Tags: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AFD27-59DA-7F05-9095-E65B320BB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2212" y="1992853"/>
            <a:ext cx="4754880" cy="4023360"/>
          </a:xfrm>
        </p:spPr>
        <p:txBody>
          <a:bodyPr>
            <a:normAutofit/>
          </a:bodyPr>
          <a:lstStyle/>
          <a:p>
            <a:r>
              <a:rPr lang="fr-FR" sz="2800" dirty="0">
                <a:solidFill>
                  <a:schemeClr val="tx2"/>
                </a:solidFill>
              </a:rPr>
              <a:t>&lt;article&gt;				</a:t>
            </a:r>
          </a:p>
          <a:p>
            <a:r>
              <a:rPr lang="fr-FR" sz="2800" dirty="0">
                <a:solidFill>
                  <a:schemeClr val="tx2"/>
                </a:solidFill>
              </a:rPr>
              <a:t>&lt;aside&gt;				</a:t>
            </a:r>
          </a:p>
          <a:p>
            <a:r>
              <a:rPr lang="fr-FR" sz="2800" dirty="0">
                <a:solidFill>
                  <a:schemeClr val="tx2"/>
                </a:solidFill>
              </a:rPr>
              <a:t>&lt;details&gt;				</a:t>
            </a:r>
          </a:p>
          <a:p>
            <a:r>
              <a:rPr lang="fr-FR" sz="2800" dirty="0">
                <a:solidFill>
                  <a:schemeClr val="tx2"/>
                </a:solidFill>
              </a:rPr>
              <a:t>&lt;nav&gt;</a:t>
            </a:r>
          </a:p>
          <a:p>
            <a:r>
              <a:rPr lang="fr-FR" sz="2800" dirty="0">
                <a:solidFill>
                  <a:schemeClr val="tx2"/>
                </a:solidFill>
              </a:rPr>
              <a:t>&lt;figcaption&gt;</a:t>
            </a:r>
          </a:p>
          <a:p>
            <a:r>
              <a:rPr lang="en-US" sz="2800" dirty="0">
                <a:solidFill>
                  <a:schemeClr val="tx2"/>
                </a:solidFill>
              </a:rPr>
              <a:t>&lt;figure&gt;</a:t>
            </a:r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57D1DA-36BE-701A-70E8-C946CC862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8941" y="2057399"/>
            <a:ext cx="4754880" cy="402336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&lt;section&gt;				</a:t>
            </a:r>
          </a:p>
          <a:p>
            <a:r>
              <a:rPr lang="en-US" sz="2800" dirty="0">
                <a:solidFill>
                  <a:schemeClr val="tx2"/>
                </a:solidFill>
              </a:rPr>
              <a:t>&lt;summary&gt;</a:t>
            </a:r>
          </a:p>
          <a:p>
            <a:r>
              <a:rPr lang="en-US" sz="2800" dirty="0">
                <a:solidFill>
                  <a:schemeClr val="tx2"/>
                </a:solidFill>
              </a:rPr>
              <a:t>&lt;footer&gt;				</a:t>
            </a:r>
          </a:p>
          <a:p>
            <a:r>
              <a:rPr lang="en-US" sz="2800" dirty="0">
                <a:solidFill>
                  <a:schemeClr val="tx2"/>
                </a:solidFill>
              </a:rPr>
              <a:t>&lt;time&gt;</a:t>
            </a:r>
          </a:p>
          <a:p>
            <a:r>
              <a:rPr lang="en-US" sz="2800" dirty="0">
                <a:solidFill>
                  <a:schemeClr val="tx2"/>
                </a:solidFill>
              </a:rPr>
              <a:t>&lt;header&gt;</a:t>
            </a:r>
            <a:endParaRPr lang="en-IN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05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DFFD-5C9B-7604-ACCE-1D411E0F5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2" y="649941"/>
            <a:ext cx="9875520" cy="627529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</a:rPr>
              <a:t>HTML Layout: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8DDA-A4C8-5EED-0824-F5FC51A45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1371600"/>
            <a:ext cx="9872871" cy="508298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Websites often display content in multiple columns like a magazine or newspaper.</a:t>
            </a:r>
          </a:p>
          <a:p>
            <a:r>
              <a:rPr lang="en-US" sz="2400" dirty="0">
                <a:solidFill>
                  <a:schemeClr val="tx2"/>
                </a:solidFill>
              </a:rPr>
              <a:t>HTML offers several semantic elements that define the different parts of a web page.</a:t>
            </a:r>
          </a:p>
          <a:p>
            <a:pPr marL="45720" indent="0">
              <a:lnSpc>
                <a:spcPct val="120000"/>
              </a:lnSpc>
              <a:buNone/>
            </a:pPr>
            <a:r>
              <a:rPr lang="en-IN" sz="3000" b="1" dirty="0"/>
              <a:t>Layout Techniques: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tx2"/>
                </a:solidFill>
              </a:rPr>
              <a:t>There are five different ways to create muti-column layouts.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tx2"/>
                </a:solidFill>
              </a:rPr>
              <a:t>Each way has its pros and cons:</a:t>
            </a:r>
          </a:p>
          <a:p>
            <a:pPr lvl="4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HTML tables (not recommended)</a:t>
            </a:r>
          </a:p>
          <a:p>
            <a:pPr lvl="4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CSS float property</a:t>
            </a:r>
          </a:p>
          <a:p>
            <a:pPr lvl="4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CSS flexbox</a:t>
            </a:r>
          </a:p>
          <a:p>
            <a:pPr lvl="4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CSS framework</a:t>
            </a:r>
          </a:p>
          <a:p>
            <a:pPr lvl="4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CSS grid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438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162CF6-2A30-D026-9AB6-0E03E233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556418"/>
            <a:ext cx="9875520" cy="46616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5025D-42B9-67EA-3601-D7C3C0AF3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3024" y="1465729"/>
            <a:ext cx="6683188" cy="473336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&lt;header&gt; </a:t>
            </a:r>
            <a:r>
              <a:rPr lang="en-US" sz="2400" dirty="0">
                <a:solidFill>
                  <a:schemeClr val="tx2"/>
                </a:solidFill>
              </a:rPr>
              <a:t>- header for a document or a section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&lt;nav&gt; </a:t>
            </a:r>
            <a:r>
              <a:rPr lang="en-US" sz="2400" dirty="0">
                <a:solidFill>
                  <a:schemeClr val="tx2"/>
                </a:solidFill>
              </a:rPr>
              <a:t>- container for navigation links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&lt;section&gt; </a:t>
            </a:r>
            <a:r>
              <a:rPr lang="en-US" sz="2400" dirty="0">
                <a:solidFill>
                  <a:schemeClr val="tx2"/>
                </a:solidFill>
              </a:rPr>
              <a:t>- section in a document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&lt;article&gt; </a:t>
            </a:r>
            <a:r>
              <a:rPr lang="en-US" sz="2400" dirty="0">
                <a:solidFill>
                  <a:schemeClr val="tx2"/>
                </a:solidFill>
              </a:rPr>
              <a:t>- independent self-contained article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&lt;aside&gt; </a:t>
            </a:r>
            <a:r>
              <a:rPr lang="en-US" sz="2400" dirty="0">
                <a:solidFill>
                  <a:schemeClr val="tx2"/>
                </a:solidFill>
              </a:rPr>
              <a:t>- content aside from the content (like a sidebar)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&lt;footer&gt; </a:t>
            </a:r>
            <a:r>
              <a:rPr lang="en-US" sz="2400" dirty="0">
                <a:solidFill>
                  <a:schemeClr val="tx2"/>
                </a:solidFill>
              </a:rPr>
              <a:t>- a footer for a document or a section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&lt;details&gt; </a:t>
            </a:r>
            <a:r>
              <a:rPr lang="en-US" sz="2400" dirty="0">
                <a:solidFill>
                  <a:schemeClr val="tx2"/>
                </a:solidFill>
              </a:rPr>
              <a:t>- additional details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&lt;summary&gt; </a:t>
            </a:r>
            <a:r>
              <a:rPr lang="en-US" sz="2400" dirty="0">
                <a:solidFill>
                  <a:schemeClr val="tx2"/>
                </a:solidFill>
              </a:rPr>
              <a:t>- heading for the &lt;details&gt; element</a:t>
            </a:r>
          </a:p>
        </p:txBody>
      </p:sp>
      <p:pic>
        <p:nvPicPr>
          <p:cNvPr id="7" name="Content Placeholder 6" descr="IMG_256">
            <a:extLst>
              <a:ext uri="{FF2B5EF4-FFF2-40B4-BE49-F238E27FC236}">
                <a16:creationId xmlns:a16="http://schemas.microsoft.com/office/drawing/2014/main" id="{84683068-D8D1-AC11-C82F-F8147CE179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8565" y="1668470"/>
            <a:ext cx="3606061" cy="424823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8346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AF192A-F13F-5FDF-6BB3-239EA29068EE}"/>
              </a:ext>
            </a:extLst>
          </p:cNvPr>
          <p:cNvSpPr txBox="1"/>
          <p:nvPr/>
        </p:nvSpPr>
        <p:spPr>
          <a:xfrm>
            <a:off x="1237129" y="1015080"/>
            <a:ext cx="1048870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&lt;body&gt;</a:t>
            </a:r>
          </a:p>
          <a:p>
            <a:r>
              <a:rPr lang="en-IN" sz="2400" dirty="0"/>
              <a:t>    &lt;header style="background-color: #303030;  height: 80px; width: 100%"&gt;  </a:t>
            </a:r>
          </a:p>
          <a:p>
            <a:r>
              <a:rPr lang="en-IN" sz="2400" dirty="0"/>
              <a:t>        &lt;h1 style="font-size: 30px; color: white;text-align: center;</a:t>
            </a:r>
          </a:p>
          <a:p>
            <a:r>
              <a:rPr lang="en-IN" sz="2400" dirty="0"/>
              <a:t>			 padding-top: 15px;"&gt;Welcome to     MyFirstWebpage&lt;/h1&gt;  </a:t>
            </a:r>
          </a:p>
          <a:p>
            <a:r>
              <a:rPr lang="en-IN" sz="2400" dirty="0"/>
              <a:t>     &lt;/header&gt; </a:t>
            </a:r>
          </a:p>
          <a:p>
            <a:endParaRPr lang="en-IN" sz="2400" dirty="0"/>
          </a:p>
          <a:p>
            <a:r>
              <a:rPr lang="en-IN" sz="2400" dirty="0"/>
              <a:t>     &lt;nav style="background-color:#bcdeef;"&gt;  </a:t>
            </a:r>
          </a:p>
          <a:p>
            <a:r>
              <a:rPr lang="en-IN" sz="2400" dirty="0"/>
              <a:t>        &lt;h1 style="text-align: center;"&gt;Navgation Links&lt;/h1&gt;  </a:t>
            </a:r>
          </a:p>
          <a:p>
            <a:r>
              <a:rPr lang="en-IN" sz="2400" dirty="0"/>
              <a:t>        &lt;ul&gt;  </a:t>
            </a:r>
          </a:p>
          <a:p>
            <a:r>
              <a:rPr lang="en-IN" sz="2400" dirty="0"/>
              <a:t>            &lt;li &gt;&lt;a href="#"&gt;link1&lt;/a&gt;&lt;/li&gt;  </a:t>
            </a:r>
          </a:p>
          <a:p>
            <a:r>
              <a:rPr lang="en-IN" sz="2400" dirty="0"/>
              <a:t>            &lt;li &gt;&lt;a href="#"&gt;link2&lt;/a&gt;&lt;/li&gt;  </a:t>
            </a:r>
          </a:p>
          <a:p>
            <a:r>
              <a:rPr lang="en-IN" sz="2400" dirty="0"/>
              <a:t>            &lt;li &gt;&lt;a href="#"&gt;link3&lt;/a&gt;&lt;/li&gt;  </a:t>
            </a:r>
          </a:p>
          <a:p>
            <a:r>
              <a:rPr lang="en-IN" sz="2400" dirty="0"/>
              <a:t>            &lt;li&gt;&lt;a href="#"&gt;link4&lt;/a&gt;&lt;/li&gt;  </a:t>
            </a:r>
          </a:p>
          <a:p>
            <a:r>
              <a:rPr lang="en-IN" sz="2400" dirty="0"/>
              <a:t>        &lt;/ul&gt;  </a:t>
            </a:r>
          </a:p>
          <a:p>
            <a:r>
              <a:rPr lang="en-IN" sz="2400" dirty="0"/>
              <a:t>    &lt;/nav&gt;  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37252-1CCB-F7C7-79D7-37BEFE3A12E4}"/>
              </a:ext>
            </a:extLst>
          </p:cNvPr>
          <p:cNvSpPr txBox="1"/>
          <p:nvPr/>
        </p:nvSpPr>
        <p:spPr>
          <a:xfrm>
            <a:off x="793376" y="430305"/>
            <a:ext cx="6938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Example of Layout:</a:t>
            </a:r>
          </a:p>
        </p:txBody>
      </p:sp>
    </p:spTree>
    <p:extLst>
      <p:ext uri="{BB962C8B-B14F-4D97-AF65-F5344CB8AC3E}">
        <p14:creationId xmlns:p14="http://schemas.microsoft.com/office/powerpoint/2010/main" val="310061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C94E6-86E8-7383-BE06-5FA6F6D4076F}"/>
              </a:ext>
            </a:extLst>
          </p:cNvPr>
          <p:cNvSpPr txBox="1"/>
          <p:nvPr/>
        </p:nvSpPr>
        <p:spPr>
          <a:xfrm>
            <a:off x="869576" y="524435"/>
            <a:ext cx="1132242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&lt;</a:t>
            </a:r>
            <a:r>
              <a:rPr lang="en-IN" sz="2400" b="1" dirty="0"/>
              <a:t>section</a:t>
            </a:r>
            <a:r>
              <a:rPr lang="en-IN" sz="2400" dirty="0"/>
              <a:t> style="float: left; background-color:#ff7f50; width: 100%; </a:t>
            </a:r>
          </a:p>
          <a:p>
            <a:r>
              <a:rPr lang="en-IN" sz="2400" dirty="0"/>
              <a:t>															border: 1px solid black;"&gt;  </a:t>
            </a:r>
          </a:p>
          <a:p>
            <a:r>
              <a:rPr lang="en-IN" sz="2400" dirty="0"/>
              <a:t>        &lt;h2&gt;Session&lt;/h2&gt;  </a:t>
            </a:r>
          </a:p>
          <a:p>
            <a:r>
              <a:rPr lang="en-IN" sz="2400" dirty="0"/>
              <a:t>        &lt;p&gt;This is an Session in layout for the magazine&lt;/p&gt;  </a:t>
            </a:r>
          </a:p>
          <a:p>
            <a:r>
              <a:rPr lang="en-IN" sz="2400" dirty="0"/>
              <a:t>      &lt;/section&gt;  </a:t>
            </a:r>
          </a:p>
          <a:p>
            <a:endParaRPr lang="en-IN" sz="2400" dirty="0"/>
          </a:p>
          <a:p>
            <a:r>
              <a:rPr lang="en-IN" sz="2400" dirty="0"/>
              <a:t>&lt;</a:t>
            </a:r>
            <a:r>
              <a:rPr lang="en-IN" sz="2400" b="1" dirty="0"/>
              <a:t>article</a:t>
            </a:r>
            <a:r>
              <a:rPr lang="en-IN" sz="2400" dirty="0"/>
              <a:t> style="float: left; width: 100%; border:2px solid black; </a:t>
            </a:r>
          </a:p>
          <a:p>
            <a:r>
              <a:rPr lang="en-IN" sz="2400" dirty="0"/>
              <a:t>														background-color: #fff0f5;"&gt;  </a:t>
            </a:r>
          </a:p>
          <a:p>
            <a:r>
              <a:rPr lang="en-IN" sz="2400" dirty="0"/>
              <a:t>        &lt;h2&gt;Article&lt;/h2&gt;  </a:t>
            </a:r>
          </a:p>
          <a:p>
            <a:r>
              <a:rPr lang="en-IN" sz="2400" dirty="0"/>
              <a:t>        &lt;p&gt;It is an Article of a Layout in the Magazine web page&lt;/p&gt;  </a:t>
            </a:r>
          </a:p>
          <a:p>
            <a:r>
              <a:rPr lang="en-IN" sz="2400" dirty="0"/>
              <a:t>    &lt;/article&gt;  </a:t>
            </a:r>
          </a:p>
          <a:p>
            <a:endParaRPr lang="en-IN" sz="2400" dirty="0"/>
          </a:p>
          <a:p>
            <a:r>
              <a:rPr lang="en-IN" sz="2400" dirty="0"/>
              <a:t>    &lt;</a:t>
            </a:r>
            <a:r>
              <a:rPr lang="en-IN" sz="2400" b="1" dirty="0"/>
              <a:t>aside</a:t>
            </a:r>
            <a:r>
              <a:rPr lang="en-IN" sz="2400" dirty="0"/>
              <a:t> style="float: right; background-color:#e6e6fa"&gt;  </a:t>
            </a:r>
          </a:p>
          <a:p>
            <a:r>
              <a:rPr lang="en-IN" sz="2400" dirty="0"/>
              <a:t>        &lt;h2&gt;Aside&lt;/h2&gt;  </a:t>
            </a:r>
          </a:p>
          <a:p>
            <a:r>
              <a:rPr lang="en-IN" sz="2400" dirty="0"/>
              <a:t>        &lt;p&gt;This is a side content in layout web page&lt;/p&gt;  </a:t>
            </a:r>
          </a:p>
          <a:p>
            <a:r>
              <a:rPr lang="en-IN" sz="2400" dirty="0"/>
              <a:t>      &lt;/aside&gt;</a:t>
            </a:r>
          </a:p>
        </p:txBody>
      </p:sp>
    </p:spTree>
    <p:extLst>
      <p:ext uri="{BB962C8B-B14F-4D97-AF65-F5344CB8AC3E}">
        <p14:creationId xmlns:p14="http://schemas.microsoft.com/office/powerpoint/2010/main" val="80632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0BDB5-93AC-5AB5-CD79-0D81B575D61F}"/>
              </a:ext>
            </a:extLst>
          </p:cNvPr>
          <p:cNvSpPr txBox="1"/>
          <p:nvPr/>
        </p:nvSpPr>
        <p:spPr>
          <a:xfrm>
            <a:off x="672352" y="564777"/>
            <a:ext cx="1106693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&lt;</a:t>
            </a:r>
            <a:r>
              <a:rPr lang="en-IN" sz="2400" b="1" dirty="0"/>
              <a:t>footer</a:t>
            </a:r>
            <a:r>
              <a:rPr lang="en-IN" sz="2400" dirty="0"/>
              <a:t> style="background-color: #f0f8ff; width: 100%; text-align: center;"&gt;  </a:t>
            </a:r>
          </a:p>
          <a:p>
            <a:r>
              <a:rPr lang="en-IN" sz="2400" dirty="0"/>
              <a:t>        &lt;h3&gt;Footer &lt;/h3&gt;  </a:t>
            </a:r>
          </a:p>
          <a:p>
            <a:r>
              <a:rPr lang="en-IN" sz="2400" dirty="0"/>
              <a:t>        &lt;p&gt;© Copyright 2018-2020. &lt;/p&gt;  </a:t>
            </a:r>
          </a:p>
          <a:p>
            <a:r>
              <a:rPr lang="en-IN" sz="2400" dirty="0"/>
              <a:t>    &lt;/footer&gt;</a:t>
            </a:r>
          </a:p>
          <a:p>
            <a:endParaRPr lang="en-IN" sz="2400" dirty="0"/>
          </a:p>
          <a:p>
            <a:r>
              <a:rPr lang="en-IN" sz="2400" dirty="0"/>
              <a:t>&lt;</a:t>
            </a:r>
            <a:r>
              <a:rPr lang="en-IN" sz="2400" b="1" dirty="0"/>
              <a:t>details</a:t>
            </a:r>
            <a:r>
              <a:rPr lang="en-IN" sz="2400" dirty="0"/>
              <a:t> style="background-color: #f5deb3"&gt;  </a:t>
            </a:r>
          </a:p>
          <a:p>
            <a:r>
              <a:rPr lang="en-IN" sz="2400" dirty="0"/>
              <a:t>        &lt;summary&gt;This is visible section: click to show other details&lt;/summary&gt;  </a:t>
            </a:r>
          </a:p>
          <a:p>
            <a:r>
              <a:rPr lang="en-IN" sz="2400" dirty="0"/>
              <a:t>        &lt;p&gt;This section only shows if user want to see it. &lt;/p&gt;  </a:t>
            </a:r>
          </a:p>
          <a:p>
            <a:r>
              <a:rPr lang="en-IN" sz="2400" dirty="0"/>
              <a:t>     &lt;/details&gt;  </a:t>
            </a:r>
          </a:p>
          <a:p>
            <a:endParaRPr lang="en-IN" sz="2400" dirty="0"/>
          </a:p>
          <a:p>
            <a:r>
              <a:rPr lang="en-IN" sz="2400" dirty="0"/>
              <a:t>     &lt;details&gt;  </a:t>
            </a:r>
          </a:p>
          <a:p>
            <a:r>
              <a:rPr lang="en-IN" sz="2400" dirty="0"/>
              <a:t>        &lt;</a:t>
            </a:r>
            <a:r>
              <a:rPr lang="en-IN" sz="2400" b="1" dirty="0"/>
              <a:t>summary</a:t>
            </a:r>
            <a:r>
              <a:rPr lang="en-IN" sz="2400" dirty="0"/>
              <a:t>&gt;HTML Stands for &lt;/summary&gt;  </a:t>
            </a:r>
          </a:p>
          <a:p>
            <a:r>
              <a:rPr lang="en-IN" sz="2400" dirty="0"/>
              <a:t>        &lt;p style="color: blue; font-size: 20px;"&gt;Hypertext Markup Language&lt;/p&gt;  </a:t>
            </a:r>
          </a:p>
          <a:p>
            <a:r>
              <a:rPr lang="en-IN" sz="2400" dirty="0"/>
              <a:t>     &lt;/details&gt; </a:t>
            </a:r>
          </a:p>
          <a:p>
            <a:r>
              <a:rPr lang="en-IN" sz="2400" dirty="0"/>
              <a:t>    </a:t>
            </a:r>
          </a:p>
          <a:p>
            <a:r>
              <a:rPr lang="en-IN" sz="2400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426779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5B04-8E20-5E43-C731-249E9DA9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812" y="635726"/>
            <a:ext cx="9875520" cy="6444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HTML Table: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77561-B6F3-4833-A701-0CD336782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495" y="1476103"/>
            <a:ext cx="10031506" cy="477229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An HTML table is defined with the </a:t>
            </a:r>
            <a:r>
              <a:rPr lang="en-US" sz="2400" b="1" dirty="0">
                <a:solidFill>
                  <a:schemeClr val="tx2"/>
                </a:solidFill>
              </a:rPr>
              <a:t>&lt;table&gt; </a:t>
            </a:r>
            <a:r>
              <a:rPr lang="en-US" sz="2400" dirty="0">
                <a:solidFill>
                  <a:schemeClr val="tx2"/>
                </a:solidFill>
              </a:rPr>
              <a:t>tag.</a:t>
            </a:r>
          </a:p>
          <a:p>
            <a:r>
              <a:rPr lang="en-US" sz="2400" dirty="0">
                <a:solidFill>
                  <a:schemeClr val="tx2"/>
                </a:solidFill>
              </a:rPr>
              <a:t>Each table row is defined with the </a:t>
            </a:r>
            <a:r>
              <a:rPr lang="en-US" sz="2400" b="1" dirty="0">
                <a:solidFill>
                  <a:schemeClr val="tx2"/>
                </a:solidFill>
              </a:rPr>
              <a:t>&lt;tr&gt; </a:t>
            </a:r>
            <a:r>
              <a:rPr lang="en-US" sz="2400" dirty="0">
                <a:solidFill>
                  <a:schemeClr val="tx2"/>
                </a:solidFill>
              </a:rPr>
              <a:t>tag. </a:t>
            </a:r>
          </a:p>
          <a:p>
            <a:r>
              <a:rPr lang="en-US" sz="2400" dirty="0">
                <a:solidFill>
                  <a:schemeClr val="tx2"/>
                </a:solidFill>
              </a:rPr>
              <a:t>A table header is defined with the </a:t>
            </a:r>
            <a:r>
              <a:rPr lang="en-US" sz="2400" b="1" dirty="0">
                <a:solidFill>
                  <a:schemeClr val="tx2"/>
                </a:solidFill>
              </a:rPr>
              <a:t>&lt;</a:t>
            </a:r>
            <a:r>
              <a:rPr lang="en-US" sz="2400" b="1" dirty="0" err="1">
                <a:solidFill>
                  <a:schemeClr val="tx2"/>
                </a:solidFill>
              </a:rPr>
              <a:t>th</a:t>
            </a:r>
            <a:r>
              <a:rPr lang="en-US" sz="2400" b="1" dirty="0">
                <a:solidFill>
                  <a:schemeClr val="tx2"/>
                </a:solidFill>
              </a:rPr>
              <a:t>&gt; </a:t>
            </a:r>
            <a:r>
              <a:rPr lang="en-US" sz="2400" dirty="0">
                <a:solidFill>
                  <a:schemeClr val="tx2"/>
                </a:solidFill>
              </a:rPr>
              <a:t>tag. By default, table headings are bold and centered. </a:t>
            </a:r>
          </a:p>
          <a:p>
            <a:r>
              <a:rPr lang="en-US" sz="2400" dirty="0">
                <a:solidFill>
                  <a:schemeClr val="tx2"/>
                </a:solidFill>
              </a:rPr>
              <a:t>A table data/cell is defined with the </a:t>
            </a:r>
            <a:r>
              <a:rPr lang="en-US" sz="2400" b="1" dirty="0">
                <a:solidFill>
                  <a:schemeClr val="tx2"/>
                </a:solidFill>
              </a:rPr>
              <a:t>&lt;td&gt; </a:t>
            </a:r>
            <a:r>
              <a:rPr lang="en-US" sz="2400" dirty="0">
                <a:solidFill>
                  <a:schemeClr val="tx2"/>
                </a:solidFill>
              </a:rPr>
              <a:t>tag.</a:t>
            </a:r>
          </a:p>
          <a:p>
            <a:r>
              <a:rPr lang="en-US" sz="2800" b="1" dirty="0"/>
              <a:t>Example:</a:t>
            </a:r>
          </a:p>
          <a:p>
            <a:pPr marL="4572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		&lt;table&gt;</a:t>
            </a:r>
          </a:p>
          <a:p>
            <a:pPr marL="4572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		&lt;tr&gt; &lt;</a:t>
            </a:r>
            <a:r>
              <a:rPr lang="en-US" sz="2400" b="1" dirty="0" err="1">
                <a:solidFill>
                  <a:schemeClr val="tx2"/>
                </a:solidFill>
              </a:rPr>
              <a:t>th</a:t>
            </a:r>
            <a:r>
              <a:rPr lang="en-US" sz="2400" b="1" dirty="0">
                <a:solidFill>
                  <a:schemeClr val="tx2"/>
                </a:solidFill>
              </a:rPr>
              <a:t>&gt;Name&lt;/</a:t>
            </a:r>
            <a:r>
              <a:rPr lang="en-US" sz="2400" b="1" dirty="0" err="1">
                <a:solidFill>
                  <a:schemeClr val="tx2"/>
                </a:solidFill>
              </a:rPr>
              <a:t>th</a:t>
            </a:r>
            <a:r>
              <a:rPr lang="en-US" sz="2400" b="1" dirty="0">
                <a:solidFill>
                  <a:schemeClr val="tx2"/>
                </a:solidFill>
              </a:rPr>
              <a:t>&gt; &lt;/tr&gt;</a:t>
            </a:r>
          </a:p>
          <a:p>
            <a:pPr marL="4572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		&lt;tr&gt; &lt;td&gt; Tom &lt;/td&gt; &lt;/tr&gt;   </a:t>
            </a:r>
          </a:p>
          <a:p>
            <a:pPr marL="4572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		&lt;/table&gt;</a:t>
            </a:r>
            <a:endParaRPr lang="en-IN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47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6B030E-26F7-19CA-FF5B-90B3A60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2" y="878542"/>
            <a:ext cx="9875520" cy="614082"/>
          </a:xfrm>
        </p:spPr>
        <p:txBody>
          <a:bodyPr>
            <a:normAutofit/>
          </a:bodyPr>
          <a:lstStyle/>
          <a:p>
            <a:r>
              <a:rPr lang="en-IN" sz="3600" b="1" dirty="0"/>
              <a:t>HTML Responsive: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02E80-8148-82D9-8CF3-98E14B3EF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894" y="1869141"/>
            <a:ext cx="10219765" cy="467509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Responsive Web Design is about using HTML and CSS to automatically resize, hide, shrink, or enlarge, a website, to make it look good on all devices (desktops, tablets, and phones).</a:t>
            </a:r>
          </a:p>
          <a:p>
            <a:pPr marL="45720" indent="0">
              <a:buNone/>
            </a:pPr>
            <a:r>
              <a:rPr lang="en-US" sz="2800" b="1" dirty="0"/>
              <a:t>Setting The Viewport: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When making responsive web pages, add the following &lt;meta&gt; element in all your web pages: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Example: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&lt;meta name="viewport“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		content="width=device-width,initial-scale=1.0"&gt;</a:t>
            </a:r>
          </a:p>
        </p:txBody>
      </p:sp>
    </p:spTree>
    <p:extLst>
      <p:ext uri="{BB962C8B-B14F-4D97-AF65-F5344CB8AC3E}">
        <p14:creationId xmlns:p14="http://schemas.microsoft.com/office/powerpoint/2010/main" val="40953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44BDA-1F57-8AF5-304C-AE9BFDD3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317" y="744070"/>
            <a:ext cx="9875520" cy="519953"/>
          </a:xfrm>
        </p:spPr>
        <p:txBody>
          <a:bodyPr>
            <a:noAutofit/>
          </a:bodyPr>
          <a:lstStyle/>
          <a:p>
            <a:r>
              <a:rPr lang="en-IN" sz="3600" b="1" dirty="0"/>
              <a:t>Responsive Text Size: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5153E-B603-DF18-46C7-28A71CB54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505" y="1557618"/>
            <a:ext cx="9872871" cy="47580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The text size can be set with a "vw" unit.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which means the "viewport width".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That way the text size will follow the size of the browser window.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Example: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2"/>
                </a:solidFill>
              </a:rPr>
              <a:t>		</a:t>
            </a:r>
            <a:r>
              <a:rPr lang="en-US" sz="2400" dirty="0">
                <a:solidFill>
                  <a:schemeClr val="tx2"/>
                </a:solidFill>
              </a:rPr>
              <a:t>&lt;h1 style="font-size:10vw"&gt;Hello World&lt;/h1&gt;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US" sz="3600" b="1" dirty="0"/>
              <a:t>Responsive Images: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</a:rPr>
              <a:t>Responsive images are images that scale nicely to fit any browser size.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IN" sz="2400" dirty="0">
                <a:solidFill>
                  <a:schemeClr val="tx2"/>
                </a:solidFill>
              </a:rPr>
              <a:t>		</a:t>
            </a:r>
            <a:r>
              <a:rPr lang="pl-PL" sz="2400" dirty="0">
                <a:solidFill>
                  <a:schemeClr val="tx2"/>
                </a:solidFill>
              </a:rPr>
              <a:t>&lt;img src=“</a:t>
            </a:r>
            <a:r>
              <a:rPr lang="en-IN" sz="2400" dirty="0">
                <a:solidFill>
                  <a:schemeClr val="tx2"/>
                </a:solidFill>
              </a:rPr>
              <a:t>image</a:t>
            </a:r>
            <a:r>
              <a:rPr lang="pl-PL" sz="2400" dirty="0">
                <a:solidFill>
                  <a:schemeClr val="tx2"/>
                </a:solidFill>
              </a:rPr>
              <a:t>.jpg" </a:t>
            </a:r>
            <a:r>
              <a:rPr lang="en-IN" sz="2400" dirty="0">
                <a:solidFill>
                  <a:schemeClr val="tx2"/>
                </a:solidFill>
              </a:rPr>
              <a:t>  </a:t>
            </a:r>
            <a:r>
              <a:rPr lang="pl-PL" sz="2400" dirty="0">
                <a:solidFill>
                  <a:schemeClr val="tx2"/>
                </a:solidFill>
              </a:rPr>
              <a:t>style="width:100%;"&gt;</a:t>
            </a:r>
          </a:p>
        </p:txBody>
      </p:sp>
    </p:spTree>
    <p:extLst>
      <p:ext uri="{BB962C8B-B14F-4D97-AF65-F5344CB8AC3E}">
        <p14:creationId xmlns:p14="http://schemas.microsoft.com/office/powerpoint/2010/main" val="218766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E839-E652-6FAF-1A57-B44FE388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65" y="596153"/>
            <a:ext cx="4424082" cy="62752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HTML Form: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0C27FC-A31D-2E54-2DDE-F1DD607C3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871" y="1452281"/>
            <a:ext cx="10703859" cy="496196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The HTML &lt;form&gt; element defines a form that is used to collect user input.</a:t>
            </a:r>
          </a:p>
          <a:p>
            <a:pPr marL="45720" indent="0">
              <a:buNone/>
            </a:pPr>
            <a:r>
              <a:rPr lang="en-US" sz="2400" b="1" dirty="0"/>
              <a:t>The &lt;input&gt; Element:</a:t>
            </a:r>
          </a:p>
          <a:p>
            <a:r>
              <a:rPr lang="en-US" dirty="0">
                <a:solidFill>
                  <a:schemeClr val="tx2"/>
                </a:solidFill>
              </a:rPr>
              <a:t>The &lt;input&gt; element is the most important form element.</a:t>
            </a:r>
          </a:p>
          <a:p>
            <a:r>
              <a:rPr lang="en-US" dirty="0">
                <a:solidFill>
                  <a:schemeClr val="tx2"/>
                </a:solidFill>
              </a:rPr>
              <a:t>The &lt;input&gt; element can be displayed in several ways, depending on the type attribute.</a:t>
            </a:r>
          </a:p>
          <a:p>
            <a:r>
              <a:rPr lang="en-US" sz="2800" b="1" dirty="0"/>
              <a:t>Example: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sz="2800" b="1" dirty="0">
                <a:solidFill>
                  <a:schemeClr val="tx2"/>
                </a:solidFill>
              </a:rPr>
              <a:t>Type</a:t>
            </a:r>
            <a:r>
              <a:rPr lang="en-US" dirty="0">
                <a:solidFill>
                  <a:schemeClr val="tx2"/>
                </a:solidFill>
              </a:rPr>
              <a:t>				</a:t>
            </a:r>
            <a:r>
              <a:rPr lang="en-US" sz="2800" b="1" dirty="0">
                <a:solidFill>
                  <a:schemeClr val="tx2"/>
                </a:solidFill>
              </a:rPr>
              <a:t>Description</a:t>
            </a:r>
          </a:p>
          <a:p>
            <a:r>
              <a:rPr lang="en-US" dirty="0">
                <a:solidFill>
                  <a:schemeClr val="tx2"/>
                </a:solidFill>
              </a:rPr>
              <a:t>&lt;input type="text"&gt;		Defines a one-line text input field</a:t>
            </a:r>
          </a:p>
          <a:p>
            <a:r>
              <a:rPr lang="en-US" dirty="0">
                <a:solidFill>
                  <a:schemeClr val="tx2"/>
                </a:solidFill>
              </a:rPr>
              <a:t>&lt;input type="radio"&gt;		Defines a radio button (for selecting one of many choices)</a:t>
            </a:r>
          </a:p>
          <a:p>
            <a:r>
              <a:rPr lang="en-US" dirty="0">
                <a:solidFill>
                  <a:schemeClr val="tx2"/>
                </a:solidFill>
              </a:rPr>
              <a:t>&lt;input type="submit"&gt;	Defines a submit button (for submitting the form)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0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CA52-2025-E299-3CA3-F9C47FD8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2" y="730624"/>
            <a:ext cx="9875520" cy="65442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Submit Button: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3733-FFBA-56E4-5F7B-CACF0B86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269" y="1707777"/>
            <a:ext cx="10448365" cy="483197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&lt;input type="submit"&gt; </a:t>
            </a:r>
            <a:r>
              <a:rPr lang="en-IN" dirty="0">
                <a:solidFill>
                  <a:schemeClr val="tx2"/>
                </a:solidFill>
              </a:rPr>
              <a:t>defines a button for submitting the form data to a form-handler.</a:t>
            </a:r>
          </a:p>
          <a:p>
            <a:r>
              <a:rPr lang="en-IN" dirty="0">
                <a:solidFill>
                  <a:schemeClr val="tx2"/>
                </a:solidFill>
              </a:rPr>
              <a:t>The form-handler is typically a server page with a script for processing input data.</a:t>
            </a:r>
          </a:p>
          <a:p>
            <a:r>
              <a:rPr lang="en-IN" dirty="0">
                <a:solidFill>
                  <a:schemeClr val="tx2"/>
                </a:solidFill>
              </a:rPr>
              <a:t>The form-handler is specified in the </a:t>
            </a:r>
            <a:r>
              <a:rPr lang="en-IN" b="1" dirty="0">
                <a:solidFill>
                  <a:schemeClr val="tx2"/>
                </a:solidFill>
              </a:rPr>
              <a:t>form's action </a:t>
            </a:r>
            <a:r>
              <a:rPr lang="en-IN" dirty="0">
                <a:solidFill>
                  <a:schemeClr val="tx2"/>
                </a:solidFill>
              </a:rPr>
              <a:t>attribute:</a:t>
            </a:r>
          </a:p>
          <a:p>
            <a:r>
              <a:rPr lang="en-IN" b="1" dirty="0">
                <a:solidFill>
                  <a:schemeClr val="tx2"/>
                </a:solidFill>
              </a:rPr>
              <a:t>Exapmle: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 </a:t>
            </a:r>
            <a:r>
              <a:rPr lang="en-IN" dirty="0" smtClean="0">
                <a:solidFill>
                  <a:schemeClr val="tx2"/>
                </a:solidFill>
              </a:rPr>
              <a:t>     &lt;</a:t>
            </a:r>
            <a:r>
              <a:rPr lang="en-IN" dirty="0">
                <a:solidFill>
                  <a:schemeClr val="tx2"/>
                </a:solidFill>
              </a:rPr>
              <a:t>form </a:t>
            </a:r>
            <a:r>
              <a:rPr lang="en-IN" b="1" dirty="0">
                <a:solidFill>
                  <a:schemeClr val="tx2"/>
                </a:solidFill>
              </a:rPr>
              <a:t>action</a:t>
            </a:r>
            <a:r>
              <a:rPr lang="en-IN" dirty="0">
                <a:solidFill>
                  <a:schemeClr val="tx2"/>
                </a:solidFill>
              </a:rPr>
              <a:t>="/action.html"&gt;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	&lt;input type="text" name="firstname" value="Mickey"&gt;First name&lt;br&gt;&lt;br&gt; 	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	&lt;input type="text" name="lastname" value="Mouse"&gt;Last name&lt;br&gt;&lt;br&gt;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  	&lt;input type="submit" value="Submit"&gt;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 </a:t>
            </a:r>
            <a:r>
              <a:rPr lang="en-IN" dirty="0" smtClean="0">
                <a:solidFill>
                  <a:schemeClr val="tx2"/>
                </a:solidFill>
              </a:rPr>
              <a:t>     &lt;/</a:t>
            </a:r>
            <a:r>
              <a:rPr lang="en-IN" dirty="0">
                <a:solidFill>
                  <a:schemeClr val="tx2"/>
                </a:solidFill>
              </a:rPr>
              <a:t>form&gt;</a:t>
            </a:r>
          </a:p>
        </p:txBody>
      </p:sp>
    </p:spTree>
    <p:extLst>
      <p:ext uri="{BB962C8B-B14F-4D97-AF65-F5344CB8AC3E}">
        <p14:creationId xmlns:p14="http://schemas.microsoft.com/office/powerpoint/2010/main" val="125617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1E149-C7C4-6BD7-194E-B4896F00B2F4}"/>
              </a:ext>
            </a:extLst>
          </p:cNvPr>
          <p:cNvSpPr txBox="1"/>
          <p:nvPr/>
        </p:nvSpPr>
        <p:spPr>
          <a:xfrm>
            <a:off x="629770" y="484093"/>
            <a:ext cx="1093245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Action Attribute: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action attribute defines the action to be performed when the form is submitted.</a:t>
            </a:r>
          </a:p>
          <a:p>
            <a:r>
              <a:rPr lang="en-US" sz="2400" dirty="0"/>
              <a:t>				&lt;form action="/action_page.php"&gt;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Target Attribute: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target attribute specifies if the submitted result will open in a new browser tab, a frame, or in the current window.</a:t>
            </a:r>
          </a:p>
          <a:p>
            <a:r>
              <a:rPr lang="en-US" sz="2400" dirty="0"/>
              <a:t>			&lt;form action="/action_page.php" target="_self"&gt;</a:t>
            </a:r>
          </a:p>
          <a:p>
            <a:r>
              <a:rPr lang="en-US" sz="2400" dirty="0"/>
              <a:t>			&lt;form action="/action_page.php" target="_blank"&gt;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Method Attribute: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method attribute specifies the HTTP method (GET or POST) to be used when submitting the form data:</a:t>
            </a:r>
          </a:p>
          <a:p>
            <a:r>
              <a:rPr lang="en-US" sz="2400" dirty="0"/>
              <a:t>			&lt;form action="/action_page.php" method="get"&gt;</a:t>
            </a:r>
          </a:p>
        </p:txBody>
      </p:sp>
    </p:spTree>
    <p:extLst>
      <p:ext uri="{BB962C8B-B14F-4D97-AF65-F5344CB8AC3E}">
        <p14:creationId xmlns:p14="http://schemas.microsoft.com/office/powerpoint/2010/main" val="7954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CBB3-50EE-3B3F-7F7B-F5455DED6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6612" y="1298448"/>
            <a:ext cx="5238436" cy="2278470"/>
          </a:xfrm>
        </p:spPr>
        <p:txBody>
          <a:bodyPr>
            <a:normAutofit/>
          </a:bodyPr>
          <a:lstStyle/>
          <a:p>
            <a:r>
              <a:rPr lang="en-IN" sz="7200" b="1" dirty="0"/>
              <a:t>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9A5C6-80F2-2E85-D480-A7F36A027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9149" y="3825113"/>
            <a:ext cx="7315200" cy="914400"/>
          </a:xfrm>
        </p:spPr>
        <p:txBody>
          <a:bodyPr>
            <a:normAutofit/>
          </a:bodyPr>
          <a:lstStyle/>
          <a:p>
            <a:r>
              <a:rPr lang="en-IN" sz="2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8201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A0A0-B7A2-B883-CFEB-34A0DB5C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063" y="857794"/>
            <a:ext cx="9875520" cy="971006"/>
          </a:xfrm>
        </p:spPr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9100-888C-5B38-9F1D-18AA678A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537" y="1965960"/>
            <a:ext cx="9825931" cy="417934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stands for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Cascading Style Sheets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is a language that describes the style of an HTML document.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describes how HTML elements are to be displayed on screen, paper, or in other media.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can control the layout of multiple web pages all at once.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 stylesheets are stored in CSS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files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44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33786-3731-0647-8E3D-1801407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54" y="609599"/>
            <a:ext cx="10404566" cy="1676576"/>
          </a:xfrm>
        </p:spPr>
        <p:txBody>
          <a:bodyPr/>
          <a:lstStyle/>
          <a:p>
            <a:r>
              <a:rPr lang="en-IN" b="1" dirty="0"/>
              <a:t>     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EFB5-4E50-5C22-37BE-19CA468B9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594" y="2771301"/>
            <a:ext cx="10334998" cy="360587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selector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points to the HTML element you want to style.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declaration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block contains one or more declarations separated by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semicolons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declaration includes a CSS property name and a value, separated by a colon.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CSS declaration always ends with a semicolon, and declaration blocks are surrounded by curly braces. </a:t>
            </a:r>
          </a:p>
        </p:txBody>
      </p:sp>
      <p:pic>
        <p:nvPicPr>
          <p:cNvPr id="4" name="Picture 3" descr="IMG_256">
            <a:extLst>
              <a:ext uri="{FF2B5EF4-FFF2-40B4-BE49-F238E27FC236}">
                <a16:creationId xmlns:a16="http://schemas.microsoft.com/office/drawing/2014/main" id="{057D7FDB-4077-CF3E-A83F-87D9B686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972" y="885719"/>
            <a:ext cx="6696298" cy="140045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3365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4B81-6112-64B9-52BF-ABC8D374B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640" y="587828"/>
            <a:ext cx="10358846" cy="5880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id Selector: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id selector uses the id attribute of an HTML element to select a specific element.</a:t>
            </a: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an element with a specific id, write a hash (#) character, followed by the id of the element.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class Selector: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class selector selects elements with a specific class attribute.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Examples: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1"/>
                </a:solidFill>
              </a:rPr>
              <a:t>	</a:t>
            </a:r>
            <a:r>
              <a:rPr lang="en-US" sz="2800" b="1" dirty="0">
                <a:solidFill>
                  <a:schemeClr val="tx2"/>
                </a:solidFill>
              </a:rPr>
              <a:t>#para1 </a:t>
            </a:r>
            <a:r>
              <a:rPr lang="en-US" sz="2800" dirty="0">
                <a:solidFill>
                  <a:schemeClr val="tx2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	  text-align: center;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	 color: red;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	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8B781-CC37-FFC5-6FEE-D4F269BA8CCD}"/>
              </a:ext>
            </a:extLst>
          </p:cNvPr>
          <p:cNvSpPr txBox="1"/>
          <p:nvPr/>
        </p:nvSpPr>
        <p:spPr>
          <a:xfrm>
            <a:off x="6156063" y="4093856"/>
            <a:ext cx="3140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.center </a:t>
            </a:r>
            <a:r>
              <a:rPr lang="en-US" sz="2800" dirty="0">
                <a:solidFill>
                  <a:schemeClr val="tx2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text-align: center;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color: red;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87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582C-C3B2-3ADC-5566-A79DC1E7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5022669" cy="881526"/>
          </a:xfrm>
        </p:spPr>
        <p:txBody>
          <a:bodyPr/>
          <a:lstStyle/>
          <a:p>
            <a:r>
              <a:rPr lang="en-US" b="1" dirty="0"/>
              <a:t>Inserting CSS: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537A-4343-285A-15A6-451F324C2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821" y="1491126"/>
            <a:ext cx="9868796" cy="46876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three ways of inserting a style sheet: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 style sheet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Internal style sheet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Inline style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accent1"/>
                </a:solidFill>
              </a:rPr>
              <a:t>Multiple Style Sheets: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some properties have been defined for the same selector (element) in different style sheets, the value from 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last read style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sheet will be used. </a:t>
            </a:r>
          </a:p>
        </p:txBody>
      </p:sp>
    </p:spTree>
    <p:extLst>
      <p:ext uri="{BB962C8B-B14F-4D97-AF65-F5344CB8AC3E}">
        <p14:creationId xmlns:p14="http://schemas.microsoft.com/office/powerpoint/2010/main" val="294361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87CD-CF4F-CF34-70FE-FB8841A3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708" y="701039"/>
            <a:ext cx="3507377" cy="801189"/>
          </a:xfrm>
        </p:spPr>
        <p:txBody>
          <a:bodyPr/>
          <a:lstStyle/>
          <a:p>
            <a:r>
              <a:rPr lang="en-IN" b="1" dirty="0"/>
              <a:t>CSS </a:t>
            </a:r>
            <a:r>
              <a:rPr lang="en-IN" b="1" dirty="0" smtClean="0"/>
              <a:t>Colours</a:t>
            </a:r>
            <a:r>
              <a:rPr lang="en-IN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673C7-CB0A-1A60-768E-D769BC95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011" y="1619792"/>
            <a:ext cx="9607732" cy="4794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Text Color: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set the color of text: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h1 style="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color:red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;"&gt;Hello World&lt;/h1&gt;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Border Color: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set the color of borders: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&lt;h1 style="border:2px solid green;"&gt;Hello World&lt;/h1&gt;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Color Values: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HTML, colors can also be specified using RGB values, HEX values, HSL values, RGBA values, and HSLA values.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 as color name "Tomato“.</a:t>
            </a:r>
          </a:p>
        </p:txBody>
      </p:sp>
    </p:spTree>
    <p:extLst>
      <p:ext uri="{BB962C8B-B14F-4D97-AF65-F5344CB8AC3E}">
        <p14:creationId xmlns:p14="http://schemas.microsoft.com/office/powerpoint/2010/main" val="401366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7A3C5D-5B3E-146D-89EF-C481F56F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394" y="701039"/>
            <a:ext cx="5440680" cy="696686"/>
          </a:xfrm>
        </p:spPr>
        <p:txBody>
          <a:bodyPr/>
          <a:lstStyle/>
          <a:p>
            <a:r>
              <a:rPr lang="en-IN" b="1" dirty="0"/>
              <a:t>RGB values: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118758-808D-76CD-1826-740F3C7C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501" y="1580606"/>
            <a:ext cx="9678425" cy="484827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HTML a color can be specified as an RGB value, using this formula: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(red, green, blue)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parameter (red, green, and blue) defines the intensity of the color between 0 and 255.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Example: </a:t>
            </a:r>
          </a:p>
          <a:p>
            <a:pPr lvl="2"/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(255, 0, 0) is displayed as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red.</a:t>
            </a:r>
          </a:p>
          <a:p>
            <a:pPr lvl="2"/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( 0, 255,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0) is displayed as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green.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0, 255)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displayed as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blue.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display the color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black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 0, 0).</a:t>
            </a:r>
          </a:p>
          <a:p>
            <a:pPr lvl="2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display the color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white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(255, 255, 255).</a:t>
            </a:r>
          </a:p>
        </p:txBody>
      </p:sp>
    </p:spTree>
    <p:extLst>
      <p:ext uri="{BB962C8B-B14F-4D97-AF65-F5344CB8AC3E}">
        <p14:creationId xmlns:p14="http://schemas.microsoft.com/office/powerpoint/2010/main" val="310676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A5A4-A1AE-0441-CC36-6F5B31F6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457" y="733696"/>
            <a:ext cx="3664131" cy="1003663"/>
          </a:xfrm>
        </p:spPr>
        <p:txBody>
          <a:bodyPr/>
          <a:lstStyle/>
          <a:p>
            <a:r>
              <a:rPr lang="en-US" b="1" dirty="0"/>
              <a:t>HEX Value: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E9FB-E10E-1E65-786D-085A664A9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062" y="1737359"/>
            <a:ext cx="9872871" cy="442830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HTML, a color can be specified using a hexadecimal value in the form: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#rrggbb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(red), gg (green) and bb (blue) are hexadecimal values between 00 and ff (same as decimal 0-255).</a:t>
            </a:r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r>
              <a:rPr lang="en-US" sz="2400" dirty="0"/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#ff0000 is displayed as red, because red is set to its highest value (ff) and the others are set to the lowest value (00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#00ff00 is blue and #0000ff is green.</a:t>
            </a: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 has </a:t>
            </a:r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Hexa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Values from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0-9 and a-f,  where a=10, b=11….. f=15.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19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0943-E3EC-6336-5B68-05AF2A55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336" y="583475"/>
            <a:ext cx="3611880" cy="735874"/>
          </a:xfrm>
        </p:spPr>
        <p:txBody>
          <a:bodyPr>
            <a:normAutofit/>
          </a:bodyPr>
          <a:lstStyle/>
          <a:p>
            <a:r>
              <a:rPr lang="en-IN" b="1" dirty="0"/>
              <a:t>HSL Value: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EC99-1A08-9CB8-8211-55D72D557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68" y="1436914"/>
            <a:ext cx="9999617" cy="5094515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HTML, a color can be specified using hue, saturation, and lightness (HSL) in the form: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hsl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(hue, saturation, lightness)</a:t>
            </a:r>
          </a:p>
          <a:p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Hue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is a degree from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 to 360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0 is red, 120 is green and 240 is blue.</a:t>
            </a:r>
          </a:p>
          <a:p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Saturation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0% means a shade of gray, and 100% is the full color.</a:t>
            </a:r>
          </a:p>
          <a:p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Lightness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0% is black, 50% is neither light or dark, 100% is white.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HSLA and RGBA:</a:t>
            </a:r>
            <a:endParaRPr lang="en-US" sz="2800" b="1" dirty="0" smtClean="0"/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alpha parameter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 a number between 0.0 (fully transparent) and 1.0 (not transparent at all)</a:t>
            </a: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alpha channel - which specifies the opacity for a color.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00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D7B6-3269-E06C-C9FD-5C05F7C8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737" y="813995"/>
            <a:ext cx="6825343" cy="892629"/>
          </a:xfrm>
        </p:spPr>
        <p:txBody>
          <a:bodyPr/>
          <a:lstStyle/>
          <a:p>
            <a:r>
              <a:rPr lang="en-IN" sz="4400" b="1" dirty="0"/>
              <a:t>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6CC6F-5E94-EDF2-97C2-4CD9D46E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6" y="1706624"/>
            <a:ext cx="10569388" cy="4038600"/>
          </a:xfrm>
        </p:spPr>
        <p:txBody>
          <a:bodyPr>
            <a:normAutofit/>
          </a:bodyPr>
          <a:lstStyle/>
          <a:p>
            <a:pPr marL="45720" indent="0">
              <a:lnSpc>
                <a:spcPct val="150000"/>
              </a:lnSpc>
              <a:buNone/>
            </a:pPr>
            <a:r>
              <a:rPr lang="en-IN" sz="2800" dirty="0" smtClean="0">
                <a:solidFill>
                  <a:schemeClr val="tx2"/>
                </a:solidFill>
              </a:rPr>
              <a:t>&lt;</a:t>
            </a:r>
            <a:r>
              <a:rPr lang="en-IN" sz="2800" dirty="0">
                <a:solidFill>
                  <a:schemeClr val="tx2"/>
                </a:solidFill>
              </a:rPr>
              <a:t>h1 style="background-color:rgb(255, 99, 71</a:t>
            </a:r>
            <a:r>
              <a:rPr lang="en-IN" sz="2800" dirty="0" smtClean="0">
                <a:solidFill>
                  <a:schemeClr val="tx2"/>
                </a:solidFill>
              </a:rPr>
              <a:t>);"&gt;Hello&lt;/</a:t>
            </a:r>
            <a:r>
              <a:rPr lang="en-IN" sz="2800" dirty="0">
                <a:solidFill>
                  <a:schemeClr val="tx2"/>
                </a:solidFill>
              </a:rPr>
              <a:t>h1&gt;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IN" sz="2800" dirty="0" smtClean="0">
                <a:solidFill>
                  <a:schemeClr val="tx2"/>
                </a:solidFill>
              </a:rPr>
              <a:t>&lt;</a:t>
            </a:r>
            <a:r>
              <a:rPr lang="en-IN" sz="2800" dirty="0">
                <a:solidFill>
                  <a:schemeClr val="tx2"/>
                </a:solidFill>
              </a:rPr>
              <a:t>h1 style="background-color:#ff6347;"&gt; Hello &lt;/h1&gt;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IN" sz="2800" dirty="0" smtClean="0">
                <a:solidFill>
                  <a:schemeClr val="tx2"/>
                </a:solidFill>
              </a:rPr>
              <a:t>&lt;</a:t>
            </a:r>
            <a:r>
              <a:rPr lang="en-IN" sz="2800" dirty="0">
                <a:solidFill>
                  <a:schemeClr val="tx2"/>
                </a:solidFill>
              </a:rPr>
              <a:t>h1 style="background-color:hsl(9, 100%, 64%);"&gt; Hello &lt;/h1&gt;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IN" sz="2800" dirty="0" smtClean="0">
                <a:solidFill>
                  <a:schemeClr val="tx2"/>
                </a:solidFill>
              </a:rPr>
              <a:t>&lt;</a:t>
            </a:r>
            <a:r>
              <a:rPr lang="en-IN" sz="2800" dirty="0">
                <a:solidFill>
                  <a:schemeClr val="tx2"/>
                </a:solidFill>
              </a:rPr>
              <a:t>h1 style="background-color:rgba(255, 99, 71, 0.5);"&gt; Hello &lt;/h1&gt;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IN" sz="2800" dirty="0" smtClean="0">
                <a:solidFill>
                  <a:schemeClr val="tx2"/>
                </a:solidFill>
              </a:rPr>
              <a:t>&lt;</a:t>
            </a:r>
            <a:r>
              <a:rPr lang="en-IN" sz="2800" dirty="0">
                <a:solidFill>
                  <a:schemeClr val="tx2"/>
                </a:solidFill>
              </a:rPr>
              <a:t>h1 style="background-color:hsla(9, 100%, 64%, 0.5);"&gt; Hello &lt;/h1&gt;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4974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974F-D11E-8CFC-EBC1-673B394A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434" y="544285"/>
            <a:ext cx="4826726" cy="709749"/>
          </a:xfrm>
        </p:spPr>
        <p:txBody>
          <a:bodyPr/>
          <a:lstStyle/>
          <a:p>
            <a:r>
              <a:rPr lang="en-IN" b="1" dirty="0"/>
              <a:t>CSS Background: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3BE2-D72F-8097-9F20-ED151EED1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759" y="1345475"/>
            <a:ext cx="9607539" cy="5214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CSS background-image: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add the background image for our website we can use this property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 function to attach image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CSS </a:t>
            </a:r>
            <a:r>
              <a:rPr lang="en-US" sz="2400" b="1" dirty="0">
                <a:solidFill>
                  <a:schemeClr val="accent1"/>
                </a:solidFill>
              </a:rPr>
              <a:t>background-repeat: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default, the background-image property repeats an image both horizontally and vertically.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images should be repeated only horizontally or vertically, or they will look strange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CSS background-size</a:t>
            </a:r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 is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to specify the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size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background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image to fill the width need to use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cover as a value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5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E203-7BB7-6631-7490-BB65DE1B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549" y="507274"/>
            <a:ext cx="6093822" cy="931817"/>
          </a:xfrm>
        </p:spPr>
        <p:txBody>
          <a:bodyPr>
            <a:normAutofit/>
          </a:bodyPr>
          <a:lstStyle/>
          <a:p>
            <a:r>
              <a:rPr lang="en-US" b="1" dirty="0"/>
              <a:t>CSS </a:t>
            </a:r>
            <a:r>
              <a:rPr lang="en-US" b="1" dirty="0" smtClean="0"/>
              <a:t>Margins &amp; Padding: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FA74-1808-61C3-AA32-9C1C288E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661" y="1439091"/>
            <a:ext cx="9784081" cy="512064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margin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properties are used to create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space around elements, outside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 any defined borders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padding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properties are used to generate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space around an element's content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inside of any defined borders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b="1" dirty="0" smtClean="0"/>
              <a:t>Example: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margin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25px 50px 75px 100px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4572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           padding: 20px 12px;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Individual </a:t>
            </a:r>
            <a:r>
              <a:rPr lang="en-US" sz="2800" b="1" dirty="0">
                <a:solidFill>
                  <a:schemeClr val="accent1"/>
                </a:solidFill>
              </a:rPr>
              <a:t>Sides: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has properties for specifying the margin for each side of an element:</a:t>
            </a:r>
          </a:p>
          <a:p>
            <a:pPr lvl="4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margin-top  ,  padding-top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4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margin-right ,  padding-right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4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margin-bottom , padding-bottom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4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margin-left  ,  padding-left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8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5A48-0130-D672-FA36-C6A68031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548" y="2323011"/>
            <a:ext cx="3298371" cy="1924594"/>
          </a:xfrm>
        </p:spPr>
        <p:txBody>
          <a:bodyPr>
            <a:normAutofit/>
          </a:bodyPr>
          <a:lstStyle/>
          <a:p>
            <a:r>
              <a:rPr lang="en-IN" b="1" dirty="0"/>
              <a:t>     Margin</a:t>
            </a:r>
            <a:br>
              <a:rPr lang="en-IN" b="1" dirty="0"/>
            </a:br>
            <a:r>
              <a:rPr lang="en-IN" b="1" dirty="0"/>
              <a:t>     Border</a:t>
            </a:r>
            <a:br>
              <a:rPr lang="en-IN" b="1" dirty="0"/>
            </a:br>
            <a:r>
              <a:rPr lang="en-IN" b="1" dirty="0"/>
              <a:t>     Padding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A1168-482E-9F31-8A0F-66B6C19F8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20" y="624649"/>
            <a:ext cx="6276704" cy="5608701"/>
          </a:xfrm>
        </p:spPr>
      </p:pic>
    </p:spTree>
    <p:extLst>
      <p:ext uri="{BB962C8B-B14F-4D97-AF65-F5344CB8AC3E}">
        <p14:creationId xmlns:p14="http://schemas.microsoft.com/office/powerpoint/2010/main" val="22150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7019-63A2-640E-C51F-AD87ECCA1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463" y="518160"/>
            <a:ext cx="4500154" cy="762000"/>
          </a:xfrm>
        </p:spPr>
        <p:txBody>
          <a:bodyPr/>
          <a:lstStyle/>
          <a:p>
            <a:r>
              <a:rPr lang="en-US" b="1" dirty="0"/>
              <a:t>Box-sizing: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0C5F-42E3-F393-93D9-D0A02088B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606" y="1280160"/>
            <a:ext cx="9448328" cy="534270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the box-sizing property to keep the width at 300px, no matter the amount of padding: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</a:t>
            </a:r>
          </a:p>
          <a:p>
            <a:pPr marL="45720" indent="0">
              <a:buNone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dirty="0"/>
              <a:t> 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  {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417120" lvl="5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height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200px;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width: 300px;</a:t>
            </a:r>
          </a:p>
          <a:p>
            <a:pPr marL="1417120" lvl="5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background-color: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blue;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417120" lvl="5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font-size: 50px;</a:t>
            </a:r>
          </a:p>
          <a:p>
            <a:pPr marL="1417120" lvl="5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margin: 150px 200px;</a:t>
            </a:r>
          </a:p>
          <a:p>
            <a:pPr marL="1417120" lvl="5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border: 2px solid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(96, 3, 3);</a:t>
            </a:r>
          </a:p>
          <a:p>
            <a:pPr marL="1417120" lvl="5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padding: 50px;</a:t>
            </a:r>
          </a:p>
          <a:p>
            <a:pPr marL="1417120" lvl="5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    box-sizing: border-box;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  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  }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91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09E8-5B59-1BFE-1632-032B1D7C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394" y="609600"/>
            <a:ext cx="8027126" cy="709749"/>
          </a:xfrm>
        </p:spPr>
        <p:txBody>
          <a:bodyPr/>
          <a:lstStyle/>
          <a:p>
            <a:r>
              <a:rPr lang="en-US" b="1" dirty="0"/>
              <a:t>CSS Shadow Effects: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F41CC-5BB5-AF11-7259-14E8B400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132" y="1423852"/>
            <a:ext cx="9640388" cy="4967344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CSS you can add shadow to text and to elements.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this chapter you will learn about the following properties:</a:t>
            </a:r>
          </a:p>
          <a:p>
            <a:pPr lvl="2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text-shadow</a:t>
            </a:r>
          </a:p>
          <a:p>
            <a:pPr lvl="2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box-shadow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CSS Text Shadow: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CSS text-shadow property applies shadow to text.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its simplest use, you only specify the horizontal shadow (2px) and the vertical shadow (2px):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h1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text-shadow: 2px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2px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red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  }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78D8D-3D03-7FE9-AAAC-0C41CC96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826" y="583473"/>
            <a:ext cx="7530737" cy="853440"/>
          </a:xfrm>
        </p:spPr>
        <p:txBody>
          <a:bodyPr/>
          <a:lstStyle/>
          <a:p>
            <a:r>
              <a:rPr lang="en-US" b="1" dirty="0"/>
              <a:t>Box Shadow: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C9027-1B44-5167-A285-402496781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383" y="1436913"/>
            <a:ext cx="9872871" cy="49508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box-shadow property adds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shadow to box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add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than one shadow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the text, you can add a comma-separated list of shadows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Example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       width: 100px; 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        height:100px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       box-shadow:  0 0 5px red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	        text-shadow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2px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2px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#FF0000, 3px 5px #0000FF;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0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6897-5DB8-0B63-88F2-78FC647B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366" y="609600"/>
            <a:ext cx="6877594" cy="788126"/>
          </a:xfrm>
        </p:spPr>
        <p:txBody>
          <a:bodyPr/>
          <a:lstStyle/>
          <a:p>
            <a:r>
              <a:rPr lang="en-IN" b="1" dirty="0"/>
              <a:t>CSS Text: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CFFF8-86DE-AD08-0A99-074A2ED3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663" y="1397727"/>
            <a:ext cx="10077226" cy="5120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Text Alignment: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text-align property is used to set the horizontal alignment of a text.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text can be left or right aligned, centered, or justified.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.left alignment is default if text direction is left-to-right, and right alignment is default if text direction is right-to-left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h1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text-align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center;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text-align: right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 text-align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left;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418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6390-AD05-06AC-29BF-1D7C6D9F6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316" y="640079"/>
            <a:ext cx="9686108" cy="59566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000" b="1" dirty="0" smtClean="0"/>
              <a:t>Text-transform: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text-transform property is used to specify uppercase and lowercase letters in a text.</a:t>
            </a:r>
          </a:p>
          <a:p>
            <a:pPr marL="0" indent="0">
              <a:buNone/>
            </a:pPr>
            <a:r>
              <a:rPr lang="en-US" sz="2600" b="1" dirty="0" smtClean="0"/>
              <a:t>  Example</a:t>
            </a:r>
            <a:r>
              <a:rPr lang="en-US" sz="26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  {  text-transform: uppercase;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 {  text-transform: capitalize; 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sz="3000" b="1" dirty="0" smtClean="0"/>
              <a:t>Text </a:t>
            </a:r>
            <a:r>
              <a:rPr lang="en-US" sz="3000" b="1" dirty="0"/>
              <a:t>Decoration: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text-decoration property is used to set or remove decorations from text.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value text-decoration: none; is often used to remove underlines from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links</a:t>
            </a:r>
          </a:p>
          <a:p>
            <a:pPr marL="0" indent="0">
              <a:buNone/>
            </a:pPr>
            <a:r>
              <a:rPr lang="en-US" sz="2400" b="1" dirty="0" smtClean="0"/>
              <a:t>  Example: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a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text-decoration: none;  }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h1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text-decoration: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overline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 }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64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0A47-06AF-79AF-34D3-175B635C8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984" y="426720"/>
            <a:ext cx="9875520" cy="762000"/>
          </a:xfrm>
        </p:spPr>
        <p:txBody>
          <a:bodyPr/>
          <a:lstStyle/>
          <a:p>
            <a:r>
              <a:rPr lang="en-US" b="1" dirty="0"/>
              <a:t>Text </a:t>
            </a:r>
            <a:r>
              <a:rPr lang="en-US" b="1" dirty="0" smtClean="0"/>
              <a:t>Indentation and </a:t>
            </a:r>
            <a:r>
              <a:rPr lang="en-US" b="1" dirty="0"/>
              <a:t>Spacing: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49F09-F8EB-118E-83F7-689E61AA9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417" y="1188720"/>
            <a:ext cx="9692640" cy="52643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/>
              <a:t>Letter </a:t>
            </a:r>
            <a:r>
              <a:rPr lang="en-US" sz="2800" b="1" dirty="0"/>
              <a:t>Spacing: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letter-spacing property is used to specify the space between the characters in a text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5720" indent="0">
              <a:buNone/>
            </a:pPr>
            <a:r>
              <a:rPr lang="en-US" sz="2800" b="1" dirty="0" smtClean="0"/>
              <a:t>Word Spacing: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word-spacing property is used to specify the space between the words in a text. 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800" b="1" dirty="0" smtClean="0"/>
              <a:t>Example</a:t>
            </a:r>
            <a:endParaRPr lang="en-US" sz="2800" b="1" dirty="0"/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h1 {  letter-spacing: 3px; }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h1 {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text-indent: 50px; }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h1 { 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word-spacing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10px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 h1 {  line-height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0.8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 }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0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83D6-0CDC-06A1-AF76-34F544E8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046" y="609600"/>
            <a:ext cx="7060474" cy="709749"/>
          </a:xfrm>
        </p:spPr>
        <p:txBody>
          <a:bodyPr/>
          <a:lstStyle/>
          <a:p>
            <a:r>
              <a:rPr lang="en-IN" b="1" dirty="0"/>
              <a:t>CSS Font: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9649A-AE65-D5B3-7C16-425CDC55D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1423853"/>
            <a:ext cx="9470571" cy="49769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Font </a:t>
            </a:r>
            <a:r>
              <a:rPr lang="en-US" sz="2800" b="1" dirty="0">
                <a:solidFill>
                  <a:schemeClr val="accent1"/>
                </a:solidFill>
              </a:rPr>
              <a:t>Family: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font family of a text is set with the font-family property.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font-family property should hold several font names as a "fallback" system. </a:t>
            </a:r>
          </a:p>
          <a:p>
            <a:r>
              <a:rPr lang="en-US" sz="2400" dirty="0">
                <a:solidFill>
                  <a:schemeClr val="tx2"/>
                </a:solidFill>
              </a:rPr>
              <a:t>If the browser does not support the first font, it tries the next font, and so on</a:t>
            </a:r>
            <a:r>
              <a:rPr lang="en-US" sz="2400" dirty="0" smtClean="0">
                <a:solidFill>
                  <a:schemeClr val="tx2"/>
                </a:solidFill>
              </a:rPr>
              <a:t>.</a:t>
            </a:r>
            <a:endParaRPr lang="en-US" sz="2400" dirty="0">
              <a:solidFill>
                <a:schemeClr val="tx2"/>
              </a:solidFill>
            </a:endParaRPr>
          </a:p>
          <a:p>
            <a:pPr marL="45720" indent="0">
              <a:buNone/>
            </a:pPr>
            <a:r>
              <a:rPr lang="en-US" sz="2800" b="1" dirty="0" smtClean="0"/>
              <a:t>Types: </a:t>
            </a:r>
            <a:endParaRPr lang="en-US" sz="2800" b="1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generic family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a group of font families with a similar look (like "Serif" or "Monospace")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font family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a specific font family (like "Times New Roman" or "Arial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")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01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D89B-E7EC-AE51-A7A7-FE55A7C7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40228"/>
            <a:ext cx="9875520" cy="788126"/>
          </a:xfrm>
        </p:spPr>
        <p:txBody>
          <a:bodyPr/>
          <a:lstStyle/>
          <a:p>
            <a:r>
              <a:rPr lang="en-US" b="1" dirty="0"/>
              <a:t>Font Style: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C351-CBC2-0E91-6564-61C032B65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944" y="1645920"/>
            <a:ext cx="9228907" cy="436527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font-style property is mostly used to specify italic text.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has three values:</a:t>
            </a:r>
          </a:p>
          <a:p>
            <a:pPr lvl="1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normal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The text is shown normally</a:t>
            </a:r>
          </a:p>
          <a:p>
            <a:pPr lvl="1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italic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The text is shown in italics</a:t>
            </a:r>
          </a:p>
          <a:p>
            <a:pPr lvl="1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oblique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The text is "leaning" (oblique is very similar to italic, but less supported)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 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  font-style: normal;   }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 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  font-style: italic;   }</a:t>
            </a:r>
          </a:p>
        </p:txBody>
      </p:sp>
    </p:spTree>
    <p:extLst>
      <p:ext uri="{BB962C8B-B14F-4D97-AF65-F5344CB8AC3E}">
        <p14:creationId xmlns:p14="http://schemas.microsoft.com/office/powerpoint/2010/main" val="218419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82A0-0313-2FEE-680B-FF14EC9D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148" y="557349"/>
            <a:ext cx="4722223" cy="64443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Font Size: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39DF-3C88-E422-1290-9E039D2F3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005" y="1306286"/>
            <a:ext cx="9712235" cy="4924697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font-size property sets the size of the text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font-size value can be an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absolute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or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relative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size.</a:t>
            </a:r>
          </a:p>
          <a:p>
            <a:pPr marL="45720" indent="0">
              <a:buNone/>
            </a:pPr>
            <a:r>
              <a:rPr lang="en-US" sz="2800" b="1" dirty="0"/>
              <a:t>Absolute size: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Sets the text to a specified size</a:t>
            </a:r>
          </a:p>
          <a:p>
            <a:pPr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Does not allow a user to change the text size in all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browsers.</a:t>
            </a:r>
          </a:p>
          <a:p>
            <a:pPr lvl="1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Absolute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size is useful when the physical size of the output is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known.</a:t>
            </a:r>
          </a:p>
          <a:p>
            <a:pPr lvl="1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size can be calculated from pixels to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using this formula: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pixels/16=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pt-BR" sz="2400" b="1" dirty="0" smtClean="0"/>
              <a:t>  </a:t>
            </a:r>
            <a:r>
              <a:rPr lang="pt-BR" sz="2800" b="1" dirty="0" smtClean="0"/>
              <a:t>Example</a:t>
            </a:r>
            <a:endParaRPr lang="pt-BR" sz="2800" b="1" dirty="0"/>
          </a:p>
          <a:p>
            <a:pPr marL="0" indent="0">
              <a:buNone/>
            </a:pPr>
            <a:r>
              <a:rPr lang="pt-BR" sz="2400" dirty="0"/>
              <a:t>	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h1 </a:t>
            </a:r>
            <a:r>
              <a:rPr lang="pt-BR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  font-size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2.5em; </a:t>
            </a:r>
            <a:r>
              <a:rPr lang="pt-BR" sz="2400">
                <a:solidFill>
                  <a:schemeClr val="tx1">
                    <a:lumMod val="75000"/>
                    <a:lumOff val="25000"/>
                  </a:schemeClr>
                </a:solidFill>
              </a:rPr>
              <a:t>/* </a:t>
            </a:r>
            <a:r>
              <a:rPr lang="pt-BR" sz="24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 * 16= 40px </a:t>
            </a:r>
            <a:r>
              <a:rPr lang="pt-BR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*/  }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84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A90B-0F60-467C-77E7-0553937F0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035" y="621254"/>
            <a:ext cx="9653452" cy="576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Font </a:t>
            </a:r>
            <a:r>
              <a:rPr lang="en-US" sz="3200" b="1" dirty="0" smtClean="0">
                <a:solidFill>
                  <a:schemeClr val="accent1"/>
                </a:solidFill>
              </a:rPr>
              <a:t>Weight:</a:t>
            </a:r>
          </a:p>
          <a:p>
            <a:pPr marL="685800" lvl="1" indent="-457200">
              <a:lnSpc>
                <a:spcPct val="150000"/>
              </a:lnSpc>
            </a:pP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font-weight property specifies the weight of a font: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600" dirty="0"/>
              <a:t>		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  font-weight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bold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  }</a:t>
            </a:r>
          </a:p>
          <a:p>
            <a:pPr marL="0" indent="0">
              <a:buNone/>
            </a:pPr>
            <a:r>
              <a:rPr lang="en-US" sz="3200" b="1" dirty="0"/>
              <a:t>Font Variant</a:t>
            </a:r>
            <a:r>
              <a:rPr lang="en-US" sz="3200" b="1" dirty="0" smtClean="0"/>
              <a:t>:</a:t>
            </a:r>
          </a:p>
          <a:p>
            <a:pPr marL="571500" lvl="1" indent="-342900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font-variant property specifies whether or not a text should be displayed in a small-caps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font.</a:t>
            </a:r>
          </a:p>
          <a:p>
            <a:pPr marL="571500" lvl="1" indent="-342900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small-caps font, all lowercase letters are converted to uppercase letters. </a:t>
            </a:r>
          </a:p>
          <a:p>
            <a:pPr marL="0" indent="0">
              <a:buNone/>
            </a:pPr>
            <a:r>
              <a:rPr lang="en-US" sz="2800" b="1" dirty="0"/>
              <a:t>Example</a:t>
            </a:r>
            <a:r>
              <a:rPr lang="en-US" sz="2800" b="1" dirty="0" smtClean="0"/>
              <a:t>:</a:t>
            </a:r>
            <a:r>
              <a:rPr lang="en-US" sz="2800" dirty="0"/>
              <a:t>		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font-variant: small-caps;   }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IN" sz="2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9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538CC2-20A2-695D-C51A-C68CE6AB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7228" y="2029969"/>
            <a:ext cx="5346013" cy="2802905"/>
          </a:xfrm>
        </p:spPr>
        <p:txBody>
          <a:bodyPr/>
          <a:lstStyle/>
          <a:p>
            <a:r>
              <a:rPr lang="en-IN" dirty="0"/>
              <a:t>CSS Layout</a:t>
            </a:r>
          </a:p>
        </p:txBody>
      </p:sp>
    </p:spTree>
    <p:extLst>
      <p:ext uri="{BB962C8B-B14F-4D97-AF65-F5344CB8AC3E}">
        <p14:creationId xmlns:p14="http://schemas.microsoft.com/office/powerpoint/2010/main" val="176299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79" y="635725"/>
            <a:ext cx="7175391" cy="827314"/>
          </a:xfrm>
        </p:spPr>
        <p:txBody>
          <a:bodyPr/>
          <a:lstStyle/>
          <a:p>
            <a:r>
              <a:rPr lang="en-US" b="1" dirty="0" smtClean="0"/>
              <a:t>  Flex Layout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67542"/>
            <a:ext cx="9872871" cy="4632961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Flex Box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aka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Flexible Box Layout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makes it easier to layout, align and style items in the container while maintaining the responsiveness of the website.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create a flexbox you need to set the display of the container as flex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Eg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display: flex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;}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Flex Direction</a:t>
            </a:r>
          </a:p>
          <a:p>
            <a:pPr marL="342900" indent="-342900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defines in which direction the flex elements would be displayed. It takes values like row, column or “reverse” too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800" b="1" dirty="0"/>
              <a:t>Flex Wrap</a:t>
            </a:r>
          </a:p>
          <a:p>
            <a:pPr marL="342900" indent="-342900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using this property we can make our elements responsive for different screen sizes. </a:t>
            </a:r>
          </a:p>
        </p:txBody>
      </p:sp>
    </p:spTree>
    <p:extLst>
      <p:ext uri="{BB962C8B-B14F-4D97-AF65-F5344CB8AC3E}">
        <p14:creationId xmlns:p14="http://schemas.microsoft.com/office/powerpoint/2010/main" val="206589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3382" y="609600"/>
            <a:ext cx="8445137" cy="788126"/>
          </a:xfrm>
        </p:spPr>
        <p:txBody>
          <a:bodyPr/>
          <a:lstStyle/>
          <a:p>
            <a:r>
              <a:rPr lang="en-US" b="1" dirty="0"/>
              <a:t>Flex Container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85" y="1528354"/>
            <a:ext cx="9849394" cy="4872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Justify </a:t>
            </a:r>
            <a:r>
              <a:rPr lang="en-US" sz="2800" b="1" dirty="0">
                <a:solidFill>
                  <a:schemeClr val="accent1"/>
                </a:solidFill>
              </a:rPr>
              <a:t>Content</a:t>
            </a:r>
          </a:p>
          <a:p>
            <a:pPr marL="342900" indent="-342900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is used to set the position of content or rather align content along the main axis.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Align </a:t>
            </a:r>
            <a:r>
              <a:rPr lang="en-US" sz="2800" b="1" dirty="0">
                <a:solidFill>
                  <a:schemeClr val="accent1"/>
                </a:solidFill>
              </a:rPr>
              <a:t>Items</a:t>
            </a:r>
          </a:p>
          <a:p>
            <a:pPr marL="342900" indent="-342900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Just like the justify-content property, align-items define the alignment of the flex container but along the cross-axis.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Align </a:t>
            </a:r>
            <a:r>
              <a:rPr lang="en-US" sz="2800" b="1" dirty="0">
                <a:solidFill>
                  <a:schemeClr val="accent1"/>
                </a:solidFill>
              </a:rPr>
              <a:t>Content</a:t>
            </a:r>
          </a:p>
          <a:p>
            <a:pPr marL="342900" indent="-342900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is very similar to align item but here rather than the flex items, the content present in the item is selected for the property.</a:t>
            </a:r>
          </a:p>
        </p:txBody>
      </p:sp>
    </p:spTree>
    <p:extLst>
      <p:ext uri="{BB962C8B-B14F-4D97-AF65-F5344CB8AC3E}">
        <p14:creationId xmlns:p14="http://schemas.microsoft.com/office/powerpoint/2010/main" val="168433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502" y="613955"/>
            <a:ext cx="3833949" cy="862148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6843" y="1580606"/>
            <a:ext cx="8481677" cy="49508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.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flex-container </a:t>
            </a:r>
            <a:endParaRPr lang="en-US" sz="25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{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2920" lvl="1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display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flex;</a:t>
            </a:r>
          </a:p>
          <a:p>
            <a:pPr marL="502920" lvl="1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height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200px;</a:t>
            </a:r>
          </a:p>
          <a:p>
            <a:pPr marL="502920" lvl="1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flex-direction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row;</a:t>
            </a:r>
          </a:p>
          <a:p>
            <a:pPr marL="502920" lvl="1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background-color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yellowgreen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502920" lvl="1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align-content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center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60120" lvl="2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align-items: center;</a:t>
            </a:r>
          </a:p>
          <a:p>
            <a:pPr marL="960120" lvl="2" indent="0">
              <a:buNone/>
            </a:pP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justify-content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center;</a:t>
            </a:r>
          </a:p>
          <a:p>
            <a:pPr marL="960120" lvl="2" indent="0">
              <a:buNone/>
            </a:pP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flex-wrap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wrap;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sz="2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6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646" y="609600"/>
            <a:ext cx="8000999" cy="827314"/>
          </a:xfrm>
        </p:spPr>
        <p:txBody>
          <a:bodyPr/>
          <a:lstStyle/>
          <a:p>
            <a:r>
              <a:rPr lang="en-US" b="1" dirty="0"/>
              <a:t>Flex Items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192" y="1436914"/>
            <a:ext cx="9653453" cy="4794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 smtClean="0">
                <a:solidFill>
                  <a:schemeClr val="accent1"/>
                </a:solidFill>
              </a:rPr>
              <a:t>Order</a:t>
            </a:r>
            <a:r>
              <a:rPr lang="en-US" sz="26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the name suggests, this property sets the order in which the flex items are shown.</a:t>
            </a:r>
          </a:p>
          <a:p>
            <a:pPr marL="0" indent="0">
              <a:buNone/>
            </a:pPr>
            <a:r>
              <a:rPr lang="en-US" sz="2600" b="1" dirty="0" smtClean="0">
                <a:solidFill>
                  <a:schemeClr val="accent1"/>
                </a:solidFill>
              </a:rPr>
              <a:t>Flex </a:t>
            </a:r>
            <a:r>
              <a:rPr lang="en-US" sz="2600" b="1" dirty="0">
                <a:solidFill>
                  <a:schemeClr val="accent1"/>
                </a:solidFill>
              </a:rPr>
              <a:t>Grow &amp; Shrink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Decides the relative size of flex items. By default, this property is zero and thus items have the same size.</a:t>
            </a:r>
          </a:p>
          <a:p>
            <a:pPr marL="0" indent="0">
              <a:buNone/>
            </a:pPr>
            <a:r>
              <a:rPr lang="en-US" sz="2600" b="1" dirty="0" smtClean="0">
                <a:solidFill>
                  <a:schemeClr val="accent1"/>
                </a:solidFill>
              </a:rPr>
              <a:t>Align </a:t>
            </a:r>
            <a:r>
              <a:rPr lang="en-US" sz="2600" b="1" dirty="0">
                <a:solidFill>
                  <a:schemeClr val="accent1"/>
                </a:solidFill>
              </a:rPr>
              <a:t>Self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allows default alignment to be overridden for the individual flex items. Try adding inline CSS to see how this property is used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32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806" y="570412"/>
            <a:ext cx="3742509" cy="748937"/>
          </a:xfrm>
        </p:spPr>
        <p:txBody>
          <a:bodyPr/>
          <a:lstStyle/>
          <a:p>
            <a:r>
              <a:rPr lang="en-US" b="1" dirty="0" smtClean="0"/>
              <a:t>Grid Layout: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812" y="1436915"/>
            <a:ext cx="10352314" cy="487538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Grid with 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of rows and columns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make it easier to style website elements.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display property allows two grid properties: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Grid and Inline Grid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The elements placed in the grid container are called grid items.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of the properties of Grid are similar to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Flex Box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b="1" dirty="0"/>
              <a:t>Grid Row &amp; Column Property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just adjacent to the flex-grow property in Flex Box. 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decides how many columns would the selected element be taking in the Grid.</a:t>
            </a:r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b="1" dirty="0"/>
              <a:t>: </a:t>
            </a:r>
            <a:endParaRPr lang="en-US" sz="2400" b="1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 class="grid-item" style="grid-row: 1/5;"&gt;2&lt;/div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0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973976"/>
            <a:ext cx="2553788" cy="60524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240" y="483325"/>
            <a:ext cx="7004353" cy="58913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span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display: grid;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grid-template-columns: auto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background-color: green;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 {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color: #</a:t>
            </a:r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fff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padding: 20px;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border: 1px solid black;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font-size: 30px;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text-align: center;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759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27F3-D68B-B9E8-BBCB-5A63F26C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220" y="570411"/>
            <a:ext cx="6681651" cy="748937"/>
          </a:xfrm>
        </p:spPr>
        <p:txBody>
          <a:bodyPr/>
          <a:lstStyle/>
          <a:p>
            <a:r>
              <a:rPr lang="en-US" b="1" dirty="0"/>
              <a:t>CSS Tables: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819D-BEB2-1D99-2223-9CC19C5A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817" y="1319348"/>
            <a:ext cx="9872871" cy="50553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Table Borders: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specify table borders in CSS, use the border property.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example below specifies a black border for &lt;table&gt;,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&gt;, and &lt;td&gt;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elements.</a:t>
            </a:r>
          </a:p>
          <a:p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border-collapse property sets whether the table borders should be collapsed into a single 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border.</a:t>
            </a:r>
          </a:p>
          <a:p>
            <a:pPr marL="4572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Example</a:t>
            </a:r>
            <a:r>
              <a:rPr lang="en-US" sz="28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td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border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1px solid black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 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border-collapse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collapse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table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width: 100%; 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 ,  </a:t>
            </a:r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  height: 50px; }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78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A788-A3D9-C78F-5E7C-E3313969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532" y="505097"/>
            <a:ext cx="7426234" cy="722810"/>
          </a:xfrm>
        </p:spPr>
        <p:txBody>
          <a:bodyPr/>
          <a:lstStyle/>
          <a:p>
            <a:r>
              <a:rPr lang="en-US" b="1" dirty="0"/>
              <a:t>CSS Outline: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2D63-12F8-EBB4-D0B0-19C09D1B2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676" y="1345471"/>
            <a:ext cx="8843553" cy="518595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outline is a line that is drawn around elements, OUTSIDE the borders, to make the element "stand out".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 has the following outline properties: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outline-style 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outline-color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outline-width</a:t>
            </a:r>
          </a:p>
          <a:p>
            <a:pPr marL="0" indent="0">
              <a:buNone/>
            </a:pPr>
            <a:r>
              <a:rPr lang="en-US" sz="3000" b="1" dirty="0" smtClean="0"/>
              <a:t>Example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 {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  outline-style: solid;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  outline-color: red;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  outline-width: thin;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61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E22E-603B-9420-DFB0-3A6F4E7E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791" y="407126"/>
            <a:ext cx="5793377" cy="912222"/>
          </a:xfrm>
        </p:spPr>
        <p:txBody>
          <a:bodyPr/>
          <a:lstStyle/>
          <a:p>
            <a:r>
              <a:rPr lang="en-US" b="1" dirty="0"/>
              <a:t>CSS Outline Style: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C303E-40D9-316C-55CE-CFB0DFE63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166" y="1319348"/>
            <a:ext cx="9588137" cy="484095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outline-style property specifies the style of the outline, and can have one of the following values: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dotted - Defines a dotted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dashed - Defines a dashed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solid - Defines a solid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double - Defines a double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groove - Defines a 3D grooved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ridge - Defines a 3D ridged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inset - Defines a 3D inset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outset - Defines a 3D outset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none - Defines no outline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hidden - Defines a hidden outline</a:t>
            </a:r>
          </a:p>
        </p:txBody>
      </p:sp>
    </p:spTree>
    <p:extLst>
      <p:ext uri="{BB962C8B-B14F-4D97-AF65-F5344CB8AC3E}">
        <p14:creationId xmlns:p14="http://schemas.microsoft.com/office/powerpoint/2010/main" val="141801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9DD7-AC40-2EE9-2368-4B487095B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850" y="622662"/>
            <a:ext cx="8183880" cy="801189"/>
          </a:xfrm>
        </p:spPr>
        <p:txBody>
          <a:bodyPr/>
          <a:lstStyle/>
          <a:p>
            <a:r>
              <a:rPr lang="en-US" b="1" dirty="0" smtClean="0"/>
              <a:t>Outline Color &amp; Width: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6FE2-14E0-36D7-B0BC-6829A0BF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561" y="1541417"/>
            <a:ext cx="9620987" cy="479406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outline-color property is used to set the color of the outline.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color can be set by: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like “red”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RGB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Hex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invert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performs a color inversion (which ensures that the outline is visible, regardless of color background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outline-width property specifies the width of the outline, and can have one of the following values: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thin (typically 1px)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medium (typically 3px)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thick (typically 5px)</a:t>
            </a:r>
          </a:p>
          <a:p>
            <a:pPr marL="1280160" lvl="3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specific size (in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px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cm,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07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9BEF-40FC-2D5E-E153-13DB36CD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34" y="2529840"/>
            <a:ext cx="3546566" cy="1356360"/>
          </a:xfrm>
        </p:spPr>
        <p:txBody>
          <a:bodyPr/>
          <a:lstStyle/>
          <a:p>
            <a:r>
              <a:rPr lang="en-US" b="1" dirty="0"/>
              <a:t>Advanced - Link Buttons: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0796-7155-F3AB-51EA-EB8122DF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17" y="452627"/>
            <a:ext cx="7367452" cy="5943599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 combine several CSS properties to display links as boxes/buttons: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a:link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a:visited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background-color: #f44336;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color: white;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padding: 14px 25px;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text-align: center;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text-decoration: none;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display: inline-block;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a:hover, a:active {     background-color: red;    }</a:t>
            </a:r>
          </a:p>
        </p:txBody>
      </p:sp>
    </p:spTree>
    <p:extLst>
      <p:ext uri="{BB962C8B-B14F-4D97-AF65-F5344CB8AC3E}">
        <p14:creationId xmlns:p14="http://schemas.microsoft.com/office/powerpoint/2010/main" val="230223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4172" y="701039"/>
            <a:ext cx="4029891" cy="722811"/>
          </a:xfrm>
        </p:spPr>
        <p:txBody>
          <a:bodyPr/>
          <a:lstStyle/>
          <a:p>
            <a:r>
              <a:rPr lang="en-US" b="1" dirty="0" smtClean="0"/>
              <a:t>2D Transform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1" y="1672045"/>
            <a:ext cx="9529354" cy="453378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allows the content to be restructured in ways like translate, rotate, scale or skew, etc.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it is 2D, therefore the content is transformed into x and y dimensions.</a:t>
            </a:r>
          </a:p>
          <a:p>
            <a:pPr marL="0" indent="0">
              <a:buNone/>
            </a:pPr>
            <a:r>
              <a:rPr lang="en-US" sz="3200" b="1" dirty="0" smtClean="0"/>
              <a:t>Rotate</a:t>
            </a:r>
            <a:endParaRPr lang="en-US" sz="3200" b="1" dirty="0"/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rotates the content of the division either anticlockwise or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clockwise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the degree of rotation. 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values are taken in degree and on adding a negative sign the rotation becomes anticlockwise.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Syntax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transform: rotate(value);</a:t>
            </a:r>
          </a:p>
        </p:txBody>
      </p:sp>
    </p:spTree>
    <p:extLst>
      <p:ext uri="{BB962C8B-B14F-4D97-AF65-F5344CB8AC3E}">
        <p14:creationId xmlns:p14="http://schemas.microsoft.com/office/powerpoint/2010/main" val="311907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9755" y="613954"/>
            <a:ext cx="9464040" cy="5786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Translate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transforms the element’s position along x or y or both x and y directions.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Syntax: transform: translate(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x,y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US" sz="2800" b="1" dirty="0" smtClean="0"/>
              <a:t>Scale</a:t>
            </a:r>
            <a:endParaRPr lang="en-US" sz="2800" b="1" dirty="0"/>
          </a:p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rescales the width and height of the division in the ratio to the original dimensions. </a:t>
            </a:r>
          </a:p>
          <a:p>
            <a:pPr marL="0" indent="0">
              <a:buNone/>
            </a:pPr>
            <a:r>
              <a:rPr lang="en-US" sz="2200" dirty="0" smtClean="0"/>
              <a:t>	</a:t>
            </a:r>
            <a:r>
              <a:rPr lang="en-US" sz="2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Eg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transform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scale(1.4, 1.2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US" sz="2800" b="1" dirty="0" smtClean="0"/>
              <a:t>Skew</a:t>
            </a:r>
            <a:endParaRPr lang="en-US" sz="2800" b="1" dirty="0"/>
          </a:p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property helps in adding a slant or skew to division. (Skew: A pair of lines neither intersecting nor parallel)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Eg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transform: skew(10deg, 5deg);</a:t>
            </a:r>
          </a:p>
        </p:txBody>
      </p:sp>
    </p:spTree>
    <p:extLst>
      <p:ext uri="{BB962C8B-B14F-4D97-AF65-F5344CB8AC3E}">
        <p14:creationId xmlns:p14="http://schemas.microsoft.com/office/powerpoint/2010/main" val="262257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4643846" cy="748937"/>
          </a:xfrm>
        </p:spPr>
        <p:txBody>
          <a:bodyPr/>
          <a:lstStyle/>
          <a:p>
            <a:r>
              <a:rPr lang="en-US" b="1" dirty="0" smtClean="0"/>
              <a:t>  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931" y="1606731"/>
            <a:ext cx="8951940" cy="44892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 {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width: 400px;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height: 200px;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color: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aliceblue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background-color: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blueviolet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border: 2px solid black;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transform: translate(10px, 20px);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/* transform: rotate(-10deg); */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/* transform: scale(1.4, 1.2); */</a:t>
            </a:r>
          </a:p>
          <a:p>
            <a:pPr marL="502920" lvl="1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/* transform: skew(10deg, 5deg); */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5578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623" y="570412"/>
            <a:ext cx="4539343" cy="709749"/>
          </a:xfrm>
        </p:spPr>
        <p:txBody>
          <a:bodyPr/>
          <a:lstStyle/>
          <a:p>
            <a:r>
              <a:rPr lang="en-US" b="1" dirty="0" smtClean="0"/>
              <a:t>  Transitions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415" y="1280161"/>
            <a:ext cx="9353008" cy="525126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Transitions control the ease of transformation from one style to another when we hover over that element. 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Basically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you can control the time take for any transformation to occur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800" b="1" dirty="0" smtClean="0"/>
              <a:t>Example: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 { transition: 3s; }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div:hover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width: 300px;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height: 300px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color: brown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}</a:t>
            </a:r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78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4EDF-ED1C-B23C-3CEF-A1B16E83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188" y="831668"/>
            <a:ext cx="4447903" cy="775063"/>
          </a:xfrm>
        </p:spPr>
        <p:txBody>
          <a:bodyPr/>
          <a:lstStyle/>
          <a:p>
            <a:r>
              <a:rPr lang="en-US" b="1" dirty="0"/>
              <a:t>CSS Animations: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8C672-FEB9-B0E4-EE7E-2A873AF03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895" y="1737359"/>
            <a:ext cx="9430842" cy="4624251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you specify CSS styles inside the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@keyframes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rule, the animation will gradually change from the current style to the new style at certain times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CSS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allows animation of HTML elements without using JavaScript or Flash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</a:p>
          <a:p>
            <a:pPr marL="4572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smtClean="0"/>
              <a:t>@</a:t>
            </a:r>
            <a:r>
              <a:rPr lang="en-US" sz="2800" b="1" dirty="0"/>
              <a:t>keyframes</a:t>
            </a:r>
          </a:p>
          <a:p>
            <a:pPr lvl="4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animation-name</a:t>
            </a:r>
          </a:p>
          <a:p>
            <a:pPr lvl="4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animation-duration</a:t>
            </a:r>
          </a:p>
          <a:p>
            <a:pPr lvl="4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animation-delay</a:t>
            </a:r>
          </a:p>
          <a:p>
            <a:pPr lvl="4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animation-direction</a:t>
            </a:r>
          </a:p>
        </p:txBody>
      </p:sp>
    </p:spTree>
    <p:extLst>
      <p:ext uri="{BB962C8B-B14F-4D97-AF65-F5344CB8AC3E}">
        <p14:creationId xmlns:p14="http://schemas.microsoft.com/office/powerpoint/2010/main" val="260274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C7CE-02DC-68A9-B966-B12DCF23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5296989" cy="47461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@keyframes Rule: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D7CFC-6DB6-F1B2-4AB8-539F453F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0062" y="1358537"/>
            <a:ext cx="8207344" cy="52512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background-color: red;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width:50px; height: 50px;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animation-name: ex;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		animation-duration: 4s;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@keyframes ex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		 from {background-color: red;}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to {background-color: yellow;}   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89654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BCD6-E9CD-9ED1-F394-D6E3DBA7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Dropdowns: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346D7-FCB5-C533-7051-27FBED8A3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3072" y="1613263"/>
            <a:ext cx="8932345" cy="39123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Basic Dropdown: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a dropdown box that appears when the user moves the mouse over an element.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Dropdown Menu: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a dropdown menu that allows the user to choose an option from a list.</a:t>
            </a:r>
          </a:p>
        </p:txBody>
      </p:sp>
    </p:spTree>
    <p:extLst>
      <p:ext uri="{BB962C8B-B14F-4D97-AF65-F5344CB8AC3E}">
        <p14:creationId xmlns:p14="http://schemas.microsoft.com/office/powerpoint/2010/main" val="140555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6138</TotalTime>
  <Words>6791</Words>
  <Application>Microsoft Office PowerPoint</Application>
  <PresentationFormat>Widescreen</PresentationFormat>
  <Paragraphs>829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SimSun</vt:lpstr>
      <vt:lpstr>Arial</vt:lpstr>
      <vt:lpstr>Corbel</vt:lpstr>
      <vt:lpstr>inter-regular</vt:lpstr>
      <vt:lpstr>Segoe UI</vt:lpstr>
      <vt:lpstr>Symbol</vt:lpstr>
      <vt:lpstr>Times New Roman</vt:lpstr>
      <vt:lpstr>Wingdings</vt:lpstr>
      <vt:lpstr>Basis</vt:lpstr>
      <vt:lpstr>FULL STACK</vt:lpstr>
      <vt:lpstr>Full Stack Development</vt:lpstr>
      <vt:lpstr>Front End  What you see in web site. Framework   Template for Front End. Back End  Does all the work. Database   To store all the Data.</vt:lpstr>
      <vt:lpstr>PowerPoint Presentation</vt:lpstr>
      <vt:lpstr>PowerPoint Presentation</vt:lpstr>
      <vt:lpstr>HTML</vt:lpstr>
      <vt:lpstr>DEFINITION:</vt:lpstr>
      <vt:lpstr>Basics:</vt:lpstr>
      <vt:lpstr>HTML Headings:</vt:lpstr>
      <vt:lpstr>HTML Paragraphs:</vt:lpstr>
      <vt:lpstr>Basic Structure:</vt:lpstr>
      <vt:lpstr>HTML Formatting:</vt:lpstr>
      <vt:lpstr>HTML Attributes:</vt:lpstr>
      <vt:lpstr>HTML Style:</vt:lpstr>
      <vt:lpstr>PowerPoint Presentation</vt:lpstr>
      <vt:lpstr>Span tag example:</vt:lpstr>
      <vt:lpstr>PowerPoint Presentation</vt:lpstr>
      <vt:lpstr>External Reference:</vt:lpstr>
      <vt:lpstr>HTML Links:</vt:lpstr>
      <vt:lpstr>PowerPoint Presentation</vt:lpstr>
      <vt:lpstr>HTML Lists:</vt:lpstr>
      <vt:lpstr>PowerPoint Presentation</vt:lpstr>
      <vt:lpstr>Description List:</vt:lpstr>
      <vt:lpstr>PowerPoint Presentation</vt:lpstr>
      <vt:lpstr>HTML Block:</vt:lpstr>
      <vt:lpstr>Inline Elements:</vt:lpstr>
      <vt:lpstr>HTML Semantic:</vt:lpstr>
      <vt:lpstr>Semantic Tags:</vt:lpstr>
      <vt:lpstr>HTML Layout:</vt:lpstr>
      <vt:lpstr>Example:</vt:lpstr>
      <vt:lpstr>PowerPoint Presentation</vt:lpstr>
      <vt:lpstr>PowerPoint Presentation</vt:lpstr>
      <vt:lpstr>PowerPoint Presentation</vt:lpstr>
      <vt:lpstr>HTML Table:</vt:lpstr>
      <vt:lpstr>HTML Responsive:</vt:lpstr>
      <vt:lpstr>Responsive Text Size:</vt:lpstr>
      <vt:lpstr>HTML Form:</vt:lpstr>
      <vt:lpstr>Submit Button:</vt:lpstr>
      <vt:lpstr>PowerPoint Presentation</vt:lpstr>
      <vt:lpstr>CSS</vt:lpstr>
      <vt:lpstr>Introduction:</vt:lpstr>
      <vt:lpstr>     Syntax:</vt:lpstr>
      <vt:lpstr>PowerPoint Presentation</vt:lpstr>
      <vt:lpstr>Inserting CSS:</vt:lpstr>
      <vt:lpstr>CSS Colours:</vt:lpstr>
      <vt:lpstr>RGB values:</vt:lpstr>
      <vt:lpstr>HEX Value:</vt:lpstr>
      <vt:lpstr>HSL Value:</vt:lpstr>
      <vt:lpstr>Example:</vt:lpstr>
      <vt:lpstr>CSS Background:</vt:lpstr>
      <vt:lpstr>CSS Margins &amp; Padding:</vt:lpstr>
      <vt:lpstr>     Margin      Border      Padding</vt:lpstr>
      <vt:lpstr>Box-sizing:</vt:lpstr>
      <vt:lpstr>CSS Shadow Effects:</vt:lpstr>
      <vt:lpstr>Box Shadow:</vt:lpstr>
      <vt:lpstr>CSS Text:</vt:lpstr>
      <vt:lpstr>PowerPoint Presentation</vt:lpstr>
      <vt:lpstr>Text Indentation and Spacing:</vt:lpstr>
      <vt:lpstr>CSS Font:</vt:lpstr>
      <vt:lpstr>Font Style:</vt:lpstr>
      <vt:lpstr>Font Size:</vt:lpstr>
      <vt:lpstr>PowerPoint Presentation</vt:lpstr>
      <vt:lpstr>CSS Layout</vt:lpstr>
      <vt:lpstr>  Flex Layout</vt:lpstr>
      <vt:lpstr>Flex Container Properties</vt:lpstr>
      <vt:lpstr>Example:</vt:lpstr>
      <vt:lpstr>Flex Items Properties</vt:lpstr>
      <vt:lpstr>Grid Layout:</vt:lpstr>
      <vt:lpstr>Example:</vt:lpstr>
      <vt:lpstr>CSS Tables:</vt:lpstr>
      <vt:lpstr>CSS Outline:</vt:lpstr>
      <vt:lpstr>CSS Outline Style:</vt:lpstr>
      <vt:lpstr>Outline Color &amp; Width:</vt:lpstr>
      <vt:lpstr>Advanced - Link Buttons:</vt:lpstr>
      <vt:lpstr>2D Transform</vt:lpstr>
      <vt:lpstr>PowerPoint Presentation</vt:lpstr>
      <vt:lpstr>   Example</vt:lpstr>
      <vt:lpstr>  Transitions</vt:lpstr>
      <vt:lpstr>CSS Animations:</vt:lpstr>
      <vt:lpstr>@keyframes Rule:</vt:lpstr>
      <vt:lpstr>CSS Dropdowns: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</dc:title>
  <dc:creator>Roshni S</dc:creator>
  <cp:lastModifiedBy>Admin</cp:lastModifiedBy>
  <cp:revision>378</cp:revision>
  <dcterms:created xsi:type="dcterms:W3CDTF">2023-02-07T12:37:22Z</dcterms:created>
  <dcterms:modified xsi:type="dcterms:W3CDTF">2025-12-23T12:51:42Z</dcterms:modified>
</cp:coreProperties>
</file>