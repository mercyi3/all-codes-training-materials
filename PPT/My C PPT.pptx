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84" r:id="rId8"/>
    <p:sldId id="263" r:id="rId9"/>
    <p:sldId id="261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86" r:id="rId20"/>
    <p:sldId id="273" r:id="rId21"/>
    <p:sldId id="275" r:id="rId22"/>
    <p:sldId id="276" r:id="rId23"/>
    <p:sldId id="277" r:id="rId24"/>
    <p:sldId id="278" r:id="rId25"/>
    <p:sldId id="285" r:id="rId26"/>
    <p:sldId id="279" r:id="rId27"/>
    <p:sldId id="280" r:id="rId28"/>
    <p:sldId id="281" r:id="rId29"/>
    <p:sldId id="287" r:id="rId30"/>
    <p:sldId id="282" r:id="rId31"/>
    <p:sldId id="283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6" r:id="rId40"/>
    <p:sldId id="297" r:id="rId41"/>
    <p:sldId id="298" r:id="rId42"/>
    <p:sldId id="294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10:56:43.3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10:56:47.3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10:56:51.9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10:56:52.3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04:21:19.2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24575,'3535'0'0,"-3535"0"0,0 0 0,0 0 0,0-1 0,0 1 0,0 0 0,1 0 0,-1 0 0,0 0 0,0 0 0,0 0 0,0 0 0,0 0 0,1 1 0,-1-1 0,0 0 0,0 0 0,0 0 0,0 0 0,0 0 0,1 0 0,-1 0 0,0 0 0,0 0 0,0 0 0,0 0 0,0 0 0,0 1 0,0-1 0,1 0 0,-1 0 0,0 0 0,0 0 0,0 0 0,0 0 0,0 1 0,0-1 0,0 0 0,0 0 0,0 0 0,0 0 0,0 0 0,0 1 0,0-1 0,0 0 0,0 0 0,0 0 0,0 0 0,0 0 0,0 1 0,0-1 0,0 0 0,0 0 0,0 0 0,0 0 0,0 0 0,0 0 0,0 1 0,0-1 0,-1 0 0,1 0 0,0 0 0,0 0 0,0 0 0,0 0 0,-13 14 0,-20 10 0,17-16 0,0-1 0,0-1 0,-1-1 0,-22 5 0,-9 2 0,18-5 0,0-1 0,0-2 0,0-1 0,-43-1 0,37-2 0,-1 2 0,-51 10 0,20-2 0,0-3 0,0-2 0,-102-7 0,-91 5 0,171 15 0,67-13 0,-1 0 0,-27 2 0,17-3 0,0 2 0,1 1 0,-42 14 0,45-11 0,-1-1 0,1-2 0,-1-1 0,-42 2 0,-114-10-1365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04:21:21.4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04:21:24.8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6T04:22:13.8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14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81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07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75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11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84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76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24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44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02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16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5648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921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325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8425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322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013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16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D613931-9845-4A33-984C-340B8D16A32F}" type="datetimeFigureOut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9AC4436-33E4-4652-BD5C-70EC91E0F9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local-vs-global-variable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6.xml"/><Relationship Id="rId4" Type="http://schemas.openxmlformats.org/officeDocument/2006/relationships/image" Target="../media/image17.emf"/><Relationship Id="rId9" Type="http://schemas.openxmlformats.org/officeDocument/2006/relationships/customXml" Target="../ink/ink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71F2-CFEC-735F-3FDF-226457839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dirty="0"/>
              <a:t>C</a:t>
            </a:r>
            <a:r>
              <a:rPr lang="en-IN" dirty="0"/>
              <a:t>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87599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F2BDB14-41DB-E012-292D-4A1D4951535B}"/>
              </a:ext>
            </a:extLst>
          </p:cNvPr>
          <p:cNvSpPr/>
          <p:nvPr/>
        </p:nvSpPr>
        <p:spPr>
          <a:xfrm>
            <a:off x="1721225" y="1869141"/>
            <a:ext cx="2232212" cy="2326341"/>
          </a:xfrm>
          <a:prstGeom prst="wedgeRound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303EB-6CD6-2FC7-F80A-104857C9EB2E}"/>
              </a:ext>
            </a:extLst>
          </p:cNvPr>
          <p:cNvSpPr txBox="1"/>
          <p:nvPr/>
        </p:nvSpPr>
        <p:spPr>
          <a:xfrm>
            <a:off x="5168695" y="1099272"/>
            <a:ext cx="50157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What is C?</a:t>
            </a:r>
          </a:p>
          <a:p>
            <a:endParaRPr lang="en-IN" sz="3200" b="1" dirty="0"/>
          </a:p>
          <a:p>
            <a:r>
              <a:rPr lang="en-IN" sz="3200" b="1" dirty="0"/>
              <a:t>When C Developed?</a:t>
            </a:r>
          </a:p>
          <a:p>
            <a:endParaRPr lang="en-IN" sz="3200" b="1" dirty="0"/>
          </a:p>
          <a:p>
            <a:r>
              <a:rPr lang="en-IN" sz="3200" b="1" dirty="0"/>
              <a:t>Why C?</a:t>
            </a:r>
          </a:p>
          <a:p>
            <a:endParaRPr lang="en-IN" sz="3200" b="1" dirty="0"/>
          </a:p>
          <a:p>
            <a:r>
              <a:rPr lang="en-IN" sz="3200" b="1" dirty="0"/>
              <a:t>How it Runs?</a:t>
            </a:r>
          </a:p>
          <a:p>
            <a:endParaRPr lang="en-IN" sz="3200" b="1" dirty="0"/>
          </a:p>
          <a:p>
            <a:r>
              <a:rPr lang="en-IN" sz="3200" b="1" dirty="0"/>
              <a:t>Who are all Using</a:t>
            </a:r>
            <a:r>
              <a:rPr lang="en-IN" sz="3200" b="1" dirty="0" smtClean="0"/>
              <a:t>?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61260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4045-2C61-7CD9-3B11-C1D74499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609" y="1009027"/>
            <a:ext cx="10364451" cy="914719"/>
          </a:xfrm>
        </p:spPr>
        <p:txBody>
          <a:bodyPr/>
          <a:lstStyle/>
          <a:p>
            <a:r>
              <a:rPr lang="en-IN" b="1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44072-FEE4-B4A2-4D28-F04BFDDC5F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51890" y="1923746"/>
            <a:ext cx="8709891" cy="3756618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Mother language</a:t>
            </a:r>
          </a:p>
          <a:p>
            <a:r>
              <a:rPr lang="en-US" sz="2800" dirty="0"/>
              <a:t>General purpose language</a:t>
            </a:r>
          </a:p>
          <a:p>
            <a:r>
              <a:rPr lang="en-US" sz="2800" dirty="0"/>
              <a:t>Mid-level programming language</a:t>
            </a:r>
          </a:p>
          <a:p>
            <a:r>
              <a:rPr lang="en-US" sz="2800" dirty="0"/>
              <a:t>It is a procedure and structure oriented language.</a:t>
            </a:r>
          </a:p>
          <a:p>
            <a:r>
              <a:rPr lang="en-US" sz="2800" dirty="0"/>
              <a:t>It has the full support of various operating systems and hardware platforms.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9828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64281-5E0C-F4A3-23E8-2A68961F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75" y="1064446"/>
            <a:ext cx="10364451" cy="785410"/>
          </a:xfrm>
        </p:spPr>
        <p:txBody>
          <a:bodyPr/>
          <a:lstStyle/>
          <a:p>
            <a:r>
              <a:rPr lang="en-IN" b="1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CCC5E-96CD-0D4B-1269-B669A1B841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5446" y="1849856"/>
            <a:ext cx="8793644" cy="3424107"/>
          </a:xfrm>
        </p:spPr>
        <p:txBody>
          <a:bodyPr>
            <a:noAutofit/>
          </a:bodyPr>
          <a:lstStyle/>
          <a:p>
            <a:r>
              <a:rPr lang="en-US" sz="2400" dirty="0"/>
              <a:t>C was developed in </a:t>
            </a:r>
            <a:r>
              <a:rPr lang="en-US" sz="2400" b="1" dirty="0"/>
              <a:t>1972</a:t>
            </a:r>
            <a:r>
              <a:rPr lang="en-US" sz="2400" dirty="0"/>
              <a:t> by </a:t>
            </a:r>
            <a:r>
              <a:rPr lang="en-US" sz="2400" b="1" dirty="0"/>
              <a:t>Dennis Ritchie </a:t>
            </a:r>
            <a:r>
              <a:rPr lang="en-US" sz="2400" dirty="0"/>
              <a:t>at bell laboratories of AT&amp;T (American Telephone &amp; Telegraph), located in the </a:t>
            </a:r>
            <a:r>
              <a:rPr lang="en-US" sz="2400" dirty="0" smtClean="0"/>
              <a:t>U.S.A.</a:t>
            </a:r>
            <a:endParaRPr lang="en-US" sz="2400" dirty="0"/>
          </a:p>
          <a:p>
            <a:r>
              <a:rPr lang="en-US" sz="2400" dirty="0"/>
              <a:t>C language was developed to be used in </a:t>
            </a:r>
            <a:r>
              <a:rPr lang="en-US" sz="2400" b="1" dirty="0"/>
              <a:t>UNIX operating system. </a:t>
            </a:r>
          </a:p>
          <a:p>
            <a:r>
              <a:rPr lang="en-US" sz="2400" dirty="0"/>
              <a:t>It inherits many </a:t>
            </a:r>
            <a:r>
              <a:rPr lang="en-US" sz="2400" b="1" dirty="0"/>
              <a:t>features of previous languages </a:t>
            </a:r>
            <a:r>
              <a:rPr lang="en-US" sz="2400" dirty="0"/>
              <a:t>such as </a:t>
            </a:r>
            <a:r>
              <a:rPr lang="en-US" sz="2400" b="1" dirty="0"/>
              <a:t>B and BCPL.</a:t>
            </a:r>
          </a:p>
          <a:p>
            <a:r>
              <a:rPr lang="en-IN" sz="2400" dirty="0"/>
              <a:t>‘C’ contains </a:t>
            </a:r>
            <a:r>
              <a:rPr lang="en-IN" sz="2400" b="1" dirty="0"/>
              <a:t>32 keywords</a:t>
            </a:r>
            <a:r>
              <a:rPr lang="en-IN" sz="2400" dirty="0" smtClean="0"/>
              <a:t>.</a:t>
            </a:r>
            <a:endParaRPr lang="en-IN" sz="2400" dirty="0"/>
          </a:p>
        </p:txBody>
      </p:sp>
      <p:pic>
        <p:nvPicPr>
          <p:cNvPr id="1028" name="Picture 4" descr="Dennis Ritchie - founder of C language">
            <a:extLst>
              <a:ext uri="{FF2B5EF4-FFF2-40B4-BE49-F238E27FC236}">
                <a16:creationId xmlns:a16="http://schemas.microsoft.com/office/drawing/2014/main" id="{22F1545D-FCE8-A4B3-C18E-155EBBE71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090" y="1607306"/>
            <a:ext cx="1718403" cy="221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32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C168-E779-D690-DD54-D311760C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it Runs: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B6EC8B3-A8A2-BB84-D2F9-9BFE18636EE3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9750" y="2139012"/>
            <a:ext cx="8572500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98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eatures of C Programming Language | atnyla">
            <a:extLst>
              <a:ext uri="{FF2B5EF4-FFF2-40B4-BE49-F238E27FC236}">
                <a16:creationId xmlns:a16="http://schemas.microsoft.com/office/drawing/2014/main" id="{13FF940B-F565-0468-F173-762936D89373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4495" y="960582"/>
            <a:ext cx="8640232" cy="486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96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5B80-1D32-D0E3-03AE-F17A4ABE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38" y="990555"/>
            <a:ext cx="10364451" cy="785410"/>
          </a:xfrm>
        </p:spPr>
        <p:txBody>
          <a:bodyPr/>
          <a:lstStyle/>
          <a:p>
            <a:r>
              <a:rPr lang="en-US" b="1" dirty="0"/>
              <a:t>Applications: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9B56B-E259-BA7B-509E-1EA2C4D81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9265" y="1775965"/>
            <a:ext cx="10363826" cy="4107599"/>
          </a:xfrm>
        </p:spPr>
        <p:txBody>
          <a:bodyPr>
            <a:noAutofit/>
          </a:bodyPr>
          <a:lstStyle/>
          <a:p>
            <a:r>
              <a:rPr lang="en-US" sz="2200" dirty="0"/>
              <a:t>It is widely used for developing </a:t>
            </a:r>
            <a:r>
              <a:rPr lang="en-US" sz="2200" dirty="0">
                <a:solidFill>
                  <a:srgbClr val="FF0000"/>
                </a:solidFill>
              </a:rPr>
              <a:t>desktop applications like kernel, driver.</a:t>
            </a:r>
          </a:p>
          <a:p>
            <a:r>
              <a:rPr lang="en-US" sz="2200" dirty="0"/>
              <a:t>Most of the applications by </a:t>
            </a:r>
            <a:r>
              <a:rPr lang="en-US" sz="2200" dirty="0">
                <a:solidFill>
                  <a:srgbClr val="FF0000"/>
                </a:solidFill>
              </a:rPr>
              <a:t>Adobe</a:t>
            </a:r>
            <a:r>
              <a:rPr lang="en-US" sz="2200" dirty="0"/>
              <a:t> are developed using ‘C’ programming language.</a:t>
            </a:r>
          </a:p>
          <a:p>
            <a:r>
              <a:rPr lang="en-US" sz="2200" dirty="0"/>
              <a:t>It is used for developing </a:t>
            </a:r>
            <a:r>
              <a:rPr lang="en-US" sz="2200" dirty="0">
                <a:solidFill>
                  <a:srgbClr val="FF0000"/>
                </a:solidFill>
              </a:rPr>
              <a:t>browsers</a:t>
            </a:r>
            <a:r>
              <a:rPr lang="en-US" sz="2200" dirty="0"/>
              <a:t> and their </a:t>
            </a:r>
            <a:r>
              <a:rPr lang="en-US" sz="2200" dirty="0" smtClean="0">
                <a:solidFill>
                  <a:srgbClr val="FF0000"/>
                </a:solidFill>
              </a:rPr>
              <a:t>extensions.</a:t>
            </a:r>
          </a:p>
          <a:p>
            <a:r>
              <a:rPr lang="en-US" sz="2200" dirty="0"/>
              <a:t>It is used for developing </a:t>
            </a:r>
            <a:r>
              <a:rPr lang="en-US" sz="2200" dirty="0">
                <a:solidFill>
                  <a:srgbClr val="FF0000"/>
                </a:solidFill>
              </a:rPr>
              <a:t>desktop as well as mobile phone’s OS</a:t>
            </a:r>
            <a:r>
              <a:rPr lang="en-US" sz="2200" dirty="0" smtClean="0"/>
              <a:t>.</a:t>
            </a:r>
            <a:endParaRPr lang="en-US" sz="2200" dirty="0" smtClean="0">
              <a:solidFill>
                <a:srgbClr val="FF0000"/>
              </a:solidFill>
            </a:endParaRPr>
          </a:p>
          <a:p>
            <a:r>
              <a:rPr lang="en-US" sz="2200" dirty="0" smtClean="0"/>
              <a:t>Operating systems such as </a:t>
            </a:r>
            <a:r>
              <a:rPr lang="en-US" sz="2200" dirty="0" smtClean="0">
                <a:solidFill>
                  <a:srgbClr val="FF0000"/>
                </a:solidFill>
              </a:rPr>
              <a:t>Apple’s OS X, Microsoft’s Windows </a:t>
            </a:r>
            <a:r>
              <a:rPr lang="en-US" sz="2200" dirty="0" smtClean="0"/>
              <a:t>are developed using ‘C’ language. </a:t>
            </a:r>
          </a:p>
          <a:p>
            <a:r>
              <a:rPr lang="en-US" sz="2200" dirty="0" smtClean="0"/>
              <a:t>It </a:t>
            </a:r>
            <a:r>
              <a:rPr lang="en-US" sz="2200" dirty="0"/>
              <a:t>is used for </a:t>
            </a:r>
            <a:r>
              <a:rPr lang="en-US" sz="2200" dirty="0">
                <a:solidFill>
                  <a:srgbClr val="FF0000"/>
                </a:solidFill>
              </a:rPr>
              <a:t>compiler </a:t>
            </a:r>
            <a:r>
              <a:rPr lang="en-US" sz="2200" dirty="0" smtClean="0">
                <a:solidFill>
                  <a:srgbClr val="FF0000"/>
                </a:solidFill>
              </a:rPr>
              <a:t>production like </a:t>
            </a:r>
            <a:r>
              <a:rPr lang="en-US" sz="2200" dirty="0" err="1" smtClean="0">
                <a:solidFill>
                  <a:srgbClr val="FF0000"/>
                </a:solidFill>
              </a:rPr>
              <a:t>mingw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/>
              <a:t>and </a:t>
            </a:r>
            <a:r>
              <a:rPr lang="en-US" sz="2200" dirty="0" smtClean="0">
                <a:solidFill>
                  <a:srgbClr val="FF0000"/>
                </a:solidFill>
              </a:rPr>
              <a:t>Text Editors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7463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A863-FAA0-0F27-0241-E7D1BBB56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380484"/>
            <a:ext cx="10364451" cy="877774"/>
          </a:xfrm>
        </p:spPr>
        <p:txBody>
          <a:bodyPr/>
          <a:lstStyle/>
          <a:p>
            <a:r>
              <a:rPr lang="en-IN" b="1" dirty="0" err="1" smtClean="0"/>
              <a:t>Printf</a:t>
            </a:r>
            <a:r>
              <a:rPr lang="en-IN" b="1" dirty="0" smtClean="0"/>
              <a:t> function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78E6-DED5-8A12-51C3-9FEA1B8A0D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3" y="1258258"/>
            <a:ext cx="9859076" cy="5338485"/>
          </a:xfrm>
        </p:spPr>
        <p:txBody>
          <a:bodyPr>
            <a:noAutofit/>
          </a:bodyPr>
          <a:lstStyle/>
          <a:p>
            <a:pPr lvl="2"/>
            <a:r>
              <a:rPr lang="en-US" sz="2300" dirty="0" smtClean="0"/>
              <a:t>The </a:t>
            </a:r>
            <a:r>
              <a:rPr lang="en-US" sz="2300" dirty="0"/>
              <a:t>printf() function is used for </a:t>
            </a:r>
            <a:r>
              <a:rPr lang="en-US" sz="2300" b="1" dirty="0"/>
              <a:t>output</a:t>
            </a:r>
            <a:r>
              <a:rPr lang="en-US" sz="2300" dirty="0" smtClean="0"/>
              <a:t>.</a:t>
            </a:r>
          </a:p>
          <a:p>
            <a:pPr lvl="2"/>
            <a:r>
              <a:rPr lang="en-US" sz="2300" dirty="0" smtClean="0"/>
              <a:t>This is </a:t>
            </a:r>
            <a:r>
              <a:rPr lang="en-US" sz="2300" dirty="0"/>
              <a:t>inbuilt library </a:t>
            </a:r>
            <a:r>
              <a:rPr lang="en-US" sz="2300" dirty="0" smtClean="0"/>
              <a:t>function, </a:t>
            </a:r>
            <a:r>
              <a:rPr lang="en-US" sz="2300" dirty="0"/>
              <a:t>defined in </a:t>
            </a:r>
            <a:r>
              <a:rPr lang="en-US" sz="2300" b="1" dirty="0" err="1"/>
              <a:t>stdio.h</a:t>
            </a:r>
            <a:r>
              <a:rPr lang="en-US" sz="2300" dirty="0"/>
              <a:t> (header file</a:t>
            </a:r>
            <a:r>
              <a:rPr lang="en-US" sz="2300" dirty="0" smtClean="0"/>
              <a:t>).</a:t>
            </a:r>
            <a:endParaRPr lang="en-US" sz="23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smtClean="0">
                <a:solidFill>
                  <a:schemeClr val="tx2"/>
                </a:solidFill>
              </a:rPr>
              <a:t>    </a:t>
            </a:r>
            <a:r>
              <a:rPr lang="en-US" sz="2400" b="1" dirty="0" smtClean="0">
                <a:solidFill>
                  <a:schemeClr val="tx2"/>
                </a:solidFill>
              </a:rPr>
              <a:t>Syntax: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2"/>
                </a:solidFill>
              </a:rPr>
              <a:t>	</a:t>
            </a:r>
            <a:r>
              <a:rPr lang="en-US" sz="2400" b="1" dirty="0" smtClean="0">
                <a:solidFill>
                  <a:schemeClr val="tx2"/>
                </a:solidFill>
              </a:rPr>
              <a:t>	</a:t>
            </a:r>
            <a:r>
              <a:rPr lang="en-US" sz="2400" dirty="0" err="1" smtClean="0"/>
              <a:t>printf</a:t>
            </a:r>
            <a:r>
              <a:rPr lang="en-US" sz="2400" dirty="0" smtClean="0"/>
              <a:t>(“</a:t>
            </a:r>
            <a:r>
              <a:rPr lang="en-US" sz="2400" dirty="0" smtClean="0"/>
              <a:t>Printing Statement</a:t>
            </a:r>
            <a:r>
              <a:rPr lang="en-US" sz="2400" dirty="0" smtClean="0"/>
              <a:t>”);</a:t>
            </a:r>
            <a:endParaRPr lang="en-US" sz="24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printf</a:t>
            </a:r>
            <a:r>
              <a:rPr lang="en-US" sz="2400" dirty="0"/>
              <a:t>("format string</a:t>
            </a:r>
            <a:r>
              <a:rPr lang="en-US" sz="2400" dirty="0" smtClean="0"/>
              <a:t>", </a:t>
            </a:r>
            <a:r>
              <a:rPr lang="en-US" sz="2400" dirty="0" err="1" smtClean="0"/>
              <a:t>argument_list</a:t>
            </a:r>
            <a:r>
              <a:rPr lang="en-US" sz="2400" dirty="0"/>
              <a:t>);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chemeClr val="tx2"/>
                </a:solidFill>
              </a:rPr>
              <a:t>Example: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400" dirty="0"/>
              <a:t>	</a:t>
            </a:r>
            <a:r>
              <a:rPr lang="en-US" sz="2400" dirty="0" smtClean="0"/>
              <a:t>	#include&lt;</a:t>
            </a:r>
            <a:r>
              <a:rPr lang="en-US" sz="2400" dirty="0" err="1" smtClean="0"/>
              <a:t>stdio.h</a:t>
            </a:r>
            <a:r>
              <a:rPr lang="en-US" sz="2400" dirty="0" smtClean="0"/>
              <a:t>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400" dirty="0"/>
              <a:t>	</a:t>
            </a:r>
            <a:r>
              <a:rPr lang="en-US" sz="2400" dirty="0" smtClean="0"/>
              <a:t>	void main()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400" dirty="0"/>
              <a:t>	</a:t>
            </a:r>
            <a:r>
              <a:rPr lang="en-US" sz="2400" dirty="0" smtClean="0"/>
              <a:t>		</a:t>
            </a:r>
            <a:r>
              <a:rPr lang="en-US" sz="2400" dirty="0" err="1" smtClean="0"/>
              <a:t>printf</a:t>
            </a:r>
            <a:r>
              <a:rPr lang="en-US" sz="2400" dirty="0" smtClean="0"/>
              <a:t>(“Hello world”);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400" dirty="0"/>
              <a:t>	</a:t>
            </a:r>
            <a:r>
              <a:rPr lang="en-US" sz="2400" dirty="0" smtClean="0"/>
              <a:t>	</a:t>
            </a:r>
            <a:r>
              <a:rPr lang="en-US" sz="2400" dirty="0" smtClean="0"/>
              <a:t>}</a:t>
            </a:r>
          </a:p>
          <a:p>
            <a:pPr marL="457200" lvl="1" indent="0">
              <a:buNone/>
            </a:pPr>
            <a:r>
              <a:rPr lang="en-US" sz="2200" b="1" dirty="0" smtClean="0">
                <a:solidFill>
                  <a:schemeClr val="accent1"/>
                </a:solidFill>
              </a:rPr>
              <a:t>Note:</a:t>
            </a:r>
            <a:r>
              <a:rPr lang="en-US" sz="2200" b="1" dirty="0" smtClean="0"/>
              <a:t> To run C program we need to install </a:t>
            </a:r>
            <a:r>
              <a:rPr lang="en-US" sz="2200" b="1" dirty="0" err="1" smtClean="0"/>
              <a:t>mingw</a:t>
            </a:r>
            <a:r>
              <a:rPr lang="en-US" sz="2200" b="1" dirty="0" smtClean="0"/>
              <a:t> compiler</a:t>
            </a:r>
            <a:endParaRPr lang="en-US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397062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55CF-197F-02F9-23B3-0CB3BA745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02" y="618518"/>
            <a:ext cx="10364451" cy="831592"/>
          </a:xfrm>
        </p:spPr>
        <p:txBody>
          <a:bodyPr/>
          <a:lstStyle/>
          <a:p>
            <a:r>
              <a:rPr lang="en-IN" b="1" dirty="0" smtClean="0"/>
              <a:t>User Input</a:t>
            </a:r>
            <a:r>
              <a:rPr lang="en-IN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E3DAF-CCEE-B852-FF15-865E6F33CC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60319" y="1357746"/>
            <a:ext cx="9310881" cy="5043054"/>
          </a:xfrm>
        </p:spPr>
        <p:txBody>
          <a:bodyPr>
            <a:normAutofit/>
          </a:bodyPr>
          <a:lstStyle/>
          <a:p>
            <a:pPr lvl="1"/>
            <a:r>
              <a:rPr lang="en-US" sz="2200" dirty="0" smtClean="0"/>
              <a:t>The </a:t>
            </a:r>
            <a:r>
              <a:rPr lang="en-US" sz="2200" b="1" dirty="0"/>
              <a:t>scanf() </a:t>
            </a:r>
            <a:r>
              <a:rPr lang="en-US" sz="2200" dirty="0"/>
              <a:t>function is used for </a:t>
            </a:r>
            <a:r>
              <a:rPr lang="en-US" sz="2200" b="1" dirty="0"/>
              <a:t>input</a:t>
            </a:r>
            <a:r>
              <a:rPr lang="en-US" sz="2200" dirty="0"/>
              <a:t>. </a:t>
            </a:r>
            <a:endParaRPr lang="en-US" sz="2200" dirty="0" smtClean="0"/>
          </a:p>
          <a:p>
            <a:pPr lvl="1"/>
            <a:r>
              <a:rPr lang="en-US" sz="2200" dirty="0"/>
              <a:t>This is inbuilt library functions, defined in </a:t>
            </a:r>
            <a:r>
              <a:rPr lang="en-US" sz="2200" b="1" dirty="0" err="1"/>
              <a:t>stdio.h</a:t>
            </a:r>
            <a:r>
              <a:rPr lang="en-US" sz="2200" dirty="0"/>
              <a:t> (header file</a:t>
            </a:r>
            <a:r>
              <a:rPr lang="en-US" sz="2200" dirty="0" smtClean="0"/>
              <a:t>).</a:t>
            </a:r>
            <a:endParaRPr lang="en-US" sz="2200" dirty="0"/>
          </a:p>
          <a:p>
            <a:pPr lvl="1"/>
            <a:r>
              <a:rPr lang="en-US" sz="2200" dirty="0"/>
              <a:t>It reads the input data from the console.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    Syntax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2"/>
            <a:r>
              <a:rPr lang="en-US" sz="2200" dirty="0"/>
              <a:t>scanf("format string</a:t>
            </a:r>
            <a:r>
              <a:rPr lang="en-US" sz="2200" dirty="0" smtClean="0"/>
              <a:t>", </a:t>
            </a:r>
            <a:r>
              <a:rPr lang="en-US" sz="2200" dirty="0" err="1" smtClean="0"/>
              <a:t>argument_list</a:t>
            </a:r>
            <a:r>
              <a:rPr lang="en-US" sz="2200" dirty="0"/>
              <a:t>); </a:t>
            </a:r>
            <a:endParaRPr lang="en-US" sz="2200" dirty="0" smtClean="0"/>
          </a:p>
          <a:p>
            <a:pPr marL="914400" lvl="2" indent="0">
              <a:buNone/>
            </a:pPr>
            <a:r>
              <a:rPr lang="en-US" sz="2200" dirty="0"/>
              <a:t>The </a:t>
            </a:r>
            <a:r>
              <a:rPr lang="en-US" sz="2200" b="1" dirty="0"/>
              <a:t>format string </a:t>
            </a:r>
            <a:r>
              <a:rPr lang="en-US" sz="2200" dirty="0"/>
              <a:t>can be,</a:t>
            </a:r>
          </a:p>
          <a:p>
            <a:pPr lvl="4"/>
            <a:r>
              <a:rPr lang="en-US" sz="2400" dirty="0"/>
              <a:t> %</a:t>
            </a:r>
            <a:r>
              <a:rPr lang="en-US" sz="2400" cap="none" dirty="0"/>
              <a:t>d</a:t>
            </a:r>
            <a:r>
              <a:rPr lang="en-US" sz="2400" dirty="0"/>
              <a:t> (integer)</a:t>
            </a:r>
          </a:p>
          <a:p>
            <a:pPr lvl="4"/>
            <a:r>
              <a:rPr lang="en-US" sz="2400" dirty="0"/>
              <a:t> %</a:t>
            </a:r>
            <a:r>
              <a:rPr lang="en-US" sz="2400" cap="none" dirty="0"/>
              <a:t>c</a:t>
            </a:r>
            <a:r>
              <a:rPr lang="en-US" sz="2400" dirty="0"/>
              <a:t> (character), </a:t>
            </a:r>
          </a:p>
          <a:p>
            <a:pPr lvl="4"/>
            <a:r>
              <a:rPr lang="en-US" sz="2400" dirty="0"/>
              <a:t>%</a:t>
            </a:r>
            <a:r>
              <a:rPr lang="en-US" sz="2400" cap="none" dirty="0"/>
              <a:t>s</a:t>
            </a:r>
            <a:r>
              <a:rPr lang="en-US" sz="2400" dirty="0"/>
              <a:t> (string), </a:t>
            </a:r>
          </a:p>
          <a:p>
            <a:pPr lvl="4"/>
            <a:r>
              <a:rPr lang="en-US" sz="2400" dirty="0"/>
              <a:t>%</a:t>
            </a:r>
            <a:r>
              <a:rPr lang="en-US" sz="2400" cap="none" dirty="0"/>
              <a:t>f</a:t>
            </a:r>
            <a:r>
              <a:rPr lang="en-US" sz="2400" dirty="0"/>
              <a:t> (float) etc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942217" y="4376057"/>
            <a:ext cx="3749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</a:rPr>
              <a:t>Note: </a:t>
            </a:r>
            <a:r>
              <a:rPr lang="en-US" sz="2400" b="1" dirty="0" smtClean="0"/>
              <a:t>To get input from terminal we need to tick RUN IN TERMINAL checkbox in settings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6911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152A-156E-1A1C-C641-8E4E02A34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242" y="870482"/>
            <a:ext cx="10364451" cy="785410"/>
          </a:xfrm>
        </p:spPr>
        <p:txBody>
          <a:bodyPr/>
          <a:lstStyle/>
          <a:p>
            <a:r>
              <a:rPr lang="en-IN" b="1" dirty="0"/>
              <a:t>Variables: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BEB9D-2A58-D938-4BD9-3A7050DE1E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45045" y="1563528"/>
            <a:ext cx="9098444" cy="4292326"/>
          </a:xfrm>
        </p:spPr>
        <p:txBody>
          <a:bodyPr>
            <a:noAutofit/>
          </a:bodyPr>
          <a:lstStyle/>
          <a:p>
            <a:r>
              <a:rPr lang="en-US" sz="2200" b="0" i="0" dirty="0">
                <a:solidFill>
                  <a:srgbClr val="222222"/>
                </a:solidFill>
                <a:effectLst/>
                <a:latin typeface="Tw Cen MT (Body)"/>
              </a:rPr>
              <a:t>A variable is an </a:t>
            </a:r>
            <a:r>
              <a:rPr lang="en-US" sz="2200" b="1" i="0" dirty="0">
                <a:solidFill>
                  <a:srgbClr val="222222"/>
                </a:solidFill>
                <a:effectLst/>
                <a:latin typeface="Tw Cen MT (Body)"/>
              </a:rPr>
              <a:t>identifier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Tw Cen MT (Body)"/>
              </a:rPr>
              <a:t> which is used to </a:t>
            </a:r>
            <a:r>
              <a:rPr lang="en-US" sz="2200" b="1" i="0" dirty="0">
                <a:solidFill>
                  <a:srgbClr val="222222"/>
                </a:solidFill>
                <a:effectLst/>
                <a:latin typeface="Tw Cen MT (Body)"/>
              </a:rPr>
              <a:t>store some </a:t>
            </a:r>
            <a:r>
              <a:rPr lang="en-US" sz="2200" b="1" i="0" dirty="0" smtClean="0">
                <a:solidFill>
                  <a:srgbClr val="222222"/>
                </a:solidFill>
                <a:effectLst/>
                <a:latin typeface="Tw Cen MT (Body)"/>
              </a:rPr>
              <a:t>value inside memory space.</a:t>
            </a:r>
          </a:p>
          <a:p>
            <a:pPr marL="0" indent="0">
              <a:buNone/>
            </a:pPr>
            <a:r>
              <a:rPr lang="en-US" sz="2200" b="0" i="0" dirty="0" smtClean="0">
                <a:solidFill>
                  <a:srgbClr val="222222"/>
                </a:solidFill>
                <a:effectLst/>
                <a:latin typeface="Tw Cen MT (Body)"/>
              </a:rPr>
              <a:t> </a:t>
            </a:r>
            <a:r>
              <a:rPr lang="en-US" sz="2400" b="1" i="0" dirty="0" smtClean="0">
                <a:solidFill>
                  <a:schemeClr val="bg2">
                    <a:lumMod val="50000"/>
                  </a:schemeClr>
                </a:solidFill>
                <a:effectLst/>
                <a:latin typeface="Tw Cen MT (Body)"/>
              </a:rPr>
              <a:t>Naming </a:t>
            </a:r>
            <a:r>
              <a:rPr lang="en-US" sz="2400" b="1" i="0" dirty="0">
                <a:solidFill>
                  <a:schemeClr val="bg2">
                    <a:lumMod val="50000"/>
                  </a:schemeClr>
                </a:solidFill>
                <a:effectLst/>
                <a:latin typeface="Tw Cen MT (Body)"/>
              </a:rPr>
              <a:t>Rule: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A variable name must be </a:t>
            </a:r>
            <a:r>
              <a:rPr lang="en-US" b="1" i="0" dirty="0" smtClean="0">
                <a:solidFill>
                  <a:srgbClr val="222222"/>
                </a:solidFill>
                <a:effectLst/>
                <a:latin typeface="Tw Cen MT (Body)"/>
              </a:rPr>
              <a:t>meaningful.</a:t>
            </a:r>
          </a:p>
          <a:p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only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characters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,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digits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 and an </a:t>
            </a:r>
            <a:r>
              <a:rPr lang="en-US" b="1" i="0" dirty="0" smtClean="0">
                <a:solidFill>
                  <a:srgbClr val="222222"/>
                </a:solidFill>
                <a:effectLst/>
                <a:latin typeface="Tw Cen MT (Body)"/>
              </a:rPr>
              <a:t>underscore</a:t>
            </a:r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 are allowed.</a:t>
            </a:r>
            <a:endParaRPr lang="en-US" b="0" i="0" dirty="0">
              <a:solidFill>
                <a:srgbClr val="222222"/>
              </a:solidFill>
              <a:effectLst/>
              <a:latin typeface="Tw Cen MT (Body)"/>
            </a:endParaRPr>
          </a:p>
          <a:p>
            <a:r>
              <a:rPr lang="en-US" dirty="0" smtClean="0">
                <a:solidFill>
                  <a:srgbClr val="222222"/>
                </a:solidFill>
                <a:latin typeface="Tw Cen MT (Body)"/>
              </a:rPr>
              <a:t>It </a:t>
            </a:r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should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not begin with a number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, not consist of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whitespace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 and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keyword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‘C’ is a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case sensitive 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language that means a variable named </a:t>
            </a:r>
            <a:r>
              <a:rPr lang="en-US" b="0" i="0" cap="none" dirty="0">
                <a:solidFill>
                  <a:srgbClr val="222222"/>
                </a:solidFill>
                <a:effectLst/>
                <a:latin typeface="Tw Cen MT (Body)"/>
              </a:rPr>
              <a:t>‘</a:t>
            </a:r>
            <a:r>
              <a:rPr lang="en-US" b="1" i="0" cap="none" dirty="0">
                <a:solidFill>
                  <a:srgbClr val="222222"/>
                </a:solidFill>
                <a:effectLst/>
                <a:latin typeface="Tw Cen MT (Body)"/>
              </a:rPr>
              <a:t>age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’ and ‘AGE’ are different</a:t>
            </a:r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.</a:t>
            </a:r>
            <a:endParaRPr lang="en-US" b="0" i="0" dirty="0">
              <a:solidFill>
                <a:srgbClr val="222222"/>
              </a:solidFill>
              <a:effectLst/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30674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F8E0-4003-3F2E-4129-5675A655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956" y="840192"/>
            <a:ext cx="10364451" cy="739228"/>
          </a:xfrm>
        </p:spPr>
        <p:txBody>
          <a:bodyPr/>
          <a:lstStyle/>
          <a:p>
            <a:r>
              <a:rPr lang="en-IN" b="1" dirty="0"/>
              <a:t>Types of Variables: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8BC5B-96FE-FE34-6A10-9A2F9EC6AE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3920" y="1505529"/>
            <a:ext cx="10363826" cy="4738253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local variable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</a:t>
            </a:r>
            <a:r>
              <a:rPr lang="en-US" sz="2200" b="1" dirty="0"/>
              <a:t>inside the block </a:t>
            </a:r>
            <a:r>
              <a:rPr lang="en-US" sz="2200" dirty="0"/>
              <a:t>code it will execute</a:t>
            </a:r>
          </a:p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global variable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</a:t>
            </a:r>
            <a:r>
              <a:rPr lang="en-US" sz="2200" b="1" dirty="0"/>
              <a:t>outside the block </a:t>
            </a:r>
            <a:r>
              <a:rPr lang="en-US" sz="2200" dirty="0"/>
              <a:t>of code and scope of execute across </a:t>
            </a:r>
            <a:r>
              <a:rPr lang="en-US" sz="2200" b="1" dirty="0"/>
              <a:t>entire program</a:t>
            </a:r>
            <a:r>
              <a:rPr lang="en-US" sz="2200" dirty="0"/>
              <a:t>.</a:t>
            </a:r>
          </a:p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static variable </a:t>
            </a:r>
            <a:r>
              <a:rPr lang="en-US" sz="2200" dirty="0">
                <a:sym typeface="Wingdings" panose="05000000000000000000" pitchFamily="2" charset="2"/>
              </a:rPr>
              <a:t>  </a:t>
            </a:r>
            <a:r>
              <a:rPr lang="en-US" sz="2200" dirty="0"/>
              <a:t>Static Variables retain the declared value throughout the entire execution of the program and will </a:t>
            </a:r>
            <a:r>
              <a:rPr lang="en-US" sz="2200" b="1" dirty="0"/>
              <a:t>not be changed</a:t>
            </a:r>
            <a:r>
              <a:rPr lang="en-US" sz="2200" dirty="0"/>
              <a:t> between multiple function calls</a:t>
            </a:r>
            <a:r>
              <a:rPr lang="en-US" sz="2200" dirty="0" smtClean="0"/>
              <a:t>.</a:t>
            </a:r>
            <a:endParaRPr lang="en-US" sz="2200" dirty="0"/>
          </a:p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automatic variable </a:t>
            </a:r>
            <a:r>
              <a:rPr lang="en-US" sz="2200" dirty="0">
                <a:sym typeface="Wingdings" panose="05000000000000000000" pitchFamily="2" charset="2"/>
              </a:rPr>
              <a:t>  </a:t>
            </a:r>
            <a:r>
              <a:rPr lang="en-US" sz="2200" dirty="0"/>
              <a:t>the </a:t>
            </a:r>
            <a:r>
              <a:rPr lang="en-US" sz="2200" b="1" dirty="0"/>
              <a:t>variables declared in C </a:t>
            </a:r>
            <a:r>
              <a:rPr lang="en-US" sz="2200" dirty="0"/>
              <a:t>language are Automatic Variables. </a:t>
            </a:r>
            <a:r>
              <a:rPr lang="en-US" sz="2200" dirty="0" smtClean="0"/>
              <a:t>(Default)</a:t>
            </a:r>
            <a:endParaRPr lang="en-US" sz="2200" dirty="0"/>
          </a:p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external variable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We can </a:t>
            </a:r>
            <a:r>
              <a:rPr lang="en-US" sz="2200" b="1" dirty="0"/>
              <a:t>share a variable </a:t>
            </a:r>
            <a:r>
              <a:rPr lang="en-US" sz="2200" dirty="0"/>
              <a:t>in multiple C source files by using an external </a:t>
            </a:r>
            <a:r>
              <a:rPr lang="en-US" sz="2200" dirty="0" smtClean="0"/>
              <a:t>variable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4388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9BF0-1AC7-58EE-8F46-4E210A18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2" y="815472"/>
            <a:ext cx="10364451" cy="753083"/>
          </a:xfrm>
        </p:spPr>
        <p:txBody>
          <a:bodyPr/>
          <a:lstStyle/>
          <a:p>
            <a:r>
              <a:rPr lang="en-IN" b="1" dirty="0"/>
              <a:t>Data types:</a:t>
            </a:r>
          </a:p>
        </p:txBody>
      </p:sp>
      <p:pic>
        <p:nvPicPr>
          <p:cNvPr id="4098" name="Picture 2" descr="data type - Coding Ninjas">
            <a:extLst>
              <a:ext uri="{FF2B5EF4-FFF2-40B4-BE49-F238E27FC236}">
                <a16:creationId xmlns:a16="http://schemas.microsoft.com/office/drawing/2014/main" id="{0DC436BA-8FD0-FDA1-799F-153FD95357A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1999" y="2124683"/>
            <a:ext cx="8127999" cy="440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5A7178-5E2D-28D2-FE10-66932B8550C6}"/>
              </a:ext>
            </a:extLst>
          </p:cNvPr>
          <p:cNvSpPr txBox="1"/>
          <p:nvPr/>
        </p:nvSpPr>
        <p:spPr>
          <a:xfrm>
            <a:off x="1876068" y="1454728"/>
            <a:ext cx="8606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Type of data </a:t>
            </a:r>
            <a:r>
              <a:rPr lang="en-IN" sz="2800" dirty="0"/>
              <a:t>with </a:t>
            </a:r>
            <a:r>
              <a:rPr lang="en-IN" sz="2800" b="1" dirty="0"/>
              <a:t>storage capacity </a:t>
            </a:r>
            <a:r>
              <a:rPr lang="en-IN" sz="2800" dirty="0"/>
              <a:t>is called Data Type.</a:t>
            </a:r>
          </a:p>
        </p:txBody>
      </p:sp>
    </p:spTree>
    <p:extLst>
      <p:ext uri="{BB962C8B-B14F-4D97-AF65-F5344CB8AC3E}">
        <p14:creationId xmlns:p14="http://schemas.microsoft.com/office/powerpoint/2010/main" val="64144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6AD0D-FA4F-DEEC-7DBD-FC415FEB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775535"/>
            <a:ext cx="10364451" cy="766938"/>
          </a:xfrm>
        </p:spPr>
        <p:txBody>
          <a:bodyPr/>
          <a:lstStyle/>
          <a:p>
            <a:r>
              <a:rPr lang="en-IN" b="1" dirty="0"/>
              <a:t>Constants: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2B255-553A-57F6-04AE-9AAD1E19AB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77193" y="1450110"/>
            <a:ext cx="10363826" cy="932871"/>
          </a:xfrm>
        </p:spPr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Constants are the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fixed values 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that never change during the execution of a program</a:t>
            </a:r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.</a:t>
            </a:r>
            <a:endParaRPr lang="en-US" b="0" i="0" dirty="0">
              <a:solidFill>
                <a:srgbClr val="222222"/>
              </a:solidFill>
              <a:effectLst/>
              <a:latin typeface="Tw Cen MT (Body)"/>
            </a:endParaRP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F9429BCE-197E-1614-36A2-9244980EB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723" y="2419926"/>
            <a:ext cx="7294554" cy="41430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90F663D-05F7-DA13-6D55-46F2A2FDD4B2}"/>
                  </a:ext>
                </a:extLst>
              </p14:cNvPr>
              <p14:cNvContentPartPr/>
              <p14:nvPr/>
            </p14:nvContentPartPr>
            <p14:xfrm>
              <a:off x="-255579" y="55130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90F663D-05F7-DA13-6D55-46F2A2FDD4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18219" y="48830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307B75F-97A2-E2F1-042A-20E5A32A1331}"/>
                  </a:ext>
                </a:extLst>
              </p14:cNvPr>
              <p14:cNvContentPartPr/>
              <p14:nvPr/>
            </p14:nvContentPartPr>
            <p14:xfrm>
              <a:off x="-793779" y="516362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307B75F-97A2-E2F1-042A-20E5A32A13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56419" y="51006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C6DCD5-8C11-7081-2CBD-ECA574CBDA2D}"/>
                  </a:ext>
                </a:extLst>
              </p14:cNvPr>
              <p14:cNvContentPartPr/>
              <p14:nvPr/>
            </p14:nvContentPartPr>
            <p14:xfrm>
              <a:off x="-874059" y="165362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C6DCD5-8C11-7081-2CBD-ECA574CBDA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699" y="15909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AB7D226-7D74-EA05-95AC-A62844C21E4C}"/>
                  </a:ext>
                </a:extLst>
              </p14:cNvPr>
              <p14:cNvContentPartPr/>
              <p14:nvPr/>
            </p14:nvContentPartPr>
            <p14:xfrm>
              <a:off x="-874059" y="165362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AB7D226-7D74-EA05-95AC-A62844C21E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699" y="159098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8174182" y="2419926"/>
            <a:ext cx="1376218" cy="20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688A-68A6-AE24-982B-9482EEBFB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465" y="883485"/>
            <a:ext cx="10114444" cy="868537"/>
          </a:xfrm>
        </p:spPr>
        <p:txBody>
          <a:bodyPr/>
          <a:lstStyle/>
          <a:p>
            <a:r>
              <a:rPr lang="en-IN" b="1" dirty="0"/>
              <a:t>Examples: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A3B2D6-E028-20A1-825D-7D1EB27AE1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4065" y="1752022"/>
            <a:ext cx="4701622" cy="416560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By Const Keyword</a:t>
            </a:r>
            <a:r>
              <a:rPr lang="en-IN" sz="2400" b="1" dirty="0"/>
              <a:t>:</a:t>
            </a:r>
          </a:p>
          <a:p>
            <a:pPr marL="0" indent="0">
              <a:buNone/>
            </a:pPr>
            <a:r>
              <a:rPr lang="en-US" sz="2400" dirty="0"/>
              <a:t>	#include &lt;stdio.h&gt;</a:t>
            </a:r>
          </a:p>
          <a:p>
            <a:pPr marL="0" indent="0">
              <a:buNone/>
            </a:pPr>
            <a:r>
              <a:rPr lang="en-US" sz="2400" dirty="0"/>
              <a:t>	int main() </a:t>
            </a:r>
            <a:r>
              <a:rPr lang="en-US" sz="2400" dirty="0" smtClean="0"/>
              <a:t>{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  </a:t>
            </a:r>
            <a:r>
              <a:rPr lang="en-US" sz="2400" b="1" dirty="0"/>
              <a:t>const</a:t>
            </a:r>
            <a:r>
              <a:rPr lang="en-US" sz="2400" dirty="0"/>
              <a:t> double PI = 3.14;</a:t>
            </a:r>
          </a:p>
          <a:p>
            <a:pPr marL="0" indent="0">
              <a:buNone/>
            </a:pPr>
            <a:r>
              <a:rPr lang="en-US" sz="2400" dirty="0"/>
              <a:t>	  printf("%f", PI);</a:t>
            </a:r>
          </a:p>
          <a:p>
            <a:pPr marL="0" indent="0">
              <a:buNone/>
            </a:pPr>
            <a:r>
              <a:rPr lang="en-US" sz="2400" dirty="0"/>
              <a:t>	  return 0;</a:t>
            </a:r>
          </a:p>
          <a:p>
            <a:pPr marL="0" indent="0">
              <a:buNone/>
            </a:pPr>
            <a:r>
              <a:rPr lang="en-US" sz="2400" dirty="0"/>
              <a:t>	}</a:t>
            </a:r>
            <a:endParaRPr lang="en-IN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B60A3-53FA-9945-8E6C-2E1C90D4064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095687" y="1752022"/>
            <a:ext cx="5105400" cy="385445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By using #define keyword: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sz="2400" dirty="0"/>
              <a:t>#include &lt;stdio.h&gt;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b="1" dirty="0"/>
              <a:t>#define</a:t>
            </a:r>
            <a:r>
              <a:rPr lang="en-IN" sz="2400" dirty="0"/>
              <a:t> PI </a:t>
            </a:r>
            <a:r>
              <a:rPr lang="en-IN" sz="2400" dirty="0" smtClean="0"/>
              <a:t>3.14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	int main</a:t>
            </a:r>
            <a:r>
              <a:rPr lang="en-IN" sz="2400" dirty="0" smtClean="0"/>
              <a:t>()  {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	   printf("%f", PI);</a:t>
            </a:r>
          </a:p>
          <a:p>
            <a:pPr marL="0" indent="0">
              <a:buNone/>
            </a:pPr>
            <a:r>
              <a:rPr lang="en-IN" sz="2400" dirty="0"/>
              <a:t>	   return 0;</a:t>
            </a:r>
          </a:p>
          <a:p>
            <a:pPr marL="0" indent="0">
              <a:buNone/>
            </a:pPr>
            <a:r>
              <a:rPr lang="en-IN" sz="2400" dirty="0"/>
              <a:t>	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2933" y="5686789"/>
            <a:ext cx="94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#DEFINE </a:t>
            </a:r>
            <a:r>
              <a:rPr lang="en-US" sz="2400" dirty="0" smtClean="0"/>
              <a:t>is a Preprocessor that is also used to declare constant value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256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578-16F5-B768-D3D4-D7E5CEA0F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997208"/>
            <a:ext cx="10364451" cy="776174"/>
          </a:xfrm>
        </p:spPr>
        <p:txBody>
          <a:bodyPr/>
          <a:lstStyle/>
          <a:p>
            <a:r>
              <a:rPr lang="en-IN" b="1" dirty="0"/>
              <a:t>Literals: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C1E2-BAD1-AE09-E5C7-49DC31EB55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16363" y="1597892"/>
            <a:ext cx="9661862" cy="4812145"/>
          </a:xfrm>
        </p:spPr>
        <p:txBody>
          <a:bodyPr>
            <a:noAutofit/>
          </a:bodyPr>
          <a:lstStyle/>
          <a:p>
            <a:r>
              <a:rPr lang="en-US" sz="2400" dirty="0"/>
              <a:t>Literals are data used for </a:t>
            </a:r>
            <a:r>
              <a:rPr lang="en-US" sz="2400" b="1" dirty="0"/>
              <a:t>representing fixed values</a:t>
            </a:r>
            <a:r>
              <a:rPr lang="en-US" sz="2400" dirty="0"/>
              <a:t>. </a:t>
            </a:r>
          </a:p>
          <a:p>
            <a:r>
              <a:rPr lang="en-US" sz="2400" dirty="0"/>
              <a:t>They can be </a:t>
            </a:r>
            <a:r>
              <a:rPr lang="en-US" sz="2400" b="1" dirty="0"/>
              <a:t>used directly </a:t>
            </a:r>
            <a:r>
              <a:rPr lang="en-US" sz="2400" dirty="0"/>
              <a:t>in the </a:t>
            </a:r>
            <a:r>
              <a:rPr lang="en-US" sz="2400" dirty="0" smtClean="0"/>
              <a:t>code like </a:t>
            </a:r>
            <a:r>
              <a:rPr lang="en-US" sz="2400" b="1" dirty="0" smtClean="0"/>
              <a:t>1</a:t>
            </a:r>
            <a:r>
              <a:rPr lang="en-US" sz="2400" b="1" dirty="0"/>
              <a:t>, 2.5, 'c' </a:t>
            </a:r>
            <a:r>
              <a:rPr lang="en-US" sz="2400" dirty="0"/>
              <a:t>etc.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Comments:</a:t>
            </a:r>
          </a:p>
          <a:p>
            <a:r>
              <a:rPr lang="en-US" sz="2400" dirty="0" smtClean="0"/>
              <a:t>It’s </a:t>
            </a:r>
            <a:r>
              <a:rPr lang="en-US" sz="2400" dirty="0"/>
              <a:t>a </a:t>
            </a:r>
            <a:r>
              <a:rPr lang="en-US" sz="2400" b="1" dirty="0"/>
              <a:t>hints</a:t>
            </a:r>
            <a:r>
              <a:rPr lang="en-US" sz="2400" dirty="0"/>
              <a:t> that a programmer can add to make their code </a:t>
            </a:r>
            <a:r>
              <a:rPr lang="en-US" sz="2400" b="1" dirty="0"/>
              <a:t>easier to read and understand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There </a:t>
            </a:r>
            <a:r>
              <a:rPr lang="en-US" sz="2400" dirty="0"/>
              <a:t>are </a:t>
            </a:r>
            <a:r>
              <a:rPr lang="en-US" sz="2400" b="1" dirty="0"/>
              <a:t>two ways </a:t>
            </a:r>
            <a:r>
              <a:rPr lang="en-US" sz="2400" dirty="0"/>
              <a:t>to add comments in C: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// - Single Line Comment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/*...*/ - Multi-line </a:t>
            </a:r>
            <a:r>
              <a:rPr lang="en-US" sz="2400" dirty="0" smtClean="0"/>
              <a:t>Comment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0910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87C3-2F17-422B-710C-A941CF1A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57" y="960262"/>
            <a:ext cx="10364451" cy="766938"/>
          </a:xfrm>
        </p:spPr>
        <p:txBody>
          <a:bodyPr/>
          <a:lstStyle/>
          <a:p>
            <a:r>
              <a:rPr lang="en-IN" b="1" dirty="0"/>
              <a:t>Storage class: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A3F19-1ADC-0859-9840-41FAFF9967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40247" y="1727200"/>
            <a:ext cx="9329354" cy="4184072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A storage class represents the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visibility and a location 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of a variable. </a:t>
            </a:r>
            <a:endParaRPr lang="en-US" b="0" i="0" dirty="0" smtClean="0">
              <a:solidFill>
                <a:srgbClr val="222222"/>
              </a:solidFill>
              <a:effectLst/>
              <a:latin typeface="Tw Cen MT (Body)"/>
            </a:endParaRPr>
          </a:p>
          <a:p>
            <a:pPr algn="l"/>
            <a:r>
              <a:rPr lang="en-US" dirty="0" smtClean="0">
                <a:solidFill>
                  <a:srgbClr val="222222"/>
                </a:solidFill>
                <a:latin typeface="Tw Cen MT (Body)"/>
              </a:rPr>
              <a:t>It </a:t>
            </a:r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is 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used to describe the following things: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dirty="0" smtClean="0">
                <a:solidFill>
                  <a:srgbClr val="222222"/>
                </a:solidFill>
                <a:effectLst/>
                <a:latin typeface="Tw Cen MT (Body)"/>
              </a:rPr>
              <a:t> The 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variable scope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w Cen MT (Body)"/>
              </a:rPr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dirty="0" smtClean="0">
                <a:solidFill>
                  <a:srgbClr val="222222"/>
                </a:solidFill>
                <a:effectLst/>
                <a:latin typeface="Tw Cen MT (Body)"/>
              </a:rPr>
              <a:t> The 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location </a:t>
            </a:r>
            <a:r>
              <a:rPr lang="en-US" sz="2000" i="0" dirty="0">
                <a:solidFill>
                  <a:srgbClr val="222222"/>
                </a:solidFill>
                <a:effectLst/>
                <a:latin typeface="Tw Cen MT (Body)"/>
              </a:rPr>
              <a:t>where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w Cen MT (Body)"/>
              </a:rPr>
              <a:t>the variable will be 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stored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w Cen MT (Body)"/>
              </a:rPr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dirty="0" smtClean="0">
                <a:solidFill>
                  <a:srgbClr val="222222"/>
                </a:solidFill>
                <a:effectLst/>
                <a:latin typeface="Tw Cen MT (Body)"/>
              </a:rPr>
              <a:t> The 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initialized value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w Cen MT (Body)"/>
              </a:rPr>
              <a:t>of a variable.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dirty="0" smtClean="0">
                <a:solidFill>
                  <a:srgbClr val="222222"/>
                </a:solidFill>
                <a:effectLst/>
                <a:latin typeface="Tw Cen MT (Body)"/>
              </a:rPr>
              <a:t> A 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lifetime of a variable.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i="0" dirty="0" smtClean="0">
                <a:solidFill>
                  <a:srgbClr val="222222"/>
                </a:solidFill>
                <a:effectLst/>
                <a:latin typeface="Tw Cen MT (Body)"/>
              </a:rPr>
              <a:t> Who 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can access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w Cen MT (Body)"/>
              </a:rPr>
              <a:t>a variable?</a:t>
            </a:r>
          </a:p>
          <a:p>
            <a:r>
              <a:rPr lang="en-US" sz="2000" b="0" i="0" dirty="0">
                <a:solidFill>
                  <a:srgbClr val="222222"/>
                </a:solidFill>
                <a:effectLst/>
                <a:latin typeface="Tw Cen MT (Body)"/>
              </a:rPr>
              <a:t>Thus a storage class is used to represent the 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w Cen MT (Body)"/>
              </a:rPr>
              <a:t>information about a variable</a:t>
            </a:r>
            <a:r>
              <a:rPr lang="en-US" sz="2000" b="1" i="0" dirty="0" smtClean="0">
                <a:solidFill>
                  <a:srgbClr val="222222"/>
                </a:solidFill>
                <a:effectLst/>
                <a:latin typeface="Tw Cen MT (Body)"/>
              </a:rPr>
              <a:t>.</a:t>
            </a:r>
            <a:endParaRPr lang="en-US" sz="2000" b="1" i="0" dirty="0">
              <a:solidFill>
                <a:srgbClr val="222222"/>
              </a:solidFill>
              <a:effectLst/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26048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AF03-1C22-090B-C254-0A2886322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84" y="987974"/>
            <a:ext cx="10364451" cy="720756"/>
          </a:xfrm>
        </p:spPr>
        <p:txBody>
          <a:bodyPr>
            <a:normAutofit/>
          </a:bodyPr>
          <a:lstStyle/>
          <a:p>
            <a:r>
              <a:rPr lang="en-US" b="1" dirty="0"/>
              <a:t>Types of Storage class: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ED80-A1AF-DC8C-78AC-BE99B4B9B8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40262" y="1779702"/>
            <a:ext cx="9162473" cy="1133490"/>
          </a:xfrm>
        </p:spPr>
        <p:txBody>
          <a:bodyPr>
            <a:normAutofit/>
          </a:bodyPr>
          <a:lstStyle/>
          <a:p>
            <a:r>
              <a:rPr lang="en-US" sz="2400" dirty="0"/>
              <a:t>Auto	-	      It is a default storage class.</a:t>
            </a:r>
          </a:p>
          <a:p>
            <a:r>
              <a:rPr lang="en-US" sz="2400" dirty="0"/>
              <a:t>Extern	-	      It is a global variable.</a:t>
            </a:r>
            <a:endParaRPr lang="en-IN" sz="2400" dirty="0"/>
          </a:p>
        </p:txBody>
      </p:sp>
      <p:pic>
        <p:nvPicPr>
          <p:cNvPr id="5" name="Picture 4" descr="Storage Classes in C Language with Examples - Dot Net Tutorials">
            <a:extLst>
              <a:ext uri="{FF2B5EF4-FFF2-40B4-BE49-F238E27FC236}">
                <a16:creationId xmlns:a16="http://schemas.microsoft.com/office/drawing/2014/main" id="{BBC13B52-3D0C-26CE-5C0B-BC07C9F58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199" y="2984164"/>
            <a:ext cx="8912184" cy="297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23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C71B-5698-A5ED-83B4-AA194BD4C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94" y="969500"/>
            <a:ext cx="10364451" cy="628392"/>
          </a:xfrm>
        </p:spPr>
        <p:txBody>
          <a:bodyPr/>
          <a:lstStyle/>
          <a:p>
            <a:r>
              <a:rPr lang="en-IN" b="1" dirty="0"/>
              <a:t>Static storage class: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6E00-B7D0-0437-8E0F-36CE81E6E4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21773" y="1819564"/>
            <a:ext cx="9107681" cy="4322618"/>
          </a:xfrm>
        </p:spPr>
        <p:txBody>
          <a:bodyPr>
            <a:normAutofit/>
          </a:bodyPr>
          <a:lstStyle/>
          <a:p>
            <a:pPr algn="l"/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It can 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be used as a 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Tw Cen MT (Body)"/>
                <a:hlinkClick r:id="rId2"/>
              </a:rPr>
              <a:t>global variable</a:t>
            </a:r>
            <a:endParaRPr lang="en-US" b="0" i="0" dirty="0">
              <a:solidFill>
                <a:srgbClr val="222222"/>
              </a:solidFill>
              <a:effectLst/>
              <a:latin typeface="Tw Cen MT (Body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Static global variables are global variables visible 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only to the file in which it is declared.</a:t>
            </a:r>
          </a:p>
          <a:p>
            <a:pPr marL="0" indent="0" algn="l">
              <a:buNone/>
            </a:pPr>
            <a:r>
              <a:rPr lang="en-US" sz="2600" b="1" i="0" dirty="0">
                <a:solidFill>
                  <a:schemeClr val="accent1">
                    <a:lumMod val="75000"/>
                  </a:schemeClr>
                </a:solidFill>
                <a:effectLst/>
                <a:latin typeface="Tw Cen MT (Body)"/>
              </a:rPr>
              <a:t>Register storage class: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You can use the register storage class when you want to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store local variables within functions 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or blocks in CPU registers instead of RAM </a:t>
            </a:r>
            <a:r>
              <a:rPr lang="en-US" b="1" i="0" dirty="0">
                <a:solidFill>
                  <a:srgbClr val="222222"/>
                </a:solidFill>
                <a:effectLst/>
                <a:latin typeface="Tw Cen MT (Body)"/>
              </a:rPr>
              <a:t>to have quick access </a:t>
            </a:r>
            <a:r>
              <a:rPr lang="en-US" b="0" i="0" dirty="0">
                <a:solidFill>
                  <a:srgbClr val="222222"/>
                </a:solidFill>
                <a:effectLst/>
                <a:latin typeface="Tw Cen MT (Body)"/>
              </a:rPr>
              <a:t>to these variables</a:t>
            </a:r>
            <a:r>
              <a:rPr lang="en-US" b="0" i="0" dirty="0" smtClean="0">
                <a:solidFill>
                  <a:srgbClr val="222222"/>
                </a:solidFill>
                <a:effectLst/>
                <a:latin typeface="Tw Cen MT (Body)"/>
              </a:rPr>
              <a:t>.</a:t>
            </a:r>
            <a:endParaRPr lang="en-US" b="0" i="0" dirty="0">
              <a:solidFill>
                <a:srgbClr val="222222"/>
              </a:solidFill>
              <a:effectLst/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306536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A770-AD27-C5D4-8DF7-D24037B1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877136"/>
            <a:ext cx="10364451" cy="720756"/>
          </a:xfrm>
        </p:spPr>
        <p:txBody>
          <a:bodyPr/>
          <a:lstStyle/>
          <a:p>
            <a:r>
              <a:rPr lang="en-IN" b="1" dirty="0" smtClean="0">
                <a:solidFill>
                  <a:schemeClr val="accent1"/>
                </a:solidFill>
              </a:rPr>
              <a:t>32 Keywords present in c:</a:t>
            </a:r>
            <a:endParaRPr lang="en-IN" b="1" dirty="0">
              <a:solidFill>
                <a:schemeClr val="accent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301D2F-E339-4883-C9B4-B44343CB133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685574" y="1773382"/>
            <a:ext cx="8880826" cy="4207408"/>
          </a:xfrm>
        </p:spPr>
      </p:pic>
    </p:spTree>
    <p:extLst>
      <p:ext uri="{BB962C8B-B14F-4D97-AF65-F5344CB8AC3E}">
        <p14:creationId xmlns:p14="http://schemas.microsoft.com/office/powerpoint/2010/main" val="302813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8FDE-1B67-5B03-13B8-F05CEDCB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39" y="720118"/>
            <a:ext cx="10364451" cy="739228"/>
          </a:xfrm>
        </p:spPr>
        <p:txBody>
          <a:bodyPr/>
          <a:lstStyle/>
          <a:p>
            <a:r>
              <a:rPr lang="en-IN" b="1" dirty="0"/>
              <a:t>Operators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5D0C9E-E3F0-B260-497A-6E8A68FECF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01091" y="1332620"/>
            <a:ext cx="9467899" cy="1079983"/>
          </a:xfrm>
        </p:spPr>
        <p:txBody>
          <a:bodyPr>
            <a:normAutofit/>
          </a:bodyPr>
          <a:lstStyle/>
          <a:p>
            <a:r>
              <a:rPr lang="en-IN" sz="2400" dirty="0"/>
              <a:t>A </a:t>
            </a:r>
            <a:r>
              <a:rPr lang="en-IN" sz="2400" b="1" dirty="0"/>
              <a:t>symbol</a:t>
            </a:r>
            <a:r>
              <a:rPr lang="en-IN" sz="2400" dirty="0"/>
              <a:t> which can do </a:t>
            </a:r>
            <a:r>
              <a:rPr lang="en-IN" sz="2400" b="1" dirty="0"/>
              <a:t>some action </a:t>
            </a:r>
            <a:r>
              <a:rPr lang="en-IN" sz="2400" dirty="0"/>
              <a:t>or performance is called operators.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EFAAF5D-F57E-A43C-7996-7006D4884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780" y="2380948"/>
            <a:ext cx="8129954" cy="422944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91239" y="2412603"/>
            <a:ext cx="872564" cy="7602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3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B05E4C-B6B1-F7EF-7C04-0F694BE8AEA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6146" y="700320"/>
            <a:ext cx="9707418" cy="547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8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0B44-EFBD-4EB8-29E0-ED3212A0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66" y="842129"/>
            <a:ext cx="10364451" cy="896247"/>
          </a:xfrm>
        </p:spPr>
        <p:txBody>
          <a:bodyPr/>
          <a:lstStyle/>
          <a:p>
            <a:r>
              <a:rPr lang="en-IN" b="1" dirty="0"/>
              <a:t>Conditional branching: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7C8-DCC0-CC2C-8272-9A8FEB2AF0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6772" y="1849856"/>
            <a:ext cx="5015345" cy="342410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If Condition:</a:t>
            </a:r>
            <a:endParaRPr lang="en-IN" sz="2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IN" sz="2400" b="1" u="sng" dirty="0">
                <a:solidFill>
                  <a:schemeClr val="bg2">
                    <a:lumMod val="25000"/>
                  </a:schemeClr>
                </a:solidFill>
              </a:rPr>
              <a:t>Syntax:</a:t>
            </a:r>
          </a:p>
          <a:p>
            <a:pPr marL="0" indent="0">
              <a:buNone/>
            </a:pPr>
            <a:r>
              <a:rPr lang="en-IN" sz="2400" b="1" dirty="0"/>
              <a:t>	</a:t>
            </a:r>
            <a:r>
              <a:rPr lang="en-IN" sz="2400" b="1" dirty="0">
                <a:solidFill>
                  <a:schemeClr val="bg2">
                    <a:lumMod val="25000"/>
                  </a:schemeClr>
                </a:solidFill>
              </a:rPr>
              <a:t>if(Condition)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//statement;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IN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}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79E7D-C874-66E9-D001-E4A046624B55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357746" y="1849856"/>
            <a:ext cx="5105400" cy="4478337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If – else Condition:</a:t>
            </a:r>
          </a:p>
          <a:p>
            <a:pPr marL="0" indent="0">
              <a:buNone/>
            </a:pPr>
            <a:r>
              <a:rPr lang="en-IN" sz="2800" b="1" u="sng" dirty="0"/>
              <a:t>Syntax:</a:t>
            </a:r>
          </a:p>
          <a:p>
            <a:pPr marL="914400" lvl="2" indent="0">
              <a:buNone/>
            </a:pPr>
            <a:r>
              <a:rPr lang="en-IN" sz="2000" b="1" dirty="0"/>
              <a:t>      </a:t>
            </a:r>
            <a:r>
              <a:rPr lang="en-IN" sz="2800" b="1" dirty="0"/>
              <a:t>If(Condition)</a:t>
            </a:r>
          </a:p>
          <a:p>
            <a:pPr marL="914400" lvl="2" indent="0">
              <a:buNone/>
            </a:pPr>
            <a:r>
              <a:rPr lang="en-IN" sz="2800" b="1" dirty="0"/>
              <a:t>      </a:t>
            </a:r>
            <a:r>
              <a:rPr lang="en-IN" sz="2800" dirty="0"/>
              <a:t>{ </a:t>
            </a:r>
          </a:p>
          <a:p>
            <a:pPr marL="914400" lvl="2" indent="0">
              <a:buNone/>
            </a:pPr>
            <a:r>
              <a:rPr lang="en-IN" sz="2800" dirty="0"/>
              <a:t>	    //Statements;</a:t>
            </a:r>
          </a:p>
          <a:p>
            <a:pPr marL="914400" lvl="2" indent="0">
              <a:buNone/>
            </a:pPr>
            <a:r>
              <a:rPr lang="en-IN" sz="2800" dirty="0"/>
              <a:t>       }</a:t>
            </a:r>
          </a:p>
          <a:p>
            <a:pPr marL="914400" lvl="2" indent="0">
              <a:buNone/>
            </a:pPr>
            <a:r>
              <a:rPr lang="en-IN" sz="2800" b="1" dirty="0"/>
              <a:t>      else</a:t>
            </a:r>
          </a:p>
          <a:p>
            <a:pPr marL="914400" lvl="2" indent="0">
              <a:buNone/>
            </a:pPr>
            <a:r>
              <a:rPr lang="en-IN" sz="2800" b="1" dirty="0"/>
              <a:t>      </a:t>
            </a:r>
            <a:r>
              <a:rPr lang="en-IN" sz="2800" dirty="0"/>
              <a:t>{</a:t>
            </a:r>
          </a:p>
          <a:p>
            <a:pPr marL="914400" lvl="2" indent="0">
              <a:buNone/>
            </a:pPr>
            <a:r>
              <a:rPr lang="en-IN" sz="2800" dirty="0"/>
              <a:t>	    //Statements;</a:t>
            </a:r>
          </a:p>
          <a:p>
            <a:pPr marL="914400" lvl="2" indent="0">
              <a:buNone/>
            </a:pPr>
            <a:r>
              <a:rPr lang="en-IN" sz="2800" dirty="0"/>
              <a:t>      </a:t>
            </a:r>
            <a:r>
              <a:rPr lang="en-IN" sz="2800" dirty="0" smtClean="0"/>
              <a:t>}</a:t>
            </a:r>
            <a:endParaRPr lang="en-IN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5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A2EEA-F08F-3FD6-E7CB-6ABC39F621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43447" y="813808"/>
            <a:ext cx="4009208" cy="51735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400" b="1" dirty="0">
                <a:solidFill>
                  <a:schemeClr val="accent1"/>
                </a:solidFill>
              </a:rPr>
              <a:t>Else-if Ladder:</a:t>
            </a:r>
            <a:endParaRPr lang="en-IN" sz="3400" dirty="0"/>
          </a:p>
          <a:p>
            <a:pPr marL="0" indent="0">
              <a:buNone/>
            </a:pPr>
            <a:r>
              <a:rPr lang="en-IN" sz="2400" b="1" u="sng" dirty="0"/>
              <a:t>Syntax:</a:t>
            </a:r>
          </a:p>
          <a:p>
            <a:pPr marL="0" indent="0">
              <a:buNone/>
            </a:pPr>
            <a:r>
              <a:rPr lang="en-IN" sz="2000" b="1" dirty="0"/>
              <a:t>	</a:t>
            </a:r>
            <a:r>
              <a:rPr lang="en-IN" sz="2600" b="1" dirty="0"/>
              <a:t>if(condition</a:t>
            </a:r>
            <a:r>
              <a:rPr lang="en-IN" sz="2600" b="1" dirty="0" smtClean="0"/>
              <a:t>)  </a:t>
            </a:r>
            <a:r>
              <a:rPr lang="en-IN" sz="2600" dirty="0" smtClean="0"/>
              <a:t>{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		//Statement;</a:t>
            </a:r>
          </a:p>
          <a:p>
            <a:pPr marL="0" indent="0">
              <a:buNone/>
            </a:pPr>
            <a:r>
              <a:rPr lang="en-IN" sz="2600" dirty="0"/>
              <a:t>	}</a:t>
            </a:r>
          </a:p>
          <a:p>
            <a:pPr marL="0" indent="0">
              <a:buNone/>
            </a:pPr>
            <a:r>
              <a:rPr lang="en-IN" sz="2600" dirty="0"/>
              <a:t>	</a:t>
            </a:r>
            <a:r>
              <a:rPr lang="en-IN" sz="2600" b="1" dirty="0"/>
              <a:t>else if(condition</a:t>
            </a:r>
            <a:r>
              <a:rPr lang="en-IN" sz="2600" b="1" dirty="0" smtClean="0"/>
              <a:t>) </a:t>
            </a:r>
            <a:r>
              <a:rPr lang="en-IN" sz="2600" dirty="0" smtClean="0"/>
              <a:t>{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		</a:t>
            </a:r>
            <a:r>
              <a:rPr lang="en-IN" sz="2600"/>
              <a:t>//</a:t>
            </a:r>
            <a:r>
              <a:rPr lang="en-IN" sz="2600" smtClean="0"/>
              <a:t>statement;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	}</a:t>
            </a:r>
          </a:p>
          <a:p>
            <a:pPr marL="0" indent="0">
              <a:buNone/>
            </a:pPr>
            <a:r>
              <a:rPr lang="en-IN" sz="2600" dirty="0"/>
              <a:t>	</a:t>
            </a:r>
            <a:r>
              <a:rPr lang="en-IN" sz="2600" b="1" dirty="0" smtClean="0"/>
              <a:t>else  </a:t>
            </a:r>
            <a:r>
              <a:rPr lang="en-IN" sz="2600" dirty="0" smtClean="0"/>
              <a:t>{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		//statement;</a:t>
            </a:r>
          </a:p>
          <a:p>
            <a:pPr marL="0" indent="0">
              <a:buNone/>
            </a:pPr>
            <a:r>
              <a:rPr lang="en-IN" sz="2600" dirty="0"/>
              <a:t>	}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BFA71-73E2-8384-B26E-90BE33C4B53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959763" y="617680"/>
            <a:ext cx="5105400" cy="55657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chemeClr val="accent1"/>
                </a:solidFill>
              </a:rPr>
              <a:t>Switch: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sz="2400" dirty="0"/>
              <a:t>To Choose an Options.</a:t>
            </a:r>
            <a:r>
              <a:rPr lang="en-IN" sz="2400" b="1" dirty="0"/>
              <a:t>	</a:t>
            </a:r>
          </a:p>
          <a:p>
            <a:pPr marL="457200" lvl="1" indent="0">
              <a:buNone/>
            </a:pPr>
            <a:r>
              <a:rPr lang="en-IN" sz="2400" b="1" u="sng" dirty="0"/>
              <a:t>Syntax: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dirty="0"/>
              <a:t>	</a:t>
            </a:r>
            <a:r>
              <a:rPr lang="en-IN" sz="2600" b="1" dirty="0"/>
              <a:t>switch(option</a:t>
            </a:r>
            <a:r>
              <a:rPr lang="en-IN" sz="2600" b="1" dirty="0" smtClean="0"/>
              <a:t>)  </a:t>
            </a:r>
            <a:r>
              <a:rPr lang="en-IN" sz="2600" dirty="0" smtClean="0"/>
              <a:t>{</a:t>
            </a:r>
            <a:endParaRPr lang="en-IN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IN" sz="2600" dirty="0"/>
              <a:t>	</a:t>
            </a:r>
            <a:r>
              <a:rPr lang="en-IN" sz="2600" b="1" dirty="0"/>
              <a:t>case 1:</a:t>
            </a:r>
            <a:r>
              <a:rPr lang="en-IN" sz="2600" dirty="0"/>
              <a:t>					</a:t>
            </a:r>
            <a:r>
              <a:rPr lang="en-IN" sz="2600" dirty="0" smtClean="0"/>
              <a:t>//</a:t>
            </a:r>
            <a:r>
              <a:rPr lang="en-IN" sz="2600" dirty="0"/>
              <a:t>statement</a:t>
            </a:r>
            <a:r>
              <a:rPr lang="en-IN" sz="2600" dirty="0" smtClean="0"/>
              <a:t>;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600" dirty="0" smtClean="0"/>
              <a:t>                         Break;</a:t>
            </a:r>
            <a:r>
              <a:rPr lang="en-IN" sz="2600" dirty="0"/>
              <a:t>	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600" b="1" dirty="0"/>
              <a:t>	case 2: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600" dirty="0"/>
              <a:t>		//statement;			</a:t>
            </a:r>
            <a:r>
              <a:rPr lang="en-IN" sz="2600" b="1" dirty="0"/>
              <a:t>default: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600" dirty="0"/>
              <a:t>		//statement;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600" dirty="0"/>
              <a:t>	</a:t>
            </a:r>
            <a:r>
              <a:rPr lang="en-IN" sz="2600" dirty="0" smtClean="0"/>
              <a:t>}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89872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D73B-6BF4-72D7-DD58-B502A9E0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676" y="941789"/>
            <a:ext cx="10364451" cy="914719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chemeClr val="accent1"/>
                </a:solidFill>
              </a:rPr>
              <a:t>Conditional Looping: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54F6F-CAF7-6CD0-773B-8653AAAEBA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03301" y="1856508"/>
            <a:ext cx="9587971" cy="41378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1.	for(initializer; condition; increment/decrement)  </a:t>
            </a:r>
            <a:r>
              <a:rPr lang="en-IN" sz="2400" dirty="0" smtClean="0"/>
              <a:t>{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		//statement;</a:t>
            </a:r>
          </a:p>
          <a:p>
            <a:pPr marL="0" indent="0">
              <a:buNone/>
            </a:pPr>
            <a:r>
              <a:rPr lang="en-IN" sz="2400" dirty="0"/>
              <a:t>	}</a:t>
            </a:r>
          </a:p>
          <a:p>
            <a:pPr marL="0" indent="0">
              <a:buNone/>
            </a:pPr>
            <a:r>
              <a:rPr lang="en-IN" sz="2400" b="1" dirty="0"/>
              <a:t>2.	while(condition)  </a:t>
            </a: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		//statement;</a:t>
            </a:r>
          </a:p>
          <a:p>
            <a:pPr marL="0" indent="0">
              <a:buNone/>
            </a:pPr>
            <a:r>
              <a:rPr lang="en-IN" sz="2400" dirty="0"/>
              <a:t>		increment;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dirty="0" smtClean="0"/>
              <a:t>}</a:t>
            </a: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682823" y="3371272"/>
            <a:ext cx="39531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 startAt="3"/>
            </a:pPr>
            <a:r>
              <a:rPr lang="en-IN" sz="2800" b="1" dirty="0" smtClean="0"/>
              <a:t>Do </a:t>
            </a:r>
          </a:p>
          <a:p>
            <a:r>
              <a:rPr lang="en-IN" sz="2800" b="1" dirty="0"/>
              <a:t>	</a:t>
            </a:r>
            <a:r>
              <a:rPr lang="en-IN" sz="2800" dirty="0" smtClean="0"/>
              <a:t>{</a:t>
            </a:r>
            <a:endParaRPr lang="en-IN" sz="2800" dirty="0"/>
          </a:p>
          <a:p>
            <a:r>
              <a:rPr lang="en-IN" sz="2800" dirty="0"/>
              <a:t>		  //statement;</a:t>
            </a:r>
          </a:p>
          <a:p>
            <a:r>
              <a:rPr lang="en-IN" sz="2800" dirty="0"/>
              <a:t>		  increment;</a:t>
            </a:r>
          </a:p>
          <a:p>
            <a:r>
              <a:rPr lang="en-IN" sz="2800" dirty="0" smtClean="0"/>
              <a:t>     </a:t>
            </a:r>
            <a:r>
              <a:rPr lang="en-IN" sz="2800" dirty="0"/>
              <a:t>}</a:t>
            </a:r>
            <a:r>
              <a:rPr lang="en-IN" sz="2800" b="1" dirty="0"/>
              <a:t>while(condition);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0765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01FB-8866-1656-EFB7-2AD43F6AE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464" y="923318"/>
            <a:ext cx="10364451" cy="776174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Jumping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010C-98C8-20DE-7C58-19B53835B5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45048" y="1597892"/>
            <a:ext cx="8941426" cy="46089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Break:</a:t>
            </a:r>
          </a:p>
          <a:p>
            <a:pPr lvl="1"/>
            <a:r>
              <a:rPr lang="en-IN" sz="2400" dirty="0"/>
              <a:t>To </a:t>
            </a:r>
            <a:r>
              <a:rPr lang="en-IN" sz="2400" b="1" dirty="0"/>
              <a:t>stop the flow </a:t>
            </a:r>
            <a:r>
              <a:rPr lang="en-IN" sz="2400" dirty="0"/>
              <a:t>the program.</a:t>
            </a:r>
          </a:p>
          <a:p>
            <a:pPr marL="0" indent="0">
              <a:buNone/>
            </a:pPr>
            <a:r>
              <a:rPr lang="en-IN" sz="2400" b="1" dirty="0"/>
              <a:t>Continue:</a:t>
            </a:r>
          </a:p>
          <a:p>
            <a:pPr lvl="1"/>
            <a:r>
              <a:rPr lang="en-IN" sz="2400" dirty="0"/>
              <a:t>To </a:t>
            </a:r>
            <a:r>
              <a:rPr lang="en-IN" sz="2400" b="1" dirty="0"/>
              <a:t>skip the particular value </a:t>
            </a:r>
            <a:r>
              <a:rPr lang="en-IN" sz="2400" dirty="0"/>
              <a:t>in the flow of program.</a:t>
            </a:r>
          </a:p>
          <a:p>
            <a:pPr marL="0" indent="0">
              <a:buNone/>
            </a:pPr>
            <a:r>
              <a:rPr lang="en-IN" sz="2400" b="1" dirty="0"/>
              <a:t>Goto:</a:t>
            </a:r>
          </a:p>
          <a:p>
            <a:pPr lvl="1"/>
            <a:r>
              <a:rPr lang="en-IN" sz="2400" dirty="0"/>
              <a:t>To </a:t>
            </a:r>
            <a:r>
              <a:rPr lang="en-IN" sz="2400" b="1" dirty="0"/>
              <a:t>jump in any statement </a:t>
            </a:r>
            <a:r>
              <a:rPr lang="en-IN" sz="2400" dirty="0"/>
              <a:t>which is refered. </a:t>
            </a:r>
          </a:p>
          <a:p>
            <a:pPr marL="0" indent="0">
              <a:buNone/>
            </a:pPr>
            <a:r>
              <a:rPr lang="en-IN" sz="2400" b="1" dirty="0"/>
              <a:t>Return:</a:t>
            </a:r>
          </a:p>
          <a:p>
            <a:pPr lvl="1"/>
            <a:r>
              <a:rPr lang="en-IN" sz="2400" dirty="0"/>
              <a:t>To </a:t>
            </a:r>
            <a:r>
              <a:rPr lang="en-IN" sz="2400" b="1" dirty="0"/>
              <a:t>return a data </a:t>
            </a:r>
            <a:r>
              <a:rPr lang="en-IN" sz="2400" dirty="0"/>
              <a:t>in function to function call.</a:t>
            </a:r>
          </a:p>
        </p:txBody>
      </p:sp>
    </p:spTree>
    <p:extLst>
      <p:ext uri="{BB962C8B-B14F-4D97-AF65-F5344CB8AC3E}">
        <p14:creationId xmlns:p14="http://schemas.microsoft.com/office/powerpoint/2010/main" val="427424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945F-8FE3-017A-F4FC-1B75C759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75" y="1036736"/>
            <a:ext cx="10364451" cy="859301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ED029-3136-B6E9-11C6-47758A3ABF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60632" y="1729783"/>
            <a:ext cx="9181258" cy="436621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A Function can be defined as a </a:t>
            </a:r>
            <a:r>
              <a:rPr lang="en-US" sz="2400" b="1" dirty="0"/>
              <a:t>subdivided program </a:t>
            </a:r>
            <a:r>
              <a:rPr lang="en-US" sz="2400" dirty="0"/>
              <a:t>of the main program enclosed within flower brackets.</a:t>
            </a:r>
            <a:endParaRPr lang="en-IN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Advantages of Functions: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Writing the </a:t>
            </a:r>
            <a:r>
              <a:rPr lang="en-US" sz="2400" b="1" dirty="0"/>
              <a:t>same code repeatedly </a:t>
            </a:r>
            <a:r>
              <a:rPr lang="en-US" sz="2400" dirty="0"/>
              <a:t>in a program will be </a:t>
            </a:r>
            <a:r>
              <a:rPr lang="en-US" sz="2400" b="1" dirty="0"/>
              <a:t>avoided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Functions </a:t>
            </a:r>
            <a:r>
              <a:rPr lang="en-US" sz="2400" b="1" dirty="0"/>
              <a:t>can be called any number of times </a:t>
            </a:r>
            <a:r>
              <a:rPr lang="en-US" sz="2400" dirty="0"/>
              <a:t>in a program.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Tracking</a:t>
            </a:r>
            <a:r>
              <a:rPr lang="en-US" sz="2400" dirty="0"/>
              <a:t> a C program </a:t>
            </a:r>
            <a:r>
              <a:rPr lang="en-US" sz="2400" b="1" dirty="0"/>
              <a:t>easily</a:t>
            </a:r>
            <a:r>
              <a:rPr lang="en-US" sz="2400" dirty="0"/>
              <a:t> when it is divided into multiple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Reusability</a:t>
            </a:r>
            <a:r>
              <a:rPr lang="en-US" sz="2400" dirty="0"/>
              <a:t> is the main achievement of C functions.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3624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7ED3-5230-0C1D-AE0F-AF24622B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47" y="1082919"/>
            <a:ext cx="10364451" cy="71151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Types of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A9DB9-5395-A3E7-A7BC-117876C445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45048" y="1794438"/>
            <a:ext cx="9116917" cy="4495527"/>
          </a:xfrm>
        </p:spPr>
        <p:txBody>
          <a:bodyPr>
            <a:noAutofit/>
          </a:bodyPr>
          <a:lstStyle/>
          <a:p>
            <a:pPr lvl="1"/>
            <a:r>
              <a:rPr lang="en-IN" sz="2400" dirty="0"/>
              <a:t>Library Functions </a:t>
            </a:r>
            <a:r>
              <a:rPr lang="en-IN" sz="2400" dirty="0">
                <a:sym typeface="Wingdings" panose="05000000000000000000" pitchFamily="2" charset="2"/>
              </a:rPr>
              <a:t> printf ,scanf</a:t>
            </a:r>
            <a:endParaRPr lang="en-IN" sz="2400" dirty="0"/>
          </a:p>
          <a:p>
            <a:pPr lvl="1"/>
            <a:r>
              <a:rPr lang="en-IN" sz="2400" dirty="0"/>
              <a:t>User-Defined Functions</a:t>
            </a:r>
            <a:r>
              <a:rPr lang="en-IN" sz="2400" dirty="0">
                <a:sym typeface="Wingdings" panose="05000000000000000000" pitchFamily="2" charset="2"/>
              </a:rPr>
              <a:t> sum,swap </a:t>
            </a:r>
          </a:p>
          <a:p>
            <a:pPr marL="0" indent="0">
              <a:buNone/>
            </a:pPr>
            <a:r>
              <a:rPr lang="en-US" sz="2400" b="1" dirty="0"/>
              <a:t>4 Aspects of using Functions in C Programming:</a:t>
            </a:r>
          </a:p>
          <a:p>
            <a:r>
              <a:rPr lang="en-US" sz="2400" dirty="0"/>
              <a:t>Function </a:t>
            </a:r>
            <a:r>
              <a:rPr lang="en-US" sz="2400" dirty="0">
                <a:solidFill>
                  <a:srgbClr val="FF0000"/>
                </a:solidFill>
              </a:rPr>
              <a:t>without arguments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FF0000"/>
                </a:solidFill>
              </a:rPr>
              <a:t>without return value</a:t>
            </a:r>
          </a:p>
          <a:p>
            <a:r>
              <a:rPr lang="en-US" sz="2400" dirty="0"/>
              <a:t>Function </a:t>
            </a:r>
            <a:r>
              <a:rPr lang="en-US" sz="2400" dirty="0">
                <a:solidFill>
                  <a:srgbClr val="FF0000"/>
                </a:solidFill>
              </a:rPr>
              <a:t>without arguments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FF0000"/>
                </a:solidFill>
              </a:rPr>
              <a:t>with the return value</a:t>
            </a:r>
          </a:p>
          <a:p>
            <a:r>
              <a:rPr lang="en-US" sz="2400" dirty="0"/>
              <a:t>Function </a:t>
            </a:r>
            <a:r>
              <a:rPr lang="en-US" sz="2400" dirty="0">
                <a:solidFill>
                  <a:srgbClr val="FF0000"/>
                </a:solidFill>
              </a:rPr>
              <a:t>with arguments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FF0000"/>
                </a:solidFill>
              </a:rPr>
              <a:t>without return value</a:t>
            </a:r>
          </a:p>
          <a:p>
            <a:r>
              <a:rPr lang="en-US" sz="2400" dirty="0"/>
              <a:t>Function </a:t>
            </a:r>
            <a:r>
              <a:rPr lang="en-US" sz="2400" dirty="0">
                <a:solidFill>
                  <a:srgbClr val="FF0000"/>
                </a:solidFill>
              </a:rPr>
              <a:t>with arguments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FF0000"/>
                </a:solidFill>
              </a:rPr>
              <a:t>with the return value</a:t>
            </a:r>
          </a:p>
        </p:txBody>
      </p:sp>
    </p:spTree>
    <p:extLst>
      <p:ext uri="{BB962C8B-B14F-4D97-AF65-F5344CB8AC3E}">
        <p14:creationId xmlns:p14="http://schemas.microsoft.com/office/powerpoint/2010/main" val="249015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6642-D3E7-7ACC-31D2-B65F4154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29" y="997209"/>
            <a:ext cx="10364451" cy="63762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Array: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F3A4F-7E30-E675-379D-BEC46EFB17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04901" y="1634837"/>
            <a:ext cx="9541789" cy="4403163"/>
          </a:xfrm>
        </p:spPr>
        <p:txBody>
          <a:bodyPr>
            <a:normAutofit/>
          </a:bodyPr>
          <a:lstStyle/>
          <a:p>
            <a:r>
              <a:rPr lang="en-US" sz="2400" dirty="0"/>
              <a:t>An array is defined as the collection of similar type of data items stored at contiguous memory locations.</a:t>
            </a:r>
          </a:p>
          <a:p>
            <a:r>
              <a:rPr lang="en-US" sz="2400" dirty="0"/>
              <a:t> The array is the simplest data structure where each data element can be randomly accessed by using its index number.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  Syntax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dirty="0"/>
              <a:t>	datatype arrayName[array size];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  Example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dirty="0"/>
              <a:t>		int a[5]={1,2,3,4,5};</a:t>
            </a:r>
          </a:p>
        </p:txBody>
      </p:sp>
    </p:spTree>
    <p:extLst>
      <p:ext uri="{BB962C8B-B14F-4D97-AF65-F5344CB8AC3E}">
        <p14:creationId xmlns:p14="http://schemas.microsoft.com/office/powerpoint/2010/main" val="155396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1C25-3168-18E4-677D-50C19F1C9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38" y="821718"/>
            <a:ext cx="10364451" cy="84082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Types of Arrays: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E93A2-26E5-A1BD-CB3E-0EE8CF3EBE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9200" y="1524000"/>
            <a:ext cx="9947564" cy="4553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One-Dimensional</a:t>
            </a:r>
            <a:r>
              <a:rPr lang="en-US" sz="2400" dirty="0"/>
              <a:t> </a:t>
            </a:r>
            <a:r>
              <a:rPr lang="en-US" sz="2400" dirty="0" smtClean="0"/>
              <a:t>Array</a:t>
            </a:r>
            <a:endParaRPr lang="en-US" sz="2400" b="0" i="0" dirty="0" smtClean="0">
              <a:solidFill>
                <a:srgbClr val="4A4A4A"/>
              </a:solidFill>
              <a:effectLst/>
              <a:latin typeface="Open Sans" panose="020B0606030504020204" pitchFamily="34" charset="0"/>
            </a:endParaRPr>
          </a:p>
          <a:p>
            <a:pPr lvl="2"/>
            <a:r>
              <a:rPr lang="en-US" sz="2400" b="0" i="0" dirty="0" smtClean="0">
                <a:effectLst/>
              </a:rPr>
              <a:t>an </a:t>
            </a:r>
            <a:r>
              <a:rPr lang="en-US" sz="2400" b="0" i="0" dirty="0">
                <a:effectLst/>
              </a:rPr>
              <a:t>array with a single row and multiple columns</a:t>
            </a:r>
          </a:p>
          <a:p>
            <a:pPr lvl="4"/>
            <a:r>
              <a:rPr lang="en-US" sz="2400" b="0" i="0" dirty="0">
                <a:effectLst/>
              </a:rPr>
              <a:t> </a:t>
            </a:r>
            <a:r>
              <a:rPr lang="en-US" sz="2400" dirty="0"/>
              <a:t>int arrayone[3]={1,2,3};</a:t>
            </a:r>
          </a:p>
          <a:p>
            <a:pPr marL="0" indent="0">
              <a:buNone/>
            </a:pPr>
            <a:r>
              <a:rPr lang="en-US" sz="2400" b="1" dirty="0"/>
              <a:t>Two-Dimensional </a:t>
            </a:r>
            <a:r>
              <a:rPr lang="en-US" sz="2400" dirty="0"/>
              <a:t>Array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endParaRPr lang="en-US" sz="2400" dirty="0" smtClean="0">
              <a:sym typeface="Wingdings" panose="05000000000000000000" pitchFamily="2" charset="2"/>
            </a:endParaRPr>
          </a:p>
          <a:p>
            <a:pPr lvl="2"/>
            <a:r>
              <a:rPr lang="en-US" sz="2400" dirty="0" smtClean="0">
                <a:sym typeface="Wingdings" panose="05000000000000000000" pitchFamily="2" charset="2"/>
              </a:rPr>
              <a:t>2D </a:t>
            </a:r>
            <a:r>
              <a:rPr lang="en-US" sz="2400" b="0" i="0" dirty="0" smtClean="0">
                <a:effectLst/>
              </a:rPr>
              <a:t> </a:t>
            </a:r>
            <a:r>
              <a:rPr lang="en-US" sz="2400" b="0" i="0" dirty="0">
                <a:effectLst/>
              </a:rPr>
              <a:t>the collection of rows and columns </a:t>
            </a:r>
          </a:p>
          <a:p>
            <a:pPr lvl="4"/>
            <a:r>
              <a:rPr lang="en-US" sz="2400" dirty="0"/>
              <a:t>int arraytwo[2][2 ]={{1,2},{3,4</a:t>
            </a:r>
            <a:r>
              <a:rPr lang="en-US" sz="2400" dirty="0" smtClean="0"/>
              <a:t>}};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Three-Dimensional</a:t>
            </a:r>
            <a:r>
              <a:rPr lang="en-US" sz="2400" dirty="0"/>
              <a:t> </a:t>
            </a:r>
            <a:r>
              <a:rPr lang="en-US" sz="2400" dirty="0" smtClean="0"/>
              <a:t>Array</a:t>
            </a:r>
            <a:endParaRPr lang="en-US" sz="2400" dirty="0">
              <a:sym typeface="Wingdings" panose="05000000000000000000" pitchFamily="2" charset="2"/>
            </a:endParaRPr>
          </a:p>
          <a:p>
            <a:pPr lvl="2"/>
            <a:r>
              <a:rPr lang="en-US" sz="2400" dirty="0" smtClean="0">
                <a:sym typeface="Wingdings" panose="05000000000000000000" pitchFamily="2" charset="2"/>
              </a:rPr>
              <a:t>3D </a:t>
            </a:r>
            <a:r>
              <a:rPr lang="en-US" sz="2400" b="0" i="0" dirty="0">
                <a:effectLst/>
              </a:rPr>
              <a:t>as the collection of multiple rows and columns </a:t>
            </a:r>
            <a:endParaRPr lang="en-US" sz="2400" b="0" i="0" dirty="0" smtClean="0">
              <a:effectLst/>
            </a:endParaRPr>
          </a:p>
          <a:p>
            <a:pPr lvl="2"/>
            <a:r>
              <a:rPr lang="en-US" sz="2400" b="0" i="0" dirty="0" err="1" smtClean="0">
                <a:effectLst/>
              </a:rPr>
              <a:t>int</a:t>
            </a:r>
            <a:r>
              <a:rPr lang="en-US" sz="2400" b="0" i="0" dirty="0" smtClean="0">
                <a:effectLst/>
              </a:rPr>
              <a:t> </a:t>
            </a:r>
            <a:r>
              <a:rPr lang="en-US" sz="2400" b="0" i="0" dirty="0" err="1" smtClean="0">
                <a:effectLst/>
              </a:rPr>
              <a:t>arraythree</a:t>
            </a:r>
            <a:r>
              <a:rPr lang="en-US" sz="2400" b="0" i="0" dirty="0" smtClean="0">
                <a:effectLst/>
              </a:rPr>
              <a:t>[2][2][2] =</a:t>
            </a:r>
            <a:r>
              <a:rPr lang="en-US" sz="2400" dirty="0"/>
              <a:t> ]={{1,2},{3,4</a:t>
            </a:r>
            <a:r>
              <a:rPr lang="en-US" sz="2400" dirty="0" smtClean="0"/>
              <a:t>},{5,6},{7,8}};</a:t>
            </a:r>
            <a:endParaRPr lang="en-US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632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1ACD-416A-B4B9-E427-780B2002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592" y="925671"/>
            <a:ext cx="10364451" cy="736875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String: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BD00B-3954-C5AF-09DE-25CD65CEDB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69557" y="1570182"/>
            <a:ext cx="9292408" cy="4775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/>
              <a:t>The string can be defined as the </a:t>
            </a:r>
            <a:r>
              <a:rPr lang="en-US" sz="2200" b="1" dirty="0"/>
              <a:t>one-dimensional array of characters terminated by a null ('\0’).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The character array or the string is used to </a:t>
            </a:r>
            <a:r>
              <a:rPr lang="en-US" sz="2200" b="1" dirty="0"/>
              <a:t>manipulate </a:t>
            </a:r>
            <a:r>
              <a:rPr lang="en-US" sz="2200" b="1" dirty="0" smtClean="0"/>
              <a:t>text.</a:t>
            </a:r>
          </a:p>
          <a:p>
            <a:pPr>
              <a:lnSpc>
                <a:spcPct val="100000"/>
              </a:lnSpc>
            </a:pPr>
            <a:r>
              <a:rPr lang="en-US" sz="2200" dirty="0" smtClean="0"/>
              <a:t>Each </a:t>
            </a:r>
            <a:r>
              <a:rPr lang="en-US" sz="2200" dirty="0"/>
              <a:t>character in the array </a:t>
            </a:r>
            <a:r>
              <a:rPr lang="en-US" sz="2200" b="1" dirty="0"/>
              <a:t>occupies one byte of memory</a:t>
            </a:r>
            <a:r>
              <a:rPr lang="en-US" sz="2200" dirty="0"/>
              <a:t>, and the </a:t>
            </a:r>
            <a:r>
              <a:rPr lang="en-US" sz="2200" b="1" dirty="0"/>
              <a:t>last character </a:t>
            </a:r>
            <a:r>
              <a:rPr lang="en-US" sz="2200" dirty="0"/>
              <a:t>must </a:t>
            </a:r>
            <a:r>
              <a:rPr lang="en-US" sz="2200" b="1" dirty="0"/>
              <a:t>always be 0.</a:t>
            </a:r>
            <a:r>
              <a:rPr lang="en-IN" sz="2200" b="1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There are </a:t>
            </a:r>
            <a:r>
              <a:rPr lang="en-US" sz="2200" b="1" dirty="0"/>
              <a:t>two ways </a:t>
            </a:r>
            <a:r>
              <a:rPr lang="en-US" sz="2200" dirty="0"/>
              <a:t>to declare a string in c language.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By char array: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			char </a:t>
            </a:r>
            <a:r>
              <a:rPr lang="en-US" sz="2200" dirty="0" err="1"/>
              <a:t>ch</a:t>
            </a:r>
            <a:r>
              <a:rPr lang="en-US" sz="2200" dirty="0"/>
              <a:t>[6]={'h', 'e', ‘l’, 'l', ‘o’, ‘\0’}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By string literal: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			char </a:t>
            </a:r>
            <a:r>
              <a:rPr lang="en-US" sz="2200" dirty="0" err="1"/>
              <a:t>ch</a:t>
            </a:r>
            <a:r>
              <a:rPr lang="en-US" sz="2200" dirty="0"/>
              <a:t>[6]="hello";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8193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1CA4-99C2-CBCC-85DE-8AF797F8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57701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String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D2D37-9C70-F887-54F1-D2ADA194CA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92465" y="1191489"/>
            <a:ext cx="10363826" cy="5440219"/>
          </a:xfrm>
        </p:spPr>
        <p:txBody>
          <a:bodyPr>
            <a:normAutofit/>
          </a:bodyPr>
          <a:lstStyle/>
          <a:p>
            <a:r>
              <a:rPr lang="en-US" b="1" dirty="0" smtClean="0"/>
              <a:t>Gets(), </a:t>
            </a:r>
            <a:r>
              <a:rPr lang="en-US" b="1" dirty="0" smtClean="0">
                <a:sym typeface="Wingdings" panose="05000000000000000000" pitchFamily="2" charset="2"/>
              </a:rPr>
              <a:t>puts() </a:t>
            </a:r>
            <a:r>
              <a:rPr lang="en-US" dirty="0">
                <a:sym typeface="Wingdings" panose="05000000000000000000" pitchFamily="2" charset="2"/>
              </a:rPr>
              <a:t> scanf, printf.</a:t>
            </a:r>
            <a:endParaRPr lang="en-US" dirty="0"/>
          </a:p>
          <a:p>
            <a:r>
              <a:rPr lang="en-US" b="1" dirty="0" err="1"/>
              <a:t>strlen</a:t>
            </a:r>
            <a:r>
              <a:rPr lang="en-US" b="1" dirty="0"/>
              <a:t>(</a:t>
            </a:r>
            <a:r>
              <a:rPr lang="en-US" b="1" dirty="0" err="1"/>
              <a:t>string_name</a:t>
            </a:r>
            <a:r>
              <a:rPr lang="en-US" b="1" dirty="0" smtClean="0"/>
              <a:t>)</a:t>
            </a:r>
            <a:r>
              <a:rPr lang="en-US" dirty="0"/>
              <a:t>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/>
              <a:t>returns the length of string name.</a:t>
            </a:r>
          </a:p>
          <a:p>
            <a:r>
              <a:rPr lang="en-US" b="1" dirty="0"/>
              <a:t>strrev(string)</a:t>
            </a: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returns reverse string.</a:t>
            </a:r>
          </a:p>
          <a:p>
            <a:r>
              <a:rPr lang="en-US" b="1" dirty="0"/>
              <a:t>strlwr(string)</a:t>
            </a: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returns string characters in lowercase.</a:t>
            </a:r>
          </a:p>
          <a:p>
            <a:r>
              <a:rPr lang="en-US" b="1" dirty="0"/>
              <a:t>strupr(string)</a:t>
            </a: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returns string characters in uppercase.</a:t>
            </a:r>
          </a:p>
          <a:p>
            <a:r>
              <a:rPr lang="en-US" b="1" dirty="0"/>
              <a:t>strcpy(destination, source)  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copies the contents of source string to destination string.</a:t>
            </a:r>
          </a:p>
          <a:p>
            <a:r>
              <a:rPr lang="en-US" b="1" dirty="0"/>
              <a:t>strcat(first_string</a:t>
            </a:r>
            <a:r>
              <a:rPr lang="en-US" b="1"/>
              <a:t>, </a:t>
            </a:r>
            <a:r>
              <a:rPr lang="en-US" b="1" smtClean="0"/>
              <a:t>second string</a:t>
            </a:r>
            <a:r>
              <a:rPr lang="en-US" b="1" dirty="0" smtClean="0"/>
              <a:t>)</a:t>
            </a: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>
                <a:sym typeface="Wingdings" panose="05000000000000000000" pitchFamily="2" charset="2"/>
              </a:rPr>
              <a:t>   </a:t>
            </a:r>
            <a:r>
              <a:rPr lang="en-US" dirty="0"/>
              <a:t>concats or joins first string with second string. The result of the string is stored in first string.</a:t>
            </a:r>
          </a:p>
          <a:p>
            <a:r>
              <a:rPr lang="en-US" b="1" dirty="0"/>
              <a:t>strcmp(first_string, second_string)     </a:t>
            </a:r>
            <a:r>
              <a:rPr lang="en-US" dirty="0">
                <a:sym typeface="Wingdings" panose="05000000000000000000" pitchFamily="2" charset="2"/>
              </a:rPr>
              <a:t>   </a:t>
            </a:r>
            <a:r>
              <a:rPr lang="en-US" dirty="0"/>
              <a:t>compares the first string with second string. If both strings are same, it returns 0.</a:t>
            </a:r>
          </a:p>
        </p:txBody>
      </p:sp>
    </p:spTree>
    <p:extLst>
      <p:ext uri="{BB962C8B-B14F-4D97-AF65-F5344CB8AC3E}">
        <p14:creationId xmlns:p14="http://schemas.microsoft.com/office/powerpoint/2010/main" val="82806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4265-D346-1087-9F21-F9EC277A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757" y="766299"/>
            <a:ext cx="10364451" cy="748465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Pointers: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CE9B-A34F-0B30-98F9-FA0E4EC30C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09355" y="1440873"/>
            <a:ext cx="9254210" cy="5068181"/>
          </a:xfrm>
        </p:spPr>
        <p:txBody>
          <a:bodyPr>
            <a:noAutofit/>
          </a:bodyPr>
          <a:lstStyle/>
          <a:p>
            <a:r>
              <a:rPr lang="en-US" sz="2300" dirty="0"/>
              <a:t>The pointer in C language is a variable which </a:t>
            </a:r>
            <a:r>
              <a:rPr lang="en-US" sz="2300" b="1" dirty="0"/>
              <a:t>stores the address of another variable</a:t>
            </a:r>
            <a:r>
              <a:rPr lang="en-US" sz="2300" dirty="0"/>
              <a:t>. </a:t>
            </a:r>
          </a:p>
          <a:p>
            <a:r>
              <a:rPr lang="en-US" sz="2300" dirty="0"/>
              <a:t>This variable can be of type int, char, array, function, or any other pointer. </a:t>
            </a:r>
          </a:p>
          <a:p>
            <a:r>
              <a:rPr lang="en-US" sz="2300" dirty="0"/>
              <a:t>The </a:t>
            </a:r>
            <a:r>
              <a:rPr lang="en-US" sz="2300" b="1" dirty="0"/>
              <a:t>size of the pointer depends on the architecture</a:t>
            </a:r>
            <a:r>
              <a:rPr lang="en-US" sz="2300" dirty="0"/>
              <a:t>. </a:t>
            </a:r>
          </a:p>
          <a:p>
            <a:r>
              <a:rPr lang="en-US" sz="2300" dirty="0"/>
              <a:t>However, in </a:t>
            </a:r>
            <a:r>
              <a:rPr lang="en-US" sz="2300" b="1" dirty="0"/>
              <a:t>32-bit architecture </a:t>
            </a:r>
            <a:r>
              <a:rPr lang="en-US" sz="2300" dirty="0"/>
              <a:t>the size of a </a:t>
            </a:r>
            <a:r>
              <a:rPr lang="en-US" sz="2300" b="1" dirty="0"/>
              <a:t>pointer is 2 byte</a:t>
            </a:r>
            <a:r>
              <a:rPr lang="en-US" sz="23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Example: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pt-BR" sz="2400" dirty="0"/>
              <a:t> int n = 10;   </a:t>
            </a:r>
          </a:p>
          <a:p>
            <a:pPr marL="0" indent="0">
              <a:buNone/>
            </a:pPr>
            <a:r>
              <a:rPr lang="pt-BR" sz="2400" dirty="0"/>
              <a:t>			</a:t>
            </a:r>
            <a:r>
              <a:rPr lang="pt-BR" sz="2400" dirty="0" smtClean="0"/>
              <a:t>int *p </a:t>
            </a:r>
            <a:r>
              <a:rPr lang="pt-BR" sz="2400" dirty="0"/>
              <a:t>= &amp;n;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302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CD72-4FEB-59AD-ECC6-65133CFF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49" y="677999"/>
            <a:ext cx="10364451" cy="861406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Pointer to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4C63E-32DE-7B53-3EBE-561D901BAC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8793" y="1469044"/>
            <a:ext cx="9347826" cy="5292436"/>
          </a:xfrm>
        </p:spPr>
        <p:txBody>
          <a:bodyPr>
            <a:normAutofit/>
          </a:bodyPr>
          <a:lstStyle/>
          <a:p>
            <a:r>
              <a:rPr lang="en-US" dirty="0"/>
              <a:t>a pointer to </a:t>
            </a:r>
            <a:r>
              <a:rPr lang="en-US" b="1" dirty="0"/>
              <a:t>store the address of another pointer </a:t>
            </a:r>
            <a:r>
              <a:rPr lang="en-US" dirty="0"/>
              <a:t>is known as a double pointer (pointer to pointer). </a:t>
            </a:r>
          </a:p>
          <a:p>
            <a:r>
              <a:rPr lang="en-US" dirty="0"/>
              <a:t>The first pointer is used to store the address of a variable whereas the second pointer is used to store the address of the first pointer.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b="1" dirty="0" smtClean="0"/>
              <a:t>Example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		int a = 10; 		 </a:t>
            </a:r>
          </a:p>
          <a:p>
            <a:pPr marL="0" indent="0">
              <a:buNone/>
            </a:pPr>
            <a:r>
              <a:rPr lang="en-US" dirty="0"/>
              <a:t>		int *p;  	</a:t>
            </a:r>
          </a:p>
          <a:p>
            <a:pPr marL="0" indent="0">
              <a:buNone/>
            </a:pPr>
            <a:r>
              <a:rPr lang="en-US" dirty="0"/>
              <a:t>    		int **pp;   </a:t>
            </a:r>
          </a:p>
          <a:p>
            <a:pPr marL="0" indent="0">
              <a:buNone/>
            </a:pPr>
            <a:r>
              <a:rPr lang="en-US" dirty="0"/>
              <a:t>    		</a:t>
            </a:r>
            <a:r>
              <a:rPr lang="en-US" dirty="0" smtClean="0"/>
              <a:t>*p </a:t>
            </a:r>
            <a:r>
              <a:rPr lang="en-US" dirty="0"/>
              <a:t>= &amp;a; </a:t>
            </a:r>
          </a:p>
          <a:p>
            <a:pPr marL="0" indent="0">
              <a:buNone/>
            </a:pPr>
            <a:r>
              <a:rPr lang="en-US" dirty="0"/>
              <a:t>    		</a:t>
            </a:r>
            <a:r>
              <a:rPr lang="en-US" dirty="0" smtClean="0"/>
              <a:t>**pp </a:t>
            </a:r>
            <a:r>
              <a:rPr lang="en-US" dirty="0"/>
              <a:t>= &amp;p;</a:t>
            </a:r>
            <a:endParaRPr lang="en-IN" dirty="0"/>
          </a:p>
        </p:txBody>
      </p:sp>
      <p:pic>
        <p:nvPicPr>
          <p:cNvPr id="1026" name="Picture 2" descr="pointer to pointer in c">
            <a:extLst>
              <a:ext uri="{FF2B5EF4-FFF2-40B4-BE49-F238E27FC236}">
                <a16:creationId xmlns:a16="http://schemas.microsoft.com/office/drawing/2014/main" id="{6DE33CBD-8D3D-D1B9-67AE-5EF3459C4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36" y="4144732"/>
            <a:ext cx="6564388" cy="1304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A922F2-7427-DA11-7DE1-E62B0C629738}"/>
              </a:ext>
            </a:extLst>
          </p:cNvPr>
          <p:cNvSpPr txBox="1"/>
          <p:nvPr/>
        </p:nvSpPr>
        <p:spPr>
          <a:xfrm>
            <a:off x="10229816" y="3592042"/>
            <a:ext cx="396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63B55-9806-339D-4AFE-504F2F191444}"/>
              </a:ext>
            </a:extLst>
          </p:cNvPr>
          <p:cNvSpPr txBox="1"/>
          <p:nvPr/>
        </p:nvSpPr>
        <p:spPr>
          <a:xfrm>
            <a:off x="7927599" y="3592042"/>
            <a:ext cx="184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214F6-5B57-C9AF-6CFA-BD8C6666828B}"/>
              </a:ext>
            </a:extLst>
          </p:cNvPr>
          <p:cNvSpPr txBox="1"/>
          <p:nvPr/>
        </p:nvSpPr>
        <p:spPr>
          <a:xfrm>
            <a:off x="5467014" y="3707018"/>
            <a:ext cx="564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PP</a:t>
            </a:r>
          </a:p>
        </p:txBody>
      </p:sp>
    </p:spTree>
    <p:extLst>
      <p:ext uri="{BB962C8B-B14F-4D97-AF65-F5344CB8AC3E}">
        <p14:creationId xmlns:p14="http://schemas.microsoft.com/office/powerpoint/2010/main" val="282830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0C8B-D8B1-D0F4-33BC-5C5C3573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76174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C2705-D43F-6353-0A19-16D5A7BBB4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61920" y="1311564"/>
            <a:ext cx="9616306" cy="52370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Structure in c is a </a:t>
            </a:r>
            <a:r>
              <a:rPr lang="en-US" b="1" dirty="0"/>
              <a:t>user-defined data type </a:t>
            </a:r>
            <a:r>
              <a:rPr lang="en-US" dirty="0"/>
              <a:t>that enables us to store the </a:t>
            </a:r>
            <a:r>
              <a:rPr lang="en-US" b="1" dirty="0"/>
              <a:t>collection of different data types</a:t>
            </a:r>
            <a:r>
              <a:rPr lang="en-US" dirty="0"/>
              <a:t>. </a:t>
            </a:r>
          </a:p>
          <a:p>
            <a:r>
              <a:rPr lang="en-US" dirty="0"/>
              <a:t>Each element of a structure is called a </a:t>
            </a:r>
            <a:r>
              <a:rPr lang="en-US" b="1" dirty="0"/>
              <a:t>member</a:t>
            </a:r>
            <a:r>
              <a:rPr lang="en-US" dirty="0"/>
              <a:t>.</a:t>
            </a:r>
          </a:p>
          <a:p>
            <a:r>
              <a:rPr lang="en-US" dirty="0"/>
              <a:t>The ,</a:t>
            </a:r>
            <a:r>
              <a:rPr lang="en-US" b="1" dirty="0"/>
              <a:t>struct keyword </a:t>
            </a:r>
            <a:r>
              <a:rPr lang="en-US" dirty="0"/>
              <a:t>is used to define the structure.</a:t>
            </a:r>
          </a:p>
          <a:p>
            <a:r>
              <a:rPr lang="en-US" dirty="0"/>
              <a:t>We </a:t>
            </a:r>
            <a:r>
              <a:rPr lang="en-US" b="1" dirty="0"/>
              <a:t>can access </a:t>
            </a:r>
            <a:r>
              <a:rPr lang="en-US" dirty="0"/>
              <a:t>the struct by </a:t>
            </a:r>
            <a:r>
              <a:rPr lang="en-US" b="1" dirty="0"/>
              <a:t>declaring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Syntax: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struct</a:t>
            </a:r>
            <a:r>
              <a:rPr lang="en-US" dirty="0"/>
              <a:t> structure_name   {  </a:t>
            </a:r>
          </a:p>
          <a:p>
            <a:pPr marL="0" indent="0">
              <a:buNone/>
            </a:pPr>
            <a:r>
              <a:rPr lang="en-US" dirty="0"/>
              <a:t> 			data_type member1;  </a:t>
            </a: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			data_type memeberN;  </a:t>
            </a:r>
          </a:p>
          <a:p>
            <a:pPr marL="0" indent="0">
              <a:buNone/>
            </a:pPr>
            <a:r>
              <a:rPr lang="en-US" dirty="0"/>
              <a:t>		};</a:t>
            </a:r>
          </a:p>
          <a:p>
            <a:pPr marL="0" indent="0">
              <a:buNone/>
            </a:pPr>
            <a:r>
              <a:rPr lang="en-US" dirty="0"/>
              <a:t>		 struct structure_name variable; </a:t>
            </a:r>
          </a:p>
        </p:txBody>
      </p:sp>
    </p:spTree>
    <p:extLst>
      <p:ext uri="{BB962C8B-B14F-4D97-AF65-F5344CB8AC3E}">
        <p14:creationId xmlns:p14="http://schemas.microsoft.com/office/powerpoint/2010/main" val="179352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6ECE-9D72-97C8-A25F-17DE6DCD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30" y="618519"/>
            <a:ext cx="10364451" cy="68381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F36A-DF1E-3CB5-647B-2A02A18D6A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75590" y="1302329"/>
            <a:ext cx="9892772" cy="5440217"/>
          </a:xfrm>
        </p:spPr>
        <p:txBody>
          <a:bodyPr>
            <a:normAutofit/>
          </a:bodyPr>
          <a:lstStyle/>
          <a:p>
            <a:r>
              <a:rPr lang="en-US" dirty="0"/>
              <a:t>Union can be defined as a </a:t>
            </a:r>
            <a:r>
              <a:rPr lang="en-US" b="1" dirty="0"/>
              <a:t>user-defined data type </a:t>
            </a:r>
            <a:r>
              <a:rPr lang="en-US" dirty="0"/>
              <a:t>which is a collection of </a:t>
            </a:r>
            <a:r>
              <a:rPr lang="en-US" b="1" dirty="0"/>
              <a:t>different variables of different data types </a:t>
            </a:r>
            <a:r>
              <a:rPr lang="en-US" dirty="0"/>
              <a:t>in the </a:t>
            </a:r>
            <a:r>
              <a:rPr lang="en-US" b="1" dirty="0"/>
              <a:t>same memory location</a:t>
            </a:r>
            <a:r>
              <a:rPr lang="en-US" dirty="0"/>
              <a:t>. </a:t>
            </a:r>
          </a:p>
          <a:p>
            <a:r>
              <a:rPr lang="en-US" dirty="0"/>
              <a:t>The union can also be defined as many members, but only one member can </a:t>
            </a:r>
            <a:r>
              <a:rPr lang="en-US" b="1" dirty="0"/>
              <a:t>contain a value at a particular point in time.</a:t>
            </a:r>
          </a:p>
          <a:p>
            <a:r>
              <a:rPr lang="en-US" dirty="0"/>
              <a:t>Union is a user-defined data type, but unlike structures, they </a:t>
            </a:r>
            <a:r>
              <a:rPr lang="en-US" b="1" dirty="0"/>
              <a:t>share the same memory location.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600" b="1" dirty="0" smtClean="0">
                <a:solidFill>
                  <a:schemeClr val="accent1">
                    <a:lumMod val="75000"/>
                  </a:schemeClr>
                </a:solidFill>
              </a:rPr>
              <a:t>  Syntax: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sz="2400" b="1" dirty="0" smtClean="0"/>
              <a:t>union</a:t>
            </a:r>
            <a:r>
              <a:rPr lang="en-US" sz="2400" dirty="0" smtClean="0"/>
              <a:t> numbers  {  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</a:t>
            </a:r>
            <a:r>
              <a:rPr lang="en-US" sz="2400" dirty="0"/>
              <a:t>			int a;  </a:t>
            </a:r>
          </a:p>
          <a:p>
            <a:pPr marL="0" indent="0">
              <a:buNone/>
            </a:pPr>
            <a:r>
              <a:rPr lang="en-US" sz="2400" dirty="0"/>
              <a:t>			char b;   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 smtClean="0"/>
              <a:t> }</a:t>
            </a:r>
            <a:r>
              <a:rPr lang="en-US" sz="2400" dirty="0"/>
              <a:t>var;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999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DA76-A09D-AA31-08D1-CD93F240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02" y="563100"/>
            <a:ext cx="10364451" cy="776174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Enum: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35E6-C802-06EE-7CFF-97AA781CC9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77818" y="1154547"/>
            <a:ext cx="9523317" cy="54771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/>
              <a:t>The enum in C is also known as the </a:t>
            </a:r>
            <a:r>
              <a:rPr lang="en-US" sz="2200" b="1" dirty="0"/>
              <a:t>enumerated type</a:t>
            </a:r>
            <a:r>
              <a:rPr lang="en-US" sz="22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It is a </a:t>
            </a:r>
            <a:r>
              <a:rPr lang="en-US" sz="2200" b="1" dirty="0"/>
              <a:t>user-defined data type </a:t>
            </a:r>
            <a:r>
              <a:rPr lang="en-US" sz="2200" dirty="0"/>
              <a:t>that consists of </a:t>
            </a:r>
            <a:r>
              <a:rPr lang="en-US" sz="2200" b="1" dirty="0"/>
              <a:t>integer values</a:t>
            </a:r>
            <a:r>
              <a:rPr lang="en-US" sz="2200" dirty="0"/>
              <a:t>, and it provides </a:t>
            </a:r>
            <a:r>
              <a:rPr lang="en-US" sz="2200" b="1" dirty="0"/>
              <a:t>meaningful names </a:t>
            </a:r>
            <a:r>
              <a:rPr lang="en-US" sz="2200" dirty="0"/>
              <a:t>to these values.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The use of enum in C makes the program easy to understand and maintain.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The enum is defined by using the enum keyword.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Syntax: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		</a:t>
            </a:r>
            <a:r>
              <a:rPr lang="en-IN" sz="2200" dirty="0" smtClean="0"/>
              <a:t> </a:t>
            </a:r>
            <a:r>
              <a:rPr lang="en-IN" sz="2200" b="1" dirty="0" err="1"/>
              <a:t>enum</a:t>
            </a:r>
            <a:r>
              <a:rPr lang="en-IN" sz="2200" dirty="0"/>
              <a:t> </a:t>
            </a:r>
            <a:r>
              <a:rPr lang="en-IN" sz="2200" dirty="0" smtClean="0"/>
              <a:t>fruits {</a:t>
            </a:r>
            <a:endParaRPr lang="en-IN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200" dirty="0"/>
              <a:t>			mango=10,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200" dirty="0"/>
              <a:t>			apple=5,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200" dirty="0"/>
              <a:t>			strawberry=3,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200" dirty="0"/>
              <a:t>		</a:t>
            </a:r>
            <a:r>
              <a:rPr lang="en-IN" sz="2200" dirty="0" smtClean="0"/>
              <a:t>} ;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22178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35CA-AE13-F710-93DF-53C549D77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266" y="655462"/>
            <a:ext cx="10364451" cy="711519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typedef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41F75-2944-26F5-918A-2E408111E9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24974" y="1274619"/>
            <a:ext cx="9172335" cy="5190837"/>
          </a:xfrm>
        </p:spPr>
        <p:txBody>
          <a:bodyPr>
            <a:normAutofit/>
          </a:bodyPr>
          <a:lstStyle/>
          <a:p>
            <a:r>
              <a:rPr lang="en-US" dirty="0"/>
              <a:t>The typedef is a keyword used in C programming to provide </a:t>
            </a:r>
            <a:r>
              <a:rPr lang="en-US" b="1" dirty="0"/>
              <a:t>some meaningful names</a:t>
            </a:r>
            <a:r>
              <a:rPr lang="en-US" dirty="0"/>
              <a:t> to the </a:t>
            </a:r>
            <a:r>
              <a:rPr lang="en-US" b="1" dirty="0"/>
              <a:t>already existing variable </a:t>
            </a:r>
            <a:r>
              <a:rPr lang="en-US" dirty="0"/>
              <a:t>in the C program.</a:t>
            </a:r>
          </a:p>
          <a:p>
            <a:r>
              <a:rPr lang="en-US" dirty="0"/>
              <a:t>we can say that this keyword is </a:t>
            </a:r>
            <a:r>
              <a:rPr lang="en-US" b="1" dirty="0"/>
              <a:t>used to redefine the name </a:t>
            </a:r>
            <a:r>
              <a:rPr lang="en-US" dirty="0"/>
              <a:t>of an </a:t>
            </a:r>
            <a:r>
              <a:rPr lang="en-US" b="1" dirty="0"/>
              <a:t>already existing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Example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typedef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arr</a:t>
            </a:r>
            <a:r>
              <a:rPr lang="en-US" dirty="0" smtClean="0"/>
              <a:t>[5];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arr</a:t>
            </a:r>
            <a:r>
              <a:rPr lang="en-US" dirty="0" smtClean="0"/>
              <a:t> a={1,2,3,4,5};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=0; </a:t>
            </a:r>
            <a:r>
              <a:rPr lang="en-US" dirty="0" err="1" smtClean="0"/>
              <a:t>i</a:t>
            </a:r>
            <a:r>
              <a:rPr lang="en-US" dirty="0" smtClean="0"/>
              <a:t>&lt;5;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("Value of </a:t>
            </a:r>
            <a:r>
              <a:rPr lang="en-US" dirty="0" smtClean="0"/>
              <a:t>a[%d] </a:t>
            </a:r>
            <a:r>
              <a:rPr lang="en-US" dirty="0"/>
              <a:t>is :%d</a:t>
            </a:r>
            <a:r>
              <a:rPr lang="en-US" dirty="0" smtClean="0"/>
              <a:t>", I , a[</a:t>
            </a:r>
            <a:r>
              <a:rPr lang="en-US" dirty="0" err="1" smtClean="0"/>
              <a:t>i</a:t>
            </a:r>
            <a:r>
              <a:rPr lang="en-US" dirty="0" smtClean="0"/>
              <a:t>]);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85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BB6B-8C0A-0941-596A-1CD6873C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773628"/>
            <a:ext cx="10364451" cy="633796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Dynamic memory: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6D56917A-5418-825A-EB85-DEDBFF32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77" y="1534963"/>
            <a:ext cx="10226645" cy="48930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326FEA-52A3-929C-C493-089965DA8D5F}"/>
                  </a:ext>
                </a:extLst>
              </p14:cNvPr>
              <p14:cNvContentPartPr/>
              <p14:nvPr/>
            </p14:nvContentPartPr>
            <p14:xfrm>
              <a:off x="5458799" y="6171420"/>
              <a:ext cx="1274400" cy="95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326FEA-52A3-929C-C493-089965DA8D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2039" y="6084987"/>
                <a:ext cx="1447920" cy="267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0AE3F2D-41A6-8976-C028-3030A4F7C30A}"/>
                  </a:ext>
                </a:extLst>
              </p14:cNvPr>
              <p14:cNvContentPartPr/>
              <p14:nvPr/>
            </p14:nvContentPartPr>
            <p14:xfrm>
              <a:off x="10811181" y="614498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0AE3F2D-41A6-8976-C028-3030A4F7C3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48541" y="60819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95E3E4E-52C8-B175-669D-B35E29B00A1E}"/>
                  </a:ext>
                </a:extLst>
              </p14:cNvPr>
              <p14:cNvContentPartPr/>
              <p14:nvPr/>
            </p14:nvContentPartPr>
            <p14:xfrm>
              <a:off x="13433421" y="519062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95E3E4E-52C8-B175-669D-B35E29B00A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370421" y="512762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9670473" y="1570182"/>
            <a:ext cx="1487054" cy="23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4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16E3-1D5C-E57F-7B36-D5D913A8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868" y="897635"/>
            <a:ext cx="10364451" cy="824780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Types: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D4B9AB-EC50-FEEB-B011-7F2E5EB5811A}"/>
                  </a:ext>
                </a:extLst>
              </p14:cNvPr>
              <p14:cNvContentPartPr/>
              <p14:nvPr/>
            </p14:nvContentPartPr>
            <p14:xfrm>
              <a:off x="3401661" y="361706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D4B9AB-EC50-FEEB-B011-7F2E5EB581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9021" y="3554068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4FF7528-1942-9ABB-C593-9A016BF88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868" y="1524106"/>
            <a:ext cx="10364451" cy="487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7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20FD-8CEA-CF65-62B0-EF2ABD45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02" y="729354"/>
            <a:ext cx="10364451" cy="729992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Error handling: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7A690-A195-45EF-7FDB-7EDC597802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0101" y="1376219"/>
            <a:ext cx="9976525" cy="48583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 language </a:t>
            </a:r>
            <a:r>
              <a:rPr lang="en-US" b="1" dirty="0"/>
              <a:t>does not provide any direct support </a:t>
            </a:r>
            <a:r>
              <a:rPr lang="en-US" dirty="0"/>
              <a:t>for error handling. </a:t>
            </a:r>
          </a:p>
          <a:p>
            <a:r>
              <a:rPr lang="en-US" dirty="0"/>
              <a:t>However a few methods and variables defined in </a:t>
            </a:r>
            <a:r>
              <a:rPr lang="en-US" b="1" dirty="0"/>
              <a:t>error.h header file </a:t>
            </a:r>
            <a:r>
              <a:rPr lang="en-US" dirty="0"/>
              <a:t>can be used to </a:t>
            </a:r>
            <a:r>
              <a:rPr lang="en-US" b="1" dirty="0"/>
              <a:t>point out error </a:t>
            </a:r>
            <a:r>
              <a:rPr lang="en-US" dirty="0"/>
              <a:t>using the return statement in a function. </a:t>
            </a:r>
          </a:p>
          <a:p>
            <a:r>
              <a:rPr lang="en-US" dirty="0"/>
              <a:t>In C language, a function </a:t>
            </a:r>
            <a:r>
              <a:rPr lang="en-US" b="1" dirty="0"/>
              <a:t>returns -1 or NULL value in case of any error </a:t>
            </a:r>
            <a:r>
              <a:rPr lang="en-US" dirty="0"/>
              <a:t>and a </a:t>
            </a:r>
            <a:r>
              <a:rPr lang="en-US" b="1" dirty="0"/>
              <a:t>global variable errno </a:t>
            </a:r>
            <a:r>
              <a:rPr lang="en-US" dirty="0"/>
              <a:t>is set with the error code. </a:t>
            </a:r>
          </a:p>
          <a:p>
            <a:r>
              <a:rPr lang="en-US" dirty="0"/>
              <a:t>So the return value can be used to check error while programming.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Errno:</a:t>
            </a:r>
            <a:endParaRPr lang="en-US" sz="2800" b="1" dirty="0"/>
          </a:p>
          <a:p>
            <a:r>
              <a:rPr lang="en-US" dirty="0"/>
              <a:t>Whenever a function call is made in C language, a variable named </a:t>
            </a:r>
            <a:r>
              <a:rPr lang="en-US" dirty="0">
                <a:solidFill>
                  <a:srgbClr val="00B0F0"/>
                </a:solidFill>
              </a:rPr>
              <a:t>errno </a:t>
            </a:r>
            <a:r>
              <a:rPr lang="en-US" dirty="0"/>
              <a:t>is associated with it. </a:t>
            </a:r>
          </a:p>
          <a:p>
            <a:r>
              <a:rPr lang="en-US" dirty="0"/>
              <a:t>It is a global variable, which can be used to </a:t>
            </a:r>
            <a:r>
              <a:rPr lang="en-US" b="1" dirty="0"/>
              <a:t>identify which type of error </a:t>
            </a:r>
            <a:r>
              <a:rPr lang="en-US" dirty="0"/>
              <a:t>was encountered while function execution, based on its value.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52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2C82-3407-9968-12BF-45A9BF4A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757063"/>
            <a:ext cx="7038734" cy="85930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errno  valueError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C991-23BD-C200-261B-900F26CDD8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2180" y="1616364"/>
            <a:ext cx="8682183" cy="48767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sz="2400" dirty="0"/>
              <a:t>Operation not permitted</a:t>
            </a:r>
          </a:p>
          <a:p>
            <a:pPr marL="0" indent="0">
              <a:buNone/>
            </a:pPr>
            <a:r>
              <a:rPr lang="en-US" sz="2400" dirty="0"/>
              <a:t>			No such file or directory</a:t>
            </a:r>
          </a:p>
          <a:p>
            <a:pPr marL="0" indent="0">
              <a:buNone/>
            </a:pPr>
            <a:r>
              <a:rPr lang="en-US" sz="2400" dirty="0"/>
              <a:t>			No such process</a:t>
            </a:r>
          </a:p>
          <a:p>
            <a:pPr marL="0" indent="0">
              <a:buNone/>
            </a:pPr>
            <a:r>
              <a:rPr lang="en-US" sz="2400" dirty="0"/>
              <a:t>			Interrupted system call</a:t>
            </a:r>
          </a:p>
          <a:p>
            <a:pPr marL="0" indent="0">
              <a:buNone/>
            </a:pPr>
            <a:r>
              <a:rPr lang="en-US" sz="2400" dirty="0"/>
              <a:t>			I/O error</a:t>
            </a:r>
          </a:p>
          <a:p>
            <a:pPr marL="0" indent="0">
              <a:buNone/>
            </a:pPr>
            <a:r>
              <a:rPr lang="en-US" sz="2400" dirty="0"/>
              <a:t>			No such device or address</a:t>
            </a:r>
          </a:p>
          <a:p>
            <a:pPr marL="0" indent="0">
              <a:buNone/>
            </a:pPr>
            <a:r>
              <a:rPr lang="en-US" sz="2400" dirty="0"/>
              <a:t>			Argument list too long</a:t>
            </a:r>
          </a:p>
          <a:p>
            <a:pPr marL="0" indent="0">
              <a:buNone/>
            </a:pPr>
            <a:r>
              <a:rPr lang="en-US" sz="2400" dirty="0"/>
              <a:t>			Exec format error</a:t>
            </a:r>
          </a:p>
          <a:p>
            <a:pPr marL="0" indent="0">
              <a:buNone/>
            </a:pPr>
            <a:r>
              <a:rPr lang="en-US" sz="2400" dirty="0"/>
              <a:t>			Bad file number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2031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631F-B436-B002-5939-DF10D474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76" y="766299"/>
            <a:ext cx="10364451" cy="748465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File I/o: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46120-EF75-4A85-8199-8F15FAF274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866" y="1413164"/>
            <a:ext cx="10363826" cy="4987636"/>
          </a:xfrm>
        </p:spPr>
        <p:txBody>
          <a:bodyPr>
            <a:normAutofit/>
          </a:bodyPr>
          <a:lstStyle/>
          <a:p>
            <a:r>
              <a:rPr lang="en-US" sz="2200" dirty="0"/>
              <a:t>File handling in C enables us to create, update, read, and delete the files stored on the local file system through our C program.</a:t>
            </a:r>
          </a:p>
          <a:p>
            <a:pPr marL="0" indent="0">
              <a:buNone/>
            </a:pPr>
            <a:r>
              <a:rPr lang="en-US" sz="2200" dirty="0"/>
              <a:t>		</a:t>
            </a:r>
            <a:r>
              <a:rPr lang="en-US" sz="2200" b="1" dirty="0">
                <a:solidFill>
                  <a:schemeClr val="bg2">
                    <a:lumMod val="50000"/>
                  </a:schemeClr>
                </a:solidFill>
              </a:rPr>
              <a:t>Function</a:t>
            </a:r>
            <a:r>
              <a:rPr lang="en-US" sz="2200" dirty="0"/>
              <a:t>		</a:t>
            </a:r>
            <a:r>
              <a:rPr lang="en-US" sz="2200" b="1" dirty="0">
                <a:solidFill>
                  <a:schemeClr val="bg2">
                    <a:lumMod val="50000"/>
                  </a:schemeClr>
                </a:solidFill>
              </a:rPr>
              <a:t>Operation</a:t>
            </a:r>
          </a:p>
          <a:p>
            <a:pPr marL="0" indent="0">
              <a:buNone/>
            </a:pPr>
            <a:r>
              <a:rPr lang="en-US" sz="2200" dirty="0"/>
              <a:t>		fopen()		To Open a file</a:t>
            </a:r>
          </a:p>
          <a:p>
            <a:pPr marL="0" indent="0">
              <a:buNone/>
            </a:pPr>
            <a:r>
              <a:rPr lang="en-US" sz="2200" dirty="0"/>
              <a:t>		fclose()		To Close a file</a:t>
            </a:r>
          </a:p>
          <a:p>
            <a:pPr marL="0" indent="0">
              <a:buNone/>
            </a:pPr>
            <a:r>
              <a:rPr lang="en-US" sz="2200" dirty="0"/>
              <a:t>		fgets()		</a:t>
            </a:r>
            <a:r>
              <a:rPr lang="en-US" sz="2200" dirty="0" smtClean="0"/>
              <a:t>	To </a:t>
            </a:r>
            <a:r>
              <a:rPr lang="en-US" sz="2200" dirty="0"/>
              <a:t>Read a file</a:t>
            </a:r>
          </a:p>
          <a:p>
            <a:pPr marL="0" indent="0">
              <a:buNone/>
            </a:pPr>
            <a:r>
              <a:rPr lang="en-US" sz="2200" dirty="0"/>
              <a:t>		</a:t>
            </a:r>
            <a:r>
              <a:rPr lang="en-US" sz="2200" dirty="0" err="1" smtClean="0"/>
              <a:t>fprintf</a:t>
            </a:r>
            <a:r>
              <a:rPr lang="en-US" sz="2200" dirty="0" smtClean="0"/>
              <a:t>()</a:t>
            </a:r>
            <a:r>
              <a:rPr lang="en-US" sz="2200" dirty="0"/>
              <a:t>		To Write into </a:t>
            </a:r>
            <a:r>
              <a:rPr lang="en-US" sz="2200"/>
              <a:t>a </a:t>
            </a:r>
            <a:r>
              <a:rPr lang="en-US" sz="2200" smtClean="0"/>
              <a:t>File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	fscanf()		reads data from the file</a:t>
            </a:r>
          </a:p>
          <a:p>
            <a:pPr marL="0" indent="0">
              <a:buNone/>
            </a:pPr>
            <a:r>
              <a:rPr lang="en-US" sz="2200" dirty="0"/>
              <a:t>		fputc()		</a:t>
            </a:r>
            <a:r>
              <a:rPr lang="en-US" sz="2200" dirty="0" smtClean="0"/>
              <a:t>	writes </a:t>
            </a:r>
            <a:r>
              <a:rPr lang="en-US" sz="2200" dirty="0"/>
              <a:t>a character into the file</a:t>
            </a:r>
          </a:p>
        </p:txBody>
      </p:sp>
    </p:spTree>
    <p:extLst>
      <p:ext uri="{BB962C8B-B14F-4D97-AF65-F5344CB8AC3E}">
        <p14:creationId xmlns:p14="http://schemas.microsoft.com/office/powerpoint/2010/main" val="346648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F9C11071-F76A-2970-B6B8-D861291C6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41" y="430628"/>
            <a:ext cx="9775604" cy="607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75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DA42-636C-F404-8FBC-253AF6FC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76" y="2733646"/>
            <a:ext cx="4138516" cy="776174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E7AE-5F42-D8D9-501E-AB7E500EA8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44292" y="581573"/>
            <a:ext cx="5837382" cy="61098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#include&lt;stdio.h&gt;  </a:t>
            </a:r>
          </a:p>
          <a:p>
            <a:pPr marL="0" indent="0">
              <a:buNone/>
            </a:pPr>
            <a:r>
              <a:rPr lang="en-IN" sz="1800" dirty="0"/>
              <a:t>void main( )  {  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smtClean="0"/>
              <a:t>FILE </a:t>
            </a:r>
            <a:r>
              <a:rPr lang="en-IN" sz="1800" dirty="0"/>
              <a:t>*fp ;  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smtClean="0"/>
              <a:t>char </a:t>
            </a:r>
            <a:r>
              <a:rPr lang="en-IN" sz="1800" dirty="0"/>
              <a:t>ch ;  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err="1" smtClean="0"/>
              <a:t>fp</a:t>
            </a:r>
            <a:r>
              <a:rPr lang="en-IN" sz="1800" dirty="0" smtClean="0"/>
              <a:t> </a:t>
            </a:r>
            <a:r>
              <a:rPr lang="en-IN" sz="1800" dirty="0"/>
              <a:t>= fopen("file.c","r") ;  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smtClean="0"/>
              <a:t>while </a:t>
            </a:r>
            <a:r>
              <a:rPr lang="en-IN" sz="1800" dirty="0"/>
              <a:t>( 1 )  {  </a:t>
            </a:r>
          </a:p>
          <a:p>
            <a:pPr marL="0" indent="0">
              <a:buNone/>
            </a:pPr>
            <a:r>
              <a:rPr lang="en-IN" sz="1800" dirty="0"/>
              <a:t>		ch = fgetc ( fp ) ;  </a:t>
            </a:r>
          </a:p>
          <a:p>
            <a:pPr marL="0" indent="0">
              <a:buNone/>
            </a:pPr>
            <a:r>
              <a:rPr lang="en-IN" sz="1800" dirty="0"/>
              <a:t>		if ( ch == EOF )  </a:t>
            </a:r>
          </a:p>
          <a:p>
            <a:pPr marL="0" indent="0">
              <a:buNone/>
            </a:pPr>
            <a:r>
              <a:rPr lang="en-IN" sz="1800" dirty="0"/>
              <a:t>		</a:t>
            </a:r>
            <a:r>
              <a:rPr lang="en-IN" sz="1800" dirty="0" smtClean="0"/>
              <a:t>	break </a:t>
            </a:r>
            <a:r>
              <a:rPr lang="en-IN" sz="1800" dirty="0"/>
              <a:t>;  </a:t>
            </a:r>
          </a:p>
          <a:p>
            <a:pPr marL="0" indent="0">
              <a:buNone/>
            </a:pPr>
            <a:r>
              <a:rPr lang="en-IN" sz="1800" dirty="0"/>
              <a:t>		printf("%c",ch) ;  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smtClean="0"/>
              <a:t>}  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	fclose (fp ) ;  </a:t>
            </a:r>
          </a:p>
          <a:p>
            <a:pPr marL="0" indent="0">
              <a:buNone/>
            </a:pPr>
            <a:r>
              <a:rPr lang="en-IN" sz="18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58408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3336-0061-FA27-17A8-55A2040E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11519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fscanf() &amp; Fprintf() 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7BD69-1EB3-D902-FD3A-C6E06C8559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29164" y="1330036"/>
            <a:ext cx="8848436" cy="52277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dirty="0"/>
              <a:t>FILE *fp;  </a:t>
            </a:r>
          </a:p>
          <a:p>
            <a:pPr marL="0" indent="0">
              <a:buNone/>
            </a:pPr>
            <a:r>
              <a:rPr lang="en-IN" sz="2000" dirty="0"/>
              <a:t>fp = fopen("file.txt", "w");  </a:t>
            </a:r>
          </a:p>
          <a:p>
            <a:pPr marL="0" indent="0">
              <a:buNone/>
            </a:pPr>
            <a:r>
              <a:rPr lang="en-IN" sz="2000" dirty="0"/>
              <a:t>fprintf(fp, "Hello file");</a:t>
            </a:r>
          </a:p>
          <a:p>
            <a:pPr marL="0" indent="0">
              <a:buNone/>
            </a:pPr>
            <a:r>
              <a:rPr lang="en-IN" sz="2000" dirty="0"/>
              <a:t>fclose(fp);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char buff[255];</a:t>
            </a:r>
          </a:p>
          <a:p>
            <a:pPr marL="0" indent="0">
              <a:buNone/>
            </a:pPr>
            <a:r>
              <a:rPr lang="en-IN" dirty="0"/>
              <a:t>fp = fopen("file.txt", "r");  </a:t>
            </a:r>
          </a:p>
          <a:p>
            <a:pPr marL="0" indent="0">
              <a:buNone/>
            </a:pPr>
            <a:r>
              <a:rPr lang="en-IN" dirty="0"/>
              <a:t>while(fscanf(fp, "%s", buff)!=EOF){  </a:t>
            </a:r>
          </a:p>
          <a:p>
            <a:pPr marL="0" indent="0">
              <a:buNone/>
            </a:pPr>
            <a:r>
              <a:rPr lang="en-IN" dirty="0"/>
              <a:t>   printf("%s ", buff );  </a:t>
            </a:r>
          </a:p>
          <a:p>
            <a:pPr marL="0" indent="0">
              <a:buNone/>
            </a:pPr>
            <a:r>
              <a:rPr lang="en-IN" dirty="0"/>
              <a:t>}   </a:t>
            </a:r>
          </a:p>
          <a:p>
            <a:pPr marL="0" indent="0">
              <a:buNone/>
            </a:pPr>
            <a:r>
              <a:rPr lang="en-IN" dirty="0"/>
              <a:t>fclose(fp);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9992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109" y="868217"/>
            <a:ext cx="7796117" cy="847712"/>
          </a:xfrm>
        </p:spPr>
        <p:txBody>
          <a:bodyPr/>
          <a:lstStyle/>
          <a:p>
            <a:r>
              <a:rPr lang="en-US" b="1" dirty="0" err="1" smtClean="0"/>
              <a:t>Preprocesssor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551084" y="1789820"/>
            <a:ext cx="9218516" cy="4232289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In C programming, preprocessing is the </a:t>
            </a:r>
            <a:r>
              <a:rPr lang="en-US" sz="2200" b="1" dirty="0"/>
              <a:t>first step in the compilation </a:t>
            </a:r>
            <a:r>
              <a:rPr lang="en-US" sz="2200" dirty="0"/>
              <a:t>of a C code. </a:t>
            </a:r>
            <a:endParaRPr lang="en-US" sz="2200" dirty="0" smtClean="0"/>
          </a:p>
          <a:p>
            <a:r>
              <a:rPr lang="en-US" sz="2200" dirty="0"/>
              <a:t>The preprocessor statements in C are called </a:t>
            </a:r>
            <a:r>
              <a:rPr lang="en-US" sz="2200" b="1" dirty="0"/>
              <a:t>directives</a:t>
            </a:r>
            <a:r>
              <a:rPr lang="en-US" sz="2200" dirty="0"/>
              <a:t>. </a:t>
            </a:r>
            <a:endParaRPr lang="en-US" sz="2200" dirty="0" smtClean="0"/>
          </a:p>
          <a:p>
            <a:r>
              <a:rPr lang="en-US" sz="2200" dirty="0" smtClean="0"/>
              <a:t>A </a:t>
            </a:r>
            <a:r>
              <a:rPr lang="en-US" sz="2200" dirty="0"/>
              <a:t>preprocessor section of the program always </a:t>
            </a:r>
            <a:r>
              <a:rPr lang="en-US" sz="2200" b="1" dirty="0"/>
              <a:t>appears at the top of the C code</a:t>
            </a:r>
            <a:r>
              <a:rPr lang="en-US" sz="2200" dirty="0"/>
              <a:t>. </a:t>
            </a:r>
            <a:endParaRPr lang="en-US" sz="2200" dirty="0" smtClean="0"/>
          </a:p>
          <a:p>
            <a:pPr marL="0" indent="0">
              <a:buNone/>
            </a:pPr>
            <a:r>
              <a:rPr lang="en-US" sz="2200" b="1" dirty="0" smtClean="0"/>
              <a:t>Example: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	</a:t>
            </a:r>
            <a:r>
              <a:rPr lang="en-US" sz="1600" b="1" dirty="0" smtClean="0"/>
              <a:t>	</a:t>
            </a:r>
            <a:r>
              <a:rPr lang="en-US" b="1" dirty="0"/>
              <a:t>#define MAX_ARRAY_LENGTH </a:t>
            </a:r>
            <a:r>
              <a:rPr lang="en-US" b="1" dirty="0" smtClean="0"/>
              <a:t>20;</a:t>
            </a:r>
          </a:p>
          <a:p>
            <a:pPr marL="0" indent="0">
              <a:buNone/>
            </a:pPr>
            <a:r>
              <a:rPr lang="en-US" sz="2200" b="1" dirty="0"/>
              <a:t>Note: </a:t>
            </a:r>
            <a:r>
              <a:rPr lang="en-US" sz="2200" dirty="0"/>
              <a:t>This #define directive tells the C to replace the instances of MAX_ARRAY_LENGTH with 20</a:t>
            </a:r>
            <a:r>
              <a:rPr lang="en-US" sz="2200" b="1" dirty="0"/>
              <a:t>.</a:t>
            </a:r>
            <a:endParaRPr lang="en-US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26746382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646955"/>
              </p:ext>
            </p:extLst>
          </p:nvPr>
        </p:nvGraphicFramePr>
        <p:xfrm>
          <a:off x="1505527" y="969819"/>
          <a:ext cx="9485746" cy="5061530"/>
        </p:xfrm>
        <a:graphic>
          <a:graphicData uri="http://schemas.openxmlformats.org/drawingml/2006/table">
            <a:tbl>
              <a:tblPr/>
              <a:tblGrid>
                <a:gridCol w="2414907">
                  <a:extLst>
                    <a:ext uri="{9D8B030D-6E8A-4147-A177-3AD203B41FA5}">
                      <a16:colId xmlns:a16="http://schemas.microsoft.com/office/drawing/2014/main" val="52563708"/>
                    </a:ext>
                  </a:extLst>
                </a:gridCol>
                <a:gridCol w="7070839">
                  <a:extLst>
                    <a:ext uri="{9D8B030D-6E8A-4147-A177-3AD203B41FA5}">
                      <a16:colId xmlns:a16="http://schemas.microsoft.com/office/drawing/2014/main" val="3339105000"/>
                    </a:ext>
                  </a:extLst>
                </a:gridCol>
              </a:tblGrid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Directive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01371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 define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Substitutes a preprocessor macro.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529016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#include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Inserts a particular header from another file.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72092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  <a:latin typeface="inherit"/>
                        </a:rPr>
                        <a:t>#</a:t>
                      </a:r>
                      <a:r>
                        <a:rPr lang="en-US" sz="2400" b="1" dirty="0" err="1">
                          <a:effectLst/>
                          <a:latin typeface="inherit"/>
                        </a:rPr>
                        <a:t>ifdef</a:t>
                      </a:r>
                      <a:endParaRPr lang="en-US" sz="2400" dirty="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Returns true if this macro is defined.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925562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#ifndef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Returns true if this macro is not defined.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20384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#if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Tests if a compile time condition is true.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391386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#else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The alternative for #if.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174701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#elif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#else and #if in one statement.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405259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#endif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Ends preprocessor conditional.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1223"/>
                  </a:ext>
                </a:extLst>
              </a:tr>
              <a:tr h="50615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  <a:latin typeface="inherit"/>
                        </a:rPr>
                        <a:t>#error</a:t>
                      </a:r>
                      <a:endParaRPr lang="en-US" sz="2400">
                        <a:effectLst/>
                      </a:endParaRP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Prints error message on </a:t>
                      </a:r>
                      <a:r>
                        <a:rPr lang="en-US" sz="2400" dirty="0" err="1">
                          <a:effectLst/>
                        </a:rPr>
                        <a:t>stderr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</a:p>
                  </a:txBody>
                  <a:tcPr marL="17890" marR="17890" marT="17890" marB="178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738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21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0084" y="2852266"/>
            <a:ext cx="10364451" cy="1596177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End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63465107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</TotalTime>
  <Words>2750</Words>
  <Application>Microsoft Office PowerPoint</Application>
  <PresentationFormat>Widescreen</PresentationFormat>
  <Paragraphs>368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inherit</vt:lpstr>
      <vt:lpstr>Open Sans</vt:lpstr>
      <vt:lpstr>Tw Cen MT</vt:lpstr>
      <vt:lpstr>Tw Cen MT (Body)</vt:lpstr>
      <vt:lpstr>Wingdings</vt:lpstr>
      <vt:lpstr>Droplet</vt:lpstr>
      <vt:lpstr>C Programming Language</vt:lpstr>
      <vt:lpstr>PowerPoint Presentation</vt:lpstr>
      <vt:lpstr>Introduction:</vt:lpstr>
      <vt:lpstr>Introduction:</vt:lpstr>
      <vt:lpstr>How it Runs:</vt:lpstr>
      <vt:lpstr>PowerPoint Presentation</vt:lpstr>
      <vt:lpstr>Applications:</vt:lpstr>
      <vt:lpstr>Printf function</vt:lpstr>
      <vt:lpstr>User Input:</vt:lpstr>
      <vt:lpstr>Variables:</vt:lpstr>
      <vt:lpstr>Types of Variables:</vt:lpstr>
      <vt:lpstr>Data types:</vt:lpstr>
      <vt:lpstr>Constants:</vt:lpstr>
      <vt:lpstr>Examples:</vt:lpstr>
      <vt:lpstr>Literals:</vt:lpstr>
      <vt:lpstr>Storage class:</vt:lpstr>
      <vt:lpstr>Types of Storage class:</vt:lpstr>
      <vt:lpstr>Static storage class:</vt:lpstr>
      <vt:lpstr>32 Keywords present in c:</vt:lpstr>
      <vt:lpstr>Operators</vt:lpstr>
      <vt:lpstr>PowerPoint Presentation</vt:lpstr>
      <vt:lpstr>Conditional branching:</vt:lpstr>
      <vt:lpstr>PowerPoint Presentation</vt:lpstr>
      <vt:lpstr>Conditional Looping:</vt:lpstr>
      <vt:lpstr>Jumping statement:</vt:lpstr>
      <vt:lpstr>Functions:</vt:lpstr>
      <vt:lpstr>Types of functions:</vt:lpstr>
      <vt:lpstr>Array:</vt:lpstr>
      <vt:lpstr>Types of Arrays:</vt:lpstr>
      <vt:lpstr>String:</vt:lpstr>
      <vt:lpstr>String functions:</vt:lpstr>
      <vt:lpstr>Pointers:</vt:lpstr>
      <vt:lpstr>Pointer to pointer</vt:lpstr>
      <vt:lpstr>Structure</vt:lpstr>
      <vt:lpstr>Union</vt:lpstr>
      <vt:lpstr>Enum:</vt:lpstr>
      <vt:lpstr>typedef</vt:lpstr>
      <vt:lpstr>Dynamic memory:</vt:lpstr>
      <vt:lpstr>Types:</vt:lpstr>
      <vt:lpstr>Error handling:</vt:lpstr>
      <vt:lpstr>errno  valueError</vt:lpstr>
      <vt:lpstr>File I/o:</vt:lpstr>
      <vt:lpstr>PowerPoint Presentation</vt:lpstr>
      <vt:lpstr>Example:</vt:lpstr>
      <vt:lpstr>fscanf() &amp; Fprintf() </vt:lpstr>
      <vt:lpstr>Preprocesssor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Language</dc:title>
  <dc:creator>Roshni S</dc:creator>
  <cp:lastModifiedBy>Admin</cp:lastModifiedBy>
  <cp:revision>328</cp:revision>
  <dcterms:created xsi:type="dcterms:W3CDTF">2023-02-11T08:50:58Z</dcterms:created>
  <dcterms:modified xsi:type="dcterms:W3CDTF">2025-11-26T11:03:31Z</dcterms:modified>
</cp:coreProperties>
</file>