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2" r:id="rId5"/>
    <p:sldId id="261" r:id="rId6"/>
    <p:sldId id="260" r:id="rId7"/>
    <p:sldId id="264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4" r:id="rId18"/>
    <p:sldId id="273" r:id="rId19"/>
    <p:sldId id="274" r:id="rId20"/>
    <p:sldId id="275" r:id="rId21"/>
    <p:sldId id="277" r:id="rId22"/>
    <p:sldId id="276" r:id="rId23"/>
    <p:sldId id="278" r:id="rId24"/>
    <p:sldId id="299" r:id="rId25"/>
    <p:sldId id="279" r:id="rId26"/>
    <p:sldId id="281" r:id="rId27"/>
    <p:sldId id="285" r:id="rId28"/>
    <p:sldId id="282" r:id="rId29"/>
    <p:sldId id="283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2" r:id="rId38"/>
    <p:sldId id="295" r:id="rId39"/>
    <p:sldId id="296" r:id="rId40"/>
    <p:sldId id="294" r:id="rId41"/>
    <p:sldId id="297" r:id="rId42"/>
    <p:sldId id="280" r:id="rId43"/>
    <p:sldId id="29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3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5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8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0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9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78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42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0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47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39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89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712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57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77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071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919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73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152BA3-916C-4090-A662-A1404D734D8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E6475FF-5356-4D5C-93DC-50466F0B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599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F388-73D3-0A46-4505-CB814EE68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5674" y="770468"/>
            <a:ext cx="2987749" cy="3323068"/>
          </a:xfrm>
        </p:spPr>
        <p:txBody>
          <a:bodyPr>
            <a:normAutofit/>
          </a:bodyPr>
          <a:lstStyle/>
          <a:p>
            <a:r>
              <a:rPr lang="en-IN" sz="9600" dirty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16421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AEF9BA-A0A5-E9C4-5BD5-D775B1253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982" y="1009773"/>
            <a:ext cx="6910244" cy="687571"/>
          </a:xfrm>
        </p:spPr>
        <p:txBody>
          <a:bodyPr>
            <a:normAutofit/>
          </a:bodyPr>
          <a:lstStyle/>
          <a:p>
            <a:r>
              <a:rPr lang="en-IN" b="1" dirty="0"/>
              <a:t>Introduction: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83BD2E-4BAD-B801-63B5-7CA73F603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454" y="1575123"/>
            <a:ext cx="10131425" cy="4292009"/>
          </a:xfrm>
        </p:spPr>
        <p:txBody>
          <a:bodyPr>
            <a:normAutofit/>
          </a:bodyPr>
          <a:lstStyle/>
          <a:p>
            <a:r>
              <a:rPr lang="en-US" sz="2800" dirty="0"/>
              <a:t>C++ is a </a:t>
            </a:r>
            <a:r>
              <a:rPr lang="en-US" sz="2800" b="1" dirty="0"/>
              <a:t>middle-level</a:t>
            </a:r>
            <a:r>
              <a:rPr lang="en-US" sz="2800" dirty="0"/>
              <a:t> programming language </a:t>
            </a:r>
          </a:p>
          <a:p>
            <a:r>
              <a:rPr lang="en-US" sz="2800" dirty="0"/>
              <a:t>C++ developed in </a:t>
            </a:r>
            <a:r>
              <a:rPr lang="en-US" sz="2800" b="1" dirty="0"/>
              <a:t>1980 by Bjarne </a:t>
            </a:r>
            <a:r>
              <a:rPr lang="en-US" sz="2800" b="1" dirty="0" err="1"/>
              <a:t>Stroustrup</a:t>
            </a:r>
            <a:r>
              <a:rPr lang="en-US" sz="2800" b="1" dirty="0"/>
              <a:t> </a:t>
            </a:r>
            <a:r>
              <a:rPr lang="en-US" sz="2800" dirty="0"/>
              <a:t>at bell laboratories of AT&amp;T (American Telephone &amp; Telegraph), located in U.S.A. </a:t>
            </a:r>
          </a:p>
          <a:p>
            <a:r>
              <a:rPr lang="en-US" sz="2800" dirty="0"/>
              <a:t>C++ </a:t>
            </a:r>
            <a:r>
              <a:rPr lang="en-US" sz="2800" b="1" dirty="0"/>
              <a:t>runs on a variety of platforms</a:t>
            </a:r>
            <a:r>
              <a:rPr lang="en-US" sz="2800" dirty="0"/>
              <a:t>, such as Windows, Mac OS, and the various versions of UNIX.</a:t>
            </a:r>
          </a:p>
          <a:p>
            <a:r>
              <a:rPr lang="en-US" sz="2800" dirty="0"/>
              <a:t>It was develop for adding a </a:t>
            </a:r>
            <a:r>
              <a:rPr lang="en-US" sz="2800" b="1" dirty="0"/>
              <a:t>feature of OOP </a:t>
            </a:r>
            <a:r>
              <a:rPr lang="en-US" sz="2800" dirty="0"/>
              <a:t>(Object Oriented Programming) in C without significantly changing the C component.</a:t>
            </a:r>
          </a:p>
        </p:txBody>
      </p:sp>
    </p:spTree>
    <p:extLst>
      <p:ext uri="{BB962C8B-B14F-4D97-AF65-F5344CB8AC3E}">
        <p14:creationId xmlns:p14="http://schemas.microsoft.com/office/powerpoint/2010/main" val="93987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860A6E6-559A-F734-0960-639C46AC75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823" y="550198"/>
            <a:ext cx="8144540" cy="560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07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E713AD0-EA93-C775-4E96-73015E1D75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18" y="829339"/>
            <a:ext cx="9467717" cy="495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C1469F-C414-7386-FDB7-1645A6E7EDA2}"/>
              </a:ext>
            </a:extLst>
          </p:cNvPr>
          <p:cNvSpPr/>
          <p:nvPr/>
        </p:nvSpPr>
        <p:spPr>
          <a:xfrm>
            <a:off x="1063256" y="882502"/>
            <a:ext cx="669851" cy="71238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82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18B4-106C-7A3D-F998-D39381F3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855" y="1071419"/>
            <a:ext cx="6660862" cy="793898"/>
          </a:xfrm>
        </p:spPr>
        <p:txBody>
          <a:bodyPr/>
          <a:lstStyle/>
          <a:p>
            <a:r>
              <a:rPr lang="en-IN" b="1" dirty="0"/>
              <a:t>Basic I/O: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4A068-7D0E-AA06-8150-EC1A6A1EB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383" y="1563845"/>
            <a:ext cx="10131425" cy="4292009"/>
          </a:xfrm>
        </p:spPr>
        <p:txBody>
          <a:bodyPr>
            <a:normAutofit/>
          </a:bodyPr>
          <a:lstStyle/>
          <a:p>
            <a:pPr lvl="1"/>
            <a:r>
              <a:rPr lang="en-IN" sz="2800" dirty="0"/>
              <a:t>Output function is used to print the output and input is used to get user input.</a:t>
            </a:r>
          </a:p>
          <a:p>
            <a:pPr lvl="1"/>
            <a:r>
              <a:rPr lang="en-IN" sz="2800" b="1" dirty="0" err="1"/>
              <a:t>Cout</a:t>
            </a:r>
            <a:r>
              <a:rPr lang="en-IN" sz="2800" b="1" dirty="0"/>
              <a:t>&lt;&lt; </a:t>
            </a:r>
            <a:r>
              <a:rPr lang="en-IN" sz="2800" dirty="0"/>
              <a:t>is used to print the Output </a:t>
            </a:r>
          </a:p>
          <a:p>
            <a:pPr lvl="1"/>
            <a:r>
              <a:rPr lang="en-IN" sz="2800" b="1" dirty="0" err="1"/>
              <a:t>Cin</a:t>
            </a:r>
            <a:r>
              <a:rPr lang="en-IN" sz="2800" b="1" dirty="0"/>
              <a:t>&gt;&gt; </a:t>
            </a:r>
            <a:r>
              <a:rPr lang="en-IN" sz="2800" dirty="0"/>
              <a:t>is used to get input (&lt;&lt; , &gt;&gt;- </a:t>
            </a:r>
            <a:r>
              <a:rPr lang="en-US" sz="2800" dirty="0"/>
              <a:t>insertion operator</a:t>
            </a:r>
            <a:r>
              <a:rPr lang="en-IN" sz="2800" dirty="0"/>
              <a:t>)</a:t>
            </a:r>
          </a:p>
          <a:p>
            <a:pPr lvl="1"/>
            <a:r>
              <a:rPr lang="en-IN" sz="2800" dirty="0" err="1"/>
              <a:t>Cout</a:t>
            </a:r>
            <a:r>
              <a:rPr lang="en-IN" sz="2800" dirty="0"/>
              <a:t> stans for character output device  </a:t>
            </a:r>
          </a:p>
          <a:p>
            <a:pPr lvl="1"/>
            <a:r>
              <a:rPr lang="en-IN" sz="2800" dirty="0" err="1"/>
              <a:t>Cin</a:t>
            </a:r>
            <a:r>
              <a:rPr lang="en-IN" sz="2800" dirty="0"/>
              <a:t> stands for Character input.</a:t>
            </a:r>
          </a:p>
          <a:p>
            <a:pPr lvl="1"/>
            <a:r>
              <a:rPr lang="en-US" sz="2800" dirty="0"/>
              <a:t>inserting the </a:t>
            </a:r>
            <a:r>
              <a:rPr lang="en-US" sz="2800" b="1" dirty="0" err="1"/>
              <a:t>endl</a:t>
            </a:r>
            <a:r>
              <a:rPr lang="en-US" sz="2800" dirty="0"/>
              <a:t> manipulator ends the line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1385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4AA6-6245-460A-33A3-B7DC3D01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436" y="773385"/>
            <a:ext cx="8098083" cy="836427"/>
          </a:xfrm>
        </p:spPr>
        <p:txBody>
          <a:bodyPr/>
          <a:lstStyle/>
          <a:p>
            <a:r>
              <a:rPr lang="en-IN" b="1" dirty="0"/>
              <a:t>Basic Program: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B666B-3D14-EAF8-858E-0ECAA04DC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813" y="1425085"/>
            <a:ext cx="7893273" cy="49817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dirty="0"/>
              <a:t>#include &lt;iostream&gt;</a:t>
            </a:r>
          </a:p>
          <a:p>
            <a:pPr marL="0" indent="0">
              <a:buNone/>
            </a:pPr>
            <a:r>
              <a:rPr lang="en-US" sz="2700" dirty="0" smtClean="0"/>
              <a:t>using </a:t>
            </a:r>
            <a:r>
              <a:rPr lang="en-US" sz="2700" dirty="0"/>
              <a:t>namespace std;  </a:t>
            </a:r>
          </a:p>
          <a:p>
            <a:pPr marL="0" indent="0">
              <a:buNone/>
            </a:pPr>
            <a:r>
              <a:rPr lang="en-US" sz="2700" dirty="0"/>
              <a:t>int main( ) {  </a:t>
            </a:r>
          </a:p>
          <a:p>
            <a:pPr marL="0" indent="0">
              <a:buNone/>
            </a:pPr>
            <a:r>
              <a:rPr lang="en-US" sz="2700" dirty="0"/>
              <a:t>  int age;  </a:t>
            </a:r>
          </a:p>
          <a:p>
            <a:pPr marL="0" indent="0">
              <a:buNone/>
            </a:pPr>
            <a:r>
              <a:rPr lang="en-US" sz="2700" dirty="0"/>
              <a:t>   </a:t>
            </a:r>
            <a:r>
              <a:rPr lang="en-US" sz="2700" dirty="0" err="1"/>
              <a:t>cout</a:t>
            </a:r>
            <a:r>
              <a:rPr lang="en-US" sz="2700" dirty="0"/>
              <a:t> &lt;&lt; "Enter your age: ";  </a:t>
            </a:r>
          </a:p>
          <a:p>
            <a:pPr marL="0" indent="0">
              <a:buNone/>
            </a:pPr>
            <a:r>
              <a:rPr lang="en-US" sz="2700" dirty="0"/>
              <a:t>   </a:t>
            </a:r>
            <a:r>
              <a:rPr lang="en-US" sz="2700" dirty="0" err="1"/>
              <a:t>cin</a:t>
            </a:r>
            <a:r>
              <a:rPr lang="en-US" sz="2700" dirty="0"/>
              <a:t> &gt;&gt; age;  </a:t>
            </a:r>
          </a:p>
          <a:p>
            <a:pPr marL="0" indent="0">
              <a:buNone/>
            </a:pPr>
            <a:r>
              <a:rPr lang="en-US" sz="2700" dirty="0"/>
              <a:t>   </a:t>
            </a:r>
            <a:r>
              <a:rPr lang="en-US" sz="2700" dirty="0" err="1"/>
              <a:t>cout</a:t>
            </a:r>
            <a:r>
              <a:rPr lang="en-US" sz="2700" dirty="0"/>
              <a:t> &lt;&lt; "Your age is: " &lt;&lt; age &lt;&lt; </a:t>
            </a:r>
            <a:r>
              <a:rPr lang="en-US" sz="2700" dirty="0" err="1"/>
              <a:t>endl</a:t>
            </a:r>
            <a:r>
              <a:rPr lang="en-US" sz="2700" dirty="0"/>
              <a:t>;  </a:t>
            </a:r>
          </a:p>
          <a:p>
            <a:pPr marL="0" indent="0">
              <a:buNone/>
            </a:pPr>
            <a:r>
              <a:rPr lang="en-US" sz="2700" dirty="0"/>
              <a:t>} 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420155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0CD1-A921-6654-E78A-A62B0754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73" y="407584"/>
            <a:ext cx="10131425" cy="953386"/>
          </a:xfrm>
        </p:spPr>
        <p:txBody>
          <a:bodyPr/>
          <a:lstStyle/>
          <a:p>
            <a:r>
              <a:rPr lang="en-IN" b="1" dirty="0"/>
              <a:t>Variables: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35C25-0AA4-6DAA-04C1-C86C7564A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945" y="1419613"/>
            <a:ext cx="8802092" cy="5065179"/>
          </a:xfrm>
        </p:spPr>
        <p:txBody>
          <a:bodyPr>
            <a:noAutofit/>
          </a:bodyPr>
          <a:lstStyle/>
          <a:p>
            <a:r>
              <a:rPr lang="en-US" sz="2400" dirty="0"/>
              <a:t>A variable is an </a:t>
            </a:r>
            <a:r>
              <a:rPr lang="en-US" sz="2400" b="1" dirty="0"/>
              <a:t>identifier </a:t>
            </a:r>
            <a:r>
              <a:rPr lang="en-US" sz="2400" dirty="0"/>
              <a:t>which is used to store some value.</a:t>
            </a:r>
          </a:p>
          <a:p>
            <a:r>
              <a:rPr lang="en-US" sz="2400" dirty="0"/>
              <a:t>A variable name should consist of only characters, digits and an underscore.</a:t>
            </a:r>
          </a:p>
          <a:p>
            <a:r>
              <a:rPr lang="en-US" sz="2400" dirty="0"/>
              <a:t>A variable name should not begin with a number, not consist of whitespace and keyword.</a:t>
            </a:r>
          </a:p>
          <a:p>
            <a:r>
              <a:rPr lang="en-US" sz="2400" dirty="0"/>
              <a:t>You will use </a:t>
            </a:r>
            <a:r>
              <a:rPr lang="en-US" sz="2400" b="1" dirty="0"/>
              <a:t>extern</a:t>
            </a:r>
            <a:r>
              <a:rPr lang="en-US" sz="2400" dirty="0"/>
              <a:t> keyword to declare a </a:t>
            </a:r>
            <a:r>
              <a:rPr lang="en-US" sz="2400" b="1" dirty="0"/>
              <a:t>variable at any place.</a:t>
            </a:r>
          </a:p>
          <a:p>
            <a:pPr marL="0" indent="0">
              <a:buNone/>
            </a:pPr>
            <a:r>
              <a:rPr lang="en-US" sz="2400" b="1" dirty="0"/>
              <a:t>Variable Declaration:</a:t>
            </a:r>
          </a:p>
          <a:p>
            <a:pPr marL="0" indent="0">
              <a:buNone/>
            </a:pPr>
            <a:r>
              <a:rPr lang="en-US" sz="2400" dirty="0"/>
              <a:t>			Syntax:	datatype </a:t>
            </a:r>
            <a:r>
              <a:rPr lang="en-US" sz="2400" dirty="0" err="1"/>
              <a:t>var_name</a:t>
            </a:r>
            <a:r>
              <a:rPr lang="en-US" sz="2400" dirty="0"/>
              <a:t> = value;</a:t>
            </a:r>
          </a:p>
          <a:p>
            <a:pPr marL="0" indent="0">
              <a:buNone/>
            </a:pPr>
            <a:r>
              <a:rPr lang="en-US" sz="2400" dirty="0"/>
              <a:t>			Example:		int a=5;</a:t>
            </a:r>
          </a:p>
          <a:p>
            <a:pPr marL="0" indent="0">
              <a:buNone/>
            </a:pPr>
            <a:r>
              <a:rPr lang="en-US" sz="2400" dirty="0"/>
              <a:t>							int b(3); </a:t>
            </a:r>
          </a:p>
          <a:p>
            <a:pPr marL="0" indent="0">
              <a:buNone/>
            </a:pPr>
            <a:r>
              <a:rPr lang="en-US" sz="2400" dirty="0"/>
              <a:t>							int c{2};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3988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4178917-504F-4033-7DAD-D67FB06003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34" y="1973721"/>
            <a:ext cx="7984385" cy="437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0A7781-827A-480D-AE08-0CF6C91488C3}"/>
              </a:ext>
            </a:extLst>
          </p:cNvPr>
          <p:cNvSpPr txBox="1"/>
          <p:nvPr/>
        </p:nvSpPr>
        <p:spPr>
          <a:xfrm>
            <a:off x="1089891" y="510363"/>
            <a:ext cx="83837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Datatypes: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Type of data with storage capacity is called Data Type.</a:t>
            </a:r>
          </a:p>
        </p:txBody>
      </p:sp>
    </p:spTree>
    <p:extLst>
      <p:ext uri="{BB962C8B-B14F-4D97-AF65-F5344CB8AC3E}">
        <p14:creationId xmlns:p14="http://schemas.microsoft.com/office/powerpoint/2010/main" val="12185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F8F9-AE90-0DC1-442C-59898A8A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933825"/>
            <a:ext cx="7122680" cy="804530"/>
          </a:xfrm>
        </p:spPr>
        <p:txBody>
          <a:bodyPr/>
          <a:lstStyle/>
          <a:p>
            <a:r>
              <a:rPr lang="en-IN" b="1" dirty="0"/>
              <a:t>Constant: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C81E7-2BF7-FF06-67FF-5DA1B4C8E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122" y="1518601"/>
            <a:ext cx="8800351" cy="4377069"/>
          </a:xfrm>
        </p:spPr>
        <p:txBody>
          <a:bodyPr>
            <a:normAutofit/>
          </a:bodyPr>
          <a:lstStyle/>
          <a:p>
            <a:r>
              <a:rPr lang="en-US" sz="2800" dirty="0"/>
              <a:t>Constants are the fixed values that never change during the execution of a program.</a:t>
            </a:r>
          </a:p>
          <a:p>
            <a:r>
              <a:rPr lang="en-US" sz="2800" dirty="0"/>
              <a:t>There are two simple ways in C++ to define constants</a:t>
            </a:r>
          </a:p>
          <a:p>
            <a:pPr lvl="2"/>
            <a:r>
              <a:rPr lang="en-US" sz="2800" dirty="0"/>
              <a:t>Using </a:t>
            </a:r>
            <a:r>
              <a:rPr lang="en-US" sz="2800" b="1" dirty="0"/>
              <a:t>#define </a:t>
            </a:r>
            <a:r>
              <a:rPr lang="en-US" sz="2800" dirty="0"/>
              <a:t>preprocessor.</a:t>
            </a:r>
          </a:p>
          <a:p>
            <a:pPr lvl="2"/>
            <a:r>
              <a:rPr lang="en-US" sz="2800" dirty="0"/>
              <a:t>Using </a:t>
            </a:r>
            <a:r>
              <a:rPr lang="en-US" sz="2800" b="1" dirty="0"/>
              <a:t>const</a:t>
            </a:r>
            <a:r>
              <a:rPr lang="en-US" sz="2800" dirty="0"/>
              <a:t> keyword.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7533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7908-D939-6D17-1C38-66AF64AC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145" y="425825"/>
            <a:ext cx="6445845" cy="681318"/>
          </a:xfrm>
        </p:spPr>
        <p:txBody>
          <a:bodyPr/>
          <a:lstStyle/>
          <a:p>
            <a:r>
              <a:rPr lang="en-US" dirty="0"/>
              <a:t>Operators: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E43141-C36F-6F49-5CA6-CC40992A5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 flipH="1" flipV="1">
            <a:off x="2151529" y="1223682"/>
            <a:ext cx="7494630" cy="5378824"/>
          </a:xfrm>
        </p:spPr>
      </p:pic>
    </p:spTree>
    <p:extLst>
      <p:ext uri="{BB962C8B-B14F-4D97-AF65-F5344CB8AC3E}">
        <p14:creationId xmlns:p14="http://schemas.microsoft.com/office/powerpoint/2010/main" val="96787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02C2-77A4-9B6D-D4BB-4B2B06515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729" y="609600"/>
            <a:ext cx="8208497" cy="775447"/>
          </a:xfrm>
        </p:spPr>
        <p:txBody>
          <a:bodyPr/>
          <a:lstStyle/>
          <a:p>
            <a:r>
              <a:rPr lang="en-IN" dirty="0"/>
              <a:t>Control Statements: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EA79BB-FA74-F8A7-0369-E49FD5A3E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790" y="1663216"/>
            <a:ext cx="9632436" cy="462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6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8532D7-2ADA-AE7E-43BE-2BA3492DD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831" y="591671"/>
            <a:ext cx="9780500" cy="58537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E02121-564E-D7E3-C963-761EA261B2E0}"/>
              </a:ext>
            </a:extLst>
          </p:cNvPr>
          <p:cNvSpPr/>
          <p:nvPr/>
        </p:nvSpPr>
        <p:spPr>
          <a:xfrm>
            <a:off x="7516906" y="820271"/>
            <a:ext cx="645459" cy="2823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4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9A7C-9B08-0DD8-0F5D-827268AF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4764" y="755276"/>
            <a:ext cx="6177991" cy="694765"/>
          </a:xfrm>
        </p:spPr>
        <p:txBody>
          <a:bodyPr/>
          <a:lstStyle/>
          <a:p>
            <a:r>
              <a:rPr lang="en-IN" dirty="0"/>
              <a:t>Looping: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302EE-28A4-B863-2709-43CE2D36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73" y="1102659"/>
            <a:ext cx="9343482" cy="5351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/>
              <a:t>1.	for(initializer; condition; increment/decrement)  {</a:t>
            </a:r>
          </a:p>
          <a:p>
            <a:pPr marL="0" indent="0">
              <a:buNone/>
            </a:pPr>
            <a:r>
              <a:rPr lang="en-IN" sz="3200" dirty="0"/>
              <a:t>		//statement;</a:t>
            </a:r>
          </a:p>
          <a:p>
            <a:pPr marL="0" indent="0">
              <a:buNone/>
            </a:pPr>
            <a:r>
              <a:rPr lang="en-IN" sz="3200" dirty="0"/>
              <a:t>	}</a:t>
            </a:r>
          </a:p>
          <a:p>
            <a:pPr marL="0" indent="0">
              <a:buNone/>
            </a:pPr>
            <a:r>
              <a:rPr lang="en-IN" sz="3200" dirty="0"/>
              <a:t>2.	while(condition)  {</a:t>
            </a:r>
          </a:p>
          <a:p>
            <a:pPr marL="0" indent="0">
              <a:buNone/>
            </a:pPr>
            <a:r>
              <a:rPr lang="en-IN" sz="3200" dirty="0"/>
              <a:t>		//statement;</a:t>
            </a:r>
          </a:p>
          <a:p>
            <a:pPr marL="0" indent="0">
              <a:buNone/>
            </a:pPr>
            <a:r>
              <a:rPr lang="en-IN" sz="3200" dirty="0"/>
              <a:t>		increment;</a:t>
            </a:r>
          </a:p>
          <a:p>
            <a:pPr marL="0" indent="0">
              <a:buNone/>
            </a:pPr>
            <a:r>
              <a:rPr lang="en-IN" sz="3200" dirty="0"/>
              <a:t>	</a:t>
            </a:r>
            <a:r>
              <a:rPr lang="en-IN" sz="3200" dirty="0" smtClean="0"/>
              <a:t>}</a:t>
            </a:r>
            <a:endParaRPr lang="en-IN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225308" y="3445163"/>
            <a:ext cx="40972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3. 	Do {</a:t>
            </a:r>
          </a:p>
          <a:p>
            <a:r>
              <a:rPr lang="en-IN" sz="2800" dirty="0"/>
              <a:t>		  //statement;</a:t>
            </a:r>
          </a:p>
          <a:p>
            <a:r>
              <a:rPr lang="en-IN" sz="2800" dirty="0"/>
              <a:t>		  increment;</a:t>
            </a:r>
          </a:p>
          <a:p>
            <a:r>
              <a:rPr lang="en-IN" sz="2800" dirty="0"/>
              <a:t>	     </a:t>
            </a:r>
            <a:r>
              <a:rPr lang="en-IN" sz="2800" dirty="0" smtClean="0"/>
              <a:t>		}</a:t>
            </a:r>
            <a:r>
              <a:rPr lang="en-IN" sz="2800" dirty="0"/>
              <a:t>while(condition);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2429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ED13-FA2A-43A8-DF20-9E38909D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918" y="609600"/>
            <a:ext cx="7240308" cy="802341"/>
          </a:xfrm>
        </p:spPr>
        <p:txBody>
          <a:bodyPr/>
          <a:lstStyle/>
          <a:p>
            <a:r>
              <a:rPr lang="en-IN" dirty="0"/>
              <a:t>Jumping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12EC-6FC4-9124-1643-E962B7DFD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378" y="1684866"/>
            <a:ext cx="10131425" cy="43125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Break:</a:t>
            </a:r>
          </a:p>
          <a:p>
            <a:pPr marL="0" indent="0">
              <a:buNone/>
            </a:pPr>
            <a:r>
              <a:rPr lang="en-US" sz="2800" dirty="0"/>
              <a:t>	To stop the flow the program.</a:t>
            </a:r>
          </a:p>
          <a:p>
            <a:pPr marL="0" indent="0">
              <a:buNone/>
            </a:pPr>
            <a:r>
              <a:rPr lang="en-US" sz="2800" b="1" dirty="0"/>
              <a:t>Continue:</a:t>
            </a:r>
          </a:p>
          <a:p>
            <a:pPr marL="0" indent="0">
              <a:buNone/>
            </a:pPr>
            <a:r>
              <a:rPr lang="en-US" sz="2800" dirty="0"/>
              <a:t>	To skip the particular value in the flow of program.</a:t>
            </a:r>
          </a:p>
          <a:p>
            <a:pPr marL="0" indent="0">
              <a:buNone/>
            </a:pPr>
            <a:r>
              <a:rPr lang="en-US" sz="2800" b="1" dirty="0" err="1"/>
              <a:t>Goto</a:t>
            </a:r>
            <a:r>
              <a:rPr lang="en-US" sz="2800" b="1" dirty="0"/>
              <a:t>:</a:t>
            </a:r>
          </a:p>
          <a:p>
            <a:pPr marL="0" indent="0">
              <a:buNone/>
            </a:pPr>
            <a:r>
              <a:rPr lang="en-US" sz="2800" dirty="0"/>
              <a:t>	To jump in any statement which is </a:t>
            </a:r>
            <a:r>
              <a:rPr lang="en-US" sz="2800" dirty="0" err="1"/>
              <a:t>refered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r>
              <a:rPr lang="en-US" sz="2800" b="1" dirty="0"/>
              <a:t>Return:</a:t>
            </a:r>
          </a:p>
          <a:p>
            <a:pPr marL="0" indent="0">
              <a:buNone/>
            </a:pPr>
            <a:r>
              <a:rPr lang="en-US" sz="2800" dirty="0"/>
              <a:t>	To return a data in function to function call.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7510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3ADAE-0AF2-4D40-C1BE-2EC44B41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8929" y="609601"/>
            <a:ext cx="6608297" cy="869576"/>
          </a:xfrm>
        </p:spPr>
        <p:txBody>
          <a:bodyPr/>
          <a:lstStyle/>
          <a:p>
            <a:r>
              <a:rPr lang="en-IN" dirty="0"/>
              <a:t>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5C5F-BC76-628A-453C-42B51D4FD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682" y="1653490"/>
            <a:ext cx="10131425" cy="4594909"/>
          </a:xfrm>
        </p:spPr>
        <p:txBody>
          <a:bodyPr>
            <a:normAutofit/>
          </a:bodyPr>
          <a:lstStyle/>
          <a:p>
            <a:r>
              <a:rPr lang="en-US" sz="2800" dirty="0"/>
              <a:t>A Function can be defined as a subdivided program of the main program enclosed within flower brackets.</a:t>
            </a:r>
          </a:p>
          <a:p>
            <a:pPr marL="0" indent="0">
              <a:buNone/>
            </a:pPr>
            <a:r>
              <a:rPr lang="en-US" sz="2800" b="1" dirty="0"/>
              <a:t>Advantages of Functions:</a:t>
            </a:r>
          </a:p>
          <a:p>
            <a:pPr lvl="2"/>
            <a:r>
              <a:rPr lang="en-US" sz="2800" dirty="0"/>
              <a:t>Writing the same code repeatedly in a program will be avoided.</a:t>
            </a:r>
          </a:p>
          <a:p>
            <a:pPr lvl="2"/>
            <a:r>
              <a:rPr lang="en-US" sz="2800" dirty="0"/>
              <a:t>Functions can be called any number of times in a program.</a:t>
            </a:r>
          </a:p>
          <a:p>
            <a:pPr lvl="2"/>
            <a:r>
              <a:rPr lang="en-US" sz="2800" dirty="0"/>
              <a:t>Tracking a C program easily when it is divided into multiple functions.</a:t>
            </a:r>
          </a:p>
          <a:p>
            <a:pPr lvl="2"/>
            <a:r>
              <a:rPr lang="en-US" sz="2800" dirty="0"/>
              <a:t>Reusability is the main achievement of C functions.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065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DF74-0B20-F86D-EBD6-9758A2D8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447" y="609600"/>
            <a:ext cx="6231779" cy="802341"/>
          </a:xfrm>
        </p:spPr>
        <p:txBody>
          <a:bodyPr/>
          <a:lstStyle/>
          <a:p>
            <a:r>
              <a:rPr lang="en-IN" dirty="0"/>
              <a:t>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BC1AB-7F45-6753-4634-6367A97B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683" y="1411941"/>
            <a:ext cx="10212108" cy="5163671"/>
          </a:xfrm>
        </p:spPr>
        <p:txBody>
          <a:bodyPr>
            <a:normAutofit/>
          </a:bodyPr>
          <a:lstStyle/>
          <a:p>
            <a:r>
              <a:rPr lang="en-US" sz="2800" dirty="0"/>
              <a:t>Function without arguments and without return value</a:t>
            </a:r>
          </a:p>
          <a:p>
            <a:r>
              <a:rPr lang="en-US" sz="2800" dirty="0"/>
              <a:t>Function without arguments and with the return value</a:t>
            </a:r>
          </a:p>
          <a:p>
            <a:r>
              <a:rPr lang="en-US" sz="2800" dirty="0"/>
              <a:t>Function with arguments and without return value</a:t>
            </a:r>
          </a:p>
          <a:p>
            <a:r>
              <a:rPr lang="en-US" sz="2800" dirty="0"/>
              <a:t>Function with arguments and with the return value</a:t>
            </a:r>
          </a:p>
          <a:p>
            <a:pPr marL="0" indent="0">
              <a:buNone/>
            </a:pPr>
            <a:r>
              <a:rPr lang="en-US" sz="2800" b="1" dirty="0"/>
              <a:t>Syntax:</a:t>
            </a:r>
          </a:p>
          <a:p>
            <a:pPr marL="0" indent="0">
              <a:buNone/>
            </a:pPr>
            <a:r>
              <a:rPr lang="en-US" sz="2800" dirty="0"/>
              <a:t>			</a:t>
            </a:r>
            <a:r>
              <a:rPr lang="en-US" sz="2800" dirty="0" err="1"/>
              <a:t>returntype</a:t>
            </a:r>
            <a:r>
              <a:rPr lang="en-US" sz="2800" dirty="0"/>
              <a:t> </a:t>
            </a:r>
            <a:r>
              <a:rPr lang="en-US" sz="2800" dirty="0" err="1"/>
              <a:t>functionName</a:t>
            </a:r>
            <a:r>
              <a:rPr lang="en-US" sz="2800" dirty="0"/>
              <a:t>(arguments)</a:t>
            </a:r>
          </a:p>
          <a:p>
            <a:pPr marL="0" indent="0">
              <a:buNone/>
            </a:pPr>
            <a:r>
              <a:rPr lang="en-US" sz="2800" dirty="0"/>
              <a:t>			{</a:t>
            </a:r>
          </a:p>
          <a:p>
            <a:pPr marL="0" indent="0">
              <a:buNone/>
            </a:pPr>
            <a:r>
              <a:rPr lang="en-US" sz="2800" dirty="0"/>
              <a:t>					//Statements;</a:t>
            </a:r>
          </a:p>
          <a:p>
            <a:pPr marL="0" indent="0">
              <a:buNone/>
            </a:pPr>
            <a:r>
              <a:rPr lang="en-US" sz="2800" dirty="0"/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37594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E7A8-0364-E69E-130E-F63AFEBE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18" y="609600"/>
            <a:ext cx="6783108" cy="829235"/>
          </a:xfrm>
        </p:spPr>
        <p:txBody>
          <a:bodyPr/>
          <a:lstStyle/>
          <a:p>
            <a:r>
              <a:rPr lang="en-IN" dirty="0"/>
              <a:t>Namespace: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F036-1352-7E9A-E959-E8E34A453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086" y="1438835"/>
            <a:ext cx="9362140" cy="5015752"/>
          </a:xfrm>
        </p:spPr>
        <p:txBody>
          <a:bodyPr>
            <a:noAutofit/>
          </a:bodyPr>
          <a:lstStyle/>
          <a:p>
            <a:r>
              <a:rPr lang="en-IN" sz="2600" dirty="0"/>
              <a:t>A Namespace </a:t>
            </a:r>
            <a:r>
              <a:rPr lang="en-US" sz="2600" dirty="0"/>
              <a:t>is used as additional information to differentiate similar functions, classes, variables etc. with the same name available in different libraries. </a:t>
            </a:r>
          </a:p>
          <a:p>
            <a:r>
              <a:rPr lang="en-US" sz="2600" dirty="0"/>
              <a:t>Using namespace, you can define the context in which names are defined. In essence, a namespace defines a scope.</a:t>
            </a:r>
          </a:p>
          <a:p>
            <a:pPr marL="0" indent="0">
              <a:buNone/>
            </a:pPr>
            <a:r>
              <a:rPr lang="en-US" sz="2600" dirty="0" err="1"/>
              <a:t>Daclaration</a:t>
            </a:r>
            <a:r>
              <a:rPr lang="en-US" sz="2600" dirty="0"/>
              <a:t>:</a:t>
            </a:r>
          </a:p>
          <a:p>
            <a:pPr marL="0" indent="0">
              <a:buNone/>
            </a:pPr>
            <a:r>
              <a:rPr lang="en-US" sz="2600" dirty="0"/>
              <a:t>				namespace </a:t>
            </a:r>
            <a:r>
              <a:rPr lang="en-US" sz="2600" dirty="0" err="1"/>
              <a:t>namespace_name</a:t>
            </a:r>
            <a:r>
              <a:rPr lang="en-US" sz="2600" dirty="0"/>
              <a:t> {</a:t>
            </a:r>
          </a:p>
          <a:p>
            <a:pPr marL="0" indent="0">
              <a:buNone/>
            </a:pPr>
            <a:r>
              <a:rPr lang="en-US" sz="2600" dirty="0"/>
              <a:t> 					  // code declarations</a:t>
            </a:r>
          </a:p>
          <a:p>
            <a:pPr marL="0" indent="0">
              <a:buNone/>
            </a:pPr>
            <a:r>
              <a:rPr lang="en-US" sz="2600" dirty="0"/>
              <a:t>				}</a:t>
            </a:r>
          </a:p>
          <a:p>
            <a:pPr marL="0" indent="0">
              <a:buNone/>
            </a:pPr>
            <a:r>
              <a:rPr lang="en-US" sz="2600" dirty="0"/>
              <a:t>				name::code;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87615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B8B5-3C99-66CB-52D0-15472EEBB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705" y="609600"/>
            <a:ext cx="5909050" cy="748553"/>
          </a:xfrm>
        </p:spPr>
        <p:txBody>
          <a:bodyPr/>
          <a:lstStyle/>
          <a:p>
            <a:r>
              <a:rPr lang="en-IN" dirty="0"/>
              <a:t>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FAFE-E74B-5D83-3E72-741E7815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15" y="1196788"/>
            <a:ext cx="10131425" cy="5150223"/>
          </a:xfrm>
        </p:spPr>
        <p:txBody>
          <a:bodyPr>
            <a:normAutofit/>
          </a:bodyPr>
          <a:lstStyle/>
          <a:p>
            <a:r>
              <a:rPr lang="en-US" sz="2800" dirty="0"/>
              <a:t>An array is defined as the collection of similar type of data items stored at contiguous memory locations.</a:t>
            </a:r>
          </a:p>
          <a:p>
            <a:r>
              <a:rPr lang="en-US" sz="2800" dirty="0"/>
              <a:t> The array is the simplest data structure where each data element can be randomly accessed by using its index number.</a:t>
            </a:r>
          </a:p>
          <a:p>
            <a:pPr marL="0" indent="0">
              <a:buNone/>
            </a:pPr>
            <a:r>
              <a:rPr lang="en-US" sz="2800" b="1" dirty="0"/>
              <a:t>Syntax:</a:t>
            </a:r>
          </a:p>
          <a:p>
            <a:pPr marL="0" indent="0">
              <a:buNone/>
            </a:pPr>
            <a:r>
              <a:rPr lang="en-US" sz="2800" dirty="0"/>
              <a:t>	datatype </a:t>
            </a:r>
            <a:r>
              <a:rPr lang="en-US" sz="2800" dirty="0" err="1"/>
              <a:t>arrayName</a:t>
            </a:r>
            <a:r>
              <a:rPr lang="en-US" sz="2800" dirty="0"/>
              <a:t>[array size];</a:t>
            </a:r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		int a[5]={1,2,3,4,5};</a:t>
            </a:r>
          </a:p>
        </p:txBody>
      </p:sp>
    </p:spTree>
    <p:extLst>
      <p:ext uri="{BB962C8B-B14F-4D97-AF65-F5344CB8AC3E}">
        <p14:creationId xmlns:p14="http://schemas.microsoft.com/office/powerpoint/2010/main" val="325494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D3A2-AAC5-3B29-34DB-94D8F2D58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506" y="609600"/>
            <a:ext cx="7643720" cy="896471"/>
          </a:xfrm>
        </p:spPr>
        <p:txBody>
          <a:bodyPr/>
          <a:lstStyle/>
          <a:p>
            <a:r>
              <a:rPr lang="en-US" b="1" dirty="0"/>
              <a:t>Types of Arrays: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0562-E6EB-B479-6520-026234AD6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371601"/>
            <a:ext cx="10131425" cy="5096435"/>
          </a:xfrm>
        </p:spPr>
        <p:txBody>
          <a:bodyPr>
            <a:normAutofit/>
          </a:bodyPr>
          <a:lstStyle/>
          <a:p>
            <a:r>
              <a:rPr lang="en-US" sz="2800" b="1" dirty="0"/>
              <a:t>One-Dimensional</a:t>
            </a:r>
            <a:r>
              <a:rPr lang="en-US" sz="2800" dirty="0"/>
              <a:t> Array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2800" b="0" i="0" dirty="0">
                <a:effectLst/>
              </a:rPr>
              <a:t>an array with a single row and multiple columns</a:t>
            </a:r>
          </a:p>
          <a:p>
            <a:pPr lvl="4"/>
            <a:r>
              <a:rPr lang="en-US" sz="2800" b="0" i="0" dirty="0">
                <a:effectLst/>
              </a:rPr>
              <a:t> </a:t>
            </a:r>
            <a:r>
              <a:rPr lang="en-US" sz="2800" dirty="0"/>
              <a:t>int </a:t>
            </a:r>
            <a:r>
              <a:rPr lang="en-US" sz="2800" dirty="0" err="1"/>
              <a:t>arrayone</a:t>
            </a:r>
            <a:r>
              <a:rPr lang="en-US" sz="2800" dirty="0"/>
              <a:t>[3]={1,2,3};</a:t>
            </a:r>
          </a:p>
          <a:p>
            <a:r>
              <a:rPr lang="en-US" sz="2800" b="1" dirty="0"/>
              <a:t>Two-Dimensional </a:t>
            </a:r>
            <a:r>
              <a:rPr lang="en-US" sz="2800" dirty="0"/>
              <a:t>Array</a:t>
            </a:r>
            <a:r>
              <a:rPr lang="en-US" sz="2800" dirty="0">
                <a:sym typeface="Wingdings" panose="05000000000000000000" pitchFamily="2" charset="2"/>
              </a:rPr>
              <a:t> 2D </a:t>
            </a:r>
            <a:r>
              <a:rPr lang="en-US" sz="2800" b="0" i="0" dirty="0">
                <a:effectLst/>
              </a:rPr>
              <a:t> the collection of rows and columns </a:t>
            </a:r>
          </a:p>
          <a:p>
            <a:pPr lvl="4"/>
            <a:r>
              <a:rPr lang="en-US" sz="2800" dirty="0"/>
              <a:t>int </a:t>
            </a:r>
            <a:r>
              <a:rPr lang="en-US" sz="2800" dirty="0" err="1"/>
              <a:t>arraytwo</a:t>
            </a:r>
            <a:r>
              <a:rPr lang="en-US" sz="2800" dirty="0"/>
              <a:t>[2][2 ]={{1,2},{3,4}};</a:t>
            </a:r>
          </a:p>
          <a:p>
            <a:r>
              <a:rPr lang="en-US" sz="2800" b="1" dirty="0"/>
              <a:t>Three-Dimensional</a:t>
            </a:r>
            <a:r>
              <a:rPr lang="en-US" sz="2800" dirty="0"/>
              <a:t> Array</a:t>
            </a:r>
            <a:r>
              <a:rPr lang="en-US" sz="2800" dirty="0">
                <a:sym typeface="Wingdings" panose="05000000000000000000" pitchFamily="2" charset="2"/>
              </a:rPr>
              <a:t>3D </a:t>
            </a:r>
            <a:r>
              <a:rPr lang="en-US" sz="2800" b="0" i="0" dirty="0">
                <a:effectLst/>
              </a:rPr>
              <a:t>as the collection of multiple rows and columns </a:t>
            </a:r>
          </a:p>
          <a:p>
            <a:pPr lvl="5"/>
            <a:r>
              <a:rPr lang="en-US" sz="2800" b="0" i="0" dirty="0">
                <a:effectLst/>
              </a:rPr>
              <a:t>int </a:t>
            </a:r>
            <a:r>
              <a:rPr lang="en-US" sz="2800" b="0" i="0" dirty="0" err="1">
                <a:effectLst/>
              </a:rPr>
              <a:t>arraythree</a:t>
            </a:r>
            <a:r>
              <a:rPr lang="en-US" sz="2800" b="0" i="0" dirty="0">
                <a:effectLst/>
              </a:rPr>
              <a:t>[10][10][10];</a:t>
            </a:r>
          </a:p>
        </p:txBody>
      </p:sp>
    </p:spTree>
    <p:extLst>
      <p:ext uri="{BB962C8B-B14F-4D97-AF65-F5344CB8AC3E}">
        <p14:creationId xmlns:p14="http://schemas.microsoft.com/office/powerpoint/2010/main" val="41606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D775-BBF1-33E5-B0E0-77709CDF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447" y="488577"/>
            <a:ext cx="6231779" cy="829235"/>
          </a:xfrm>
        </p:spPr>
        <p:txBody>
          <a:bodyPr/>
          <a:lstStyle/>
          <a:p>
            <a:r>
              <a:rPr lang="en-IN" b="1" dirty="0"/>
              <a:t>String: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C7E21-14B3-B349-2ADF-152F5397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774" y="1183341"/>
            <a:ext cx="10131425" cy="5472953"/>
          </a:xfrm>
        </p:spPr>
        <p:txBody>
          <a:bodyPr>
            <a:normAutofit/>
          </a:bodyPr>
          <a:lstStyle/>
          <a:p>
            <a:r>
              <a:rPr lang="en-US" sz="2800" dirty="0"/>
              <a:t>In C++, string is an object of </a:t>
            </a:r>
            <a:r>
              <a:rPr lang="en-US" sz="2800" b="1" dirty="0"/>
              <a:t>std::string </a:t>
            </a:r>
            <a:r>
              <a:rPr lang="en-US" sz="2800" dirty="0"/>
              <a:t>class that represents sequence of characters. </a:t>
            </a:r>
          </a:p>
          <a:p>
            <a:r>
              <a:rPr lang="en-US" sz="2800" dirty="0"/>
              <a:t>We can perform many operations on strings such as concatenation, comparison, conversion etc.</a:t>
            </a:r>
          </a:p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	   			 string s1 = "Hello";    </a:t>
            </a:r>
          </a:p>
          <a:p>
            <a:pPr marL="0" indent="0">
              <a:buNone/>
            </a:pPr>
            <a:r>
              <a:rPr lang="en-US" sz="2800" dirty="0"/>
              <a:t>        			char </a:t>
            </a:r>
            <a:r>
              <a:rPr lang="en-US" sz="2800" dirty="0" err="1"/>
              <a:t>ch</a:t>
            </a:r>
            <a:r>
              <a:rPr lang="en-US" sz="2800" dirty="0"/>
              <a:t>[] = { 'C', '+', '+'};    </a:t>
            </a:r>
          </a:p>
          <a:p>
            <a:pPr marL="0" indent="0">
              <a:buNone/>
            </a:pPr>
            <a:r>
              <a:rPr lang="en-US" sz="2800" dirty="0"/>
              <a:t>        			string s2 = string(</a:t>
            </a:r>
            <a:r>
              <a:rPr lang="en-US" sz="2800" dirty="0" err="1"/>
              <a:t>ch</a:t>
            </a:r>
            <a:r>
              <a:rPr lang="en-US" sz="2800" dirty="0"/>
              <a:t>);    </a:t>
            </a:r>
          </a:p>
          <a:p>
            <a:pPr marL="0" indent="0">
              <a:buNone/>
            </a:pPr>
            <a:r>
              <a:rPr lang="en-US" sz="2800" dirty="0"/>
              <a:t>        			</a:t>
            </a:r>
            <a:r>
              <a:rPr lang="en-US" sz="2800" dirty="0" err="1"/>
              <a:t>cout</a:t>
            </a:r>
            <a:r>
              <a:rPr lang="en-US" sz="2800" dirty="0"/>
              <a:t>&lt;&lt;s1&lt;&lt;</a:t>
            </a:r>
            <a:r>
              <a:rPr lang="en-US" sz="2800" dirty="0" err="1"/>
              <a:t>endl</a:t>
            </a:r>
            <a:r>
              <a:rPr lang="en-US" sz="2800" dirty="0"/>
              <a:t>;    </a:t>
            </a:r>
          </a:p>
          <a:p>
            <a:pPr marL="0" indent="0">
              <a:buNone/>
            </a:pPr>
            <a:r>
              <a:rPr lang="en-US" sz="2800" dirty="0"/>
              <a:t>        			</a:t>
            </a:r>
            <a:r>
              <a:rPr lang="en-US" sz="2800" dirty="0" err="1"/>
              <a:t>cout</a:t>
            </a:r>
            <a:r>
              <a:rPr lang="en-US" sz="2800" dirty="0"/>
              <a:t>&lt;&lt;s2&lt;&lt;</a:t>
            </a:r>
            <a:r>
              <a:rPr lang="en-US" sz="2800" dirty="0" err="1"/>
              <a:t>endl</a:t>
            </a:r>
            <a:r>
              <a:rPr lang="en-US" sz="28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61788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4055-F1BD-C9CD-99EC-312648C0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127" y="717176"/>
            <a:ext cx="7616826" cy="735106"/>
          </a:xfrm>
        </p:spPr>
        <p:txBody>
          <a:bodyPr/>
          <a:lstStyle/>
          <a:p>
            <a:r>
              <a:rPr lang="en-IN" b="1" dirty="0"/>
              <a:t>String Operations: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E8AC-AE99-B7F5-0265-7F349A0DF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128" y="1452282"/>
            <a:ext cx="10421470" cy="4948517"/>
          </a:xfrm>
        </p:spPr>
        <p:txBody>
          <a:bodyPr>
            <a:normAutofit/>
          </a:bodyPr>
          <a:lstStyle/>
          <a:p>
            <a:r>
              <a:rPr lang="en-US" sz="2400" b="1" dirty="0" err="1" smtClean="0"/>
              <a:t>str.length</a:t>
            </a:r>
            <a:r>
              <a:rPr lang="en-US" sz="2400" b="1" dirty="0"/>
              <a:t>() or </a:t>
            </a:r>
            <a:r>
              <a:rPr lang="en-US" sz="2400" b="1" dirty="0" err="1" smtClean="0"/>
              <a:t>str_obj.size</a:t>
            </a:r>
            <a:r>
              <a:rPr lang="en-US" sz="2400" b="1" dirty="0"/>
              <a:t>()</a:t>
            </a: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returns the length of string name.</a:t>
            </a:r>
          </a:p>
          <a:p>
            <a:r>
              <a:rPr lang="en-US" sz="2400" b="1" dirty="0" smtClean="0"/>
              <a:t>str.at(index</a:t>
            </a:r>
            <a:r>
              <a:rPr lang="en-US" sz="2400" b="1" dirty="0"/>
              <a:t>);</a:t>
            </a: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 returns </a:t>
            </a:r>
            <a:r>
              <a:rPr lang="en-US" sz="2400" dirty="0" smtClean="0"/>
              <a:t>a character present in index position.</a:t>
            </a:r>
            <a:endParaRPr lang="en-US" sz="2400" dirty="0"/>
          </a:p>
          <a:p>
            <a:r>
              <a:rPr lang="en-US" sz="2400" b="1" dirty="0" err="1" smtClean="0"/>
              <a:t>str.append</a:t>
            </a:r>
            <a:r>
              <a:rPr lang="en-US" sz="2400" b="1" dirty="0" smtClean="0"/>
              <a:t>(string2</a:t>
            </a:r>
            <a:r>
              <a:rPr lang="en-US" sz="2400" b="1" dirty="0"/>
              <a:t>)	</a:t>
            </a:r>
            <a:r>
              <a:rPr lang="en-US" sz="2400" dirty="0" smtClean="0">
                <a:sym typeface="Wingdings" panose="05000000000000000000" pitchFamily="2" charset="2"/>
              </a:rPr>
              <a:t>Add a string in another string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b="1" dirty="0" err="1" smtClean="0"/>
              <a:t>Str.find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var</a:t>
            </a:r>
            <a:r>
              <a:rPr lang="en-US" sz="2400" b="1" dirty="0"/>
              <a:t>);</a:t>
            </a:r>
            <a:r>
              <a:rPr lang="en-US" sz="2400" dirty="0"/>
              <a:t>	</a:t>
            </a:r>
            <a:r>
              <a:rPr lang="en-US" sz="2400" dirty="0" smtClean="0">
                <a:sym typeface="Wingdings" panose="05000000000000000000" pitchFamily="2" charset="2"/>
              </a:rPr>
              <a:t>find a particular word in string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str1.erase(start, end</a:t>
            </a:r>
            <a:r>
              <a:rPr lang="en-US" sz="2400" b="1" dirty="0" smtClean="0"/>
              <a:t>);   </a:t>
            </a:r>
            <a:r>
              <a:rPr lang="en-US" sz="2400" dirty="0" smtClean="0">
                <a:sym typeface="Wingdings" panose="05000000000000000000" pitchFamily="2" charset="2"/>
              </a:rPr>
              <a:t>  Deleting a word in string.</a:t>
            </a:r>
            <a:endParaRPr lang="en-US" sz="2400" dirty="0"/>
          </a:p>
          <a:p>
            <a:r>
              <a:rPr lang="en-US" sz="2400" b="1" dirty="0"/>
              <a:t>str1.replace(index, size, str2);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 replacing a particular word in string.</a:t>
            </a:r>
          </a:p>
          <a:p>
            <a:r>
              <a:rPr lang="en-US" sz="2400" b="1" dirty="0" smtClean="0"/>
              <a:t>str1.substr(start</a:t>
            </a:r>
            <a:r>
              <a:rPr lang="en-US" sz="2400" b="1" dirty="0"/>
              <a:t>, </a:t>
            </a:r>
            <a:r>
              <a:rPr lang="en-US" sz="2400" b="1" dirty="0" smtClean="0"/>
              <a:t>size);</a:t>
            </a:r>
            <a:r>
              <a:rPr lang="en-US" sz="2400" dirty="0"/>
              <a:t>	</a:t>
            </a:r>
            <a:r>
              <a:rPr lang="en-US" sz="2400" dirty="0" smtClean="0">
                <a:sym typeface="Wingdings" panose="05000000000000000000" pitchFamily="2" charset="2"/>
              </a:rPr>
              <a:t> returns a particular word from string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str1.insert(index, str2</a:t>
            </a:r>
            <a:r>
              <a:rPr lang="en-US" sz="2400" b="1" dirty="0" smtClean="0"/>
              <a:t>);  </a:t>
            </a:r>
            <a:r>
              <a:rPr lang="en-US" sz="2400" dirty="0" smtClean="0">
                <a:sym typeface="Wingdings" panose="05000000000000000000" pitchFamily="2" charset="2"/>
              </a:rPr>
              <a:t> Inserting a word into string using index.</a:t>
            </a:r>
            <a:endParaRPr lang="en-US" sz="2400" dirty="0"/>
          </a:p>
          <a:p>
            <a:r>
              <a:rPr lang="en-US" sz="2400" b="1" dirty="0"/>
              <a:t>str1.compare(str2</a:t>
            </a:r>
            <a:r>
              <a:rPr lang="en-US" sz="2400" b="1" dirty="0" smtClean="0"/>
              <a:t>);    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  </a:t>
            </a:r>
            <a:r>
              <a:rPr lang="en-US" sz="2400" dirty="0"/>
              <a:t>compares the first string with second string. If both strings are same, it returns 0.</a:t>
            </a:r>
          </a:p>
        </p:txBody>
      </p:sp>
    </p:spTree>
    <p:extLst>
      <p:ext uri="{BB962C8B-B14F-4D97-AF65-F5344CB8AC3E}">
        <p14:creationId xmlns:p14="http://schemas.microsoft.com/office/powerpoint/2010/main" val="401557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8FF1F4-5A26-A5EC-578C-E095DA1C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88" y="609601"/>
            <a:ext cx="6420038" cy="883024"/>
          </a:xfrm>
        </p:spPr>
        <p:txBody>
          <a:bodyPr/>
          <a:lstStyle/>
          <a:p>
            <a:r>
              <a:rPr lang="en-IN" dirty="0"/>
              <a:t>Pointers: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7892D-2CE0-83B0-256C-8DF40D47F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662953"/>
            <a:ext cx="10131425" cy="4585446"/>
          </a:xfrm>
        </p:spPr>
        <p:txBody>
          <a:bodyPr>
            <a:noAutofit/>
          </a:bodyPr>
          <a:lstStyle/>
          <a:p>
            <a:r>
              <a:rPr lang="en-US" sz="2800" dirty="0"/>
              <a:t>The pointer is a variable which stores the address of another variable. </a:t>
            </a:r>
          </a:p>
          <a:p>
            <a:r>
              <a:rPr lang="en-US" sz="2800" dirty="0"/>
              <a:t>This variable can be of type int, char, array, function, or any other pointer. </a:t>
            </a:r>
          </a:p>
          <a:p>
            <a:r>
              <a:rPr lang="en-US" sz="2800" dirty="0"/>
              <a:t>The size of the pointer depends on the architecture. </a:t>
            </a:r>
          </a:p>
          <a:p>
            <a:r>
              <a:rPr lang="en-US" sz="2800" dirty="0"/>
              <a:t>However, in 32-bit architecture the size of a pointer is 2 byte.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800" b="1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						</a:t>
            </a:r>
            <a:r>
              <a:rPr lang="pt-BR" sz="2800" dirty="0"/>
              <a:t> int n = 10;   </a:t>
            </a:r>
          </a:p>
          <a:p>
            <a:pPr marL="0" indent="0">
              <a:buNone/>
            </a:pPr>
            <a:r>
              <a:rPr lang="pt-BR" sz="2800" dirty="0"/>
              <a:t>						int* p = &amp;n;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19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0B34-51CC-8368-7EB3-44A2234F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609600"/>
            <a:ext cx="6702426" cy="721659"/>
          </a:xfrm>
        </p:spPr>
        <p:txBody>
          <a:bodyPr/>
          <a:lstStyle/>
          <a:p>
            <a:r>
              <a:rPr lang="en-IN" dirty="0"/>
              <a:t>Dynamic Memory: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E59A-CB13-8F45-ED1A-AEB52187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95" y="1452283"/>
            <a:ext cx="10838328" cy="5109882"/>
          </a:xfrm>
        </p:spPr>
        <p:txBody>
          <a:bodyPr>
            <a:noAutofit/>
          </a:bodyPr>
          <a:lstStyle/>
          <a:p>
            <a:r>
              <a:rPr lang="en-US" sz="2400" dirty="0"/>
              <a:t>Memory in your C++ program is divided into two parts:</a:t>
            </a:r>
          </a:p>
          <a:p>
            <a:r>
              <a:rPr lang="en-US" sz="2400" b="1" dirty="0"/>
              <a:t>The stack </a:t>
            </a:r>
            <a:r>
              <a:rPr lang="en-US" sz="2400" dirty="0"/>
              <a:t>− All variables declared inside the function will take up memory from the stack.</a:t>
            </a:r>
          </a:p>
          <a:p>
            <a:r>
              <a:rPr lang="en-US" sz="2400" b="1" dirty="0"/>
              <a:t>The heap </a:t>
            </a:r>
            <a:r>
              <a:rPr lang="en-US" sz="2400" dirty="0"/>
              <a:t>− This is unused memory of the program and can be used to allocate the memory dynamically when program runs.</a:t>
            </a:r>
          </a:p>
          <a:p>
            <a:r>
              <a:rPr lang="en-US" sz="2400" dirty="0"/>
              <a:t>You can allocate memory at run time within the heap for the variable of a given type using a special operator in C++ which returns the address of the space allocated. This operator is called</a:t>
            </a:r>
            <a:r>
              <a:rPr lang="en-US" sz="2400" b="1" dirty="0"/>
              <a:t> new </a:t>
            </a:r>
            <a:r>
              <a:rPr lang="en-US" sz="2400" dirty="0"/>
              <a:t>operator.</a:t>
            </a:r>
          </a:p>
          <a:p>
            <a:r>
              <a:rPr lang="en-US" sz="2400" dirty="0"/>
              <a:t>If you are not in need of dynamically allocated memory anymore, you can use </a:t>
            </a:r>
            <a:r>
              <a:rPr lang="en-US" sz="2400" b="1" dirty="0"/>
              <a:t>delete</a:t>
            </a:r>
            <a:r>
              <a:rPr lang="en-US" sz="2400" dirty="0"/>
              <a:t> operator, which de-allocates memory that was previously allocated by new operator.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4094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42754" y="1593669"/>
            <a:ext cx="2455817" cy="31481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514011" y="1593669"/>
            <a:ext cx="2455817" cy="31481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442754" y="2181497"/>
            <a:ext cx="2468880" cy="26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429691" y="2738845"/>
            <a:ext cx="2468880" cy="26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29691" y="3352799"/>
            <a:ext cx="2468880" cy="26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429691" y="4047308"/>
            <a:ext cx="2468880" cy="26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flipH="1">
            <a:off x="4070168" y="2291526"/>
            <a:ext cx="69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new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 flipH="1">
            <a:off x="3210740" y="4226813"/>
            <a:ext cx="120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Main()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6841396" y="2447388"/>
            <a:ext cx="120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object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6821803" y="3704102"/>
            <a:ext cx="120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object1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 flipH="1">
            <a:off x="7741919" y="3046603"/>
            <a:ext cx="120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object2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 flipH="1">
            <a:off x="3102428" y="4895196"/>
            <a:ext cx="1316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Stack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 flipH="1">
            <a:off x="7371804" y="4826410"/>
            <a:ext cx="1316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Heap</a:t>
            </a:r>
            <a:endParaRPr lang="en-US" sz="2800" dirty="0"/>
          </a:p>
        </p:txBody>
      </p:sp>
      <p:sp>
        <p:nvSpPr>
          <p:cNvPr id="21" name="Right Arrow 20"/>
          <p:cNvSpPr/>
          <p:nvPr/>
        </p:nvSpPr>
        <p:spPr>
          <a:xfrm>
            <a:off x="4637314" y="2476192"/>
            <a:ext cx="2184489" cy="184666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057105" y="2361002"/>
            <a:ext cx="567146" cy="2652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821803" y="2423942"/>
            <a:ext cx="920116" cy="4498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768315" y="2986974"/>
            <a:ext cx="920116" cy="4498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821803" y="3663824"/>
            <a:ext cx="920116" cy="4498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1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B406-831B-F46F-5832-BD261863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4765" y="609600"/>
            <a:ext cx="6312461" cy="802341"/>
          </a:xfrm>
        </p:spPr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96FB-D62E-278A-178D-77406C04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634" y="1277470"/>
            <a:ext cx="9359153" cy="5163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#include &lt;iostream&gt;</a:t>
            </a:r>
          </a:p>
          <a:p>
            <a:pPr marL="0" indent="0">
              <a:buNone/>
            </a:pPr>
            <a:r>
              <a:rPr lang="en-US" sz="2400" dirty="0"/>
              <a:t>using namespace std;</a:t>
            </a:r>
          </a:p>
          <a:p>
            <a:pPr marL="0" indent="0">
              <a:buNone/>
            </a:pPr>
            <a:r>
              <a:rPr lang="en-US" sz="2400" dirty="0"/>
              <a:t>int main ()  {</a:t>
            </a:r>
          </a:p>
          <a:p>
            <a:pPr marL="0" indent="0">
              <a:buNone/>
            </a:pPr>
            <a:r>
              <a:rPr lang="en-US" sz="2400" dirty="0"/>
              <a:t>   		double* </a:t>
            </a:r>
            <a:r>
              <a:rPr lang="en-US" sz="2400" dirty="0" err="1"/>
              <a:t>pvalue</a:t>
            </a:r>
            <a:r>
              <a:rPr lang="en-US" sz="2400" dirty="0"/>
              <a:t>  = NULL; </a:t>
            </a:r>
          </a:p>
          <a:p>
            <a:pPr marL="0" indent="0">
              <a:buNone/>
            </a:pPr>
            <a:r>
              <a:rPr lang="en-US" sz="2400" dirty="0"/>
              <a:t>   		</a:t>
            </a:r>
            <a:r>
              <a:rPr lang="en-US" sz="2400" dirty="0" err="1"/>
              <a:t>pvalue</a:t>
            </a:r>
            <a:r>
              <a:rPr lang="en-US" sz="2400" dirty="0"/>
              <a:t>  = new double</a:t>
            </a:r>
          </a:p>
          <a:p>
            <a:pPr marL="0" indent="0">
              <a:buNone/>
            </a:pPr>
            <a:r>
              <a:rPr lang="en-US" sz="2400" dirty="0"/>
              <a:t>   		*</a:t>
            </a:r>
            <a:r>
              <a:rPr lang="en-US" sz="2400" dirty="0" err="1"/>
              <a:t>pvalue</a:t>
            </a:r>
            <a:r>
              <a:rPr lang="en-US" sz="2400" dirty="0"/>
              <a:t> = 29494.99</a:t>
            </a:r>
          </a:p>
          <a:p>
            <a:pPr marL="0" indent="0">
              <a:buNone/>
            </a:pPr>
            <a:r>
              <a:rPr lang="en-US" sz="2400" dirty="0"/>
              <a:t>  		 </a:t>
            </a:r>
            <a:r>
              <a:rPr lang="en-US" sz="2400" dirty="0" err="1"/>
              <a:t>cout</a:t>
            </a:r>
            <a:r>
              <a:rPr lang="en-US" sz="2400" dirty="0"/>
              <a:t> &lt;&lt; "Value of </a:t>
            </a:r>
            <a:r>
              <a:rPr lang="en-US" sz="2400" dirty="0" err="1"/>
              <a:t>pvalue</a:t>
            </a:r>
            <a:r>
              <a:rPr lang="en-US" sz="2400" dirty="0"/>
              <a:t> : " &lt;&lt; *</a:t>
            </a:r>
            <a:r>
              <a:rPr lang="en-US" sz="2400" dirty="0" err="1"/>
              <a:t>pvalue</a:t>
            </a:r>
            <a:r>
              <a:rPr lang="en-US" sz="2400" dirty="0"/>
              <a:t> &lt;&lt; 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  		 delete </a:t>
            </a:r>
            <a:r>
              <a:rPr lang="en-US" sz="2400" dirty="0" err="1"/>
              <a:t>pvalue</a:t>
            </a:r>
            <a:r>
              <a:rPr lang="en-US" sz="2400" dirty="0"/>
              <a:t>; </a:t>
            </a:r>
          </a:p>
          <a:p>
            <a:pPr marL="0" indent="0">
              <a:buNone/>
            </a:pPr>
            <a:r>
              <a:rPr lang="en-US" sz="2400" dirty="0"/>
              <a:t>   		 return 0;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302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06C9-F329-BF73-1925-4B21D6D2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647" y="609600"/>
            <a:ext cx="6917579" cy="775447"/>
          </a:xfrm>
        </p:spPr>
        <p:txBody>
          <a:bodyPr/>
          <a:lstStyle/>
          <a:p>
            <a:r>
              <a:rPr lang="en-IN" dirty="0"/>
              <a:t>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FE736-C3BA-BDEC-9C3A-01FA538A4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06071"/>
            <a:ext cx="10461811" cy="4742329"/>
          </a:xfrm>
        </p:spPr>
        <p:txBody>
          <a:bodyPr>
            <a:normAutofit/>
          </a:bodyPr>
          <a:lstStyle/>
          <a:p>
            <a:r>
              <a:rPr lang="en-US" sz="2400" dirty="0"/>
              <a:t>structure is another user defined data type which allows you to combine data items of different kinds.</a:t>
            </a:r>
          </a:p>
          <a:p>
            <a:pPr marL="0" indent="0">
              <a:buNone/>
            </a:pPr>
            <a:r>
              <a:rPr lang="en-US" sz="2400" b="1" dirty="0"/>
              <a:t>	Example:</a:t>
            </a:r>
          </a:p>
          <a:p>
            <a:pPr marL="0" indent="0">
              <a:buNone/>
            </a:pPr>
            <a:r>
              <a:rPr lang="en-US" sz="2400" dirty="0"/>
              <a:t>				</a:t>
            </a:r>
            <a:r>
              <a:rPr lang="en-US" sz="2400" b="1" dirty="0"/>
              <a:t>struct</a:t>
            </a:r>
            <a:r>
              <a:rPr lang="en-US" sz="2400" dirty="0"/>
              <a:t> Books {</a:t>
            </a:r>
          </a:p>
          <a:p>
            <a:pPr marL="0" indent="0">
              <a:buNone/>
            </a:pPr>
            <a:r>
              <a:rPr lang="en-US" sz="2400" dirty="0"/>
              <a:t>  				 char  title[50];</a:t>
            </a:r>
          </a:p>
          <a:p>
            <a:pPr marL="0" indent="0">
              <a:buNone/>
            </a:pPr>
            <a:r>
              <a:rPr lang="en-US" sz="2400" dirty="0"/>
              <a:t>  				 char  author[50];</a:t>
            </a:r>
          </a:p>
          <a:p>
            <a:pPr marL="0" indent="0">
              <a:buNone/>
            </a:pPr>
            <a:r>
              <a:rPr lang="en-US" sz="2400" dirty="0"/>
              <a:t>  				 char  subject[100];</a:t>
            </a:r>
          </a:p>
          <a:p>
            <a:pPr marL="0" indent="0">
              <a:buNone/>
            </a:pPr>
            <a:r>
              <a:rPr lang="en-US" sz="2400" dirty="0"/>
              <a:t>  				 int   </a:t>
            </a:r>
            <a:r>
              <a:rPr lang="en-US" sz="2400" dirty="0" err="1"/>
              <a:t>book_id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				} book; </a:t>
            </a:r>
            <a:endParaRPr lang="en-IN" sz="2400" dirty="0"/>
          </a:p>
        </p:txBody>
      </p:sp>
      <p:sp>
        <p:nvSpPr>
          <p:cNvPr id="4" name="Rectangle 3"/>
          <p:cNvSpPr/>
          <p:nvPr/>
        </p:nvSpPr>
        <p:spPr>
          <a:xfrm>
            <a:off x="7184571" y="3135086"/>
            <a:ext cx="2677885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84571" y="3936915"/>
            <a:ext cx="2677885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author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84570" y="4818337"/>
            <a:ext cx="2677885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subject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84570" y="5552035"/>
            <a:ext cx="2677885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Book_id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58436" y="2488363"/>
            <a:ext cx="216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Memory Unit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9454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8C9D4-FD10-2FF6-E624-767D0428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577" y="434789"/>
            <a:ext cx="6124202" cy="762000"/>
          </a:xfrm>
        </p:spPr>
        <p:txBody>
          <a:bodyPr/>
          <a:lstStyle/>
          <a:p>
            <a:r>
              <a:rPr lang="en-IN" dirty="0"/>
              <a:t>Union: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F960-F59F-4E01-4D12-F7077C1A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541" y="1196789"/>
            <a:ext cx="10434917" cy="5325034"/>
          </a:xfrm>
        </p:spPr>
        <p:txBody>
          <a:bodyPr>
            <a:noAutofit/>
          </a:bodyPr>
          <a:lstStyle/>
          <a:p>
            <a:r>
              <a:rPr lang="en-US" sz="2400" dirty="0"/>
              <a:t>Union can be defined as a user-defined data type which is a collection of different variables of different data types in the same memory location. </a:t>
            </a:r>
          </a:p>
          <a:p>
            <a:r>
              <a:rPr lang="en-US" sz="2400" dirty="0"/>
              <a:t>The union can also be defined as many members, but only one member can contain a value at a particular point in time.</a:t>
            </a:r>
          </a:p>
          <a:p>
            <a:r>
              <a:rPr lang="en-US" sz="2400" dirty="0"/>
              <a:t>Union is a user-defined data type, but unlike structures, they share the same memory location.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b="1" dirty="0"/>
              <a:t>union</a:t>
            </a:r>
            <a:r>
              <a:rPr lang="en-US" sz="2400" dirty="0"/>
              <a:t> numbers  {  </a:t>
            </a:r>
          </a:p>
          <a:p>
            <a:pPr marL="0" indent="0">
              <a:buNone/>
            </a:pPr>
            <a:r>
              <a:rPr lang="en-US" sz="2400" dirty="0"/>
              <a:t>   				int a;  </a:t>
            </a:r>
          </a:p>
          <a:p>
            <a:pPr marL="0" indent="0">
              <a:buNone/>
            </a:pPr>
            <a:r>
              <a:rPr lang="en-US" sz="2400" dirty="0"/>
              <a:t>				char b;   </a:t>
            </a:r>
          </a:p>
          <a:p>
            <a:pPr marL="0" indent="0">
              <a:buNone/>
            </a:pPr>
            <a:r>
              <a:rPr lang="en-US" sz="2400" dirty="0"/>
              <a:t>			}var;</a:t>
            </a:r>
            <a:endParaRPr lang="en-IN" sz="2400" dirty="0"/>
          </a:p>
        </p:txBody>
      </p:sp>
      <p:sp>
        <p:nvSpPr>
          <p:cNvPr id="4" name="Rectangle 3"/>
          <p:cNvSpPr/>
          <p:nvPr/>
        </p:nvSpPr>
        <p:spPr>
          <a:xfrm>
            <a:off x="7262948" y="5133703"/>
            <a:ext cx="2677885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dirty="0" smtClean="0">
                <a:solidFill>
                  <a:schemeClr val="bg1"/>
                </a:solidFill>
              </a:rPr>
              <a:t> / 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17673" y="4421666"/>
            <a:ext cx="216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Memory Unit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636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B58C-0908-4646-CD62-41D80418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305" y="515471"/>
            <a:ext cx="5734238" cy="856129"/>
          </a:xfrm>
        </p:spPr>
        <p:txBody>
          <a:bodyPr/>
          <a:lstStyle/>
          <a:p>
            <a:r>
              <a:rPr lang="en-IN" dirty="0"/>
              <a:t>Enum: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9C6EE-D4B6-D7AF-C970-CB7EC2CC4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471" y="1371600"/>
            <a:ext cx="10381129" cy="5204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C++ </a:t>
            </a:r>
            <a:r>
              <a:rPr lang="en-US" sz="2000" dirty="0" err="1"/>
              <a:t>enum</a:t>
            </a:r>
            <a:r>
              <a:rPr lang="en-US" sz="2000" dirty="0"/>
              <a:t> constants are static and final implicitly.</a:t>
            </a:r>
          </a:p>
          <a:p>
            <a:pPr marL="0" indent="0">
              <a:buNone/>
            </a:pPr>
            <a:r>
              <a:rPr lang="en-US" sz="2000" dirty="0"/>
              <a:t>C++ Enums can be thought of as classes that have fixed set of constants.</a:t>
            </a:r>
          </a:p>
          <a:p>
            <a:pPr marL="0" indent="0">
              <a:buNone/>
            </a:pPr>
            <a:r>
              <a:rPr lang="en-US" sz="2000" b="1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			#include &lt;iostream&gt;  </a:t>
            </a:r>
          </a:p>
          <a:p>
            <a:pPr marL="0" indent="0">
              <a:buNone/>
            </a:pPr>
            <a:r>
              <a:rPr lang="en-US" sz="2000" dirty="0"/>
              <a:t>			using namespace std;  </a:t>
            </a:r>
          </a:p>
          <a:p>
            <a:pPr marL="0" indent="0">
              <a:buNone/>
            </a:pPr>
            <a:r>
              <a:rPr lang="en-US" sz="2000" dirty="0"/>
              <a:t>			</a:t>
            </a:r>
            <a:r>
              <a:rPr lang="en-US" sz="2000" dirty="0" err="1"/>
              <a:t>enum</a:t>
            </a:r>
            <a:r>
              <a:rPr lang="en-US" sz="2000" dirty="0"/>
              <a:t> week { Monday, Tuesday, Wednesday, Thursday, Friday, Saturday, Sunday };  </a:t>
            </a:r>
          </a:p>
          <a:p>
            <a:pPr marL="0" indent="0">
              <a:buNone/>
            </a:pPr>
            <a:r>
              <a:rPr lang="en-US" sz="2000" dirty="0"/>
              <a:t>			int main()  {  </a:t>
            </a:r>
          </a:p>
          <a:p>
            <a:pPr marL="0" indent="0">
              <a:buNone/>
            </a:pPr>
            <a:r>
              <a:rPr lang="en-US" sz="2000" dirty="0"/>
              <a:t>    				week day;  </a:t>
            </a:r>
          </a:p>
          <a:p>
            <a:pPr marL="0" indent="0">
              <a:buNone/>
            </a:pPr>
            <a:r>
              <a:rPr lang="en-US" sz="2000" dirty="0"/>
              <a:t>    				day = Friday;  </a:t>
            </a:r>
          </a:p>
          <a:p>
            <a:pPr marL="0" indent="0">
              <a:buNone/>
            </a:pPr>
            <a:r>
              <a:rPr lang="en-US" sz="2000" dirty="0"/>
              <a:t>    				</a:t>
            </a:r>
            <a:r>
              <a:rPr lang="en-US" sz="2000" dirty="0" err="1"/>
              <a:t>cout</a:t>
            </a:r>
            <a:r>
              <a:rPr lang="en-US" sz="2000" dirty="0"/>
              <a:t> &lt;&lt; "Day: " &lt;&lt; day+1&lt;&lt;</a:t>
            </a:r>
            <a:r>
              <a:rPr lang="en-US" sz="2000" dirty="0" err="1"/>
              <a:t>endl</a:t>
            </a:r>
            <a:r>
              <a:rPr lang="en-US" sz="2000" dirty="0"/>
              <a:t>;  </a:t>
            </a:r>
          </a:p>
          <a:p>
            <a:pPr marL="0" indent="0">
              <a:buNone/>
            </a:pPr>
            <a:r>
              <a:rPr lang="en-US" sz="2000" dirty="0"/>
              <a:t>    				return 0;  </a:t>
            </a:r>
          </a:p>
          <a:p>
            <a:pPr marL="0" indent="0">
              <a:buNone/>
            </a:pPr>
            <a:r>
              <a:rPr lang="en-US" sz="2000" dirty="0"/>
              <a:t>			}	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656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9E9B-4D82-5C05-A386-A7C38815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915" y="719609"/>
            <a:ext cx="6554508" cy="815788"/>
          </a:xfrm>
        </p:spPr>
        <p:txBody>
          <a:bodyPr/>
          <a:lstStyle/>
          <a:p>
            <a:r>
              <a:rPr lang="en-IN" b="1" dirty="0"/>
              <a:t>Typedef: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5AC7-B03B-9B7D-EF3C-7EE4A6CC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425389"/>
            <a:ext cx="10131425" cy="4935070"/>
          </a:xfrm>
        </p:spPr>
        <p:txBody>
          <a:bodyPr>
            <a:noAutofit/>
          </a:bodyPr>
          <a:lstStyle/>
          <a:p>
            <a:r>
              <a:rPr lang="en-US" sz="2400" dirty="0"/>
              <a:t>The typedef is a keyword used </a:t>
            </a:r>
            <a:r>
              <a:rPr lang="en-US" sz="2400" dirty="0" smtClean="0"/>
              <a:t>to </a:t>
            </a:r>
            <a:r>
              <a:rPr lang="en-US" sz="2400" dirty="0"/>
              <a:t>provide some </a:t>
            </a:r>
            <a:r>
              <a:rPr lang="en-US" sz="2400" b="1" dirty="0"/>
              <a:t>meaningful names </a:t>
            </a:r>
            <a:r>
              <a:rPr lang="en-US" sz="2400" dirty="0"/>
              <a:t>to the </a:t>
            </a:r>
            <a:r>
              <a:rPr lang="en-US" sz="2400" b="1" dirty="0"/>
              <a:t>already existing </a:t>
            </a:r>
            <a:r>
              <a:rPr lang="en-US" sz="2400" b="1" dirty="0" smtClean="0"/>
              <a:t>variable.</a:t>
            </a:r>
            <a:endParaRPr lang="en-US" sz="2400" dirty="0"/>
          </a:p>
          <a:p>
            <a:r>
              <a:rPr lang="en-US" sz="2400" dirty="0"/>
              <a:t>we can say that this keyword is used to </a:t>
            </a:r>
            <a:r>
              <a:rPr lang="en-US" sz="2400" b="1" dirty="0"/>
              <a:t>redefine the name of an already existing variable.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</a:t>
            </a:r>
            <a:r>
              <a:rPr lang="en-US" sz="2800" b="1" dirty="0" smtClean="0"/>
              <a:t>Example</a:t>
            </a:r>
            <a:r>
              <a:rPr lang="en-US" sz="28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dirty="0" err="1"/>
              <a:t>typedef</a:t>
            </a:r>
            <a:r>
              <a:rPr lang="en-US" sz="2400" dirty="0"/>
              <a:t> </a:t>
            </a:r>
            <a:r>
              <a:rPr lang="en-US" sz="2400" dirty="0" err="1"/>
              <a:t>int</a:t>
            </a:r>
            <a:r>
              <a:rPr lang="en-US" sz="2400" dirty="0"/>
              <a:t> student;</a:t>
            </a:r>
          </a:p>
          <a:p>
            <a:pPr marL="0" indent="0">
              <a:buNone/>
            </a:pPr>
            <a:r>
              <a:rPr lang="en-US" sz="2400" dirty="0"/>
              <a:t>			student id = 101;</a:t>
            </a:r>
          </a:p>
          <a:p>
            <a:pPr marL="0" indent="0">
              <a:buNone/>
            </a:pPr>
            <a:r>
              <a:rPr lang="en-US" sz="2400" dirty="0"/>
              <a:t>			student fees = 1000;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dirty="0" err="1"/>
              <a:t>cout</a:t>
            </a:r>
            <a:r>
              <a:rPr lang="en-US" sz="2400" dirty="0"/>
              <a:t>&lt;&lt;“ID = </a:t>
            </a:r>
            <a:r>
              <a:rPr lang="en-US" sz="2400" dirty="0" smtClean="0"/>
              <a:t>“&lt;&lt;</a:t>
            </a:r>
            <a:r>
              <a:rPr lang="en-IN" sz="2400" dirty="0" smtClean="0"/>
              <a:t>id&lt;&lt;“\</a:t>
            </a:r>
            <a:r>
              <a:rPr lang="en-IN" sz="2400" dirty="0" err="1" smtClean="0"/>
              <a:t>nFees</a:t>
            </a:r>
            <a:r>
              <a:rPr lang="en-IN" sz="2400" dirty="0" smtClean="0"/>
              <a:t> = “&lt;&lt;fees&lt;&lt;</a:t>
            </a:r>
            <a:r>
              <a:rPr lang="en-IN" sz="2400" dirty="0" err="1" smtClean="0"/>
              <a:t>endl</a:t>
            </a:r>
            <a:r>
              <a:rPr lang="en-IN" sz="2400" dirty="0" smtClean="0"/>
              <a:t>;</a:t>
            </a:r>
            <a:r>
              <a:rPr lang="en-US" sz="2400" dirty="0" smtClean="0"/>
              <a:t>			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621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177368-4B07-744C-A7CC-4AD18362F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952" y="2071843"/>
            <a:ext cx="3688977" cy="1948827"/>
          </a:xfrm>
        </p:spPr>
        <p:txBody>
          <a:bodyPr>
            <a:normAutofit/>
          </a:bodyPr>
          <a:lstStyle/>
          <a:p>
            <a:r>
              <a:rPr lang="en-IN" sz="6600" dirty="0"/>
              <a:t>Oops:</a:t>
            </a:r>
          </a:p>
        </p:txBody>
      </p:sp>
    </p:spTree>
    <p:extLst>
      <p:ext uri="{BB962C8B-B14F-4D97-AF65-F5344CB8AC3E}">
        <p14:creationId xmlns:p14="http://schemas.microsoft.com/office/powerpoint/2010/main" val="42020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E9DB-AC5C-6F89-4091-E76F28B3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902" y="851647"/>
            <a:ext cx="7751297" cy="802341"/>
          </a:xfrm>
        </p:spPr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42E5C-D790-BAD6-BE17-C65E8CA47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59" y="1761565"/>
            <a:ext cx="10596281" cy="4370294"/>
          </a:xfrm>
        </p:spPr>
        <p:txBody>
          <a:bodyPr>
            <a:normAutofit/>
          </a:bodyPr>
          <a:lstStyle/>
          <a:p>
            <a:r>
              <a:rPr lang="en-US" sz="2800" dirty="0"/>
              <a:t>Object Oriented Programming is a paradigm that provides many concepts such as inheritance, data binding, polymorphism etc.</a:t>
            </a:r>
          </a:p>
          <a:p>
            <a:r>
              <a:rPr lang="en-US" sz="2800" dirty="0"/>
              <a:t>The programming paradigm where everything is represented as an object is known as truly object-oriented programming language.</a:t>
            </a:r>
          </a:p>
          <a:p>
            <a:r>
              <a:rPr lang="en-US" sz="2800" b="1" dirty="0"/>
              <a:t>Object-Oriented Programming </a:t>
            </a:r>
            <a:r>
              <a:rPr lang="en-US" sz="2800" dirty="0"/>
              <a:t>is a methodology or paradigm to design a program using classes and objects. </a:t>
            </a:r>
          </a:p>
          <a:p>
            <a:r>
              <a:rPr lang="en-US" sz="2800" dirty="0"/>
              <a:t>It simplifies the software development and maintenance by providing some concepts.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4856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3BDA-6E81-DB94-2CF7-D3A57034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59" y="945776"/>
            <a:ext cx="3331696" cy="802341"/>
          </a:xfrm>
        </p:spPr>
        <p:txBody>
          <a:bodyPr/>
          <a:lstStyle/>
          <a:p>
            <a:r>
              <a:rPr lang="en-US" b="1" dirty="0"/>
              <a:t>Concepts: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754FA-6A0E-7B4F-2F61-07AB42F2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859" y="1667435"/>
            <a:ext cx="5159188" cy="4379259"/>
          </a:xfrm>
        </p:spPr>
        <p:txBody>
          <a:bodyPr>
            <a:normAutofit/>
          </a:bodyPr>
          <a:lstStyle/>
          <a:p>
            <a:r>
              <a:rPr lang="en-US" sz="3600" dirty="0"/>
              <a:t>Class ana Objects</a:t>
            </a:r>
          </a:p>
          <a:p>
            <a:r>
              <a:rPr lang="en-US" sz="3600" dirty="0"/>
              <a:t>Inheritance</a:t>
            </a:r>
          </a:p>
          <a:p>
            <a:r>
              <a:rPr lang="en-US" sz="3600" dirty="0"/>
              <a:t>Polymorphism</a:t>
            </a:r>
          </a:p>
          <a:p>
            <a:r>
              <a:rPr lang="en-US" sz="3600" dirty="0"/>
              <a:t>Encapsulation</a:t>
            </a:r>
          </a:p>
          <a:p>
            <a:r>
              <a:rPr lang="en-IN" sz="3600" dirty="0"/>
              <a:t>Abstraction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BD6148-F3C2-9BF1-F4DC-6F7210937438}"/>
              </a:ext>
            </a:extLst>
          </p:cNvPr>
          <p:cNvSpPr txBox="1">
            <a:spLocks/>
          </p:cNvSpPr>
          <p:nvPr/>
        </p:nvSpPr>
        <p:spPr>
          <a:xfrm>
            <a:off x="6719047" y="1667435"/>
            <a:ext cx="5472953" cy="43792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Public</a:t>
            </a:r>
          </a:p>
          <a:p>
            <a:r>
              <a:rPr lang="en-US" sz="3600" dirty="0"/>
              <a:t>Private</a:t>
            </a:r>
          </a:p>
          <a:p>
            <a:r>
              <a:rPr lang="en-US" sz="3600" dirty="0"/>
              <a:t>Protected</a:t>
            </a:r>
          </a:p>
          <a:p>
            <a:r>
              <a:rPr lang="en-US" sz="3600" dirty="0"/>
              <a:t>default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E4E0B4-06D6-428F-0C44-7F4E127605E1}"/>
              </a:ext>
            </a:extLst>
          </p:cNvPr>
          <p:cNvSpPr txBox="1">
            <a:spLocks/>
          </p:cNvSpPr>
          <p:nvPr/>
        </p:nvSpPr>
        <p:spPr>
          <a:xfrm>
            <a:off x="6096000" y="757518"/>
            <a:ext cx="5472953" cy="667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40206C-D59D-6906-043A-EAF44F88AE2E}"/>
              </a:ext>
            </a:extLst>
          </p:cNvPr>
          <p:cNvSpPr txBox="1">
            <a:spLocks/>
          </p:cNvSpPr>
          <p:nvPr/>
        </p:nvSpPr>
        <p:spPr>
          <a:xfrm>
            <a:off x="6512859" y="878541"/>
            <a:ext cx="5056094" cy="96370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Access Modifier: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323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C2E1-FEF2-A559-07E4-8541BE19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729" y="416859"/>
            <a:ext cx="5828367" cy="748553"/>
          </a:xfrm>
        </p:spPr>
        <p:txBody>
          <a:bodyPr/>
          <a:lstStyle/>
          <a:p>
            <a:r>
              <a:rPr lang="en-US" b="1" dirty="0"/>
              <a:t>Class 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49F62-2D23-F133-32B2-725E6D51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58153"/>
            <a:ext cx="10865223" cy="5082988"/>
          </a:xfrm>
        </p:spPr>
        <p:txBody>
          <a:bodyPr>
            <a:noAutofit/>
          </a:bodyPr>
          <a:lstStyle/>
          <a:p>
            <a:r>
              <a:rPr lang="en-US" sz="2400" dirty="0"/>
              <a:t>When you define a class, you define a blueprint for a data type.</a:t>
            </a:r>
          </a:p>
          <a:p>
            <a:r>
              <a:rPr lang="en-US" sz="2400" dirty="0"/>
              <a:t>A class definition starts with the keyword class followed by the class name; and the class body, enclosed by a pair of curly braces. </a:t>
            </a:r>
          </a:p>
          <a:p>
            <a:r>
              <a:rPr lang="en-US" sz="2400" dirty="0"/>
              <a:t>A class definition must be followed either by a semicolon or a list of declarations.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				class </a:t>
            </a:r>
            <a:r>
              <a:rPr lang="en-US" sz="2400" dirty="0" err="1"/>
              <a:t>class_name</a:t>
            </a:r>
            <a:r>
              <a:rPr lang="en-US" sz="2400" dirty="0"/>
              <a:t> {</a:t>
            </a:r>
          </a:p>
          <a:p>
            <a:pPr marL="0" indent="0">
              <a:buNone/>
            </a:pPr>
            <a:r>
              <a:rPr lang="en-US" sz="2400" dirty="0"/>
              <a:t>  					access_specifier_1:</a:t>
            </a:r>
          </a:p>
          <a:p>
            <a:pPr marL="0" indent="0">
              <a:buNone/>
            </a:pPr>
            <a:r>
              <a:rPr lang="en-US" sz="2400" dirty="0"/>
              <a:t>    						member1;</a:t>
            </a:r>
          </a:p>
          <a:p>
            <a:pPr marL="0" indent="0">
              <a:buNone/>
            </a:pPr>
            <a:r>
              <a:rPr lang="en-US" sz="2400" dirty="0"/>
              <a:t>  					access_specifier_2:</a:t>
            </a:r>
          </a:p>
          <a:p>
            <a:pPr marL="0" indent="0">
              <a:buNone/>
            </a:pPr>
            <a:r>
              <a:rPr lang="en-US" sz="2400" dirty="0"/>
              <a:t>  						member2;</a:t>
            </a:r>
          </a:p>
          <a:p>
            <a:pPr marL="0" indent="0">
              <a:buNone/>
            </a:pPr>
            <a:r>
              <a:rPr lang="en-US" sz="2400" dirty="0"/>
              <a:t>				} </a:t>
            </a:r>
            <a:r>
              <a:rPr lang="en-US" sz="2400" dirty="0" err="1"/>
              <a:t>object_names</a:t>
            </a:r>
            <a:r>
              <a:rPr lang="en-US" sz="2400" dirty="0"/>
              <a:t>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8924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E2AE-6E8F-026F-8177-DBF1ED82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61" y="623048"/>
            <a:ext cx="7146179" cy="856129"/>
          </a:xfrm>
        </p:spPr>
        <p:txBody>
          <a:bodyPr/>
          <a:lstStyle/>
          <a:p>
            <a:r>
              <a:rPr lang="en-US" b="1" dirty="0"/>
              <a:t>Encapsulation: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FE11-0839-E249-F8BB-CADB0D8FC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61" y="954741"/>
            <a:ext cx="10561077" cy="5540188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Encapsulation is an Object Oriented Programming concept that binds together the data and functions that manipulate the data, and that keeps both safe from outside interference and misuse. </a:t>
            </a:r>
          </a:p>
          <a:p>
            <a:pPr lvl="1"/>
            <a:r>
              <a:rPr lang="en-US" sz="2400" dirty="0"/>
              <a:t>Data encapsulation led to the important OOP concept of data hiding.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4000" b="1" dirty="0"/>
              <a:t>Abstraction:</a:t>
            </a:r>
          </a:p>
          <a:p>
            <a:pPr lvl="1"/>
            <a:r>
              <a:rPr lang="en-US" sz="2400" dirty="0"/>
              <a:t>Data abstraction refers to providing only essential information to the outside world and hiding their background details.</a:t>
            </a:r>
          </a:p>
          <a:p>
            <a:pPr lvl="1"/>
            <a:r>
              <a:rPr lang="en-US" sz="2400" dirty="0"/>
              <a:t>Data abstraction is a programming (and design) technique that relies on the separation of interface and implementation.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2657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2EEB-51C1-08CF-6F86-E9AC4D25E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835" y="730625"/>
            <a:ext cx="7105838" cy="869576"/>
          </a:xfrm>
        </p:spPr>
        <p:txBody>
          <a:bodyPr/>
          <a:lstStyle/>
          <a:p>
            <a:r>
              <a:rPr lang="en-US" b="1" dirty="0"/>
              <a:t>Inheritance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37B11-5036-75D4-A3DE-E449119E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721224"/>
            <a:ext cx="10131425" cy="4096871"/>
          </a:xfrm>
        </p:spPr>
        <p:txBody>
          <a:bodyPr>
            <a:normAutofit/>
          </a:bodyPr>
          <a:lstStyle/>
          <a:p>
            <a:r>
              <a:rPr lang="en-US" sz="2800" dirty="0"/>
              <a:t>One of the most important concepts in object-oriented programming is that of inheritance. </a:t>
            </a:r>
          </a:p>
          <a:p>
            <a:r>
              <a:rPr lang="en-US" sz="2800" dirty="0"/>
              <a:t>Inheritance allows us to define a class in terms of another class, which makes it easier to create and maintain an application. </a:t>
            </a:r>
          </a:p>
          <a:p>
            <a:r>
              <a:rPr lang="en-US" sz="2800" dirty="0"/>
              <a:t>This also provides an opportunity to reuse the code functionality and fast implementation time.</a:t>
            </a:r>
          </a:p>
          <a:p>
            <a:r>
              <a:rPr lang="en-US" sz="2800" dirty="0"/>
              <a:t>This existing class is called the base class, and the new class is referred to as the derived class.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5461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95D2-31E5-0930-66AB-AFD4EFA8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114" y="829303"/>
            <a:ext cx="6110755" cy="990600"/>
          </a:xfrm>
        </p:spPr>
        <p:txBody>
          <a:bodyPr/>
          <a:lstStyle/>
          <a:p>
            <a:r>
              <a:rPr lang="en-IN" b="1" dirty="0"/>
              <a:t>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D8D74-095F-8262-1187-B2846EF54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9793" y="1580097"/>
            <a:ext cx="9660779" cy="4670611"/>
          </a:xfrm>
        </p:spPr>
        <p:txBody>
          <a:bodyPr>
            <a:normAutofit/>
          </a:bodyPr>
          <a:lstStyle/>
          <a:p>
            <a:pPr lvl="2"/>
            <a:r>
              <a:rPr lang="en-IN" sz="3200" dirty="0"/>
              <a:t>Single Inheritance</a:t>
            </a:r>
          </a:p>
          <a:p>
            <a:pPr lvl="2"/>
            <a:r>
              <a:rPr lang="en-IN" sz="3200" dirty="0"/>
              <a:t>Multi-level Inheritance</a:t>
            </a:r>
          </a:p>
          <a:p>
            <a:pPr lvl="2"/>
            <a:r>
              <a:rPr lang="en-IN" sz="3200" dirty="0"/>
              <a:t>Multiple Inheritance</a:t>
            </a:r>
          </a:p>
          <a:p>
            <a:pPr lvl="2"/>
            <a:r>
              <a:rPr lang="en-IN" sz="3200" dirty="0"/>
              <a:t>Hierarchical Inheritance</a:t>
            </a:r>
          </a:p>
          <a:p>
            <a:pPr lvl="2"/>
            <a:r>
              <a:rPr lang="en-IN" sz="3200" dirty="0"/>
              <a:t>Hybrid Inheritance</a:t>
            </a:r>
          </a:p>
          <a:p>
            <a:pPr marL="0" indent="0">
              <a:buNone/>
            </a:pPr>
            <a:r>
              <a:rPr lang="en-IN" sz="2800" b="1" dirty="0"/>
              <a:t>Syntax:</a:t>
            </a:r>
          </a:p>
          <a:p>
            <a:pPr marL="0" indent="0">
              <a:buNone/>
            </a:pPr>
            <a:r>
              <a:rPr lang="en-IN" sz="2800" dirty="0"/>
              <a:t>	class &lt;</a:t>
            </a:r>
            <a:r>
              <a:rPr lang="en-IN" sz="2800" dirty="0" err="1"/>
              <a:t>DerivedClassName</a:t>
            </a:r>
            <a:r>
              <a:rPr lang="en-IN" sz="2800" dirty="0"/>
              <a:t>&gt;: public &lt;</a:t>
            </a:r>
            <a:r>
              <a:rPr lang="en-IN" sz="2800" dirty="0" err="1"/>
              <a:t>BaseClassName</a:t>
            </a:r>
            <a:r>
              <a:rPr lang="en-IN" sz="28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2904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9ED0-47AF-8E8A-D1C8-EE8CE8B8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467" y="1428512"/>
            <a:ext cx="7267202" cy="963706"/>
          </a:xfrm>
        </p:spPr>
        <p:txBody>
          <a:bodyPr/>
          <a:lstStyle/>
          <a:p>
            <a:r>
              <a:rPr lang="en-US" b="1" dirty="0"/>
              <a:t>Polymorphism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A3D45-AF4B-877E-93A7-8DD9EF582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178" y="1995054"/>
            <a:ext cx="9421769" cy="3890683"/>
          </a:xfrm>
        </p:spPr>
        <p:txBody>
          <a:bodyPr>
            <a:normAutofit/>
          </a:bodyPr>
          <a:lstStyle/>
          <a:p>
            <a:r>
              <a:rPr lang="en-US" sz="2600" dirty="0"/>
              <a:t>The word polymorphism means </a:t>
            </a:r>
            <a:r>
              <a:rPr lang="en-US" sz="2600" b="1" dirty="0"/>
              <a:t>having many forms</a:t>
            </a:r>
            <a:r>
              <a:rPr lang="en-US" sz="2600" dirty="0"/>
              <a:t>. </a:t>
            </a:r>
          </a:p>
          <a:p>
            <a:r>
              <a:rPr lang="en-US" sz="2600" b="1" dirty="0"/>
              <a:t>Same person plays a different role </a:t>
            </a:r>
            <a:r>
              <a:rPr lang="en-US" sz="2600" dirty="0"/>
              <a:t>is called polymorphism.</a:t>
            </a:r>
          </a:p>
          <a:p>
            <a:r>
              <a:rPr lang="en-US" sz="2600" dirty="0"/>
              <a:t>Typically, polymorphism occurs when there is a hierarchy of classes and they are related by inheritance.</a:t>
            </a:r>
          </a:p>
          <a:p>
            <a:r>
              <a:rPr lang="en-US" sz="2600" dirty="0"/>
              <a:t>C++ polymorphism means that a call to a member function will cause a different function to be executed </a:t>
            </a:r>
            <a:r>
              <a:rPr lang="en-US" sz="2600" b="1" dirty="0"/>
              <a:t>depending on the type of</a:t>
            </a:r>
            <a:r>
              <a:rPr lang="en-US" sz="2600" dirty="0"/>
              <a:t> </a:t>
            </a:r>
            <a:r>
              <a:rPr lang="en-US" sz="2600" b="1" dirty="0"/>
              <a:t>object that invokes the function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8330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2C6D-5AC1-442F-3183-96546624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618" y="754201"/>
            <a:ext cx="5986608" cy="762000"/>
          </a:xfrm>
        </p:spPr>
        <p:txBody>
          <a:bodyPr/>
          <a:lstStyle/>
          <a:p>
            <a:r>
              <a:rPr lang="en-IN" b="1" dirty="0"/>
              <a:t>Types:</a:t>
            </a:r>
          </a:p>
        </p:txBody>
      </p:sp>
      <p:pic>
        <p:nvPicPr>
          <p:cNvPr id="1028" name="Picture 4" descr="C++">
            <a:extLst>
              <a:ext uri="{FF2B5EF4-FFF2-40B4-BE49-F238E27FC236}">
                <a16:creationId xmlns:a16="http://schemas.microsoft.com/office/drawing/2014/main" id="{5A5289E4-E70C-9DFD-0D77-A3C4BF7827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117" y="1516201"/>
            <a:ext cx="8122023" cy="486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46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B9E1-CD73-3EDE-BC83-79DC94ED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4" y="448237"/>
            <a:ext cx="7401673" cy="815788"/>
          </a:xfrm>
        </p:spPr>
        <p:txBody>
          <a:bodyPr/>
          <a:lstStyle/>
          <a:p>
            <a:r>
              <a:rPr lang="en-IN" b="1" dirty="0" err="1"/>
              <a:t>OverLoading</a:t>
            </a:r>
            <a:r>
              <a:rPr lang="en-IN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0E72-D1A8-1AAA-B1E2-06ACB414B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188" y="1264026"/>
            <a:ext cx="10865223" cy="494851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C++ allows you to specify </a:t>
            </a:r>
            <a:r>
              <a:rPr lang="en-US" sz="2400" b="1" dirty="0"/>
              <a:t>more than one definition for a function </a:t>
            </a:r>
            <a:r>
              <a:rPr lang="en-US" sz="2400" dirty="0"/>
              <a:t>name or an </a:t>
            </a:r>
            <a:r>
              <a:rPr lang="en-US" sz="2400" b="1" dirty="0"/>
              <a:t>operator in the same scope</a:t>
            </a:r>
            <a:r>
              <a:rPr lang="en-US" sz="2400" dirty="0"/>
              <a:t>, which is called function overloading and operator overloading respectively.</a:t>
            </a:r>
          </a:p>
          <a:p>
            <a:r>
              <a:rPr lang="en-US" sz="2400" dirty="0"/>
              <a:t>The process of selecting the most appropriate overloaded function or operator is called overload resolution.</a:t>
            </a:r>
          </a:p>
          <a:p>
            <a:pPr marL="0" indent="0">
              <a:buNone/>
            </a:pPr>
            <a:r>
              <a:rPr lang="en-US" sz="3200" b="1" dirty="0"/>
              <a:t>Operator Overloading:</a:t>
            </a:r>
          </a:p>
          <a:p>
            <a:pPr lvl="1"/>
            <a:r>
              <a:rPr lang="en-US" sz="2400" dirty="0"/>
              <a:t>It has </a:t>
            </a:r>
            <a:r>
              <a:rPr lang="en-US" sz="2400" b="1" dirty="0"/>
              <a:t>same operator performing more than one time.</a:t>
            </a:r>
          </a:p>
          <a:p>
            <a:pPr lvl="1"/>
            <a:r>
              <a:rPr lang="en-US" sz="2400" dirty="0"/>
              <a:t>We can Achieve Operator overloading by </a:t>
            </a:r>
            <a:r>
              <a:rPr lang="en-US" sz="2400" b="1" dirty="0"/>
              <a:t>operator() function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We cannot overload these operators ( . , :: , ?: ) . </a:t>
            </a:r>
          </a:p>
          <a:p>
            <a:pPr marL="0" indent="0">
              <a:buNone/>
            </a:pPr>
            <a:r>
              <a:rPr lang="en-US" sz="3200" b="1" dirty="0"/>
              <a:t>Function Overloading:</a:t>
            </a:r>
          </a:p>
          <a:p>
            <a:pPr lvl="1"/>
            <a:r>
              <a:rPr lang="en-US" sz="2400" dirty="0"/>
              <a:t>It has multiple functions in same name and </a:t>
            </a:r>
            <a:r>
              <a:rPr lang="en-US" sz="2400" dirty="0" err="1"/>
              <a:t>differentciated</a:t>
            </a:r>
            <a:r>
              <a:rPr lang="en-US" sz="2400" dirty="0"/>
              <a:t> with arguments.</a:t>
            </a:r>
          </a:p>
        </p:txBody>
      </p:sp>
    </p:spTree>
    <p:extLst>
      <p:ext uri="{BB962C8B-B14F-4D97-AF65-F5344CB8AC3E}">
        <p14:creationId xmlns:p14="http://schemas.microsoft.com/office/powerpoint/2010/main" val="48047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E263-64C2-B4BA-20EF-0807306A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3" y="407894"/>
            <a:ext cx="7603379" cy="896471"/>
          </a:xfrm>
        </p:spPr>
        <p:txBody>
          <a:bodyPr>
            <a:normAutofit/>
          </a:bodyPr>
          <a:lstStyle/>
          <a:p>
            <a:r>
              <a:rPr lang="en-US" sz="3600" b="1" dirty="0"/>
              <a:t>Virtual Function: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6B70-67CF-EC07-2D6E-6970FBE06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048870"/>
            <a:ext cx="10131425" cy="5401236"/>
          </a:xfrm>
        </p:spPr>
        <p:txBody>
          <a:bodyPr>
            <a:normAutofit/>
          </a:bodyPr>
          <a:lstStyle/>
          <a:p>
            <a:r>
              <a:rPr lang="en-US" sz="2400" dirty="0"/>
              <a:t>A virtual function is a function in a </a:t>
            </a:r>
            <a:r>
              <a:rPr lang="en-US" sz="2400" b="1" dirty="0"/>
              <a:t>base class that is declared </a:t>
            </a:r>
            <a:r>
              <a:rPr lang="en-US" sz="2400" dirty="0"/>
              <a:t>using the keyword virtual. </a:t>
            </a:r>
          </a:p>
          <a:p>
            <a:r>
              <a:rPr lang="en-US" sz="2400" dirty="0"/>
              <a:t>Defining in a base class a virtual function, with another version in a derived class, signals to the compiler that </a:t>
            </a:r>
            <a:r>
              <a:rPr lang="en-US" sz="2400" b="1" dirty="0"/>
              <a:t>we don't want static linkage for this function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IN" sz="4400" b="1" dirty="0"/>
              <a:t>Friend Function:</a:t>
            </a:r>
            <a:endParaRPr lang="en-US" sz="2400" dirty="0"/>
          </a:p>
          <a:p>
            <a:r>
              <a:rPr lang="en-US" sz="2400" dirty="0"/>
              <a:t>In principle, </a:t>
            </a:r>
            <a:r>
              <a:rPr lang="en-US" sz="2400" b="1" dirty="0"/>
              <a:t>private and protected members </a:t>
            </a:r>
            <a:r>
              <a:rPr lang="en-US" sz="2400" dirty="0"/>
              <a:t>of a class cannot be accessed from outside the same class in which they are declared. </a:t>
            </a:r>
          </a:p>
          <a:p>
            <a:r>
              <a:rPr lang="en-US" sz="2400" dirty="0" smtClean="0"/>
              <a:t>Friends </a:t>
            </a:r>
            <a:r>
              <a:rPr lang="en-US" sz="2400" dirty="0"/>
              <a:t>are functions or classes declared with the </a:t>
            </a:r>
            <a:r>
              <a:rPr lang="en-US" sz="2400" b="1" dirty="0"/>
              <a:t>friend keyword</a:t>
            </a:r>
            <a:r>
              <a:rPr lang="en-US" sz="2400" dirty="0"/>
              <a:t>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non-member function can access the private and protected members </a:t>
            </a:r>
            <a:r>
              <a:rPr lang="en-US" sz="2400" dirty="0"/>
              <a:t>of a class if it is declared </a:t>
            </a:r>
            <a:r>
              <a:rPr lang="en-US" sz="2400" b="1" dirty="0"/>
              <a:t>a friend </a:t>
            </a:r>
            <a:r>
              <a:rPr lang="en-US" sz="2400" dirty="0"/>
              <a:t>of that class</a:t>
            </a:r>
          </a:p>
        </p:txBody>
      </p:sp>
    </p:spTree>
    <p:extLst>
      <p:ext uri="{BB962C8B-B14F-4D97-AF65-F5344CB8AC3E}">
        <p14:creationId xmlns:p14="http://schemas.microsoft.com/office/powerpoint/2010/main" val="20984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D6D1-824E-9EB5-CAA6-DFC00656F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248" y="569258"/>
            <a:ext cx="10131425" cy="829235"/>
          </a:xfrm>
        </p:spPr>
        <p:txBody>
          <a:bodyPr/>
          <a:lstStyle/>
          <a:p>
            <a:r>
              <a:rPr lang="en-US" b="1" dirty="0"/>
              <a:t>Exception Handling: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E6684-7861-9488-692F-C5198103F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774" y="1532965"/>
            <a:ext cx="10131425" cy="4921624"/>
          </a:xfrm>
        </p:spPr>
        <p:txBody>
          <a:bodyPr>
            <a:noAutofit/>
          </a:bodyPr>
          <a:lstStyle/>
          <a:p>
            <a:r>
              <a:rPr lang="en-US" sz="2800" dirty="0"/>
              <a:t>Exception is a problem that arise during the execution time  </a:t>
            </a:r>
          </a:p>
          <a:p>
            <a:r>
              <a:rPr lang="en-US" sz="2800" dirty="0"/>
              <a:t>An abnormal event which stops the program abruptly is called Error.</a:t>
            </a:r>
          </a:p>
          <a:p>
            <a:r>
              <a:rPr lang="en-US" sz="2800" dirty="0"/>
              <a:t>Exception handling is a mechanism to handle errors in the runtime.</a:t>
            </a:r>
          </a:p>
          <a:p>
            <a:r>
              <a:rPr lang="en-US" sz="2800" dirty="0"/>
              <a:t>So that the normal flow of the application is maintained.</a:t>
            </a:r>
          </a:p>
          <a:p>
            <a:r>
              <a:rPr lang="en-US" sz="2800" b="1" dirty="0"/>
              <a:t>Keywords:</a:t>
            </a:r>
          </a:p>
          <a:p>
            <a:pPr marL="457200" lvl="1" indent="0">
              <a:buNone/>
            </a:pPr>
            <a:r>
              <a:rPr lang="en-US" sz="2800" dirty="0"/>
              <a:t>				1. Try						</a:t>
            </a:r>
          </a:p>
          <a:p>
            <a:pPr marL="457200" lvl="1" indent="0">
              <a:buNone/>
            </a:pPr>
            <a:r>
              <a:rPr lang="en-US" sz="2800" dirty="0"/>
              <a:t>				2. Catch	</a:t>
            </a:r>
          </a:p>
          <a:p>
            <a:pPr marL="457200" lvl="1" indent="0">
              <a:buNone/>
            </a:pPr>
            <a:r>
              <a:rPr lang="en-US" sz="2800" dirty="0"/>
              <a:t>				3. Throw				</a:t>
            </a:r>
          </a:p>
        </p:txBody>
      </p:sp>
    </p:spTree>
    <p:extLst>
      <p:ext uri="{BB962C8B-B14F-4D97-AF65-F5344CB8AC3E}">
        <p14:creationId xmlns:p14="http://schemas.microsoft.com/office/powerpoint/2010/main" val="201041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8CB3-79F4-3CCE-B87D-680862AE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088" y="931040"/>
            <a:ext cx="5868708" cy="883024"/>
          </a:xfrm>
        </p:spPr>
        <p:txBody>
          <a:bodyPr/>
          <a:lstStyle/>
          <a:p>
            <a:r>
              <a:rPr lang="en-IN" b="1" dirty="0"/>
              <a:t>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1CD9-BCB6-9320-58EE-660F26E5A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967" y="1372552"/>
            <a:ext cx="8689108" cy="4755774"/>
          </a:xfrm>
        </p:spPr>
        <p:txBody>
          <a:bodyPr>
            <a:normAutofit/>
          </a:bodyPr>
          <a:lstStyle/>
          <a:p>
            <a:r>
              <a:rPr lang="en-US" sz="2800" dirty="0"/>
              <a:t>To perform file processing in C++, header files &lt;iostream&gt; and &lt;</a:t>
            </a:r>
            <a:r>
              <a:rPr lang="en-US" sz="2800" dirty="0" err="1"/>
              <a:t>fstream</a:t>
            </a:r>
            <a:r>
              <a:rPr lang="en-US" sz="2800" dirty="0"/>
              <a:t>&gt; must be included in your C++ source file.</a:t>
            </a:r>
          </a:p>
          <a:p>
            <a:r>
              <a:rPr lang="en-US" sz="2800" dirty="0"/>
              <a:t>A file must be opened before you can read from it or write to it. </a:t>
            </a:r>
          </a:p>
          <a:p>
            <a:r>
              <a:rPr lang="en-US" sz="2800" dirty="0"/>
              <a:t>Either </a:t>
            </a:r>
            <a:r>
              <a:rPr lang="en-US" sz="2800" dirty="0" err="1"/>
              <a:t>ofstream</a:t>
            </a:r>
            <a:r>
              <a:rPr lang="en-US" sz="2800" dirty="0"/>
              <a:t> or </a:t>
            </a:r>
            <a:r>
              <a:rPr lang="en-US" sz="2800" dirty="0" err="1"/>
              <a:t>fstream</a:t>
            </a:r>
            <a:r>
              <a:rPr lang="en-US" sz="2800" dirty="0"/>
              <a:t> object may be used to open a file for writing. 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ifstream</a:t>
            </a:r>
            <a:r>
              <a:rPr lang="en-US" sz="2800" dirty="0"/>
              <a:t> object is used to open a file for reading purpose only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0544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38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3337</TotalTime>
  <Words>2495</Words>
  <Application>Microsoft Office PowerPoint</Application>
  <PresentationFormat>Widescreen</PresentationFormat>
  <Paragraphs>281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Open Sans</vt:lpstr>
      <vt:lpstr>Times New Roman</vt:lpstr>
      <vt:lpstr>Wingdings</vt:lpstr>
      <vt:lpstr>Celestial</vt:lpstr>
      <vt:lpstr>C++</vt:lpstr>
      <vt:lpstr>Introduction:</vt:lpstr>
      <vt:lpstr>PowerPoint Presentation</vt:lpstr>
      <vt:lpstr>PowerPoint Presentation</vt:lpstr>
      <vt:lpstr>Basic I/O:</vt:lpstr>
      <vt:lpstr>Basic Program:</vt:lpstr>
      <vt:lpstr>Variables:</vt:lpstr>
      <vt:lpstr>PowerPoint Presentation</vt:lpstr>
      <vt:lpstr>Constant:</vt:lpstr>
      <vt:lpstr>Operators:</vt:lpstr>
      <vt:lpstr>Control Statements:</vt:lpstr>
      <vt:lpstr>PowerPoint Presentation</vt:lpstr>
      <vt:lpstr>Looping:</vt:lpstr>
      <vt:lpstr>Jumping Statement:</vt:lpstr>
      <vt:lpstr>Functions:</vt:lpstr>
      <vt:lpstr>Types:</vt:lpstr>
      <vt:lpstr>Namespace:</vt:lpstr>
      <vt:lpstr>Array:</vt:lpstr>
      <vt:lpstr>Types of Arrays:</vt:lpstr>
      <vt:lpstr>String:</vt:lpstr>
      <vt:lpstr>String Operations:</vt:lpstr>
      <vt:lpstr>Pointers:</vt:lpstr>
      <vt:lpstr>Dynamic Memory:</vt:lpstr>
      <vt:lpstr>PowerPoint Presentation</vt:lpstr>
      <vt:lpstr>Example:</vt:lpstr>
      <vt:lpstr>Structure:</vt:lpstr>
      <vt:lpstr>Union:</vt:lpstr>
      <vt:lpstr>Enum:</vt:lpstr>
      <vt:lpstr>Typedef:</vt:lpstr>
      <vt:lpstr>Oops:</vt:lpstr>
      <vt:lpstr>Introduction:</vt:lpstr>
      <vt:lpstr>Concepts:</vt:lpstr>
      <vt:lpstr>Class :</vt:lpstr>
      <vt:lpstr>Encapsulation:</vt:lpstr>
      <vt:lpstr>Inheritance</vt:lpstr>
      <vt:lpstr>Types:</vt:lpstr>
      <vt:lpstr>Polymorphism</vt:lpstr>
      <vt:lpstr>Types:</vt:lpstr>
      <vt:lpstr>OverLoading:</vt:lpstr>
      <vt:lpstr>Virtual Function:</vt:lpstr>
      <vt:lpstr>Exception Handling:</vt:lpstr>
      <vt:lpstr>File I/O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salemlivewire@gmail.com</dc:creator>
  <cp:lastModifiedBy>Admin</cp:lastModifiedBy>
  <cp:revision>132</cp:revision>
  <dcterms:created xsi:type="dcterms:W3CDTF">2023-05-04T08:34:46Z</dcterms:created>
  <dcterms:modified xsi:type="dcterms:W3CDTF">2025-03-26T06:50:24Z</dcterms:modified>
</cp:coreProperties>
</file>