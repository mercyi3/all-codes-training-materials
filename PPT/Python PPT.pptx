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6" r:id="rId11"/>
    <p:sldId id="271" r:id="rId12"/>
    <p:sldId id="267" r:id="rId13"/>
    <p:sldId id="268" r:id="rId14"/>
    <p:sldId id="264" r:id="rId15"/>
    <p:sldId id="265" r:id="rId16"/>
    <p:sldId id="270" r:id="rId17"/>
    <p:sldId id="272" r:id="rId18"/>
    <p:sldId id="273" r:id="rId19"/>
    <p:sldId id="274" r:id="rId20"/>
    <p:sldId id="277" r:id="rId21"/>
    <p:sldId id="275" r:id="rId22"/>
    <p:sldId id="278" r:id="rId23"/>
    <p:sldId id="279" r:id="rId24"/>
    <p:sldId id="276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0" r:id="rId35"/>
    <p:sldId id="291" r:id="rId36"/>
    <p:sldId id="295" r:id="rId37"/>
    <p:sldId id="296" r:id="rId38"/>
    <p:sldId id="292" r:id="rId39"/>
    <p:sldId id="293" r:id="rId40"/>
    <p:sldId id="294" r:id="rId41"/>
    <p:sldId id="297" r:id="rId42"/>
    <p:sldId id="298" r:id="rId43"/>
    <p:sldId id="300" r:id="rId44"/>
    <p:sldId id="301" r:id="rId45"/>
    <p:sldId id="302" r:id="rId46"/>
    <p:sldId id="299" r:id="rId47"/>
    <p:sldId id="304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>
      <p:cViewPr varScale="1">
        <p:scale>
          <a:sx n="73" d="100"/>
          <a:sy n="73" d="100"/>
        </p:scale>
        <p:origin x="1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B707C3-37AB-4CAE-95A6-64C69C7B359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B6FA235-6D14-4ED1-8C71-4E4F66653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8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707C3-37AB-4CAE-95A6-64C69C7B359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B6FA235-6D14-4ED1-8C71-4E4F66653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82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B707C3-37AB-4CAE-95A6-64C69C7B359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B6FA235-6D14-4ED1-8C71-4E4F66653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9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707C3-37AB-4CAE-95A6-64C69C7B359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A235-6D14-4ED1-8C71-4E4F66653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75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707C3-37AB-4CAE-95A6-64C69C7B359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A235-6D14-4ED1-8C71-4E4F66653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0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707C3-37AB-4CAE-95A6-64C69C7B359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A235-6D14-4ED1-8C71-4E4F66653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22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707C3-37AB-4CAE-95A6-64C69C7B359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A235-6D14-4ED1-8C71-4E4F66653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87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B707C3-37AB-4CAE-95A6-64C69C7B359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B6FA235-6D14-4ED1-8C71-4E4F66653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12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707C3-37AB-4CAE-95A6-64C69C7B359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A235-6D14-4ED1-8C71-4E4F66653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666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707C3-37AB-4CAE-95A6-64C69C7B359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A235-6D14-4ED1-8C71-4E4F66653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197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B707C3-37AB-4CAE-95A6-64C69C7B359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B6FA235-6D14-4ED1-8C71-4E4F66653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18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2B707C3-37AB-4CAE-95A6-64C69C7B359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B6FA235-6D14-4ED1-8C71-4E4F666535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6550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37891" y="1380650"/>
            <a:ext cx="7436849" cy="1131642"/>
          </a:xfrm>
        </p:spPr>
        <p:txBody>
          <a:bodyPr>
            <a:normAutofit/>
          </a:bodyPr>
          <a:lstStyle/>
          <a:p>
            <a:r>
              <a:rPr lang="en-US" sz="5400" b="1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3955036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363" y="1034472"/>
            <a:ext cx="7740771" cy="729673"/>
          </a:xfrm>
        </p:spPr>
        <p:txBody>
          <a:bodyPr>
            <a:normAutofit/>
          </a:bodyPr>
          <a:lstStyle/>
          <a:p>
            <a:r>
              <a:rPr lang="en-US" sz="3200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4757" y="2096654"/>
            <a:ext cx="9338662" cy="4304145"/>
          </a:xfrm>
        </p:spPr>
        <p:txBody>
          <a:bodyPr>
            <a:normAutofit/>
          </a:bodyPr>
          <a:lstStyle/>
          <a:p>
            <a:r>
              <a:rPr lang="en-US" sz="2400" dirty="0"/>
              <a:t>Python is a </a:t>
            </a:r>
            <a:r>
              <a:rPr lang="en-US" sz="2400" b="1" dirty="0"/>
              <a:t>high-level, general-purpose</a:t>
            </a:r>
            <a:r>
              <a:rPr lang="en-US" sz="2400" dirty="0"/>
              <a:t>, and </a:t>
            </a:r>
            <a:r>
              <a:rPr lang="en-US" sz="2400" b="1" dirty="0"/>
              <a:t>very popular </a:t>
            </a:r>
            <a:r>
              <a:rPr lang="en-US" sz="2400" dirty="0"/>
              <a:t>programming language</a:t>
            </a:r>
            <a:r>
              <a:rPr lang="en-US" sz="2400" b="1" dirty="0"/>
              <a:t>. </a:t>
            </a:r>
          </a:p>
          <a:p>
            <a:r>
              <a:rPr lang="en-US" sz="2400" dirty="0"/>
              <a:t>It is used in </a:t>
            </a:r>
            <a:r>
              <a:rPr lang="en-US" sz="2400" b="1" dirty="0"/>
              <a:t>web development,  AI, Data Science and Machine Learning </a:t>
            </a:r>
            <a:r>
              <a:rPr lang="en-US" sz="2400" dirty="0"/>
              <a:t>applications.</a:t>
            </a:r>
          </a:p>
          <a:p>
            <a:r>
              <a:rPr lang="en-US" sz="2400" dirty="0"/>
              <a:t>Used in </a:t>
            </a:r>
            <a:r>
              <a:rPr lang="en-US" sz="2400" b="1" dirty="0"/>
              <a:t>Google, Facebook, Instagram, Dropbox, Uber</a:t>
            </a:r>
            <a:r>
              <a:rPr lang="en-US" sz="2400" dirty="0"/>
              <a:t>… etc.</a:t>
            </a:r>
          </a:p>
          <a:p>
            <a:r>
              <a:rPr lang="en-US" sz="2400" dirty="0"/>
              <a:t> It was initially designed by </a:t>
            </a:r>
            <a:r>
              <a:rPr lang="en-US" sz="2400" b="1" dirty="0"/>
              <a:t>Guido van Rossum in 1991 </a:t>
            </a:r>
            <a:r>
              <a:rPr lang="en-US" sz="2400" dirty="0"/>
              <a:t>and developed by Python Software Foundation.</a:t>
            </a:r>
          </a:p>
          <a:p>
            <a:r>
              <a:rPr lang="en-US" sz="2400" dirty="0"/>
              <a:t>Python emphasizes </a:t>
            </a:r>
            <a:r>
              <a:rPr lang="en-US" sz="2400" b="1" dirty="0"/>
              <a:t>code readability and simplicity</a:t>
            </a:r>
            <a:r>
              <a:rPr lang="en-US" sz="2400" dirty="0"/>
              <a:t>, making it an excellent language for beginners and experienced developers.</a:t>
            </a:r>
          </a:p>
        </p:txBody>
      </p:sp>
    </p:spTree>
    <p:extLst>
      <p:ext uri="{BB962C8B-B14F-4D97-AF65-F5344CB8AC3E}">
        <p14:creationId xmlns:p14="http://schemas.microsoft.com/office/powerpoint/2010/main" val="348094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Features: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7819" y="1940351"/>
            <a:ext cx="9919854" cy="4497395"/>
          </a:xfrm>
        </p:spPr>
        <p:txBody>
          <a:bodyPr>
            <a:noAutofit/>
          </a:bodyPr>
          <a:lstStyle/>
          <a:p>
            <a:r>
              <a:rPr lang="en-US" sz="2600" b="1" dirty="0"/>
              <a:t>Simple and Easy to Learn</a:t>
            </a:r>
          </a:p>
          <a:p>
            <a:r>
              <a:rPr lang="en-US" sz="2600" b="1" dirty="0"/>
              <a:t>Extensive Standard Library </a:t>
            </a:r>
          </a:p>
          <a:p>
            <a:r>
              <a:rPr lang="en-US" sz="2600" b="1" dirty="0"/>
              <a:t>Interpreted</a:t>
            </a:r>
            <a:r>
              <a:rPr lang="en-US" sz="2600" dirty="0"/>
              <a:t> : code is executed line by line</a:t>
            </a:r>
          </a:p>
          <a:p>
            <a:r>
              <a:rPr lang="en-US" sz="2600" b="1" dirty="0"/>
              <a:t>Dynamic Typing </a:t>
            </a:r>
            <a:r>
              <a:rPr lang="en-US" sz="2600" dirty="0"/>
              <a:t>: No need to declare the data type.</a:t>
            </a:r>
          </a:p>
          <a:p>
            <a:r>
              <a:rPr lang="en-US" sz="2600" b="1" dirty="0"/>
              <a:t>Strong Typing </a:t>
            </a:r>
            <a:r>
              <a:rPr lang="en-US" sz="2600" dirty="0"/>
              <a:t>: data type of a variable is enforced at runtime.</a:t>
            </a:r>
          </a:p>
          <a:p>
            <a:r>
              <a:rPr lang="en-US" sz="2600" b="1" dirty="0"/>
              <a:t>Cross-Platform</a:t>
            </a:r>
            <a:r>
              <a:rPr lang="en-US" sz="2600" dirty="0"/>
              <a:t>: run on different operating systems</a:t>
            </a:r>
          </a:p>
          <a:p>
            <a:r>
              <a:rPr lang="en-US" sz="2600" b="1" dirty="0"/>
              <a:t>Versatile</a:t>
            </a:r>
            <a:r>
              <a:rPr lang="en-US" sz="2600" dirty="0"/>
              <a:t> : used for various purposes, including AI, DS, ML.</a:t>
            </a:r>
          </a:p>
        </p:txBody>
      </p:sp>
    </p:spTree>
    <p:extLst>
      <p:ext uri="{BB962C8B-B14F-4D97-AF65-F5344CB8AC3E}">
        <p14:creationId xmlns:p14="http://schemas.microsoft.com/office/powerpoint/2010/main" val="1358061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96FA0-5D63-B862-752F-E28605111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&amp; PIP: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FCA89-54AD-FD7D-255D-3DE2AF67C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0116" y="2133600"/>
            <a:ext cx="9131767" cy="4338320"/>
          </a:xfrm>
        </p:spPr>
        <p:txBody>
          <a:bodyPr>
            <a:normAutofit/>
          </a:bodyPr>
          <a:lstStyle/>
          <a:p>
            <a:r>
              <a:rPr lang="en-US" sz="2400" b="1" dirty="0"/>
              <a:t>Module</a:t>
            </a:r>
            <a:r>
              <a:rPr lang="en-US" sz="2400" dirty="0"/>
              <a:t> is a files containing Python code, which can include variables, functions, and classes. </a:t>
            </a:r>
          </a:p>
          <a:p>
            <a:r>
              <a:rPr lang="en-US" sz="2400" dirty="0"/>
              <a:t>They help organize code into </a:t>
            </a:r>
            <a:r>
              <a:rPr lang="en-US" sz="2400" b="1" dirty="0"/>
              <a:t>reusable parts</a:t>
            </a:r>
            <a:r>
              <a:rPr lang="en-US" sz="2400" dirty="0"/>
              <a:t>, making it easier to manage and </a:t>
            </a:r>
            <a:r>
              <a:rPr lang="en-US" sz="2400" b="1" dirty="0"/>
              <a:t>maintain large projects</a:t>
            </a:r>
            <a:r>
              <a:rPr lang="en-US" sz="2400" dirty="0"/>
              <a:t>.  </a:t>
            </a:r>
          </a:p>
          <a:p>
            <a:r>
              <a:rPr lang="en-US" sz="2400" b="1" dirty="0"/>
              <a:t>PIP</a:t>
            </a:r>
            <a:r>
              <a:rPr lang="en-US" sz="2400" dirty="0"/>
              <a:t> is the standard tool for installing Python packages and their dependencies in a secure manner.</a:t>
            </a:r>
          </a:p>
          <a:p>
            <a:pPr marL="0" indent="0">
              <a:buNone/>
            </a:pPr>
            <a:r>
              <a:rPr lang="en-US" sz="2800" b="1" dirty="0"/>
              <a:t>Example:</a:t>
            </a:r>
          </a:p>
          <a:p>
            <a:pPr marL="0" indent="0">
              <a:buNone/>
            </a:pPr>
            <a:r>
              <a:rPr lang="en-US" sz="2400" dirty="0"/>
              <a:t>				pip install </a:t>
            </a:r>
            <a:r>
              <a:rPr lang="en-US" sz="2400" dirty="0" err="1"/>
              <a:t>pyjokes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			import </a:t>
            </a:r>
            <a:r>
              <a:rPr lang="en-US" sz="2400" dirty="0" err="1"/>
              <a:t>pyjokes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6792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Variable: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3833" y="1967136"/>
            <a:ext cx="9954727" cy="4484464"/>
          </a:xfrm>
        </p:spPr>
        <p:txBody>
          <a:bodyPr>
            <a:noAutofit/>
          </a:bodyPr>
          <a:lstStyle/>
          <a:p>
            <a:r>
              <a:rPr lang="en-US" sz="2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A variable is the name given to a memory location. </a:t>
            </a:r>
          </a:p>
          <a:p>
            <a:r>
              <a:rPr lang="en-US" sz="2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A value-holding Python variable is also known as an identifier.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highlight>
                  <a:srgbClr val="FFFFFF"/>
                </a:highlight>
                <a:latin typeface="inter-regular"/>
              </a:rPr>
              <a:t>Naming Rule:</a:t>
            </a:r>
          </a:p>
          <a:p>
            <a:pPr lvl="1"/>
            <a:r>
              <a:rPr lang="en-US" sz="2400" dirty="0"/>
              <a:t>The variable's </a:t>
            </a:r>
            <a:r>
              <a:rPr lang="en-US" sz="2400" b="1" dirty="0"/>
              <a:t>first character </a:t>
            </a:r>
            <a:r>
              <a:rPr lang="en-US" sz="2400" dirty="0"/>
              <a:t>must be an </a:t>
            </a:r>
            <a:r>
              <a:rPr lang="en-US" sz="2400" b="1" dirty="0"/>
              <a:t>underscore or alphabet</a:t>
            </a:r>
            <a:r>
              <a:rPr lang="en-US" sz="2400" dirty="0" smtClean="0"/>
              <a:t>.</a:t>
            </a:r>
            <a:endParaRPr lang="en-US" sz="2400" dirty="0"/>
          </a:p>
          <a:p>
            <a:pPr lvl="1"/>
            <a:r>
              <a:rPr lang="en-US" sz="2400" dirty="0"/>
              <a:t>Every one of the characters might be a letter set of </a:t>
            </a:r>
            <a:r>
              <a:rPr lang="en-US" sz="2400" b="1" dirty="0"/>
              <a:t>lower-case, capitalized, highlight, or digit.</a:t>
            </a:r>
          </a:p>
          <a:p>
            <a:pPr lvl="1"/>
            <a:r>
              <a:rPr lang="en-US" sz="2400" b="1" dirty="0"/>
              <a:t>White space and special characters </a:t>
            </a:r>
            <a:r>
              <a:rPr lang="en-US" sz="2400" dirty="0"/>
              <a:t>(!, @, #, %, etc.) are </a:t>
            </a:r>
            <a:r>
              <a:rPr lang="en-US" sz="2400" b="1" dirty="0"/>
              <a:t>not allowed </a:t>
            </a:r>
            <a:r>
              <a:rPr lang="en-US" sz="2400" dirty="0"/>
              <a:t>in the identifier name.</a:t>
            </a:r>
          </a:p>
          <a:p>
            <a:pPr lvl="1"/>
            <a:r>
              <a:rPr lang="en-US" sz="2400" dirty="0"/>
              <a:t>Names of identifiers are </a:t>
            </a:r>
            <a:r>
              <a:rPr lang="en-US" sz="2400" b="1" dirty="0"/>
              <a:t>case-sensitive;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8310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913284"/>
          </a:xfrm>
        </p:spPr>
        <p:txBody>
          <a:bodyPr/>
          <a:lstStyle/>
          <a:p>
            <a:r>
              <a:rPr lang="en-US" b="1" dirty="0"/>
              <a:t>Variable Declaration: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0" y="2193614"/>
            <a:ext cx="3860800" cy="404646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name = </a:t>
            </a:r>
            <a:r>
              <a:rPr lang="en-US" sz="2800" b="0" i="0" dirty="0">
                <a:solidFill>
                  <a:srgbClr val="0000FF"/>
                </a:solidFill>
                <a:effectLst/>
                <a:latin typeface="inter-regular"/>
              </a:rPr>
              <a:t>“Ram"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marL="0" indent="0" algn="just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age = </a:t>
            </a:r>
            <a:r>
              <a:rPr lang="en-US" sz="2800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marL="0" indent="0" algn="just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marks = </a:t>
            </a:r>
            <a:r>
              <a:rPr lang="en-US" sz="2800" b="0" i="0" dirty="0">
                <a:solidFill>
                  <a:srgbClr val="C00000"/>
                </a:solidFill>
                <a:effectLst/>
                <a:latin typeface="inter-regular"/>
              </a:rPr>
              <a:t>92.67</a:t>
            </a:r>
            <a:endParaRPr lang="en-US" sz="28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print(name)  </a:t>
            </a:r>
          </a:p>
          <a:p>
            <a:pPr marL="0" indent="0" algn="just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print(age)  </a:t>
            </a:r>
          </a:p>
          <a:p>
            <a:pPr marL="0" indent="0" algn="just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print(marks)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FCE0B0-9095-7FB1-7634-0BCC66DBE645}"/>
              </a:ext>
            </a:extLst>
          </p:cNvPr>
          <p:cNvSpPr txBox="1">
            <a:spLocks/>
          </p:cNvSpPr>
          <p:nvPr/>
        </p:nvSpPr>
        <p:spPr>
          <a:xfrm>
            <a:off x="6442476" y="2277852"/>
            <a:ext cx="4205204" cy="38779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800" b="0" i="0" dirty="0" err="1">
                <a:solidFill>
                  <a:srgbClr val="000000"/>
                </a:solidFill>
                <a:effectLst/>
                <a:latin typeface="inter-regular"/>
              </a:rPr>
              <a:t>a,b,c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 = </a:t>
            </a:r>
            <a:r>
              <a:rPr lang="en-US" sz="2800" b="0" i="0" dirty="0">
                <a:solidFill>
                  <a:srgbClr val="C00000"/>
                </a:solidFill>
                <a:effectLst/>
                <a:latin typeface="inter-regular"/>
              </a:rPr>
              <a:t>5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US" sz="2800" b="0" i="0" dirty="0">
                <a:solidFill>
                  <a:srgbClr val="C00000"/>
                </a:solidFill>
                <a:effectLst/>
                <a:latin typeface="inter-regular"/>
              </a:rPr>
              <a:t>10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US" sz="2800" b="0" i="0" dirty="0">
                <a:solidFill>
                  <a:srgbClr val="C00000"/>
                </a:solidFill>
                <a:effectLst/>
                <a:latin typeface="inter-regular"/>
              </a:rPr>
              <a:t>15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  </a:t>
            </a:r>
          </a:p>
          <a:p>
            <a:pPr marL="324000" lvl="1" indent="0" algn="just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print a    </a:t>
            </a:r>
          </a:p>
          <a:p>
            <a:pPr marL="324000" lvl="1" indent="0" algn="just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print b    </a:t>
            </a:r>
          </a:p>
          <a:p>
            <a:pPr marL="324000" lvl="1" indent="0" algn="just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print c </a:t>
            </a:r>
          </a:p>
          <a:p>
            <a:pPr marL="0" indent="0" algn="just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Print(1, 2, 3, 4, 5, 6, 7, 8)</a:t>
            </a:r>
          </a:p>
          <a:p>
            <a:pPr marL="0" indent="0" algn="just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Del </a:t>
            </a:r>
            <a:r>
              <a:rPr lang="en-US" sz="2800" dirty="0">
                <a:solidFill>
                  <a:srgbClr val="000000"/>
                </a:solidFill>
                <a:latin typeface="inter-regular"/>
              </a:rPr>
              <a:t>c</a:t>
            </a:r>
            <a:endParaRPr lang="en-US" sz="28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24479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94EA70-1360-1142-6CA6-E1C85B28D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319" y="729658"/>
            <a:ext cx="10828489" cy="988332"/>
          </a:xfrm>
        </p:spPr>
        <p:txBody>
          <a:bodyPr/>
          <a:lstStyle/>
          <a:p>
            <a:r>
              <a:rPr lang="en-US" b="1" dirty="0"/>
              <a:t>Local Variable:    					Global Variable: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825A45-EA82-D606-B067-03D86D2F1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15441" y="2228003"/>
            <a:ext cx="3952241" cy="43251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def add() :   </a:t>
            </a:r>
          </a:p>
          <a:p>
            <a:pPr marL="0" indent="0">
              <a:buNone/>
            </a:pPr>
            <a:r>
              <a:rPr lang="en-US" sz="2800" dirty="0"/>
              <a:t>    a = 20  </a:t>
            </a:r>
          </a:p>
          <a:p>
            <a:pPr marL="0" indent="0">
              <a:buNone/>
            </a:pPr>
            <a:r>
              <a:rPr lang="en-US" sz="2800" dirty="0"/>
              <a:t>    b = 30  </a:t>
            </a:r>
          </a:p>
          <a:p>
            <a:pPr marL="0" indent="0">
              <a:buNone/>
            </a:pPr>
            <a:r>
              <a:rPr lang="en-US" sz="2800" dirty="0"/>
              <a:t>    c = a + b  </a:t>
            </a:r>
          </a:p>
          <a:p>
            <a:pPr marL="0" indent="0">
              <a:buNone/>
            </a:pPr>
            <a:r>
              <a:rPr lang="en-US" sz="2800" dirty="0"/>
              <a:t>    print("The sum is:", c) 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add() 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523414-497B-E8F3-5DE4-D2CFB65B6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4319" y="1974003"/>
            <a:ext cx="4801655" cy="45791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x = 101  </a:t>
            </a:r>
          </a:p>
          <a:p>
            <a:pPr marL="0" indent="0">
              <a:buNone/>
            </a:pPr>
            <a:r>
              <a:rPr lang="en-US" sz="2400" dirty="0"/>
              <a:t>def </a:t>
            </a:r>
            <a:r>
              <a:rPr lang="en-US" sz="2400" dirty="0" err="1"/>
              <a:t>mainFunction</a:t>
            </a:r>
            <a:r>
              <a:rPr lang="en-US" sz="2400" dirty="0"/>
              <a:t>():   </a:t>
            </a:r>
          </a:p>
          <a:p>
            <a:pPr marL="0" indent="0">
              <a:buNone/>
            </a:pPr>
            <a:r>
              <a:rPr lang="en-US" sz="2400" dirty="0"/>
              <a:t>    global x  </a:t>
            </a:r>
          </a:p>
          <a:p>
            <a:pPr marL="0" indent="0">
              <a:buNone/>
            </a:pPr>
            <a:r>
              <a:rPr lang="en-US" sz="2400" dirty="0"/>
              <a:t>    print(x)   </a:t>
            </a:r>
          </a:p>
          <a:p>
            <a:pPr marL="0" indent="0">
              <a:buNone/>
            </a:pPr>
            <a:r>
              <a:rPr lang="en-US" sz="2400" dirty="0"/>
              <a:t>    x = “Global Variable”  </a:t>
            </a:r>
          </a:p>
          <a:p>
            <a:pPr marL="0" indent="0">
              <a:buNone/>
            </a:pPr>
            <a:r>
              <a:rPr lang="en-US" sz="2400" dirty="0"/>
              <a:t>    print(x)  </a:t>
            </a:r>
          </a:p>
          <a:p>
            <a:pPr marL="0" indent="0">
              <a:buNone/>
            </a:pPr>
            <a:r>
              <a:rPr lang="en-US" sz="2400" dirty="0" err="1"/>
              <a:t>mainFunction</a:t>
            </a:r>
            <a:r>
              <a:rPr lang="en-US" sz="2400" dirty="0"/>
              <a:t>()  </a:t>
            </a:r>
          </a:p>
          <a:p>
            <a:pPr marL="0" indent="0">
              <a:buNone/>
            </a:pPr>
            <a:r>
              <a:rPr lang="en-US" sz="2400" dirty="0"/>
              <a:t>print(x)</a:t>
            </a:r>
          </a:p>
        </p:txBody>
      </p:sp>
    </p:spTree>
    <p:extLst>
      <p:ext uri="{BB962C8B-B14F-4D97-AF65-F5344CB8AC3E}">
        <p14:creationId xmlns:p14="http://schemas.microsoft.com/office/powerpoint/2010/main" val="21193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71392-E3EC-2285-9012-0BA00FA6E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Tokens: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9407B-DC2F-2F9B-4F6E-FE97223FE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0916" y="2038256"/>
            <a:ext cx="9030168" cy="4393024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The tokens can be defined as a </a:t>
            </a:r>
            <a:r>
              <a:rPr lang="en-US" sz="28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punctuator mark, reserved words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, and each word in a statement.</a:t>
            </a:r>
          </a:p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The token is the </a:t>
            </a:r>
            <a:r>
              <a:rPr lang="en-US" sz="28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smallest unit 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inside the given program.</a:t>
            </a:r>
          </a:p>
          <a:p>
            <a:pPr marL="0" indent="0" algn="just">
              <a:buNone/>
            </a:pPr>
            <a:r>
              <a:rPr lang="en-US" sz="2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   There are following tokens in Python:</a:t>
            </a:r>
          </a:p>
          <a:p>
            <a:pPr lvl="5" algn="just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Keywords.</a:t>
            </a:r>
          </a:p>
          <a:p>
            <a:pPr lvl="5" algn="just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Identifiers.</a:t>
            </a:r>
          </a:p>
          <a:p>
            <a:pPr lvl="5" algn="just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Literals.</a:t>
            </a:r>
          </a:p>
          <a:p>
            <a:pPr lvl="5" algn="just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Operators.</a:t>
            </a:r>
            <a:endParaRPr lang="en-US" sz="1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64853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3D95E-4512-E314-CFBB-26EC9E33C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Data Types: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66D7D-E9FB-3CBD-2FE1-3507A08A5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982" y="2153906"/>
            <a:ext cx="4356568" cy="4118704"/>
          </a:xfrm>
        </p:spPr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In Python its not necessary to specify datatype.</a:t>
            </a:r>
          </a:p>
          <a:p>
            <a:r>
              <a:rPr lang="en-US" sz="2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The Python </a:t>
            </a:r>
            <a:r>
              <a:rPr lang="en-US" sz="2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interpreter will automatically interpret </a:t>
            </a:r>
            <a:r>
              <a:rPr lang="en-US" sz="2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the variable’s datatype.</a:t>
            </a:r>
          </a:p>
          <a:p>
            <a:r>
              <a:rPr lang="en-US" sz="2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The </a:t>
            </a:r>
            <a:r>
              <a:rPr lang="en-US" sz="2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type() </a:t>
            </a:r>
            <a:r>
              <a:rPr lang="en-US" sz="2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function in Python returns the </a:t>
            </a:r>
            <a:r>
              <a:rPr lang="en-US" sz="2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type of the passed </a:t>
            </a:r>
            <a:r>
              <a:rPr lang="en-US" sz="2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variable.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b="1" dirty="0"/>
              <a:t>Print(type(a))</a:t>
            </a:r>
          </a:p>
        </p:txBody>
      </p:sp>
      <p:pic>
        <p:nvPicPr>
          <p:cNvPr id="1026" name="Picture 2" descr="Python Data Types">
            <a:extLst>
              <a:ext uri="{FF2B5EF4-FFF2-40B4-BE49-F238E27FC236}">
                <a16:creationId xmlns:a16="http://schemas.microsoft.com/office/drawing/2014/main" id="{7ADBBA85-1225-A475-74D7-21BC2A4D0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550" y="1885856"/>
            <a:ext cx="5937250" cy="465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560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FAB1F-466E-3CFD-C8A7-B40AA1D1B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Primary Datatypes: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54706-6FD5-1B6F-C82B-47B674DF6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2800" y="1971040"/>
            <a:ext cx="8026400" cy="4541520"/>
          </a:xfrm>
        </p:spPr>
        <p:txBody>
          <a:bodyPr>
            <a:normAutofit/>
          </a:bodyPr>
          <a:lstStyle/>
          <a:p>
            <a:r>
              <a:rPr lang="en-US" sz="3200" dirty="0"/>
              <a:t>Numbers:				a = 10</a:t>
            </a:r>
          </a:p>
          <a:p>
            <a:r>
              <a:rPr lang="en-US" sz="3200" dirty="0"/>
              <a:t>Pointer numbers: 	pi = 3.14</a:t>
            </a:r>
          </a:p>
          <a:p>
            <a:r>
              <a:rPr lang="en-US" sz="3200" dirty="0"/>
              <a:t>Boolean:					answer = false</a:t>
            </a:r>
          </a:p>
          <a:p>
            <a:r>
              <a:rPr lang="en-US" sz="3200" dirty="0"/>
              <a:t>String:						name = “</a:t>
            </a:r>
            <a:r>
              <a:rPr lang="en-US" sz="3200" dirty="0" err="1"/>
              <a:t>Luffy</a:t>
            </a:r>
            <a:r>
              <a:rPr lang="en-US" sz="3200" dirty="0"/>
              <a:t>”</a:t>
            </a:r>
          </a:p>
          <a:p>
            <a:r>
              <a:rPr lang="en-US" sz="3200" dirty="0"/>
              <a:t> None: 					_empty = None</a:t>
            </a:r>
          </a:p>
        </p:txBody>
      </p:sp>
    </p:spTree>
    <p:extLst>
      <p:ext uri="{BB962C8B-B14F-4D97-AF65-F5344CB8AC3E}">
        <p14:creationId xmlns:p14="http://schemas.microsoft.com/office/powerpoint/2010/main" val="2724939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85A5-0677-6866-21F3-076DC54F9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Type Casting: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7F2E3-59B9-7820-E167-A0723E4D8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340" y="2180495"/>
            <a:ext cx="8445243" cy="4259493"/>
          </a:xfrm>
        </p:spPr>
        <p:txBody>
          <a:bodyPr>
            <a:normAutofit/>
          </a:bodyPr>
          <a:lstStyle/>
          <a:p>
            <a:r>
              <a:rPr lang="en-US" sz="2800" dirty="0"/>
              <a:t>Similar to type conversion, type casting is done when we want to specify a type on a variable. 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b="1" dirty="0" smtClean="0"/>
              <a:t>Example: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		a = “123”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		b = </a:t>
            </a:r>
            <a:r>
              <a:rPr lang="en-US" sz="2800" dirty="0" err="1" smtClean="0"/>
              <a:t>int</a:t>
            </a:r>
            <a:r>
              <a:rPr lang="en-US" sz="2800" dirty="0" smtClean="0"/>
              <a:t>(a)  # converting string to integer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		print(type(a))</a:t>
            </a:r>
          </a:p>
          <a:p>
            <a:pPr marL="0" indent="0">
              <a:buNone/>
            </a:pPr>
            <a:r>
              <a:rPr lang="en-US" sz="2800" dirty="0"/>
              <a:t>			</a:t>
            </a:r>
            <a:r>
              <a:rPr lang="en-US" sz="2800" dirty="0" smtClean="0"/>
              <a:t>print(type(b))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40998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8BA0D-E0D0-F7FA-7716-2A7D5B9BC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Operator: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1D9E3-36D3-F5C8-B434-444E0FB25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953" y="2017936"/>
            <a:ext cx="8695956" cy="4575903"/>
          </a:xfrm>
        </p:spPr>
        <p:txBody>
          <a:bodyPr>
            <a:normAutofit/>
          </a:bodyPr>
          <a:lstStyle/>
          <a:p>
            <a:r>
              <a:rPr lang="en-US" sz="2800" dirty="0"/>
              <a:t>A symbol that used to perform some operations.</a:t>
            </a:r>
          </a:p>
          <a:p>
            <a:r>
              <a:rPr lang="en-US" sz="2800" b="1" dirty="0"/>
              <a:t>Types:</a:t>
            </a:r>
          </a:p>
          <a:p>
            <a:pPr marL="1753200" lvl="4" indent="-457200">
              <a:buFont typeface="+mj-lt"/>
              <a:buAutoNum type="arabicPeriod"/>
            </a:pPr>
            <a:r>
              <a:rPr lang="en-US" sz="2400" dirty="0"/>
              <a:t>Arithmetic Operator </a:t>
            </a:r>
          </a:p>
          <a:p>
            <a:pPr marL="1753200" lvl="4" indent="-457200">
              <a:buFont typeface="+mj-lt"/>
              <a:buAutoNum type="arabicPeriod"/>
            </a:pPr>
            <a:r>
              <a:rPr lang="en-US" sz="2400" dirty="0"/>
              <a:t>Assignment Operator </a:t>
            </a:r>
          </a:p>
          <a:p>
            <a:pPr marL="1753200" lvl="4" indent="-457200">
              <a:buFont typeface="+mj-lt"/>
              <a:buAutoNum type="arabicPeriod"/>
            </a:pPr>
            <a:r>
              <a:rPr lang="en-US" sz="2400" dirty="0"/>
              <a:t>Relational Operator </a:t>
            </a:r>
          </a:p>
          <a:p>
            <a:pPr marL="1753200" lvl="4" indent="-457200">
              <a:buFont typeface="+mj-lt"/>
              <a:buAutoNum type="arabicPeriod"/>
            </a:pPr>
            <a:r>
              <a:rPr lang="en-US" sz="2400" dirty="0"/>
              <a:t>Logical Operator</a:t>
            </a:r>
          </a:p>
          <a:p>
            <a:pPr marL="1753200" lvl="4" indent="-457200">
              <a:buFont typeface="+mj-lt"/>
              <a:buAutoNum type="arabicPeriod"/>
            </a:pPr>
            <a:r>
              <a:rPr lang="en-US" sz="2400" dirty="0"/>
              <a:t>Identity operator</a:t>
            </a:r>
          </a:p>
          <a:p>
            <a:pPr marL="1753200" lvl="4" indent="-457200">
              <a:buFont typeface="+mj-lt"/>
              <a:buAutoNum type="arabicPeriod"/>
            </a:pPr>
            <a:r>
              <a:rPr lang="en-US" sz="2400" dirty="0"/>
              <a:t>Membership operator</a:t>
            </a:r>
          </a:p>
        </p:txBody>
      </p:sp>
    </p:spTree>
    <p:extLst>
      <p:ext uri="{BB962C8B-B14F-4D97-AF65-F5344CB8AC3E}">
        <p14:creationId xmlns:p14="http://schemas.microsoft.com/office/powerpoint/2010/main" val="3924577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A62AF-0267-9ACC-1D3A-CE748458C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Arithmetic Operator: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A48DFFE-B8C1-2417-73FF-6A6ECF357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0366" y="2080684"/>
            <a:ext cx="8627285" cy="3944198"/>
          </a:xfrm>
        </p:spPr>
      </p:pic>
      <p:sp>
        <p:nvSpPr>
          <p:cNvPr id="3" name="Rectangle 2"/>
          <p:cNvSpPr/>
          <p:nvPr/>
        </p:nvSpPr>
        <p:spPr>
          <a:xfrm>
            <a:off x="8281851" y="2080684"/>
            <a:ext cx="261258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616680" y="2057824"/>
            <a:ext cx="261258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735480" y="2080683"/>
            <a:ext cx="261258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701036" y="2071309"/>
            <a:ext cx="261258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34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40E71-81BD-C02F-3C0B-93770F655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Operator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11EE2E-4CE5-1383-0E51-6D617DA74A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4374" y="1998344"/>
            <a:ext cx="9163251" cy="4469833"/>
          </a:xfrm>
        </p:spPr>
      </p:pic>
    </p:spTree>
    <p:extLst>
      <p:ext uri="{BB962C8B-B14F-4D97-AF65-F5344CB8AC3E}">
        <p14:creationId xmlns:p14="http://schemas.microsoft.com/office/powerpoint/2010/main" val="2433262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7B50-C5E2-BFDA-F0F3-A0126FF15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Relational operator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DD2F8F-BC36-4B5C-EAD3-3E94F08CFF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8779" y="2005004"/>
            <a:ext cx="9700633" cy="4150840"/>
          </a:xfrm>
        </p:spPr>
      </p:pic>
    </p:spTree>
    <p:extLst>
      <p:ext uri="{BB962C8B-B14F-4D97-AF65-F5344CB8AC3E}">
        <p14:creationId xmlns:p14="http://schemas.microsoft.com/office/powerpoint/2010/main" val="2343682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15B50-7A40-103A-66A8-8F8DFC835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Logical, Identity &amp; Membership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6EBB1A-45E3-4E73-803A-C08C3E2910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994" y="1889758"/>
            <a:ext cx="9904010" cy="164319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5D7F57-2167-AE2E-66D2-02E910E7B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994" y="3532952"/>
            <a:ext cx="9932251" cy="14116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EF95BA-CCB5-6B5B-1C20-E6676DFC8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115" y="5031526"/>
            <a:ext cx="9904010" cy="153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547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FA398-B44E-B2D0-0C5D-CAEC1A22A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268" y="702156"/>
            <a:ext cx="10931539" cy="1013800"/>
          </a:xfrm>
        </p:spPr>
        <p:txBody>
          <a:bodyPr/>
          <a:lstStyle/>
          <a:p>
            <a:r>
              <a:rPr lang="en-US" b="1" dirty="0" smtClean="0"/>
              <a:t>User Input: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8571B-F660-5B3F-1C37-B60985DC5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472" y="1997616"/>
            <a:ext cx="9490271" cy="4429310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In python we can use input() to get user input.</a:t>
            </a:r>
            <a:endParaRPr lang="en-US" sz="2800" dirty="0"/>
          </a:p>
          <a:p>
            <a:r>
              <a:rPr lang="en-US" sz="2800" dirty="0"/>
              <a:t>D</a:t>
            </a:r>
            <a:r>
              <a:rPr lang="en-US" sz="2800" dirty="0" smtClean="0"/>
              <a:t>efault datatype of every input will be string.</a:t>
            </a:r>
          </a:p>
          <a:p>
            <a:r>
              <a:rPr lang="en-US" sz="2800" dirty="0" smtClean="0"/>
              <a:t>we need to specify datatype when we are getting other datatype inputs from user like type casting.</a:t>
            </a:r>
          </a:p>
          <a:p>
            <a:pPr marL="0" indent="0">
              <a:buNone/>
            </a:pPr>
            <a:r>
              <a:rPr lang="en-US" sz="2800" b="1" dirty="0" smtClean="0"/>
              <a:t>Example: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	age = </a:t>
            </a:r>
            <a:r>
              <a:rPr lang="en-US" sz="2800" dirty="0" err="1" smtClean="0"/>
              <a:t>int</a:t>
            </a:r>
            <a:r>
              <a:rPr lang="en-US" sz="2800" dirty="0" smtClean="0"/>
              <a:t>( input(“Enter a value: ”)) 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	name = input(“Enter name: ” )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	salary = float( input( “Enter salary: ” ))</a:t>
            </a:r>
          </a:p>
        </p:txBody>
      </p:sp>
    </p:spTree>
    <p:extLst>
      <p:ext uri="{BB962C8B-B14F-4D97-AF65-F5344CB8AC3E}">
        <p14:creationId xmlns:p14="http://schemas.microsoft.com/office/powerpoint/2010/main" val="1722707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456" y="702156"/>
            <a:ext cx="10892351" cy="943764"/>
          </a:xfrm>
        </p:spPr>
        <p:txBody>
          <a:bodyPr/>
          <a:lstStyle/>
          <a:p>
            <a:r>
              <a:rPr lang="en-US" b="1" dirty="0" smtClean="0"/>
              <a:t>Strings: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065" y="2176321"/>
            <a:ext cx="9379132" cy="3977748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String is a sequence of characters enclosed with double quotes and its immutable data.</a:t>
            </a:r>
          </a:p>
          <a:p>
            <a:r>
              <a:rPr lang="en-US" sz="2800" dirty="0" smtClean="0"/>
              <a:t>All the characters are stored based on index position.</a:t>
            </a:r>
          </a:p>
          <a:p>
            <a:pPr marL="0" indent="0">
              <a:buNone/>
            </a:pPr>
            <a:r>
              <a:rPr lang="en-US" sz="2800" b="1" dirty="0" smtClean="0"/>
              <a:t>Example: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		name1 = ‘</a:t>
            </a:r>
            <a:r>
              <a:rPr lang="en-US" sz="2800" dirty="0" err="1" smtClean="0"/>
              <a:t>Zoro</a:t>
            </a:r>
            <a:r>
              <a:rPr lang="en-US" sz="2800" dirty="0" smtClean="0"/>
              <a:t>’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		name2 = “</a:t>
            </a:r>
            <a:r>
              <a:rPr lang="en-US" sz="2800" dirty="0" err="1" smtClean="0"/>
              <a:t>Sanji</a:t>
            </a:r>
            <a:r>
              <a:rPr lang="en-US" sz="2800" dirty="0" smtClean="0"/>
              <a:t>”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		name3 = ‘‘‘</a:t>
            </a:r>
            <a:r>
              <a:rPr lang="en-US" sz="2800" dirty="0" err="1" smtClean="0"/>
              <a:t>Luffy</a:t>
            </a:r>
            <a:r>
              <a:rPr lang="en-US" sz="2800" dirty="0" smtClean="0"/>
              <a:t>’’’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7289075" y="4202158"/>
            <a:ext cx="2677886" cy="578479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Z       O      R        O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7918270" y="4231997"/>
            <a:ext cx="26126" cy="5486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8574678" y="4240706"/>
            <a:ext cx="26126" cy="5486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9203873" y="4202158"/>
            <a:ext cx="26126" cy="5486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71955" y="4789346"/>
            <a:ext cx="2677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0        1        2        3    </a:t>
            </a:r>
            <a:endParaRPr lang="en-US" dirty="0"/>
          </a:p>
        </p:txBody>
      </p:sp>
      <p:sp>
        <p:nvSpPr>
          <p:cNvPr id="10" name="Right Brace 9"/>
          <p:cNvSpPr/>
          <p:nvPr/>
        </p:nvSpPr>
        <p:spPr>
          <a:xfrm rot="5400000">
            <a:off x="8392887" y="4683329"/>
            <a:ext cx="444136" cy="155590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823941" y="5631478"/>
            <a:ext cx="2677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Index positions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 flipH="1">
            <a:off x="8094262" y="3813552"/>
            <a:ext cx="143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194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String Operations: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9870" y="2050868"/>
            <a:ext cx="9072259" cy="4376057"/>
          </a:xfrm>
        </p:spPr>
        <p:txBody>
          <a:bodyPr>
            <a:normAutofit/>
          </a:bodyPr>
          <a:lstStyle/>
          <a:p>
            <a:r>
              <a:rPr lang="en-US" sz="2600" dirty="0" smtClean="0"/>
              <a:t>Name = “Strings”</a:t>
            </a:r>
          </a:p>
          <a:p>
            <a:r>
              <a:rPr lang="en-US" sz="2600" dirty="0" smtClean="0"/>
              <a:t>Len(name)  </a:t>
            </a:r>
            <a:r>
              <a:rPr lang="en-US" sz="2600" dirty="0" smtClean="0">
                <a:sym typeface="Wingdings" panose="05000000000000000000" pitchFamily="2" charset="2"/>
              </a:rPr>
              <a:t>  To finding the length.</a:t>
            </a:r>
          </a:p>
          <a:p>
            <a:r>
              <a:rPr lang="en-US" sz="2600" dirty="0" smtClean="0">
                <a:sym typeface="Wingdings" panose="05000000000000000000" pitchFamily="2" charset="2"/>
              </a:rPr>
              <a:t>Name[1: 5]    slicing the string using index position</a:t>
            </a:r>
          </a:p>
          <a:p>
            <a:r>
              <a:rPr lang="en-US" sz="2600" dirty="0" smtClean="0"/>
              <a:t>Name[-5:]   </a:t>
            </a:r>
            <a:r>
              <a:rPr lang="en-US" sz="2600" dirty="0" smtClean="0">
                <a:sym typeface="Wingdings" panose="05000000000000000000" pitchFamily="2" charset="2"/>
              </a:rPr>
              <a:t> slicing using negative(reverse) order.</a:t>
            </a:r>
          </a:p>
          <a:p>
            <a:r>
              <a:rPr lang="en-US" sz="2600" dirty="0" err="1" smtClean="0">
                <a:sym typeface="Wingdings" panose="05000000000000000000" pitchFamily="2" charset="2"/>
              </a:rPr>
              <a:t>Name.upper</a:t>
            </a:r>
            <a:r>
              <a:rPr lang="en-US" sz="2600" dirty="0" smtClean="0">
                <a:sym typeface="Wingdings" panose="05000000000000000000" pitchFamily="2" charset="2"/>
              </a:rPr>
              <a:t>()   Converting to uppercase.</a:t>
            </a:r>
          </a:p>
          <a:p>
            <a:r>
              <a:rPr lang="en-US" sz="2600" dirty="0" err="1" smtClean="0">
                <a:sym typeface="Wingdings" panose="05000000000000000000" pitchFamily="2" charset="2"/>
              </a:rPr>
              <a:t>Name.lower</a:t>
            </a:r>
            <a:r>
              <a:rPr lang="en-US" sz="2600" dirty="0" smtClean="0">
                <a:sym typeface="Wingdings" panose="05000000000000000000" pitchFamily="2" charset="2"/>
              </a:rPr>
              <a:t>()   </a:t>
            </a:r>
            <a:r>
              <a:rPr lang="en-US" sz="2600" dirty="0" err="1" smtClean="0">
                <a:sym typeface="Wingdings" panose="05000000000000000000" pitchFamily="2" charset="2"/>
              </a:rPr>
              <a:t>Coverting</a:t>
            </a:r>
            <a:r>
              <a:rPr lang="en-US" sz="2600" dirty="0" smtClean="0">
                <a:sym typeface="Wingdings" panose="05000000000000000000" pitchFamily="2" charset="2"/>
              </a:rPr>
              <a:t> all char in lowercase</a:t>
            </a:r>
          </a:p>
          <a:p>
            <a:r>
              <a:rPr lang="en-US" sz="2600" dirty="0" err="1" smtClean="0">
                <a:sym typeface="Wingdings" panose="05000000000000000000" pitchFamily="2" charset="2"/>
              </a:rPr>
              <a:t>Name.replace</a:t>
            </a:r>
            <a:r>
              <a:rPr lang="en-US" sz="2600" dirty="0" smtClean="0">
                <a:sym typeface="Wingdings" panose="05000000000000000000" pitchFamily="2" charset="2"/>
              </a:rPr>
              <a:t>(“S”, “T”)   Replacing the characters.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5948268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1136468" y="865971"/>
            <a:ext cx="10239209" cy="5521766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600" dirty="0" err="1" smtClean="0"/>
              <a:t>Name.strip</a:t>
            </a:r>
            <a:r>
              <a:rPr lang="en-US" sz="2600" dirty="0"/>
              <a:t>()  </a:t>
            </a:r>
            <a:r>
              <a:rPr lang="en-US" sz="2600" dirty="0">
                <a:sym typeface="Wingdings" panose="05000000000000000000" pitchFamily="2" charset="2"/>
              </a:rPr>
              <a:t> Removing whitespace in front and back only</a:t>
            </a:r>
            <a:r>
              <a:rPr lang="en-US" sz="2600" dirty="0" smtClean="0">
                <a:sym typeface="Wingdings" panose="05000000000000000000" pitchFamily="2" charset="2"/>
              </a:rPr>
              <a:t>.</a:t>
            </a:r>
            <a:endParaRPr lang="en-US" sz="2600" dirty="0"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600" dirty="0" err="1">
                <a:sym typeface="Wingdings" panose="05000000000000000000" pitchFamily="2" charset="2"/>
              </a:rPr>
              <a:t>Name.split</a:t>
            </a:r>
            <a:r>
              <a:rPr lang="en-US" sz="2600" dirty="0">
                <a:sym typeface="Wingdings" panose="05000000000000000000" pitchFamily="2" charset="2"/>
              </a:rPr>
              <a:t>(“ ”)    splits the words with space</a:t>
            </a:r>
            <a:r>
              <a:rPr lang="en-US" sz="2600" dirty="0" smtClean="0">
                <a:sym typeface="Wingdings" panose="05000000000000000000" pitchFamily="2" charset="2"/>
              </a:rPr>
              <a:t>.</a:t>
            </a:r>
            <a:endParaRPr lang="en-US" sz="26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600" dirty="0" err="1" smtClean="0"/>
              <a:t>Name.title</a:t>
            </a:r>
            <a:r>
              <a:rPr lang="en-US" sz="2600" dirty="0" smtClean="0"/>
              <a:t>()   </a:t>
            </a:r>
            <a:r>
              <a:rPr lang="en-US" sz="2600" dirty="0" smtClean="0">
                <a:sym typeface="Wingdings" panose="05000000000000000000" pitchFamily="2" charset="2"/>
              </a:rPr>
              <a:t> Converts every word first character will be capital.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600" dirty="0" err="1" smtClean="0"/>
              <a:t>Name.swapcases</a:t>
            </a:r>
            <a:r>
              <a:rPr lang="en-US" sz="2600" dirty="0" smtClean="0"/>
              <a:t>()   </a:t>
            </a:r>
            <a:r>
              <a:rPr lang="en-US" sz="2600" dirty="0" smtClean="0">
                <a:sym typeface="Wingdings" panose="05000000000000000000" pitchFamily="2" charset="2"/>
              </a:rPr>
              <a:t> swap the cases of all </a:t>
            </a:r>
            <a:r>
              <a:rPr lang="en-US" sz="2600" dirty="0" err="1" smtClean="0">
                <a:sym typeface="Wingdings" panose="05000000000000000000" pitchFamily="2" charset="2"/>
              </a:rPr>
              <a:t>charater</a:t>
            </a:r>
            <a:r>
              <a:rPr lang="en-US" sz="2600" dirty="0" smtClean="0">
                <a:sym typeface="Wingdings" panose="05000000000000000000" pitchFamily="2" charset="2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600" dirty="0" smtClean="0">
                <a:sym typeface="Wingdings" panose="05000000000000000000" pitchFamily="2" charset="2"/>
              </a:rPr>
              <a:t>Find()     To find the particular word or character.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600" dirty="0" smtClean="0">
                <a:sym typeface="Wingdings" panose="05000000000000000000" pitchFamily="2" charset="2"/>
              </a:rPr>
              <a:t>Index()    It will give index position of </a:t>
            </a:r>
            <a:r>
              <a:rPr lang="en-US" sz="2600" dirty="0" smtClean="0">
                <a:sym typeface="Wingdings" panose="05000000000000000000" pitchFamily="2" charset="2"/>
              </a:rPr>
              <a:t>particular </a:t>
            </a:r>
            <a:r>
              <a:rPr lang="en-US" sz="2600" dirty="0" smtClean="0">
                <a:sym typeface="Wingdings" panose="05000000000000000000" pitchFamily="2" charset="2"/>
              </a:rPr>
              <a:t>char or word.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600" dirty="0" err="1" smtClean="0">
                <a:sym typeface="Wingdings" panose="05000000000000000000" pitchFamily="2" charset="2"/>
              </a:rPr>
              <a:t>Isalnum</a:t>
            </a:r>
            <a:r>
              <a:rPr lang="en-US" sz="2600" dirty="0" smtClean="0">
                <a:sym typeface="Wingdings" panose="05000000000000000000" pitchFamily="2" charset="2"/>
              </a:rPr>
              <a:t>()     It will check all char are only alphabets or numbers.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600" dirty="0" err="1" smtClean="0"/>
              <a:t>Startswith</a:t>
            </a:r>
            <a:r>
              <a:rPr lang="en-US" sz="2600" dirty="0" smtClean="0"/>
              <a:t>()   </a:t>
            </a:r>
            <a:r>
              <a:rPr lang="en-US" sz="2600" dirty="0" smtClean="0">
                <a:sym typeface="Wingdings" panose="05000000000000000000" pitchFamily="2" charset="2"/>
              </a:rPr>
              <a:t> To check starting of a string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600" dirty="0" err="1" smtClean="0">
                <a:sym typeface="Wingdings" panose="05000000000000000000" pitchFamily="2" charset="2"/>
              </a:rPr>
              <a:t>Endswith</a:t>
            </a:r>
            <a:r>
              <a:rPr lang="en-US" sz="2600" dirty="0" smtClean="0">
                <a:sym typeface="Wingdings" panose="05000000000000000000" pitchFamily="2" charset="2"/>
              </a:rPr>
              <a:t>()     To check ending of a string.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808541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210" y="702156"/>
            <a:ext cx="10735597" cy="917638"/>
          </a:xfrm>
        </p:spPr>
        <p:txBody>
          <a:bodyPr/>
          <a:lstStyle/>
          <a:p>
            <a:r>
              <a:rPr lang="en-US" b="1" dirty="0" smtClean="0"/>
              <a:t>Python List: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342" y="2181497"/>
            <a:ext cx="8980818" cy="4206240"/>
          </a:xfrm>
        </p:spPr>
        <p:txBody>
          <a:bodyPr>
            <a:normAutofit/>
          </a:bodyPr>
          <a:lstStyle/>
          <a:p>
            <a:r>
              <a:rPr lang="en-US" sz="2400" dirty="0"/>
              <a:t>Lists are </a:t>
            </a:r>
            <a:r>
              <a:rPr lang="en-US" sz="2400" b="1" dirty="0"/>
              <a:t>ordered collection of data items</a:t>
            </a:r>
            <a:r>
              <a:rPr lang="en-US" sz="2400" dirty="0"/>
              <a:t>.</a:t>
            </a:r>
          </a:p>
          <a:p>
            <a:r>
              <a:rPr lang="en-US" sz="2400" dirty="0"/>
              <a:t>They store multiple items in a </a:t>
            </a:r>
            <a:r>
              <a:rPr lang="en-US" sz="2400" b="1" dirty="0"/>
              <a:t>single variable</a:t>
            </a:r>
            <a:r>
              <a:rPr lang="en-US" sz="2400" dirty="0"/>
              <a:t>.</a:t>
            </a:r>
          </a:p>
          <a:p>
            <a:r>
              <a:rPr lang="en-US" sz="2400" dirty="0" smtClean="0"/>
              <a:t>Lists </a:t>
            </a:r>
            <a:r>
              <a:rPr lang="en-US" sz="2400" dirty="0"/>
              <a:t>are </a:t>
            </a:r>
            <a:r>
              <a:rPr lang="en-US" sz="2400" b="1" dirty="0"/>
              <a:t>changeable</a:t>
            </a:r>
            <a:r>
              <a:rPr lang="en-US" sz="2400" dirty="0"/>
              <a:t> meaning we </a:t>
            </a:r>
            <a:r>
              <a:rPr lang="en-US" sz="2400" b="1" dirty="0"/>
              <a:t>can alter them </a:t>
            </a:r>
            <a:r>
              <a:rPr lang="en-US" sz="2400" dirty="0" smtClean="0"/>
              <a:t>after </a:t>
            </a:r>
            <a:r>
              <a:rPr lang="en-US" sz="2400" dirty="0"/>
              <a:t>creation</a:t>
            </a:r>
            <a:r>
              <a:rPr lang="en-US" sz="2400" dirty="0" smtClean="0"/>
              <a:t>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 smtClean="0"/>
              <a:t>    Example:</a:t>
            </a:r>
          </a:p>
          <a:p>
            <a:pPr marL="1594000" lvl="5" indent="0">
              <a:buNone/>
            </a:pPr>
            <a:r>
              <a:rPr lang="en-US" sz="1800" dirty="0"/>
              <a:t>		</a:t>
            </a:r>
            <a:r>
              <a:rPr lang="en-US" sz="2400" dirty="0" smtClean="0"/>
              <a:t>list1 </a:t>
            </a:r>
            <a:r>
              <a:rPr lang="en-US" sz="2400" dirty="0"/>
              <a:t>= [1,2,2,3,5,4,6]</a:t>
            </a:r>
          </a:p>
          <a:p>
            <a:pPr marL="1594000" lvl="5" indent="0">
              <a:buNone/>
            </a:pPr>
            <a:r>
              <a:rPr lang="en-US" sz="2400" dirty="0" smtClean="0"/>
              <a:t>		list2 </a:t>
            </a:r>
            <a:r>
              <a:rPr lang="en-US" sz="2400" dirty="0"/>
              <a:t>= ["Red", "Green", "Blue"]</a:t>
            </a:r>
          </a:p>
          <a:p>
            <a:pPr marL="1594000" lvl="5" indent="0">
              <a:buNone/>
            </a:pPr>
            <a:r>
              <a:rPr lang="en-US" sz="2400" dirty="0" smtClean="0"/>
              <a:t>		print(list1</a:t>
            </a:r>
            <a:r>
              <a:rPr lang="en-US" sz="2400" dirty="0"/>
              <a:t>)</a:t>
            </a:r>
          </a:p>
          <a:p>
            <a:pPr marL="1594000" lvl="5" indent="0">
              <a:buNone/>
            </a:pPr>
            <a:r>
              <a:rPr lang="en-US" sz="2400" dirty="0" smtClean="0"/>
              <a:t>		print(list2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55796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List methods: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0276" y="1945362"/>
            <a:ext cx="9111448" cy="461219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Append() </a:t>
            </a:r>
            <a:r>
              <a:rPr lang="en-US" sz="2400" dirty="0" smtClean="0">
                <a:sym typeface="Wingdings" panose="05000000000000000000" pitchFamily="2" charset="2"/>
              </a:rPr>
              <a:t> To add a data into the list.</a:t>
            </a:r>
            <a:endParaRPr lang="en-US" sz="2400" dirty="0">
              <a:sym typeface="Wingdings" panose="05000000000000000000" pitchFamily="2" charset="2"/>
            </a:endParaRPr>
          </a:p>
          <a:p>
            <a:r>
              <a:rPr lang="en-US" sz="2400" dirty="0" smtClean="0">
                <a:sym typeface="Wingdings" panose="05000000000000000000" pitchFamily="2" charset="2"/>
              </a:rPr>
              <a:t>Insert(index, value)   adding data with index positions.</a:t>
            </a:r>
          </a:p>
          <a:p>
            <a:r>
              <a:rPr lang="en-US" sz="2400" dirty="0">
                <a:sym typeface="Wingdings" panose="05000000000000000000" pitchFamily="2" charset="2"/>
              </a:rPr>
              <a:t>Extend()   adds an entire list or any other collection </a:t>
            </a:r>
            <a:r>
              <a:rPr lang="en-US" sz="2400" dirty="0" smtClean="0">
                <a:sym typeface="Wingdings" panose="05000000000000000000" pitchFamily="2" charset="2"/>
              </a:rPr>
              <a:t>datatype.</a:t>
            </a:r>
          </a:p>
          <a:p>
            <a:r>
              <a:rPr lang="en-US" sz="2400" dirty="0" smtClean="0">
                <a:sym typeface="Wingdings" panose="05000000000000000000" pitchFamily="2" charset="2"/>
              </a:rPr>
              <a:t>Pop()   It will remove top(</a:t>
            </a:r>
            <a:r>
              <a:rPr lang="en-US" sz="2400" dirty="0" err="1" smtClean="0">
                <a:sym typeface="Wingdings" panose="05000000000000000000" pitchFamily="2" charset="2"/>
              </a:rPr>
              <a:t>fisrt</a:t>
            </a:r>
            <a:r>
              <a:rPr lang="en-US" sz="2400" dirty="0" smtClean="0">
                <a:sym typeface="Wingdings" panose="05000000000000000000" pitchFamily="2" charset="2"/>
              </a:rPr>
              <a:t>) data in list.</a:t>
            </a:r>
          </a:p>
          <a:p>
            <a:r>
              <a:rPr lang="en-US" sz="2400" dirty="0" smtClean="0">
                <a:sym typeface="Wingdings" panose="05000000000000000000" pitchFamily="2" charset="2"/>
              </a:rPr>
              <a:t>Remove()   it will remove specific data in list.</a:t>
            </a:r>
          </a:p>
          <a:p>
            <a:r>
              <a:rPr lang="en-US" sz="2400" dirty="0" smtClean="0">
                <a:sym typeface="Wingdings" panose="05000000000000000000" pitchFamily="2" charset="2"/>
              </a:rPr>
              <a:t>Clear()    clear the items and Empty the list.</a:t>
            </a:r>
          </a:p>
          <a:p>
            <a:r>
              <a:rPr lang="en-US" sz="2400" dirty="0" smtClean="0">
                <a:sym typeface="Wingdings" panose="05000000000000000000" pitchFamily="2" charset="2"/>
              </a:rPr>
              <a:t>Sort()    arrange the data in ascending order.(sort(reverse=true))</a:t>
            </a:r>
            <a:endParaRPr lang="en-US" sz="2400" dirty="0">
              <a:sym typeface="Wingdings" panose="05000000000000000000" pitchFamily="2" charset="2"/>
            </a:endParaRPr>
          </a:p>
          <a:p>
            <a:r>
              <a:rPr lang="en-US" sz="2400" dirty="0" smtClean="0">
                <a:sym typeface="Wingdings" panose="05000000000000000000" pitchFamily="2" charset="2"/>
              </a:rPr>
              <a:t>Count()   </a:t>
            </a:r>
            <a:r>
              <a:rPr lang="en-US" sz="2400" dirty="0" err="1" smtClean="0">
                <a:sym typeface="Wingdings" panose="05000000000000000000" pitchFamily="2" charset="2"/>
              </a:rPr>
              <a:t>conts</a:t>
            </a:r>
            <a:r>
              <a:rPr lang="en-US" sz="2400" dirty="0" smtClean="0">
                <a:sym typeface="Wingdings" panose="05000000000000000000" pitchFamily="2" charset="2"/>
              </a:rPr>
              <a:t> the data length of an list.</a:t>
            </a:r>
          </a:p>
          <a:p>
            <a:r>
              <a:rPr lang="en-US" sz="2400" dirty="0" smtClean="0">
                <a:sym typeface="Wingdings" panose="05000000000000000000" pitchFamily="2" charset="2"/>
              </a:rPr>
              <a:t>Copy()   copy all the list item and we can store it in other list.</a:t>
            </a:r>
          </a:p>
        </p:txBody>
      </p:sp>
    </p:spTree>
    <p:extLst>
      <p:ext uri="{BB962C8B-B14F-4D97-AF65-F5344CB8AC3E}">
        <p14:creationId xmlns:p14="http://schemas.microsoft.com/office/powerpoint/2010/main" val="1225046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582" y="702156"/>
            <a:ext cx="10866225" cy="943764"/>
          </a:xfrm>
        </p:spPr>
        <p:txBody>
          <a:bodyPr/>
          <a:lstStyle/>
          <a:p>
            <a:r>
              <a:rPr lang="en-US" b="1" dirty="0" smtClean="0"/>
              <a:t>Python Tuples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9718" y="2024744"/>
            <a:ext cx="9215951" cy="4493622"/>
          </a:xfrm>
        </p:spPr>
        <p:txBody>
          <a:bodyPr>
            <a:normAutofit/>
          </a:bodyPr>
          <a:lstStyle/>
          <a:p>
            <a:r>
              <a:rPr lang="en-US" sz="2400" dirty="0"/>
              <a:t>Tuples are </a:t>
            </a:r>
            <a:r>
              <a:rPr lang="en-US" sz="2400" b="1" dirty="0"/>
              <a:t>ordered collection of data items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They </a:t>
            </a:r>
            <a:r>
              <a:rPr lang="en-US" sz="2400" dirty="0"/>
              <a:t>store multiple items in a </a:t>
            </a:r>
            <a:r>
              <a:rPr lang="en-US" sz="2400" b="1" dirty="0"/>
              <a:t>single variable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Tuples </a:t>
            </a:r>
            <a:r>
              <a:rPr lang="en-US" sz="2400" dirty="0"/>
              <a:t>are </a:t>
            </a:r>
            <a:r>
              <a:rPr lang="en-US" sz="2400" b="1" dirty="0"/>
              <a:t>unchangeable</a:t>
            </a:r>
            <a:r>
              <a:rPr lang="en-US" sz="2400" dirty="0"/>
              <a:t> meaning we can not alter them after creation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We can </a:t>
            </a:r>
            <a:r>
              <a:rPr lang="en-US" sz="2400" b="1" dirty="0" smtClean="0"/>
              <a:t>add one tuple in another </a:t>
            </a:r>
            <a:r>
              <a:rPr lang="en-US" sz="2400" dirty="0" smtClean="0"/>
              <a:t>tuple using + operator.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</a:t>
            </a:r>
            <a:r>
              <a:rPr lang="en-US" sz="2400" b="1" dirty="0" smtClean="0"/>
              <a:t> Example</a:t>
            </a:r>
            <a:r>
              <a:rPr lang="en-US" sz="2400" dirty="0"/>
              <a:t>: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			tup1 = ( 1, ‘a’, 3.25, 4, 5 )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			tup2 = ( “Apple”, “Banana”, “Orange” 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			print( tup1, tup2 )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89302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Manipulating Tuples: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8655" y="1972490"/>
            <a:ext cx="9912636" cy="4545875"/>
          </a:xfrm>
        </p:spPr>
        <p:txBody>
          <a:bodyPr>
            <a:normAutofit/>
          </a:bodyPr>
          <a:lstStyle/>
          <a:p>
            <a:r>
              <a:rPr lang="en-US" sz="2400" dirty="0"/>
              <a:t>Tuples are </a:t>
            </a:r>
            <a:r>
              <a:rPr lang="en-US" sz="2400" b="1" dirty="0"/>
              <a:t>immutable,</a:t>
            </a:r>
            <a:r>
              <a:rPr lang="en-US" sz="2400" dirty="0"/>
              <a:t> hence if you want to </a:t>
            </a:r>
            <a:r>
              <a:rPr lang="en-US" sz="2400" dirty="0" smtClean="0"/>
              <a:t>manipulate then </a:t>
            </a:r>
            <a:r>
              <a:rPr lang="en-US" sz="2400" dirty="0"/>
              <a:t>first you must convert the tuple to a list.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b="1" dirty="0" smtClean="0"/>
              <a:t>Example:</a:t>
            </a:r>
          </a:p>
          <a:p>
            <a:pPr marL="1894000" lvl="6" indent="0">
              <a:buNone/>
            </a:pPr>
            <a:r>
              <a:rPr lang="en-US" sz="2400" dirty="0" smtClean="0"/>
              <a:t>countries </a:t>
            </a:r>
            <a:r>
              <a:rPr lang="en-US" sz="2400" dirty="0"/>
              <a:t>= ("Spain", "Italy", "India", "England", "Germany")</a:t>
            </a:r>
          </a:p>
          <a:p>
            <a:pPr marL="1894000" lvl="6" indent="0">
              <a:buNone/>
            </a:pPr>
            <a:r>
              <a:rPr lang="en-US" sz="2400" dirty="0"/>
              <a:t>temp = </a:t>
            </a:r>
            <a:r>
              <a:rPr lang="en-US" sz="2400" b="1" dirty="0"/>
              <a:t>list(countries)</a:t>
            </a:r>
          </a:p>
          <a:p>
            <a:pPr marL="1894000" lvl="6" indent="0">
              <a:buNone/>
            </a:pPr>
            <a:r>
              <a:rPr lang="en-US" sz="2400" dirty="0" err="1"/>
              <a:t>temp.append</a:t>
            </a:r>
            <a:r>
              <a:rPr lang="en-US" sz="2400" dirty="0"/>
              <a:t>("Russia")       #add item </a:t>
            </a:r>
          </a:p>
          <a:p>
            <a:pPr marL="1894000" lvl="6" indent="0">
              <a:buNone/>
            </a:pPr>
            <a:r>
              <a:rPr lang="en-US" sz="2400" dirty="0" err="1"/>
              <a:t>temp.pop</a:t>
            </a:r>
            <a:r>
              <a:rPr lang="en-US" sz="2400" dirty="0"/>
              <a:t>(3)                 #remove </a:t>
            </a:r>
            <a:r>
              <a:rPr lang="en-US" sz="2400" dirty="0" smtClean="0"/>
              <a:t>item</a:t>
            </a:r>
          </a:p>
          <a:p>
            <a:pPr marL="1894000" lvl="6" indent="0">
              <a:buNone/>
            </a:pPr>
            <a:r>
              <a:rPr lang="en-US" sz="2400" dirty="0" smtClean="0"/>
              <a:t>countries </a:t>
            </a:r>
            <a:r>
              <a:rPr lang="en-US" sz="2400" dirty="0"/>
              <a:t>= </a:t>
            </a:r>
            <a:r>
              <a:rPr lang="en-US" sz="2400" b="1" dirty="0"/>
              <a:t>tuple(temp)</a:t>
            </a:r>
          </a:p>
          <a:p>
            <a:pPr marL="1894000" lvl="6" indent="0">
              <a:buNone/>
            </a:pPr>
            <a:r>
              <a:rPr lang="en-US" sz="2400" dirty="0"/>
              <a:t>print(countries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72387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456" y="702156"/>
            <a:ext cx="10892351" cy="956827"/>
          </a:xfrm>
        </p:spPr>
        <p:txBody>
          <a:bodyPr/>
          <a:lstStyle/>
          <a:p>
            <a:r>
              <a:rPr lang="en-US" b="1" dirty="0" smtClean="0"/>
              <a:t>Unpack tuples: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7406" y="1998618"/>
            <a:ext cx="9125444" cy="448056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Unpacking is the process of </a:t>
            </a:r>
            <a:r>
              <a:rPr lang="en-US" sz="2400" b="1" dirty="0"/>
              <a:t>assigning the tuple items as values to variables</a:t>
            </a:r>
            <a:r>
              <a:rPr lang="en-US" sz="2400" b="1" dirty="0" smtClean="0"/>
              <a:t>.</a:t>
            </a:r>
          </a:p>
          <a:p>
            <a:r>
              <a:rPr lang="en-US" sz="2400" dirty="0"/>
              <a:t>You can </a:t>
            </a:r>
            <a:r>
              <a:rPr lang="en-US" sz="2400" b="1" dirty="0"/>
              <a:t>add an * </a:t>
            </a:r>
            <a:r>
              <a:rPr lang="en-US" sz="2400" dirty="0"/>
              <a:t>to one of the variables and </a:t>
            </a:r>
            <a:r>
              <a:rPr lang="en-US" sz="2400" b="1" dirty="0"/>
              <a:t>depending upon the position of variable</a:t>
            </a:r>
            <a:r>
              <a:rPr lang="en-US" sz="2400" dirty="0"/>
              <a:t> and number of items, </a:t>
            </a:r>
            <a:r>
              <a:rPr lang="en-US" sz="2400" b="1" dirty="0"/>
              <a:t>python matches variables to values and assigns it to the variables.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/>
              <a:t> </a:t>
            </a:r>
            <a:r>
              <a:rPr lang="en-US" sz="2400" b="1" dirty="0" smtClean="0"/>
              <a:t>   Example:</a:t>
            </a:r>
          </a:p>
          <a:p>
            <a:pPr marL="1894000" lvl="6" indent="0">
              <a:buNone/>
            </a:pPr>
            <a:r>
              <a:rPr lang="en-US" sz="2400" dirty="0" smtClean="0"/>
              <a:t>info </a:t>
            </a:r>
            <a:r>
              <a:rPr lang="en-US" sz="2400" dirty="0"/>
              <a:t>= ("Marcus", 20, "MIT")</a:t>
            </a:r>
          </a:p>
          <a:p>
            <a:pPr marL="1894000" lvl="6" indent="0">
              <a:buNone/>
            </a:pPr>
            <a:r>
              <a:rPr lang="en-US" sz="2400" b="1" dirty="0"/>
              <a:t>(name, age, university) = </a:t>
            </a:r>
            <a:r>
              <a:rPr lang="en-US" sz="2400" b="1" dirty="0" smtClean="0"/>
              <a:t>info</a:t>
            </a:r>
          </a:p>
          <a:p>
            <a:pPr marL="1894000" lvl="6" indent="0">
              <a:buNone/>
            </a:pPr>
            <a:r>
              <a:rPr lang="en-US" sz="2400" dirty="0"/>
              <a:t>fauna = ("cat", "dog", "horse", "parrot", "salmon")</a:t>
            </a:r>
          </a:p>
          <a:p>
            <a:pPr marL="1894000" lvl="6" indent="0">
              <a:buNone/>
            </a:pPr>
            <a:r>
              <a:rPr lang="en-US" sz="2400" b="1" dirty="0"/>
              <a:t>(*animals, bird, fish) = </a:t>
            </a:r>
            <a:r>
              <a:rPr lang="en-US" sz="2400" b="1" dirty="0" smtClean="0"/>
              <a:t>fauna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313977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Python set: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8472" y="1998617"/>
            <a:ext cx="9072260" cy="4402183"/>
          </a:xfrm>
        </p:spPr>
        <p:txBody>
          <a:bodyPr>
            <a:normAutofit/>
          </a:bodyPr>
          <a:lstStyle/>
          <a:p>
            <a:r>
              <a:rPr lang="en-US" sz="2400" dirty="0"/>
              <a:t>Sets are </a:t>
            </a:r>
            <a:r>
              <a:rPr lang="en-US" sz="2400" b="1" dirty="0"/>
              <a:t>unordered collection of data </a:t>
            </a:r>
            <a:r>
              <a:rPr lang="en-US" sz="2400" dirty="0"/>
              <a:t>items. </a:t>
            </a:r>
            <a:endParaRPr lang="en-US" sz="2400" dirty="0" smtClean="0"/>
          </a:p>
          <a:p>
            <a:r>
              <a:rPr lang="en-US" sz="2400" dirty="0" smtClean="0"/>
              <a:t>Sets </a:t>
            </a:r>
            <a:r>
              <a:rPr lang="en-US" sz="2400" dirty="0"/>
              <a:t>are </a:t>
            </a:r>
            <a:r>
              <a:rPr lang="en-US" sz="2400" b="1" dirty="0"/>
              <a:t>unchangeable,</a:t>
            </a:r>
            <a:r>
              <a:rPr lang="en-US" sz="2400" dirty="0"/>
              <a:t> meaning you </a:t>
            </a:r>
            <a:r>
              <a:rPr lang="en-US" sz="2400" b="1" dirty="0"/>
              <a:t>cannot change </a:t>
            </a:r>
            <a:r>
              <a:rPr lang="en-US" sz="2400" dirty="0"/>
              <a:t>items of the set once created. </a:t>
            </a:r>
            <a:endParaRPr lang="en-US" sz="2400" dirty="0" smtClean="0"/>
          </a:p>
          <a:p>
            <a:r>
              <a:rPr lang="en-US" sz="2400" dirty="0" smtClean="0"/>
              <a:t>Sets </a:t>
            </a:r>
            <a:r>
              <a:rPr lang="en-US" sz="2400" b="1" dirty="0"/>
              <a:t>do not contain duplicate items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b="1" dirty="0" smtClean="0"/>
              <a:t>Example:</a:t>
            </a:r>
          </a:p>
          <a:p>
            <a:pPr marL="0" indent="0">
              <a:buNone/>
            </a:pPr>
            <a:r>
              <a:rPr lang="en-US" sz="2400" dirty="0"/>
              <a:t>				info = {"Carla", 19, False, 5.9, 19}</a:t>
            </a:r>
          </a:p>
          <a:p>
            <a:pPr marL="0" indent="0">
              <a:buNone/>
            </a:pPr>
            <a:r>
              <a:rPr lang="en-US" sz="2400" dirty="0" smtClean="0"/>
              <a:t>				print(info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6045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Set operations: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6253" y="1841863"/>
            <a:ext cx="9493484" cy="45720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Add()   </a:t>
            </a:r>
            <a:r>
              <a:rPr lang="en-US" sz="2400" dirty="0" smtClean="0">
                <a:sym typeface="Wingdings" panose="05000000000000000000" pitchFamily="2" charset="2"/>
              </a:rPr>
              <a:t>  To add item in set.</a:t>
            </a:r>
          </a:p>
          <a:p>
            <a:r>
              <a:rPr lang="en-US" sz="2400" dirty="0" smtClean="0">
                <a:sym typeface="Wingdings" panose="05000000000000000000" pitchFamily="2" charset="2"/>
              </a:rPr>
              <a:t>Update()     To add another set or collection data in existing set. </a:t>
            </a:r>
          </a:p>
          <a:p>
            <a:r>
              <a:rPr lang="en-US" sz="2400" dirty="0" smtClean="0">
                <a:sym typeface="Wingdings" panose="05000000000000000000" pitchFamily="2" charset="2"/>
              </a:rPr>
              <a:t>Remove()   delete a particular item from set.</a:t>
            </a:r>
          </a:p>
          <a:p>
            <a:r>
              <a:rPr lang="en-US" sz="2400" dirty="0" smtClean="0">
                <a:sym typeface="Wingdings" panose="05000000000000000000" pitchFamily="2" charset="2"/>
              </a:rPr>
              <a:t>Discard()  delete the item if it is present if not then doesn’t give error.</a:t>
            </a:r>
          </a:p>
          <a:p>
            <a:r>
              <a:rPr lang="en-US" sz="2400" dirty="0" smtClean="0">
                <a:sym typeface="Wingdings" panose="05000000000000000000" pitchFamily="2" charset="2"/>
              </a:rPr>
              <a:t>Union()   to combine two set as one.</a:t>
            </a:r>
          </a:p>
          <a:p>
            <a:r>
              <a:rPr lang="en-US" sz="2400" dirty="0" err="1">
                <a:sym typeface="Wingdings" panose="05000000000000000000" pitchFamily="2" charset="2"/>
              </a:rPr>
              <a:t>isdisjoint</a:t>
            </a:r>
            <a:r>
              <a:rPr lang="en-US" sz="2400" dirty="0">
                <a:sym typeface="Wingdings" panose="05000000000000000000" pitchFamily="2" charset="2"/>
              </a:rPr>
              <a:t>() </a:t>
            </a:r>
            <a:r>
              <a:rPr lang="en-US" sz="2400" dirty="0" smtClean="0">
                <a:sym typeface="Wingdings" panose="05000000000000000000" pitchFamily="2" charset="2"/>
              </a:rPr>
              <a:t> </a:t>
            </a:r>
            <a:r>
              <a:rPr lang="en-US" sz="2400" dirty="0">
                <a:sym typeface="Wingdings" panose="05000000000000000000" pitchFamily="2" charset="2"/>
              </a:rPr>
              <a:t>checks if items of given set are present in another set</a:t>
            </a:r>
          </a:p>
          <a:p>
            <a:r>
              <a:rPr lang="en-US" sz="2400" dirty="0" err="1">
                <a:sym typeface="Wingdings" panose="05000000000000000000" pitchFamily="2" charset="2"/>
              </a:rPr>
              <a:t>issuperset</a:t>
            </a:r>
            <a:r>
              <a:rPr lang="en-US" sz="2400" dirty="0">
                <a:sym typeface="Wingdings" panose="05000000000000000000" pitchFamily="2" charset="2"/>
              </a:rPr>
              <a:t>() </a:t>
            </a:r>
            <a:r>
              <a:rPr lang="en-US" sz="2400" dirty="0" smtClean="0">
                <a:sym typeface="Wingdings" panose="05000000000000000000" pitchFamily="2" charset="2"/>
              </a:rPr>
              <a:t> </a:t>
            </a:r>
            <a:r>
              <a:rPr lang="en-US" sz="2400" dirty="0">
                <a:sym typeface="Wingdings" panose="05000000000000000000" pitchFamily="2" charset="2"/>
              </a:rPr>
              <a:t>checks if all the items of a particular set are present in the </a:t>
            </a:r>
            <a:r>
              <a:rPr lang="en-US" sz="2400" dirty="0" smtClean="0">
                <a:sym typeface="Wingdings" panose="05000000000000000000" pitchFamily="2" charset="2"/>
              </a:rPr>
              <a:t>original(super) set. [</a:t>
            </a:r>
            <a:r>
              <a:rPr lang="en-US" sz="2400" dirty="0" err="1" smtClean="0">
                <a:sym typeface="Wingdings" panose="05000000000000000000" pitchFamily="2" charset="2"/>
              </a:rPr>
              <a:t>issubset</a:t>
            </a:r>
            <a:r>
              <a:rPr lang="en-US" sz="2400" dirty="0" smtClean="0">
                <a:sym typeface="Wingdings" panose="05000000000000000000" pitchFamily="2" charset="2"/>
              </a:rPr>
              <a:t>()   checks sub set]</a:t>
            </a:r>
            <a:endParaRPr lang="en-US" sz="24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88458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Join sets: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6990" y="1985554"/>
            <a:ext cx="9438019" cy="4519749"/>
          </a:xfrm>
        </p:spPr>
        <p:txBody>
          <a:bodyPr>
            <a:normAutofit/>
          </a:bodyPr>
          <a:lstStyle/>
          <a:p>
            <a:r>
              <a:rPr lang="en-US" sz="2400" b="1" dirty="0"/>
              <a:t>Intersection() 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prints </a:t>
            </a:r>
            <a:r>
              <a:rPr lang="en-US" sz="2400" b="1" dirty="0"/>
              <a:t>only items that are similar to both </a:t>
            </a:r>
            <a:r>
              <a:rPr lang="en-US" sz="2400" dirty="0"/>
              <a:t>the sets. returns a new set.</a:t>
            </a:r>
          </a:p>
          <a:p>
            <a:r>
              <a:rPr lang="en-US" sz="2400" b="1" dirty="0" err="1"/>
              <a:t>Intersection_update</a:t>
            </a:r>
            <a:r>
              <a:rPr lang="en-US" sz="2400" b="1" dirty="0"/>
              <a:t>() </a:t>
            </a:r>
            <a:r>
              <a:rPr lang="en-US" sz="2400" dirty="0">
                <a:sym typeface="Wingdings" panose="05000000000000000000" pitchFamily="2" charset="2"/>
              </a:rPr>
              <a:t> does the same but</a:t>
            </a:r>
            <a:r>
              <a:rPr lang="en-US" sz="2400" dirty="0"/>
              <a:t> </a:t>
            </a:r>
            <a:r>
              <a:rPr lang="en-US" sz="2400" b="1" dirty="0"/>
              <a:t>updates into the existing set from another set.</a:t>
            </a:r>
          </a:p>
          <a:p>
            <a:r>
              <a:rPr lang="en-US" sz="2400" b="1" dirty="0" err="1" smtClean="0"/>
              <a:t>symmetric_difference</a:t>
            </a:r>
            <a:r>
              <a:rPr lang="en-US" sz="2400" b="1" dirty="0"/>
              <a:t>() </a:t>
            </a:r>
            <a:r>
              <a:rPr lang="en-US" sz="2400" dirty="0" smtClean="0">
                <a:sym typeface="Wingdings" panose="05000000000000000000" pitchFamily="2" charset="2"/>
              </a:rPr>
              <a:t> </a:t>
            </a:r>
            <a:r>
              <a:rPr lang="en-US" sz="2400" dirty="0"/>
              <a:t>prints </a:t>
            </a:r>
            <a:r>
              <a:rPr lang="en-US" sz="2400" b="1" dirty="0"/>
              <a:t>only items that are not similar to both the </a:t>
            </a:r>
            <a:r>
              <a:rPr lang="en-US" sz="2400" b="1" dirty="0" smtClean="0"/>
              <a:t>sets</a:t>
            </a:r>
            <a:r>
              <a:rPr lang="en-US" sz="2400" dirty="0" smtClean="0"/>
              <a:t> and returns a new set.</a:t>
            </a:r>
          </a:p>
          <a:p>
            <a:r>
              <a:rPr lang="en-US" sz="2400" b="1" dirty="0" err="1" smtClean="0"/>
              <a:t>symmetric_difference_update</a:t>
            </a:r>
            <a:r>
              <a:rPr lang="en-US" sz="2400" b="1" dirty="0" smtClean="0"/>
              <a:t>()  </a:t>
            </a:r>
            <a:r>
              <a:rPr lang="en-US" sz="2400" b="1" dirty="0" smtClean="0">
                <a:sym typeface="Wingdings" panose="05000000000000000000" pitchFamily="2" charset="2"/>
              </a:rPr>
              <a:t></a:t>
            </a:r>
            <a:r>
              <a:rPr lang="en-US" sz="2400" b="1" dirty="0" smtClean="0"/>
              <a:t> same </a:t>
            </a:r>
            <a:r>
              <a:rPr lang="en-US" sz="2400" dirty="0" smtClean="0"/>
              <a:t>and </a:t>
            </a:r>
            <a:r>
              <a:rPr lang="en-US" sz="2400" b="1" dirty="0" smtClean="0"/>
              <a:t>updates </a:t>
            </a:r>
            <a:r>
              <a:rPr lang="en-US" sz="2400" b="1" dirty="0"/>
              <a:t>into the existing </a:t>
            </a:r>
            <a:r>
              <a:rPr lang="en-US" sz="2400" dirty="0"/>
              <a:t>set from another set</a:t>
            </a:r>
            <a:r>
              <a:rPr lang="en-US" sz="2400" dirty="0" smtClean="0"/>
              <a:t>.</a:t>
            </a:r>
          </a:p>
          <a:p>
            <a:r>
              <a:rPr lang="en-US" sz="2400" b="1" dirty="0"/>
              <a:t>difference() and </a:t>
            </a:r>
            <a:r>
              <a:rPr lang="en-US" sz="2400" b="1" dirty="0" err="1"/>
              <a:t>difference_update</a:t>
            </a:r>
            <a:r>
              <a:rPr lang="en-US" sz="2400" b="1" dirty="0"/>
              <a:t>() </a:t>
            </a:r>
            <a:r>
              <a:rPr lang="en-US" sz="2400" dirty="0"/>
              <a:t>methods </a:t>
            </a:r>
            <a:r>
              <a:rPr lang="en-US" sz="2400" b="1" dirty="0"/>
              <a:t>prints only items </a:t>
            </a:r>
            <a:r>
              <a:rPr lang="en-US" sz="2400" dirty="0"/>
              <a:t>that are </a:t>
            </a:r>
            <a:r>
              <a:rPr lang="en-US" sz="2400" b="1" dirty="0"/>
              <a:t>only present in the original set </a:t>
            </a:r>
            <a:r>
              <a:rPr lang="en-US" sz="2400" dirty="0"/>
              <a:t>and not in both the sets.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56193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02156"/>
            <a:ext cx="10879288" cy="969890"/>
          </a:xfrm>
        </p:spPr>
        <p:txBody>
          <a:bodyPr/>
          <a:lstStyle/>
          <a:p>
            <a:r>
              <a:rPr lang="en-US" b="1" dirty="0" smtClean="0"/>
              <a:t>Python Dictionaries: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0563" y="1841862"/>
            <a:ext cx="9601201" cy="4924697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Dictionaries are </a:t>
            </a:r>
            <a:r>
              <a:rPr lang="en-US" sz="2400" b="1" dirty="0"/>
              <a:t>ordered collection of data </a:t>
            </a:r>
            <a:r>
              <a:rPr lang="en-US" sz="2400" dirty="0"/>
              <a:t>items</a:t>
            </a:r>
            <a:r>
              <a:rPr lang="en-US" sz="2400" dirty="0" smtClean="0"/>
              <a:t>. </a:t>
            </a:r>
          </a:p>
          <a:p>
            <a:r>
              <a:rPr lang="en-US" sz="2400" dirty="0" smtClean="0"/>
              <a:t>Dictionaries </a:t>
            </a:r>
            <a:r>
              <a:rPr lang="en-US" sz="2400" dirty="0"/>
              <a:t>items are </a:t>
            </a:r>
            <a:r>
              <a:rPr lang="en-US" sz="2400" b="1" dirty="0"/>
              <a:t>key-value pairs</a:t>
            </a:r>
            <a:r>
              <a:rPr lang="en-US" sz="2400" dirty="0"/>
              <a:t> that are separated by commas and enclosed within curly brackets </a:t>
            </a:r>
            <a:r>
              <a:rPr lang="en-US" sz="2400" dirty="0" smtClean="0"/>
              <a:t>{}.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b="1" dirty="0" smtClean="0"/>
              <a:t>Example:</a:t>
            </a:r>
          </a:p>
          <a:p>
            <a:pPr marL="0" indent="0">
              <a:buNone/>
            </a:pPr>
            <a:r>
              <a:rPr lang="en-US" sz="2400" dirty="0"/>
              <a:t>				 info = {'</a:t>
            </a:r>
            <a:r>
              <a:rPr lang="en-US" sz="2400" dirty="0" err="1"/>
              <a:t>name':'Karan</a:t>
            </a:r>
            <a:r>
              <a:rPr lang="en-US" sz="2400" dirty="0"/>
              <a:t>', 'age':19, '</a:t>
            </a:r>
            <a:r>
              <a:rPr lang="en-US" sz="2400" dirty="0" err="1"/>
              <a:t>eligible':True</a:t>
            </a:r>
            <a:r>
              <a:rPr lang="en-US" sz="2400" dirty="0"/>
              <a:t>}</a:t>
            </a:r>
          </a:p>
          <a:p>
            <a:pPr marL="0" indent="0">
              <a:buNone/>
            </a:pPr>
            <a:r>
              <a:rPr lang="en-US" sz="2400" dirty="0" smtClean="0"/>
              <a:t>				 print(info)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b="1" dirty="0" smtClean="0"/>
              <a:t>Methods:</a:t>
            </a:r>
          </a:p>
          <a:p>
            <a:pPr marL="0" indent="0">
              <a:buNone/>
            </a:pPr>
            <a:r>
              <a:rPr lang="en-US" sz="2400" b="1" dirty="0"/>
              <a:t>	</a:t>
            </a:r>
            <a:r>
              <a:rPr lang="en-US" sz="2400" b="1" dirty="0" smtClean="0"/>
              <a:t>			 </a:t>
            </a:r>
            <a:r>
              <a:rPr lang="en-US" sz="2400" dirty="0" err="1" smtClean="0"/>
              <a:t>infor.values</a:t>
            </a:r>
            <a:r>
              <a:rPr lang="en-US" sz="2400" dirty="0" smtClean="0"/>
              <a:t>()  </a:t>
            </a:r>
            <a:r>
              <a:rPr lang="en-US" sz="2400" dirty="0" smtClean="0">
                <a:sym typeface="Wingdings" panose="05000000000000000000" pitchFamily="2" charset="2"/>
              </a:rPr>
              <a:t> only prints values.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dirty="0" smtClean="0">
                <a:sym typeface="Wingdings" panose="05000000000000000000" pitchFamily="2" charset="2"/>
              </a:rPr>
              <a:t>			 </a:t>
            </a:r>
            <a:r>
              <a:rPr lang="en-US" sz="2400" dirty="0" err="1" smtClean="0">
                <a:sym typeface="Wingdings" panose="05000000000000000000" pitchFamily="2" charset="2"/>
              </a:rPr>
              <a:t>info.keys</a:t>
            </a:r>
            <a:r>
              <a:rPr lang="en-US" sz="2400" dirty="0" smtClean="0">
                <a:sym typeface="Wingdings" panose="05000000000000000000" pitchFamily="2" charset="2"/>
              </a:rPr>
              <a:t>()    only key prints.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dirty="0" smtClean="0">
                <a:sym typeface="Wingdings" panose="05000000000000000000" pitchFamily="2" charset="2"/>
              </a:rPr>
              <a:t>			 </a:t>
            </a:r>
            <a:r>
              <a:rPr lang="en-US" sz="2400" dirty="0" err="1" smtClean="0">
                <a:sym typeface="Wingdings" panose="05000000000000000000" pitchFamily="2" charset="2"/>
              </a:rPr>
              <a:t>info.items</a:t>
            </a:r>
            <a:r>
              <a:rPr lang="en-US" sz="2400" dirty="0" smtClean="0">
                <a:sym typeface="Wingdings" panose="05000000000000000000" pitchFamily="2" charset="2"/>
              </a:rPr>
              <a:t>()   key-</a:t>
            </a:r>
            <a:r>
              <a:rPr lang="en-US" sz="2400" dirty="0" err="1" smtClean="0">
                <a:sym typeface="Wingdings" panose="05000000000000000000" pitchFamily="2" charset="2"/>
              </a:rPr>
              <a:t>vaue</a:t>
            </a:r>
            <a:r>
              <a:rPr lang="en-US" sz="2400" dirty="0" smtClean="0">
                <a:sym typeface="Wingdings" panose="05000000000000000000" pitchFamily="2" charset="2"/>
              </a:rPr>
              <a:t> pair prints.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827738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Dictionary methods: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5108" y="1933303"/>
            <a:ext cx="9126583" cy="461118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Info[“key”] = value  </a:t>
            </a:r>
            <a:r>
              <a:rPr lang="en-US" sz="2400" dirty="0" smtClean="0">
                <a:sym typeface="Wingdings" panose="05000000000000000000" pitchFamily="2" charset="2"/>
              </a:rPr>
              <a:t> adding item in dictionary.</a:t>
            </a:r>
          </a:p>
          <a:p>
            <a:r>
              <a:rPr lang="en-US" sz="2400" dirty="0" smtClean="0"/>
              <a:t>Update({ key: value})  </a:t>
            </a:r>
            <a:r>
              <a:rPr lang="en-US" sz="2400" dirty="0" smtClean="0">
                <a:sym typeface="Wingdings" panose="05000000000000000000" pitchFamily="2" charset="2"/>
              </a:rPr>
              <a:t> adding item using update.</a:t>
            </a:r>
          </a:p>
          <a:p>
            <a:r>
              <a:rPr lang="en-US" sz="2400" dirty="0" smtClean="0">
                <a:sym typeface="Wingdings" panose="05000000000000000000" pitchFamily="2" charset="2"/>
              </a:rPr>
              <a:t>Clear()            deleting all items in dictionary.</a:t>
            </a:r>
          </a:p>
          <a:p>
            <a:r>
              <a:rPr lang="en-US" sz="2400" dirty="0" smtClean="0">
                <a:sym typeface="Wingdings" panose="05000000000000000000" pitchFamily="2" charset="2"/>
              </a:rPr>
              <a:t>Pop(key)         delete the item using key.</a:t>
            </a:r>
          </a:p>
          <a:p>
            <a:r>
              <a:rPr lang="en-US" sz="2400" dirty="0" err="1" smtClean="0">
                <a:sym typeface="Wingdings" panose="05000000000000000000" pitchFamily="2" charset="2"/>
              </a:rPr>
              <a:t>Popitem</a:t>
            </a:r>
            <a:r>
              <a:rPr lang="en-US" sz="2400" dirty="0" smtClean="0">
                <a:sym typeface="Wingdings" panose="05000000000000000000" pitchFamily="2" charset="2"/>
              </a:rPr>
              <a:t>()       delete the last key-value pair from dictionary.</a:t>
            </a:r>
          </a:p>
          <a:p>
            <a:r>
              <a:rPr lang="en-US" sz="2400" dirty="0" smtClean="0">
                <a:sym typeface="Wingdings" panose="05000000000000000000" pitchFamily="2" charset="2"/>
              </a:rPr>
              <a:t>Del info[key]   delete the data of key passed.</a:t>
            </a:r>
          </a:p>
          <a:p>
            <a:r>
              <a:rPr lang="en-US" sz="2400" dirty="0" smtClean="0">
                <a:sym typeface="Wingdings" panose="05000000000000000000" pitchFamily="2" charset="2"/>
              </a:rPr>
              <a:t>Del info        delete the entire dictionary. </a:t>
            </a:r>
          </a:p>
          <a:p>
            <a:r>
              <a:rPr lang="en-US" sz="2400" dirty="0" smtClean="0">
                <a:sym typeface="Wingdings" panose="05000000000000000000" pitchFamily="2" charset="2"/>
              </a:rPr>
              <a:t>Copy()         copy all the data from dictionary.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881160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Conditional Statements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9164" y="1907177"/>
            <a:ext cx="9117876" cy="466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093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330" y="702156"/>
            <a:ext cx="10918477" cy="956827"/>
          </a:xfrm>
        </p:spPr>
        <p:txBody>
          <a:bodyPr/>
          <a:lstStyle/>
          <a:p>
            <a:r>
              <a:rPr lang="en-US" b="1" dirty="0" smtClean="0"/>
              <a:t>if statements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953" y="1854926"/>
            <a:ext cx="3209109" cy="4297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 smtClean="0">
                <a:solidFill>
                  <a:schemeClr val="accent2"/>
                </a:solidFill>
              </a:rPr>
              <a:t>If – else:</a:t>
            </a:r>
          </a:p>
          <a:p>
            <a:pPr marL="0" indent="0">
              <a:buNone/>
            </a:pPr>
            <a:r>
              <a:rPr lang="en-US" sz="2600" b="1" dirty="0" smtClean="0"/>
              <a:t>Syntax:</a:t>
            </a:r>
          </a:p>
          <a:p>
            <a:pPr marL="0" indent="0">
              <a:buNone/>
            </a:pPr>
            <a:r>
              <a:rPr lang="en-US" sz="2600" b="1" dirty="0"/>
              <a:t>	</a:t>
            </a:r>
            <a:r>
              <a:rPr lang="en-US" sz="2600" dirty="0" smtClean="0"/>
              <a:t>if(condition):</a:t>
            </a:r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en-US" sz="2600" dirty="0" smtClean="0"/>
              <a:t>	#statement</a:t>
            </a:r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en-US" sz="2600" dirty="0" smtClean="0"/>
              <a:t>else:</a:t>
            </a:r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en-US" sz="2600" dirty="0" smtClean="0"/>
              <a:t>	#statement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156062" y="2076995"/>
            <a:ext cx="3394269" cy="4297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sz="2600" b="1" dirty="0" smtClean="0">
                <a:solidFill>
                  <a:schemeClr val="accent2"/>
                </a:solidFill>
              </a:rPr>
              <a:t>Else – if ladder: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sz="2600" b="1" dirty="0" smtClean="0"/>
              <a:t>Syntax: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sz="2600" b="1" dirty="0" smtClean="0"/>
              <a:t>	</a:t>
            </a:r>
            <a:r>
              <a:rPr lang="en-US" sz="2600" dirty="0" smtClean="0"/>
              <a:t>if(condition1):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sz="2600" dirty="0" smtClean="0"/>
              <a:t>		#statement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sz="2600" dirty="0"/>
              <a:t>	</a:t>
            </a:r>
            <a:r>
              <a:rPr lang="en-US" sz="2600" dirty="0" err="1" smtClean="0"/>
              <a:t>elif</a:t>
            </a:r>
            <a:r>
              <a:rPr lang="en-US" sz="2600" dirty="0" smtClean="0"/>
              <a:t>(condition2):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sz="2600" dirty="0"/>
              <a:t>	</a:t>
            </a:r>
            <a:r>
              <a:rPr lang="en-US" sz="2600" dirty="0" smtClean="0"/>
              <a:t>	#statement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sz="2600" dirty="0" smtClean="0"/>
              <a:t>	else: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sz="2600" dirty="0" smtClean="0"/>
              <a:t>		#statement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683033" y="2031276"/>
            <a:ext cx="3209109" cy="4297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sz="2600" b="1" dirty="0" smtClean="0">
                <a:solidFill>
                  <a:schemeClr val="accent2"/>
                </a:solidFill>
              </a:rPr>
              <a:t>Nested If :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sz="2600" b="1" dirty="0" smtClean="0"/>
              <a:t>Syntax: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sz="2600" b="1" dirty="0" smtClean="0"/>
              <a:t>	</a:t>
            </a:r>
            <a:r>
              <a:rPr lang="en-US" sz="2600" dirty="0" smtClean="0"/>
              <a:t>if(condition1):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sz="2600" dirty="0"/>
              <a:t>	</a:t>
            </a:r>
            <a:r>
              <a:rPr lang="en-US" sz="2600" dirty="0" smtClean="0"/>
              <a:t>	if(condition2):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sz="2600" dirty="0" smtClean="0"/>
              <a:t>			#statement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sz="2600" dirty="0" smtClean="0"/>
              <a:t>	else: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sz="2600" dirty="0" smtClean="0"/>
              <a:t>		#statement</a:t>
            </a:r>
          </a:p>
        </p:txBody>
      </p:sp>
    </p:spTree>
    <p:extLst>
      <p:ext uri="{BB962C8B-B14F-4D97-AF65-F5344CB8AC3E}">
        <p14:creationId xmlns:p14="http://schemas.microsoft.com/office/powerpoint/2010/main" val="22157605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Looping: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1788" y="2129226"/>
            <a:ext cx="4883436" cy="3945003"/>
          </a:xfrm>
        </p:spPr>
        <p:txBody>
          <a:bodyPr>
            <a:normAutofit/>
          </a:bodyPr>
          <a:lstStyle/>
          <a:p>
            <a:pPr lvl="1"/>
            <a:r>
              <a:rPr lang="en-US" sz="2400" b="1" dirty="0"/>
              <a:t>For loops </a:t>
            </a:r>
            <a:r>
              <a:rPr lang="en-US" sz="2400" dirty="0"/>
              <a:t>can iterate over a sequence(list, set…</a:t>
            </a:r>
            <a:r>
              <a:rPr lang="en-US" sz="2400" dirty="0" err="1"/>
              <a:t>etc</a:t>
            </a:r>
            <a:r>
              <a:rPr lang="en-US" sz="2400" dirty="0"/>
              <a:t>) of </a:t>
            </a:r>
            <a:r>
              <a:rPr lang="en-US" sz="2400" dirty="0" err="1"/>
              <a:t>iterable</a:t>
            </a:r>
            <a:r>
              <a:rPr lang="en-US" sz="2400" dirty="0"/>
              <a:t> objects in python. </a:t>
            </a:r>
            <a:endParaRPr lang="en-US" sz="2400" dirty="0" smtClean="0"/>
          </a:p>
          <a:p>
            <a:pPr marL="324000" lvl="1" indent="0">
              <a:buNone/>
            </a:pPr>
            <a:r>
              <a:rPr lang="en-US" sz="2400" dirty="0" smtClean="0"/>
              <a:t>  </a:t>
            </a:r>
            <a:r>
              <a:rPr lang="en-US" sz="2400" b="1" dirty="0" smtClean="0"/>
              <a:t>Syntax:</a:t>
            </a:r>
          </a:p>
          <a:p>
            <a:pPr marL="324000" lvl="1" indent="0">
              <a:buNone/>
            </a:pPr>
            <a:r>
              <a:rPr lang="en-US" sz="2400" b="1" dirty="0"/>
              <a:t>	</a:t>
            </a:r>
            <a:r>
              <a:rPr lang="en-US" sz="2400" b="1" dirty="0" smtClean="0"/>
              <a:t>		for 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 in range(1,10):</a:t>
            </a:r>
          </a:p>
          <a:p>
            <a:pPr marL="324000" lvl="1" indent="0">
              <a:buNone/>
            </a:pPr>
            <a:r>
              <a:rPr lang="en-US" sz="2400" b="1" dirty="0"/>
              <a:t>	</a:t>
            </a:r>
            <a:r>
              <a:rPr lang="en-US" sz="2400" b="1" dirty="0" smtClean="0"/>
              <a:t>			print(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)</a:t>
            </a:r>
            <a:endParaRPr lang="en-US" sz="2400" b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758438" y="2129226"/>
            <a:ext cx="5114213" cy="4363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400" b="1" dirty="0" smtClean="0"/>
              <a:t>while loops </a:t>
            </a:r>
            <a:r>
              <a:rPr lang="en-US" sz="2400" dirty="0" smtClean="0"/>
              <a:t>execute statements while the condition is True. </a:t>
            </a:r>
          </a:p>
          <a:p>
            <a:pPr lvl="1"/>
            <a:r>
              <a:rPr lang="en-US" sz="2400" dirty="0" smtClean="0"/>
              <a:t>As soon as the condition becomes False, the interpreter comes out of the while loop. </a:t>
            </a:r>
          </a:p>
          <a:p>
            <a:pPr marL="324000" lvl="1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</a:t>
            </a:r>
            <a:r>
              <a:rPr lang="en-US" sz="2400" b="1" dirty="0" smtClean="0"/>
              <a:t>Syntax:</a:t>
            </a:r>
          </a:p>
          <a:p>
            <a:pPr marL="324000" lvl="1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	</a:t>
            </a:r>
            <a:r>
              <a:rPr lang="en-US" sz="2400" b="1" dirty="0" smtClean="0"/>
              <a:t>while(condition):</a:t>
            </a:r>
          </a:p>
          <a:p>
            <a:pPr marL="324000" lvl="1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		#statement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855954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828" y="702156"/>
            <a:ext cx="11022979" cy="930701"/>
          </a:xfrm>
        </p:spPr>
        <p:txBody>
          <a:bodyPr/>
          <a:lstStyle/>
          <a:p>
            <a:r>
              <a:rPr lang="en-US" b="1" dirty="0" smtClean="0"/>
              <a:t>Control statement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5177" y="2050868"/>
            <a:ext cx="9208279" cy="4376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Pass: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 smtClean="0"/>
              <a:t>pass </a:t>
            </a:r>
            <a:r>
              <a:rPr lang="en-US" sz="2600" dirty="0"/>
              <a:t>statement acts as a </a:t>
            </a:r>
            <a:r>
              <a:rPr lang="en-US" sz="2600" b="1" dirty="0"/>
              <a:t>placeholder for future code</a:t>
            </a:r>
            <a:r>
              <a:rPr lang="en-US" sz="2600" dirty="0" smtClean="0"/>
              <a:t>.</a:t>
            </a:r>
            <a:endParaRPr lang="en-US" sz="2600" b="1" dirty="0" smtClean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Continue:</a:t>
            </a:r>
          </a:p>
          <a:p>
            <a:pPr lvl="2"/>
            <a:r>
              <a:rPr lang="en-US" sz="2600" dirty="0" smtClean="0">
                <a:solidFill>
                  <a:schemeClr val="tx2">
                    <a:lumMod val="75000"/>
                  </a:schemeClr>
                </a:solidFill>
              </a:rPr>
              <a:t>It </a:t>
            </a:r>
            <a:r>
              <a:rPr lang="en-US" sz="2600" dirty="0">
                <a:solidFill>
                  <a:schemeClr val="tx2">
                    <a:lumMod val="75000"/>
                  </a:schemeClr>
                </a:solidFill>
              </a:rPr>
              <a:t>is used in loops to </a:t>
            </a:r>
            <a:r>
              <a:rPr lang="en-US" sz="2600" b="1" dirty="0">
                <a:solidFill>
                  <a:schemeClr val="tx2">
                    <a:lumMod val="75000"/>
                  </a:schemeClr>
                </a:solidFill>
              </a:rPr>
              <a:t>end the current iteration </a:t>
            </a:r>
            <a:r>
              <a:rPr lang="en-US" sz="2600" dirty="0">
                <a:solidFill>
                  <a:schemeClr val="tx2">
                    <a:lumMod val="75000"/>
                  </a:schemeClr>
                </a:solidFill>
              </a:rPr>
              <a:t>and </a:t>
            </a:r>
            <a:r>
              <a:rPr lang="en-US" sz="2600" b="1" dirty="0">
                <a:solidFill>
                  <a:schemeClr val="tx2">
                    <a:lumMod val="75000"/>
                  </a:schemeClr>
                </a:solidFill>
              </a:rPr>
              <a:t>continue the next iteration</a:t>
            </a:r>
            <a:r>
              <a:rPr lang="en-US" sz="2600" dirty="0">
                <a:solidFill>
                  <a:schemeClr val="tx2">
                    <a:lumMod val="75000"/>
                  </a:schemeClr>
                </a:solidFill>
              </a:rPr>
              <a:t> of the loop. </a:t>
            </a:r>
            <a:endParaRPr lang="en-US" sz="26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800" b="1" dirty="0" smtClean="0">
                <a:solidFill>
                  <a:schemeClr val="accent2"/>
                </a:solidFill>
              </a:rPr>
              <a:t>Break:</a:t>
            </a:r>
          </a:p>
          <a:p>
            <a:pPr lvl="2"/>
            <a:r>
              <a:rPr lang="en-US" sz="2400" dirty="0" smtClean="0"/>
              <a:t>It</a:t>
            </a:r>
            <a:r>
              <a:rPr lang="en-US" sz="2200" dirty="0" smtClean="0"/>
              <a:t> </a:t>
            </a:r>
            <a:r>
              <a:rPr lang="en-US" sz="2600" dirty="0"/>
              <a:t>is used to bring the interpreter </a:t>
            </a:r>
            <a:r>
              <a:rPr lang="en-US" sz="2600" b="1" dirty="0"/>
              <a:t>out of the loop </a:t>
            </a:r>
            <a:r>
              <a:rPr lang="en-US" sz="2600" dirty="0"/>
              <a:t>and into the main body of the program.</a:t>
            </a:r>
            <a:endParaRPr lang="en-US" sz="2600" dirty="0" smtClean="0"/>
          </a:p>
        </p:txBody>
      </p:sp>
    </p:spTree>
    <p:extLst>
      <p:ext uri="{BB962C8B-B14F-4D97-AF65-F5344CB8AC3E}">
        <p14:creationId xmlns:p14="http://schemas.microsoft.com/office/powerpoint/2010/main" val="19728787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02156"/>
            <a:ext cx="10970728" cy="943764"/>
          </a:xfrm>
        </p:spPr>
        <p:txBody>
          <a:bodyPr/>
          <a:lstStyle/>
          <a:p>
            <a:r>
              <a:rPr lang="en-US" b="1" dirty="0" smtClean="0"/>
              <a:t>Function: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5623" y="1998616"/>
            <a:ext cx="9176762" cy="4493623"/>
          </a:xfrm>
        </p:spPr>
        <p:txBody>
          <a:bodyPr>
            <a:normAutofit/>
          </a:bodyPr>
          <a:lstStyle/>
          <a:p>
            <a:r>
              <a:rPr lang="en-US" sz="2400" dirty="0"/>
              <a:t>A function is a </a:t>
            </a:r>
            <a:r>
              <a:rPr lang="en-US" sz="2400" b="1" dirty="0"/>
              <a:t>block of code that performs a specific task </a:t>
            </a:r>
            <a:r>
              <a:rPr lang="en-US" sz="2400" dirty="0"/>
              <a:t>whenever it is called. </a:t>
            </a:r>
            <a:endParaRPr lang="en-US" sz="2400" dirty="0" smtClean="0"/>
          </a:p>
          <a:p>
            <a:r>
              <a:rPr lang="en-US" sz="2400" dirty="0" smtClean="0"/>
              <a:t>It make </a:t>
            </a:r>
            <a:r>
              <a:rPr lang="en-US" sz="2400" dirty="0"/>
              <a:t>the </a:t>
            </a:r>
            <a:r>
              <a:rPr lang="en-US" sz="2400" b="1" dirty="0"/>
              <a:t>program flow organized </a:t>
            </a:r>
            <a:r>
              <a:rPr lang="en-US" sz="2400" dirty="0"/>
              <a:t>and neat.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2"/>
                </a:solidFill>
              </a:rPr>
              <a:t>Two types:</a:t>
            </a:r>
            <a:endParaRPr lang="en-US" sz="2400" b="1" dirty="0">
              <a:solidFill>
                <a:schemeClr val="accent2"/>
              </a:solidFill>
            </a:endParaRPr>
          </a:p>
          <a:p>
            <a:pPr marL="1087200" lvl="2" indent="-457200">
              <a:buFont typeface="+mj-lt"/>
              <a:buAutoNum type="arabicPeriod"/>
            </a:pPr>
            <a:r>
              <a:rPr lang="en-US" sz="2400" b="1" dirty="0"/>
              <a:t>built-in </a:t>
            </a:r>
            <a:r>
              <a:rPr lang="en-US" sz="2400" b="1" dirty="0" smtClean="0"/>
              <a:t>functions:</a:t>
            </a:r>
          </a:p>
          <a:p>
            <a:pPr lvl="4"/>
            <a:r>
              <a:rPr lang="en-US" sz="2400" dirty="0"/>
              <a:t>These functions are </a:t>
            </a:r>
            <a:r>
              <a:rPr lang="en-US" sz="2400" b="1" dirty="0"/>
              <a:t>defined and pre-coded </a:t>
            </a:r>
            <a:r>
              <a:rPr lang="en-US" sz="2400" dirty="0"/>
              <a:t>in python. </a:t>
            </a:r>
          </a:p>
          <a:p>
            <a:pPr marL="1087200" lvl="2" indent="-457200">
              <a:buFont typeface="+mj-lt"/>
              <a:buAutoNum type="arabicPeriod"/>
            </a:pPr>
            <a:r>
              <a:rPr lang="en-US" sz="2400" b="1" dirty="0"/>
              <a:t>user-defined </a:t>
            </a:r>
            <a:r>
              <a:rPr lang="en-US" sz="2400" b="1" dirty="0" smtClean="0"/>
              <a:t>functions:</a:t>
            </a:r>
          </a:p>
          <a:p>
            <a:pPr marL="1674900" lvl="4" indent="-342900"/>
            <a:r>
              <a:rPr lang="en-US" sz="2400" dirty="0"/>
              <a:t>We can create functions to perform specific tasks as per our needs</a:t>
            </a:r>
          </a:p>
        </p:txBody>
      </p:sp>
    </p:spTree>
    <p:extLst>
      <p:ext uri="{BB962C8B-B14F-4D97-AF65-F5344CB8AC3E}">
        <p14:creationId xmlns:p14="http://schemas.microsoft.com/office/powerpoint/2010/main" val="4997757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456" y="702156"/>
            <a:ext cx="10892351" cy="943764"/>
          </a:xfrm>
        </p:spPr>
        <p:txBody>
          <a:bodyPr/>
          <a:lstStyle/>
          <a:p>
            <a:r>
              <a:rPr lang="en-US" b="1" dirty="0" smtClean="0"/>
              <a:t>Function Arguments: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1597" y="1959427"/>
            <a:ext cx="9366068" cy="46373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There are four types of arguments that we can provide in a function: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sz="2600" b="1" dirty="0"/>
              <a:t>Default Arguments: </a:t>
            </a:r>
            <a:r>
              <a:rPr lang="en-US" sz="2600" b="1" dirty="0" smtClean="0"/>
              <a:t> </a:t>
            </a:r>
          </a:p>
          <a:p>
            <a:pPr lvl="4"/>
            <a:r>
              <a:rPr lang="en-US" sz="2600" dirty="0" smtClean="0"/>
              <a:t>While defining a function </a:t>
            </a:r>
            <a:r>
              <a:rPr lang="en-US" sz="2600" dirty="0" err="1" smtClean="0"/>
              <a:t>def</a:t>
            </a:r>
            <a:r>
              <a:rPr lang="en-US" sz="2600" dirty="0" smtClean="0"/>
              <a:t> name(name </a:t>
            </a:r>
            <a:r>
              <a:rPr lang="en-US" sz="2600" dirty="0"/>
              <a:t>= </a:t>
            </a:r>
            <a:r>
              <a:rPr lang="en-US" sz="2600" dirty="0" smtClean="0"/>
              <a:t>“</a:t>
            </a:r>
            <a:r>
              <a:rPr lang="en-US" sz="2600" dirty="0" err="1" smtClean="0"/>
              <a:t>Sanam</a:t>
            </a:r>
            <a:r>
              <a:rPr lang="en-US" sz="2600" dirty="0" smtClean="0"/>
              <a:t>") </a:t>
            </a:r>
            <a:endParaRPr lang="en-US" sz="2600" dirty="0"/>
          </a:p>
          <a:p>
            <a:pPr marL="781200" lvl="1" indent="-457200">
              <a:buFont typeface="+mj-lt"/>
              <a:buAutoNum type="arabicPeriod"/>
            </a:pPr>
            <a:r>
              <a:rPr lang="en-US" sz="2600" b="1" dirty="0"/>
              <a:t>Keyword Arguments: </a:t>
            </a:r>
            <a:r>
              <a:rPr lang="en-US" sz="2600" b="1" dirty="0" smtClean="0"/>
              <a:t> </a:t>
            </a:r>
          </a:p>
          <a:p>
            <a:pPr lvl="4"/>
            <a:r>
              <a:rPr lang="en-US" sz="2600" dirty="0" smtClean="0"/>
              <a:t>name(key </a:t>
            </a:r>
            <a:r>
              <a:rPr lang="en-US" sz="2600" dirty="0"/>
              <a:t>= </a:t>
            </a:r>
            <a:r>
              <a:rPr lang="en-US" sz="2600" dirty="0" smtClean="0"/>
              <a:t>value) while calling the function.</a:t>
            </a:r>
            <a:endParaRPr lang="en-US" sz="2600" dirty="0"/>
          </a:p>
          <a:p>
            <a:pPr marL="781200" lvl="1" indent="-457200">
              <a:buFont typeface="+mj-lt"/>
              <a:buAutoNum type="arabicPeriod"/>
            </a:pPr>
            <a:r>
              <a:rPr lang="en-US" sz="2600" b="1" dirty="0"/>
              <a:t>Required </a:t>
            </a:r>
            <a:r>
              <a:rPr lang="en-US" sz="2600" b="1" dirty="0" smtClean="0"/>
              <a:t>Arguments: </a:t>
            </a:r>
          </a:p>
          <a:p>
            <a:pPr lvl="4"/>
            <a:r>
              <a:rPr lang="en-US" sz="2600" dirty="0" smtClean="0"/>
              <a:t>Passing parameters to arguments with exact values.</a:t>
            </a:r>
            <a:endParaRPr lang="en-US" sz="2600" dirty="0"/>
          </a:p>
          <a:p>
            <a:pPr marL="781200" lvl="1" indent="-457200">
              <a:buFont typeface="+mj-lt"/>
              <a:buAutoNum type="arabicPeriod"/>
            </a:pPr>
            <a:r>
              <a:rPr lang="en-US" sz="2600" b="1" dirty="0"/>
              <a:t>Variable-length </a:t>
            </a:r>
            <a:r>
              <a:rPr lang="en-US" sz="2600" b="1" dirty="0" smtClean="0"/>
              <a:t>Arguments:</a:t>
            </a:r>
            <a:endParaRPr lang="en-US" sz="2600" b="1" dirty="0"/>
          </a:p>
          <a:p>
            <a:pPr lvl="4"/>
            <a:r>
              <a:rPr lang="en-US" sz="2600" dirty="0" smtClean="0"/>
              <a:t>Passing more than one argument by its length Using *.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9660000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330" y="702156"/>
            <a:ext cx="10918477" cy="943764"/>
          </a:xfrm>
        </p:spPr>
        <p:txBody>
          <a:bodyPr/>
          <a:lstStyle/>
          <a:p>
            <a:r>
              <a:rPr lang="en-US" b="1" dirty="0"/>
              <a:t>Anonymous </a:t>
            </a:r>
            <a:r>
              <a:rPr lang="en-US" b="1" dirty="0" smtClean="0"/>
              <a:t>Functions: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1022" y="1919240"/>
            <a:ext cx="9821092" cy="4377057"/>
          </a:xfrm>
        </p:spPr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lambda keyword </a:t>
            </a:r>
            <a:r>
              <a:rPr lang="en-US" sz="2400" dirty="0"/>
              <a:t>can define </a:t>
            </a:r>
            <a:r>
              <a:rPr lang="en-US" sz="2400" dirty="0" smtClean="0"/>
              <a:t>anonymous, </a:t>
            </a:r>
            <a:r>
              <a:rPr lang="en-US" sz="2400" b="1" dirty="0" smtClean="0"/>
              <a:t>single-output </a:t>
            </a:r>
            <a:r>
              <a:rPr lang="en-US" sz="2400" b="1" dirty="0"/>
              <a:t>functions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Lambda function is </a:t>
            </a:r>
            <a:r>
              <a:rPr lang="en-US" sz="2400" b="1" dirty="0" smtClean="0"/>
              <a:t>a function </a:t>
            </a:r>
            <a:r>
              <a:rPr lang="en-US" sz="2400" b="1" dirty="0"/>
              <a:t>is without a name</a:t>
            </a:r>
            <a:r>
              <a:rPr lang="en-US" sz="2400" dirty="0"/>
              <a:t>.</a:t>
            </a:r>
          </a:p>
          <a:p>
            <a:r>
              <a:rPr lang="en-US" sz="2400" dirty="0"/>
              <a:t>Arguments can be accepted in any number by lambda expressions</a:t>
            </a:r>
            <a:r>
              <a:rPr lang="en-US" sz="2400" dirty="0" smtClean="0"/>
              <a:t>;</a:t>
            </a:r>
          </a:p>
          <a:p>
            <a:r>
              <a:rPr lang="en-US" sz="2400" dirty="0" smtClean="0"/>
              <a:t>Good </a:t>
            </a:r>
            <a:r>
              <a:rPr lang="en-US" sz="2400" dirty="0"/>
              <a:t>for performing </a:t>
            </a:r>
            <a:r>
              <a:rPr lang="en-US" sz="2400" b="1" dirty="0"/>
              <a:t>short operations/data manipulations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Using the lambda function can sometime reduce the readability of </a:t>
            </a:r>
            <a:r>
              <a:rPr lang="en-US" sz="2400" dirty="0" smtClean="0"/>
              <a:t>code.</a:t>
            </a:r>
          </a:p>
          <a:p>
            <a:pPr marL="0" indent="0">
              <a:buNone/>
            </a:pPr>
            <a:r>
              <a:rPr lang="en-US" sz="2400" dirty="0" smtClean="0"/>
              <a:t>   </a:t>
            </a:r>
            <a:r>
              <a:rPr lang="en-US" sz="2400" b="1" dirty="0" smtClean="0"/>
              <a:t>Example:</a:t>
            </a:r>
          </a:p>
          <a:p>
            <a:pPr marL="0" indent="0">
              <a:buNone/>
            </a:pPr>
            <a:r>
              <a:rPr lang="en-US" sz="2400" dirty="0"/>
              <a:t>			lambda [argument1 [,argument2... .</a:t>
            </a:r>
            <a:r>
              <a:rPr lang="en-US" sz="2400" dirty="0" err="1"/>
              <a:t>argumentn</a:t>
            </a:r>
            <a:r>
              <a:rPr lang="en-US" sz="2400" dirty="0"/>
              <a:t>]] : expression </a:t>
            </a:r>
          </a:p>
        </p:txBody>
      </p:sp>
    </p:spTree>
    <p:extLst>
      <p:ext uri="{BB962C8B-B14F-4D97-AF65-F5344CB8AC3E}">
        <p14:creationId xmlns:p14="http://schemas.microsoft.com/office/powerpoint/2010/main" val="23861854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02156"/>
            <a:ext cx="10879288" cy="956827"/>
          </a:xfrm>
        </p:spPr>
        <p:txBody>
          <a:bodyPr/>
          <a:lstStyle/>
          <a:p>
            <a:r>
              <a:rPr lang="en-US" b="1" dirty="0" smtClean="0"/>
              <a:t>Oops in python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2529" y="1854926"/>
            <a:ext cx="9516397" cy="4833257"/>
          </a:xfrm>
        </p:spPr>
        <p:txBody>
          <a:bodyPr>
            <a:normAutofit/>
          </a:bodyPr>
          <a:lstStyle/>
          <a:p>
            <a:r>
              <a:rPr lang="en-US" sz="2400" dirty="0" smtClean="0"/>
              <a:t>Object Oriented Programming is a </a:t>
            </a:r>
            <a:r>
              <a:rPr lang="en-US" sz="2400" b="1" dirty="0" smtClean="0"/>
              <a:t>methodology to write a code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 This concept focuses on using </a:t>
            </a:r>
            <a:r>
              <a:rPr lang="en-US" sz="2400" b="1" dirty="0" smtClean="0"/>
              <a:t>reusable code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We will create </a:t>
            </a:r>
            <a:r>
              <a:rPr lang="en-US" sz="2400" b="1" dirty="0" smtClean="0"/>
              <a:t>classes and objects </a:t>
            </a:r>
            <a:r>
              <a:rPr lang="en-US" sz="2400" dirty="0" smtClean="0"/>
              <a:t>to solve problems.</a:t>
            </a:r>
          </a:p>
          <a:p>
            <a:r>
              <a:rPr lang="en-US" sz="2400" dirty="0"/>
              <a:t>A </a:t>
            </a:r>
            <a:r>
              <a:rPr lang="en-US" sz="2400" b="1" dirty="0"/>
              <a:t>class is a blueprint or a template </a:t>
            </a:r>
            <a:r>
              <a:rPr lang="en-US" sz="2400" dirty="0"/>
              <a:t>for creating </a:t>
            </a:r>
            <a:r>
              <a:rPr lang="en-US" sz="2400" dirty="0" smtClean="0"/>
              <a:t>objects.</a:t>
            </a:r>
          </a:p>
          <a:p>
            <a:r>
              <a:rPr lang="en-US" sz="2400" b="1" dirty="0" smtClean="0"/>
              <a:t>object </a:t>
            </a:r>
            <a:r>
              <a:rPr lang="en-US" sz="2400" b="1" dirty="0"/>
              <a:t>is an instance or a copy </a:t>
            </a:r>
            <a:r>
              <a:rPr lang="en-US" sz="2400" dirty="0"/>
              <a:t>of the class with actual values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600" b="1" dirty="0" smtClean="0"/>
              <a:t>Example: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		</a:t>
            </a:r>
            <a:r>
              <a:rPr lang="en-US" sz="2400" b="1" dirty="0" smtClean="0"/>
              <a:t>class</a:t>
            </a:r>
            <a:r>
              <a:rPr lang="en-US" sz="2400" dirty="0" smtClean="0"/>
              <a:t> name:   # class creation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			name = “</a:t>
            </a:r>
            <a:r>
              <a:rPr lang="en-US" sz="2400" dirty="0" err="1" smtClean="0"/>
              <a:t>Sanam</a:t>
            </a:r>
            <a:r>
              <a:rPr lang="en-US" sz="2400" dirty="0" smtClean="0"/>
              <a:t>”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		</a:t>
            </a:r>
            <a:r>
              <a:rPr lang="en-US" sz="2400" dirty="0" err="1" smtClean="0"/>
              <a:t>obj</a:t>
            </a:r>
            <a:r>
              <a:rPr lang="en-US" sz="2400" dirty="0" smtClean="0"/>
              <a:t> = name()   # Object creation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654901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9086" y="702156"/>
            <a:ext cx="10761722" cy="969890"/>
          </a:xfrm>
        </p:spPr>
        <p:txBody>
          <a:bodyPr/>
          <a:lstStyle/>
          <a:p>
            <a:r>
              <a:rPr lang="en-US" b="1" dirty="0" smtClean="0"/>
              <a:t>__</a:t>
            </a:r>
            <a:r>
              <a:rPr lang="en-US" b="1" dirty="0" err="1" smtClean="0"/>
              <a:t>init</a:t>
            </a:r>
            <a:r>
              <a:rPr lang="en-US" b="1" dirty="0" smtClean="0"/>
              <a:t>__ method: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6767" y="1985556"/>
            <a:ext cx="9497837" cy="4519748"/>
          </a:xfrm>
        </p:spPr>
        <p:txBody>
          <a:bodyPr>
            <a:normAutofit lnSpcReduction="10000"/>
          </a:bodyPr>
          <a:lstStyle/>
          <a:p>
            <a:pPr lvl="1"/>
            <a:r>
              <a:rPr lang="en-US" sz="2400" dirty="0"/>
              <a:t>The </a:t>
            </a:r>
            <a:r>
              <a:rPr lang="en-US" sz="2400" b="1" dirty="0"/>
              <a:t>__</a:t>
            </a:r>
            <a:r>
              <a:rPr lang="en-US" sz="2400" b="1" dirty="0" err="1"/>
              <a:t>init</a:t>
            </a:r>
            <a:r>
              <a:rPr lang="en-US" sz="2400" b="1" dirty="0"/>
              <a:t>__</a:t>
            </a:r>
            <a:r>
              <a:rPr lang="en-US" sz="2400" dirty="0"/>
              <a:t> method is used to </a:t>
            </a:r>
            <a:r>
              <a:rPr lang="en-US" sz="2400" b="1" dirty="0"/>
              <a:t>initialize the object’s state </a:t>
            </a:r>
            <a:r>
              <a:rPr lang="en-US" sz="2400" dirty="0"/>
              <a:t>and contains statements that are executed at the time of object creation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/>
              <a:t>We can also </a:t>
            </a:r>
            <a:r>
              <a:rPr lang="en-US" sz="2400" b="1" dirty="0"/>
              <a:t>modify and delete objects </a:t>
            </a:r>
            <a:r>
              <a:rPr lang="en-US" sz="2400" dirty="0"/>
              <a:t>and their </a:t>
            </a:r>
            <a:r>
              <a:rPr lang="en-US" sz="2400" dirty="0" smtClean="0"/>
              <a:t>properties.</a:t>
            </a:r>
          </a:p>
          <a:p>
            <a:pPr lvl="1"/>
            <a:r>
              <a:rPr lang="en-US" sz="2400" dirty="0" err="1" smtClean="0"/>
              <a:t>Init</a:t>
            </a:r>
            <a:r>
              <a:rPr lang="en-US" sz="2400" dirty="0" smtClean="0"/>
              <a:t> method is also considered as a </a:t>
            </a:r>
            <a:r>
              <a:rPr lang="en-US" sz="2400" b="1" dirty="0" smtClean="0"/>
              <a:t>default constructor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8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Self Parameter:</a:t>
            </a:r>
            <a:endParaRPr lang="en-US" sz="24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  <a:p>
            <a:pPr lvl="1"/>
            <a:r>
              <a:rPr lang="en-US" sz="2400" dirty="0" smtClean="0"/>
              <a:t>The </a:t>
            </a:r>
            <a:r>
              <a:rPr lang="en-US" sz="2400" dirty="0"/>
              <a:t>self parameter is the </a:t>
            </a:r>
            <a:r>
              <a:rPr lang="en-US" sz="2400" b="1" dirty="0"/>
              <a:t>first parameter of any function </a:t>
            </a:r>
            <a:r>
              <a:rPr lang="en-US" sz="2400" dirty="0"/>
              <a:t>present in the class. </a:t>
            </a:r>
            <a:endParaRPr lang="en-US" sz="2400" dirty="0" smtClean="0"/>
          </a:p>
          <a:p>
            <a:pPr lvl="1"/>
            <a:r>
              <a:rPr lang="en-US" sz="2400" dirty="0" smtClean="0"/>
              <a:t>It </a:t>
            </a:r>
            <a:r>
              <a:rPr lang="en-US" sz="2400" dirty="0"/>
              <a:t>can be of </a:t>
            </a:r>
            <a:r>
              <a:rPr lang="en-US" sz="2400" b="1" dirty="0"/>
              <a:t>different name </a:t>
            </a:r>
            <a:r>
              <a:rPr lang="en-US" sz="2400" dirty="0"/>
              <a:t>but this </a:t>
            </a:r>
            <a:r>
              <a:rPr lang="en-US" sz="2400" b="1" dirty="0"/>
              <a:t>parameter is must </a:t>
            </a:r>
            <a:r>
              <a:rPr lang="en-US" sz="2400" dirty="0"/>
              <a:t>while defining any function into </a:t>
            </a:r>
            <a:r>
              <a:rPr lang="en-US" sz="2400" dirty="0" smtClean="0"/>
              <a:t>class.</a:t>
            </a:r>
          </a:p>
          <a:p>
            <a:pPr lvl="1"/>
            <a:r>
              <a:rPr lang="en-US" sz="2400" dirty="0"/>
              <a:t>I</a:t>
            </a:r>
            <a:r>
              <a:rPr lang="en-US" sz="2400" dirty="0" smtClean="0"/>
              <a:t>t </a:t>
            </a:r>
            <a:r>
              <a:rPr lang="en-US" sz="2400" dirty="0"/>
              <a:t>is </a:t>
            </a:r>
            <a:r>
              <a:rPr lang="en-US" sz="2400" b="1" dirty="0"/>
              <a:t>used to access other data members of the </a:t>
            </a:r>
            <a:r>
              <a:rPr lang="en-US" sz="2400" b="1" dirty="0" smtClean="0"/>
              <a:t>class.</a:t>
            </a:r>
          </a:p>
        </p:txBody>
      </p:sp>
    </p:spTree>
    <p:extLst>
      <p:ext uri="{BB962C8B-B14F-4D97-AF65-F5344CB8AC3E}">
        <p14:creationId xmlns:p14="http://schemas.microsoft.com/office/powerpoint/2010/main" val="8522951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02156"/>
            <a:ext cx="10879288" cy="969890"/>
          </a:xfrm>
        </p:spPr>
        <p:txBody>
          <a:bodyPr/>
          <a:lstStyle/>
          <a:p>
            <a:r>
              <a:rPr lang="en-US" b="1" dirty="0" smtClean="0"/>
              <a:t>Inheritance: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8209" y="1802675"/>
            <a:ext cx="9921345" cy="4781006"/>
          </a:xfrm>
        </p:spPr>
        <p:txBody>
          <a:bodyPr>
            <a:noAutofit/>
          </a:bodyPr>
          <a:lstStyle/>
          <a:p>
            <a:r>
              <a:rPr lang="en-US" sz="2400" dirty="0"/>
              <a:t>Inheritance is an </a:t>
            </a:r>
            <a:r>
              <a:rPr lang="en-US" sz="2400" b="1" dirty="0"/>
              <a:t>important aspect of the object-oriented </a:t>
            </a:r>
            <a:r>
              <a:rPr lang="en-US" sz="2400" dirty="0"/>
              <a:t>paradigm.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provides </a:t>
            </a:r>
            <a:r>
              <a:rPr lang="en-US" sz="2400" b="1" dirty="0"/>
              <a:t>code reusability </a:t>
            </a:r>
            <a:r>
              <a:rPr lang="en-US" sz="2400" dirty="0"/>
              <a:t>to the </a:t>
            </a:r>
            <a:r>
              <a:rPr lang="en-US" sz="2400" dirty="0" smtClean="0"/>
              <a:t>program we </a:t>
            </a:r>
            <a:r>
              <a:rPr lang="en-US" sz="2400" dirty="0"/>
              <a:t>can </a:t>
            </a:r>
            <a:r>
              <a:rPr lang="en-US" sz="2400" b="1" dirty="0"/>
              <a:t>use an existing class </a:t>
            </a:r>
            <a:r>
              <a:rPr lang="en-US" sz="2400" dirty="0"/>
              <a:t>to create a new class instead of creating it from scratch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dirty="0"/>
              <a:t>A class can </a:t>
            </a:r>
            <a:r>
              <a:rPr lang="en-US" sz="2400" b="1" dirty="0"/>
              <a:t>inherit multiple classes</a:t>
            </a:r>
            <a:r>
              <a:rPr lang="en-US" sz="2400" dirty="0"/>
              <a:t> by mentioning all of them inside the bracket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800" b="1" dirty="0" smtClean="0"/>
              <a:t>   </a:t>
            </a:r>
            <a:r>
              <a:rPr lang="en-US" sz="28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Syntax: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	</a:t>
            </a:r>
            <a:r>
              <a:rPr lang="en-US" sz="2400" b="1" dirty="0" smtClean="0"/>
              <a:t>class Animal:   #base class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		#Statements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	</a:t>
            </a:r>
            <a:r>
              <a:rPr lang="en-US" sz="2400" b="1" dirty="0" smtClean="0"/>
              <a:t>class Dog(Animal):   #child</a:t>
            </a:r>
            <a:r>
              <a:rPr lang="en-US" sz="2400" b="1" dirty="0"/>
              <a:t> class Dog inherits </a:t>
            </a:r>
            <a:r>
              <a:rPr lang="en-US" sz="2400" b="1" dirty="0" smtClean="0"/>
              <a:t>Animal</a:t>
            </a:r>
            <a:r>
              <a:rPr lang="en-US" sz="2400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20847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02156"/>
            <a:ext cx="10879288" cy="943764"/>
          </a:xfrm>
        </p:spPr>
        <p:txBody>
          <a:bodyPr/>
          <a:lstStyle/>
          <a:p>
            <a:r>
              <a:rPr lang="en-US" b="1" dirty="0" smtClean="0"/>
              <a:t>Types of Inheritance: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587" y="1866989"/>
            <a:ext cx="9202888" cy="4677504"/>
          </a:xfrm>
        </p:spPr>
        <p:txBody>
          <a:bodyPr>
            <a:normAutofit/>
          </a:bodyPr>
          <a:lstStyle/>
          <a:p>
            <a:pPr marL="910350" lvl="1" indent="-514350">
              <a:buFont typeface="+mj-lt"/>
              <a:buAutoNum type="arabicPeriod"/>
            </a:pPr>
            <a:r>
              <a:rPr lang="en-US" sz="2600" b="1" dirty="0" smtClean="0"/>
              <a:t>Single  Inheritance :  </a:t>
            </a:r>
            <a:r>
              <a:rPr lang="en-US" sz="2600" dirty="0" smtClean="0"/>
              <a:t>inheriting </a:t>
            </a:r>
            <a:r>
              <a:rPr lang="en-US" sz="2600" dirty="0"/>
              <a:t>only one parent class</a:t>
            </a:r>
            <a:endParaRPr lang="en-US" sz="2600" dirty="0" smtClean="0"/>
          </a:p>
          <a:p>
            <a:pPr marL="910350" lvl="1" indent="-514350">
              <a:buFont typeface="+mj-lt"/>
              <a:buAutoNum type="arabicPeriod"/>
            </a:pPr>
            <a:r>
              <a:rPr lang="en-US" sz="2600" b="1" dirty="0" smtClean="0"/>
              <a:t>Multiple Inheritance : </a:t>
            </a:r>
            <a:r>
              <a:rPr lang="en-US" sz="2600" dirty="0" smtClean="0"/>
              <a:t>child </a:t>
            </a:r>
            <a:r>
              <a:rPr lang="en-US" sz="2600" dirty="0"/>
              <a:t>class inherits from multiple parent classes</a:t>
            </a:r>
            <a:endParaRPr lang="en-US" sz="2600" dirty="0" smtClean="0"/>
          </a:p>
          <a:p>
            <a:pPr marL="910350" lvl="1" indent="-514350">
              <a:buFont typeface="+mj-lt"/>
              <a:buAutoNum type="arabicPeriod"/>
            </a:pPr>
            <a:r>
              <a:rPr lang="en-US" sz="2600" b="1" dirty="0"/>
              <a:t>Multilevel </a:t>
            </a:r>
            <a:r>
              <a:rPr lang="en-US" sz="2600" b="1" dirty="0" smtClean="0"/>
              <a:t>Inheritance:  </a:t>
            </a:r>
            <a:r>
              <a:rPr lang="en-US" sz="2600" dirty="0" smtClean="0"/>
              <a:t>child </a:t>
            </a:r>
            <a:r>
              <a:rPr lang="en-US" sz="2600" dirty="0"/>
              <a:t>and grandchild relationship</a:t>
            </a:r>
            <a:endParaRPr lang="en-US" sz="2600" dirty="0" smtClean="0"/>
          </a:p>
          <a:p>
            <a:pPr marL="910350" lvl="1" indent="-514350">
              <a:buFont typeface="+mj-lt"/>
              <a:buAutoNum type="arabicPeriod"/>
            </a:pPr>
            <a:r>
              <a:rPr lang="en-US" sz="2600" b="1" dirty="0" smtClean="0"/>
              <a:t>Hierarchy Inheritance : </a:t>
            </a:r>
            <a:r>
              <a:rPr lang="en-US" sz="2600" dirty="0"/>
              <a:t>More than one derived class can be created from a single base</a:t>
            </a:r>
            <a:r>
              <a:rPr lang="en-US" sz="2600" dirty="0" smtClean="0"/>
              <a:t>.</a:t>
            </a:r>
          </a:p>
          <a:p>
            <a:pPr marL="910350" lvl="1" indent="-514350">
              <a:buFont typeface="+mj-lt"/>
              <a:buAutoNum type="arabicPeriod"/>
            </a:pPr>
            <a:r>
              <a:rPr lang="en-US" sz="2600" b="1" dirty="0"/>
              <a:t>Hybrid Inheritance :  </a:t>
            </a:r>
            <a:r>
              <a:rPr lang="en-US" sz="2600" dirty="0"/>
              <a:t>combines more than one form of </a:t>
            </a:r>
            <a:r>
              <a:rPr lang="en-US" sz="2600" dirty="0" smtClean="0"/>
              <a:t>inheritance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8155318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02156"/>
            <a:ext cx="10879288" cy="956827"/>
          </a:xfrm>
        </p:spPr>
        <p:txBody>
          <a:bodyPr/>
          <a:lstStyle/>
          <a:p>
            <a:r>
              <a:rPr lang="en-US" b="1" dirty="0" smtClean="0"/>
              <a:t>Polymorphism: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8386" y="1880051"/>
            <a:ext cx="9605555" cy="4533813"/>
          </a:xfrm>
        </p:spPr>
        <p:txBody>
          <a:bodyPr>
            <a:normAutofit/>
          </a:bodyPr>
          <a:lstStyle/>
          <a:p>
            <a:r>
              <a:rPr lang="en-US" sz="2600" dirty="0" smtClean="0"/>
              <a:t>Polymorphism </a:t>
            </a:r>
            <a:r>
              <a:rPr lang="en-US" sz="2600" dirty="0"/>
              <a:t>simply means having </a:t>
            </a:r>
            <a:r>
              <a:rPr lang="en-US" sz="2600" b="1" dirty="0"/>
              <a:t>many forms</a:t>
            </a:r>
            <a:r>
              <a:rPr lang="en-US" sz="2600" dirty="0" smtClean="0"/>
              <a:t>.</a:t>
            </a:r>
            <a:endParaRPr lang="en-US" sz="2600" dirty="0"/>
          </a:p>
          <a:p>
            <a:r>
              <a:rPr lang="en-US" sz="2600" dirty="0" smtClean="0"/>
              <a:t>We can achieve polymorphism using these methods…</a:t>
            </a:r>
          </a:p>
          <a:p>
            <a:pPr marL="1008900" lvl="2" indent="-342900">
              <a:buFont typeface="+mj-lt"/>
              <a:buAutoNum type="arabicPeriod"/>
            </a:pPr>
            <a:r>
              <a:rPr lang="en-US" sz="2400" b="1" dirty="0" smtClean="0"/>
              <a:t>Duck Typing </a:t>
            </a:r>
            <a:r>
              <a:rPr lang="en-US" sz="2400" dirty="0" smtClean="0"/>
              <a:t>:  If class object have that method then it will work.</a:t>
            </a:r>
          </a:p>
          <a:p>
            <a:pPr marL="1008900" lvl="2" indent="-342900">
              <a:buFont typeface="+mj-lt"/>
              <a:buAutoNum type="arabicPeriod"/>
            </a:pPr>
            <a:r>
              <a:rPr lang="en-US" sz="2400" b="1" dirty="0" smtClean="0"/>
              <a:t>Method Overloading </a:t>
            </a:r>
            <a:r>
              <a:rPr lang="en-US" sz="2400" dirty="0" smtClean="0"/>
              <a:t>: Multiple methods having same name.</a:t>
            </a:r>
          </a:p>
          <a:p>
            <a:pPr marL="1008900" lvl="2" indent="-342900">
              <a:buFont typeface="+mj-lt"/>
              <a:buAutoNum type="arabicPeriod"/>
            </a:pPr>
            <a:r>
              <a:rPr lang="en-US" sz="2400" b="1" dirty="0" smtClean="0"/>
              <a:t>Method Overriding : </a:t>
            </a:r>
            <a:r>
              <a:rPr lang="en-US" sz="2400" dirty="0" smtClean="0"/>
              <a:t>Same name methods in different classes.</a:t>
            </a:r>
          </a:p>
          <a:p>
            <a:pPr marL="1008900" lvl="2" indent="-342900">
              <a:buFont typeface="+mj-lt"/>
              <a:buAutoNum type="arabicPeriod"/>
            </a:pPr>
            <a:r>
              <a:rPr lang="en-US" sz="2400" b="1" dirty="0" smtClean="0"/>
              <a:t>Operator Overloading : </a:t>
            </a:r>
            <a:r>
              <a:rPr lang="en-US" sz="2400" dirty="0" smtClean="0"/>
              <a:t>It</a:t>
            </a:r>
            <a:r>
              <a:rPr lang="en-US" sz="2400" b="1" dirty="0" smtClean="0"/>
              <a:t> </a:t>
            </a:r>
            <a:r>
              <a:rPr lang="en-US" sz="2400" dirty="0" smtClean="0"/>
              <a:t>provide </a:t>
            </a:r>
            <a:r>
              <a:rPr lang="en-US" sz="2400" dirty="0"/>
              <a:t>extended meaning beyond their predefined operational meaning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328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52324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Built-in or Magic function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299" y="2220685"/>
            <a:ext cx="5712822" cy="3984171"/>
          </a:xfrm>
        </p:spPr>
        <p:txBody>
          <a:bodyPr>
            <a:noAutofit/>
          </a:bodyPr>
          <a:lstStyle/>
          <a:p>
            <a:r>
              <a:rPr lang="en-US" sz="2400" dirty="0"/>
              <a:t>+ </a:t>
            </a:r>
            <a:r>
              <a:rPr lang="en-US" sz="2400" dirty="0" smtClean="0"/>
              <a:t>  </a:t>
            </a:r>
            <a:r>
              <a:rPr lang="en-US" sz="2400" dirty="0"/>
              <a:t> </a:t>
            </a:r>
            <a:r>
              <a:rPr lang="en-US" sz="2400" dirty="0" smtClean="0">
                <a:sym typeface="Wingdings" panose="05000000000000000000" pitchFamily="2" charset="2"/>
              </a:rPr>
              <a:t>  </a:t>
            </a:r>
            <a:r>
              <a:rPr lang="en-US" sz="2400" dirty="0" smtClean="0"/>
              <a:t> 	__</a:t>
            </a:r>
            <a:r>
              <a:rPr lang="en-US" sz="2400" dirty="0"/>
              <a:t>add__(self, other)</a:t>
            </a:r>
          </a:p>
          <a:p>
            <a:r>
              <a:rPr lang="en-US" sz="2400" dirty="0"/>
              <a:t>-  </a:t>
            </a:r>
            <a:r>
              <a:rPr lang="en-US" sz="2400" dirty="0" smtClean="0"/>
              <a:t>   </a:t>
            </a:r>
            <a:r>
              <a:rPr lang="en-US" sz="2400" dirty="0" smtClean="0">
                <a:sym typeface="Wingdings" panose="05000000000000000000" pitchFamily="2" charset="2"/>
              </a:rPr>
              <a:t>	</a:t>
            </a:r>
            <a:r>
              <a:rPr lang="en-US" sz="2400" dirty="0" smtClean="0"/>
              <a:t>__</a:t>
            </a:r>
            <a:r>
              <a:rPr lang="en-US" sz="2400" dirty="0"/>
              <a:t>sub__(self, other)</a:t>
            </a:r>
          </a:p>
          <a:p>
            <a:r>
              <a:rPr lang="en-US" sz="2400" dirty="0"/>
              <a:t>*   </a:t>
            </a:r>
            <a:r>
              <a:rPr lang="en-US" sz="2400" dirty="0" smtClean="0"/>
              <a:t> </a:t>
            </a:r>
            <a:r>
              <a:rPr lang="en-US" sz="2400" dirty="0" smtClean="0">
                <a:sym typeface="Wingdings" panose="05000000000000000000" pitchFamily="2" charset="2"/>
              </a:rPr>
              <a:t></a:t>
            </a:r>
            <a:r>
              <a:rPr lang="en-US" sz="2400" dirty="0" smtClean="0"/>
              <a:t> 	__</a:t>
            </a:r>
            <a:r>
              <a:rPr lang="en-US" sz="2400" dirty="0" err="1"/>
              <a:t>mul</a:t>
            </a:r>
            <a:r>
              <a:rPr lang="en-US" sz="2400" dirty="0"/>
              <a:t>__(self, other)</a:t>
            </a:r>
          </a:p>
          <a:p>
            <a:r>
              <a:rPr lang="en-US" sz="2400" dirty="0"/>
              <a:t>/   </a:t>
            </a:r>
            <a:r>
              <a:rPr lang="en-US" sz="2400" dirty="0" smtClean="0"/>
              <a:t>  </a:t>
            </a:r>
            <a:r>
              <a:rPr lang="en-US" sz="2400" dirty="0" smtClean="0">
                <a:sym typeface="Wingdings" panose="05000000000000000000" pitchFamily="2" charset="2"/>
              </a:rPr>
              <a:t></a:t>
            </a:r>
            <a:r>
              <a:rPr lang="en-US" sz="2400" dirty="0" smtClean="0"/>
              <a:t> 	__</a:t>
            </a:r>
            <a:r>
              <a:rPr lang="en-US" sz="2400" dirty="0" err="1"/>
              <a:t>truediv</a:t>
            </a:r>
            <a:r>
              <a:rPr lang="en-US" sz="2400" dirty="0"/>
              <a:t>__(self, other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//    </a:t>
            </a:r>
            <a:r>
              <a:rPr lang="en-US" sz="2400" dirty="0" smtClean="0">
                <a:sym typeface="Wingdings" panose="05000000000000000000" pitchFamily="2" charset="2"/>
              </a:rPr>
              <a:t>   __</a:t>
            </a:r>
            <a:r>
              <a:rPr lang="en-US" sz="2400" dirty="0" err="1" smtClean="0">
                <a:sym typeface="Wingdings" panose="05000000000000000000" pitchFamily="2" charset="2"/>
              </a:rPr>
              <a:t>floordiv</a:t>
            </a:r>
            <a:r>
              <a:rPr lang="en-US" sz="2400" dirty="0" smtClean="0">
                <a:sym typeface="Wingdings" panose="05000000000000000000" pitchFamily="2" charset="2"/>
              </a:rPr>
              <a:t>__(self, other)</a:t>
            </a:r>
          </a:p>
          <a:p>
            <a:r>
              <a:rPr lang="en-US" sz="2400" dirty="0" smtClean="0">
                <a:sym typeface="Wingdings" panose="05000000000000000000" pitchFamily="2" charset="2"/>
              </a:rPr>
              <a:t>%       __mod__(self, other)</a:t>
            </a:r>
            <a:endParaRPr lang="en-US" sz="2400" dirty="0"/>
          </a:p>
          <a:p>
            <a:r>
              <a:rPr lang="en-US" sz="2400" dirty="0" smtClean="0"/>
              <a:t>**   </a:t>
            </a:r>
            <a:r>
              <a:rPr lang="en-US" sz="2400" dirty="0" smtClean="0">
                <a:sym typeface="Wingdings" panose="05000000000000000000" pitchFamily="2" charset="2"/>
              </a:rPr>
              <a:t>   </a:t>
            </a:r>
            <a:r>
              <a:rPr lang="en-US" sz="2400" dirty="0" smtClean="0"/>
              <a:t>__</a:t>
            </a:r>
            <a:r>
              <a:rPr lang="en-US" sz="2400" dirty="0"/>
              <a:t>pow__(self, other</a:t>
            </a:r>
            <a:r>
              <a:rPr lang="en-US" sz="2400" dirty="0" smtClean="0"/>
              <a:t>)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348548" y="1881052"/>
            <a:ext cx="5262259" cy="48593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2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0" y="2090057"/>
            <a:ext cx="5190309" cy="42454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+=  </a:t>
            </a:r>
            <a:r>
              <a:rPr lang="en-US" sz="2400" dirty="0" smtClean="0">
                <a:sym typeface="Wingdings" panose="05000000000000000000" pitchFamily="2" charset="2"/>
              </a:rPr>
              <a:t>	</a:t>
            </a:r>
            <a:r>
              <a:rPr lang="en-US" sz="2400" dirty="0" smtClean="0"/>
              <a:t>__IADD__(SELF, OTHER)</a:t>
            </a:r>
          </a:p>
          <a:p>
            <a:r>
              <a:rPr lang="en-US" sz="2400" dirty="0"/>
              <a:t>-</a:t>
            </a:r>
            <a:r>
              <a:rPr lang="en-US" sz="2400" dirty="0" smtClean="0"/>
              <a:t>=  </a:t>
            </a:r>
            <a:r>
              <a:rPr lang="en-US" sz="2400" dirty="0" smtClean="0">
                <a:sym typeface="Wingdings" panose="05000000000000000000" pitchFamily="2" charset="2"/>
              </a:rPr>
              <a:t>	</a:t>
            </a:r>
            <a:r>
              <a:rPr lang="en-US" sz="2400" dirty="0" smtClean="0"/>
              <a:t> __ISUB__(SELF, OTHER)</a:t>
            </a:r>
          </a:p>
          <a:p>
            <a:r>
              <a:rPr lang="en-US" sz="2400" dirty="0" smtClean="0"/>
              <a:t>&lt;    </a:t>
            </a:r>
            <a:r>
              <a:rPr lang="en-US" sz="2400" dirty="0" smtClean="0">
                <a:sym typeface="Wingdings" panose="05000000000000000000" pitchFamily="2" charset="2"/>
              </a:rPr>
              <a:t>	 </a:t>
            </a:r>
            <a:r>
              <a:rPr lang="en-US" sz="2400" dirty="0" smtClean="0"/>
              <a:t>__LT__(SELF, OTHER)</a:t>
            </a:r>
          </a:p>
          <a:p>
            <a:r>
              <a:rPr lang="en-US" sz="2400" dirty="0" smtClean="0"/>
              <a:t>&gt;    </a:t>
            </a:r>
            <a:r>
              <a:rPr lang="en-US" sz="2400" dirty="0" smtClean="0">
                <a:sym typeface="Wingdings" panose="05000000000000000000" pitchFamily="2" charset="2"/>
              </a:rPr>
              <a:t>	 </a:t>
            </a:r>
            <a:r>
              <a:rPr lang="en-US" sz="2400" dirty="0" smtClean="0"/>
              <a:t>__GT__(SELF, OTHER)</a:t>
            </a:r>
          </a:p>
          <a:p>
            <a:r>
              <a:rPr lang="en-US" sz="2400" dirty="0" smtClean="0"/>
              <a:t>==  </a:t>
            </a:r>
            <a:r>
              <a:rPr lang="en-US" sz="2400" dirty="0" smtClean="0">
                <a:sym typeface="Wingdings" panose="05000000000000000000" pitchFamily="2" charset="2"/>
              </a:rPr>
              <a:t>    </a:t>
            </a:r>
            <a:r>
              <a:rPr lang="en-US" sz="2200" dirty="0"/>
              <a:t>__EQ__(SELF, OTHER</a:t>
            </a:r>
            <a:r>
              <a:rPr lang="en-US" sz="2200" dirty="0" smtClean="0"/>
              <a:t>)</a:t>
            </a:r>
          </a:p>
          <a:p>
            <a:r>
              <a:rPr lang="en-US" sz="2200" dirty="0" smtClean="0"/>
              <a:t>&gt;=   </a:t>
            </a:r>
            <a:r>
              <a:rPr lang="en-US" sz="2200" dirty="0" smtClean="0">
                <a:sym typeface="Wingdings" panose="05000000000000000000" pitchFamily="2" charset="2"/>
              </a:rPr>
              <a:t>    __GE__(SELF, OTHER)</a:t>
            </a:r>
          </a:p>
          <a:p>
            <a:r>
              <a:rPr lang="en-US" sz="2200" dirty="0" smtClean="0">
                <a:sym typeface="Wingdings" panose="05000000000000000000" pitchFamily="2" charset="2"/>
              </a:rPr>
              <a:t>&amp;         __and__(self, other)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987800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708" y="702156"/>
            <a:ext cx="10840099" cy="982953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Exception handling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901" y="2010679"/>
            <a:ext cx="9207139" cy="4272555"/>
          </a:xfrm>
        </p:spPr>
        <p:txBody>
          <a:bodyPr>
            <a:normAutofit/>
          </a:bodyPr>
          <a:lstStyle/>
          <a:p>
            <a:r>
              <a:rPr lang="en-US" sz="2200" dirty="0"/>
              <a:t>Exception handling in Python refers to </a:t>
            </a:r>
            <a:r>
              <a:rPr lang="en-US" sz="2200" b="1" dirty="0"/>
              <a:t>managing runtime errors </a:t>
            </a:r>
            <a:r>
              <a:rPr lang="en-US" sz="2200" dirty="0"/>
              <a:t>that may occur during the execution of a program</a:t>
            </a:r>
            <a:r>
              <a:rPr lang="en-US" sz="2200" dirty="0" smtClean="0"/>
              <a:t>.</a:t>
            </a:r>
          </a:p>
          <a:p>
            <a:r>
              <a:rPr lang="en-US" sz="2200" dirty="0"/>
              <a:t>An exception is an event, which occurs during the execution of a program that </a:t>
            </a:r>
            <a:r>
              <a:rPr lang="en-US" sz="2200" b="1" dirty="0"/>
              <a:t>disrupts the normal flow</a:t>
            </a:r>
            <a:r>
              <a:rPr lang="en-US" sz="2200" dirty="0"/>
              <a:t> of the program's </a:t>
            </a:r>
            <a:r>
              <a:rPr lang="en-US" sz="2200" dirty="0" smtClean="0"/>
              <a:t>instructions.</a:t>
            </a:r>
          </a:p>
          <a:p>
            <a:r>
              <a:rPr lang="en-US" sz="2200" dirty="0" smtClean="0"/>
              <a:t>These Exceptions will be handled using </a:t>
            </a:r>
            <a:r>
              <a:rPr lang="en-US" sz="2200" b="1" dirty="0" smtClean="0"/>
              <a:t>Try and Except </a:t>
            </a:r>
            <a:r>
              <a:rPr lang="en-US" sz="2200" dirty="0" smtClean="0"/>
              <a:t>blocks.</a:t>
            </a:r>
          </a:p>
          <a:p>
            <a:r>
              <a:rPr lang="en-US" sz="2200" dirty="0" smtClean="0"/>
              <a:t>We can create or pass an Exception through </a:t>
            </a:r>
            <a:r>
              <a:rPr lang="en-US" sz="2200" b="1" dirty="0" smtClean="0"/>
              <a:t>raise keyword</a:t>
            </a:r>
            <a:r>
              <a:rPr lang="en-US" sz="2200" dirty="0" smtClean="0"/>
              <a:t>.</a:t>
            </a:r>
          </a:p>
          <a:p>
            <a:r>
              <a:rPr lang="en-US" sz="2200" b="1" dirty="0"/>
              <a:t>Assertions</a:t>
            </a:r>
            <a:r>
              <a:rPr lang="en-US" sz="2200" dirty="0"/>
              <a:t> are commonly used at the </a:t>
            </a:r>
            <a:r>
              <a:rPr lang="en-US" sz="2200" b="1" dirty="0"/>
              <a:t>beginning of a function </a:t>
            </a:r>
            <a:r>
              <a:rPr lang="en-US" sz="2200" dirty="0"/>
              <a:t>to inspect for </a:t>
            </a:r>
            <a:r>
              <a:rPr lang="en-US" sz="2200" b="1" dirty="0"/>
              <a:t>valid </a:t>
            </a:r>
            <a:r>
              <a:rPr lang="en-US" sz="2200" b="1" dirty="0" smtClean="0"/>
              <a:t>input. 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41334509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268" y="702156"/>
            <a:ext cx="10931539" cy="943764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Date &amp; time: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1901" y="2115182"/>
            <a:ext cx="9215951" cy="3678303"/>
          </a:xfrm>
        </p:spPr>
        <p:txBody>
          <a:bodyPr>
            <a:normAutofit/>
          </a:bodyPr>
          <a:lstStyle/>
          <a:p>
            <a:r>
              <a:rPr lang="en-US" sz="2400" dirty="0"/>
              <a:t>Python provides the </a:t>
            </a:r>
            <a:r>
              <a:rPr lang="en-US" sz="2400" b="1" dirty="0" err="1"/>
              <a:t>datetime</a:t>
            </a:r>
            <a:r>
              <a:rPr lang="en-US" sz="2400" dirty="0"/>
              <a:t> module work with real dates and times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In Python, the date is not a data type, but we can work with the date objects by importing the module named with </a:t>
            </a:r>
            <a:r>
              <a:rPr lang="en-US" sz="2400" b="1" dirty="0" err="1"/>
              <a:t>datetime</a:t>
            </a:r>
            <a:r>
              <a:rPr lang="en-US" sz="2400" b="1" dirty="0"/>
              <a:t>, time, and calendar</a:t>
            </a:r>
            <a:r>
              <a:rPr lang="en-US" sz="2400" dirty="0" smtClean="0"/>
              <a:t>.</a:t>
            </a:r>
          </a:p>
          <a:p>
            <a:r>
              <a:rPr lang="en-US" sz="2400" b="1" dirty="0" smtClean="0"/>
              <a:t>Date, time, </a:t>
            </a:r>
            <a:r>
              <a:rPr lang="en-US" sz="2400" b="1" dirty="0" err="1" smtClean="0"/>
              <a:t>datetme</a:t>
            </a:r>
            <a:r>
              <a:rPr lang="en-US" sz="2400" b="1" dirty="0" smtClean="0"/>
              <a:t>, </a:t>
            </a:r>
            <a:r>
              <a:rPr lang="en-US" sz="2400" b="1" dirty="0" err="1" smtClean="0"/>
              <a:t>timezone</a:t>
            </a:r>
            <a:r>
              <a:rPr lang="en-US" sz="2400" b="1" dirty="0" smtClean="0"/>
              <a:t> </a:t>
            </a:r>
            <a:r>
              <a:rPr lang="en-US" sz="2400" dirty="0" smtClean="0"/>
              <a:t>these all are some of the classes present in </a:t>
            </a:r>
            <a:r>
              <a:rPr lang="en-US" sz="2400" dirty="0" err="1" smtClean="0"/>
              <a:t>datetime</a:t>
            </a:r>
            <a:r>
              <a:rPr lang="en-US" sz="2400" dirty="0" smtClean="0"/>
              <a:t> module.</a:t>
            </a:r>
          </a:p>
        </p:txBody>
      </p:sp>
    </p:spTree>
    <p:extLst>
      <p:ext uri="{BB962C8B-B14F-4D97-AF65-F5344CB8AC3E}">
        <p14:creationId xmlns:p14="http://schemas.microsoft.com/office/powerpoint/2010/main" val="96068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646" y="702156"/>
            <a:ext cx="10853162" cy="943764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File Handling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3371" y="1978915"/>
            <a:ext cx="9581711" cy="4604765"/>
          </a:xfrm>
        </p:spPr>
        <p:txBody>
          <a:bodyPr>
            <a:normAutofit/>
          </a:bodyPr>
          <a:lstStyle/>
          <a:p>
            <a:r>
              <a:rPr lang="en-US" sz="2300" dirty="0"/>
              <a:t>File handling in Python involves interacting with files on your computer to read data from them or write data to them. </a:t>
            </a:r>
            <a:endParaRPr lang="en-US" sz="2300" dirty="0" smtClean="0"/>
          </a:p>
          <a:p>
            <a:r>
              <a:rPr lang="en-US" sz="2300" dirty="0" smtClean="0"/>
              <a:t>Python </a:t>
            </a:r>
            <a:r>
              <a:rPr lang="en-US" sz="2300" dirty="0"/>
              <a:t>provides several built-in functions and methods for creating, opening, reading, writing, and closing files</a:t>
            </a:r>
            <a:r>
              <a:rPr lang="en-US" sz="2300" dirty="0" smtClean="0"/>
              <a:t>.</a:t>
            </a:r>
          </a:p>
          <a:p>
            <a:pPr marL="0" indent="0">
              <a:buNone/>
            </a:pPr>
            <a:r>
              <a:rPr lang="en-US" sz="2400" b="1" dirty="0"/>
              <a:t>Opening a File in </a:t>
            </a:r>
            <a:r>
              <a:rPr lang="en-US" sz="2400" b="1" dirty="0" smtClean="0"/>
              <a:t>Python:</a:t>
            </a:r>
          </a:p>
          <a:p>
            <a:pPr marL="324000" lvl="1" indent="0">
              <a:buNone/>
            </a:pPr>
            <a:r>
              <a:rPr lang="en-US" sz="2300" dirty="0" smtClean="0"/>
              <a:t>		file </a:t>
            </a:r>
            <a:r>
              <a:rPr lang="en-US" sz="2300" dirty="0"/>
              <a:t>= open("filename", "mode</a:t>
            </a:r>
            <a:r>
              <a:rPr lang="en-US" sz="2300" dirty="0" smtClean="0"/>
              <a:t>")</a:t>
            </a:r>
          </a:p>
          <a:p>
            <a:pPr marL="324000" lvl="1" indent="0">
              <a:buNone/>
            </a:pPr>
            <a:r>
              <a:rPr lang="en-US" sz="2300" b="1" dirty="0" smtClean="0"/>
              <a:t>Mode: </a:t>
            </a:r>
          </a:p>
          <a:p>
            <a:pPr lvl="3"/>
            <a:r>
              <a:rPr lang="en-US" sz="2100" dirty="0" smtClean="0"/>
              <a:t>r – read,        </a:t>
            </a:r>
            <a:r>
              <a:rPr lang="en-US" sz="21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rb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read 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binary</a:t>
            </a:r>
            <a:r>
              <a:rPr lang="en-US" sz="2100" dirty="0" smtClean="0"/>
              <a:t>      </a:t>
            </a:r>
          </a:p>
          <a:p>
            <a:pPr lvl="3"/>
            <a:r>
              <a:rPr lang="en-US" sz="2100" dirty="0" smtClean="0"/>
              <a:t>w – write,     </a:t>
            </a:r>
            <a:r>
              <a:rPr lang="en-US" sz="21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wb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write 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binary</a:t>
            </a:r>
            <a:endParaRPr lang="en-US" sz="2100" dirty="0" smtClean="0"/>
          </a:p>
          <a:p>
            <a:pPr lvl="3"/>
            <a:r>
              <a:rPr lang="en-US" sz="2100" dirty="0" smtClean="0"/>
              <a:t>a – append,    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r+  </a:t>
            </a:r>
            <a:r>
              <a:rPr lang="en-US" sz="2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 read &amp; 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write</a:t>
            </a:r>
            <a:endParaRPr lang="en-US" sz="2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1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924697" y="1608260"/>
            <a:ext cx="6715357" cy="1291695"/>
          </a:xfrm>
        </p:spPr>
        <p:txBody>
          <a:bodyPr>
            <a:normAutofit/>
          </a:bodyPr>
          <a:lstStyle/>
          <a:p>
            <a:r>
              <a:rPr lang="en-US" sz="6600" b="1" dirty="0" smtClean="0"/>
              <a:t>END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1385872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3701</TotalTime>
  <Words>3128</Words>
  <Application>Microsoft Office PowerPoint</Application>
  <PresentationFormat>Widescreen</PresentationFormat>
  <Paragraphs>358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Gill Sans MT</vt:lpstr>
      <vt:lpstr>inter-regular</vt:lpstr>
      <vt:lpstr>Wingdings</vt:lpstr>
      <vt:lpstr>Wingdings 2</vt:lpstr>
      <vt:lpstr>Dividend</vt:lpstr>
      <vt:lpstr>Python</vt:lpstr>
      <vt:lpstr>Introduction</vt:lpstr>
      <vt:lpstr>Features:</vt:lpstr>
      <vt:lpstr>Module &amp; PIP:</vt:lpstr>
      <vt:lpstr>Variable:</vt:lpstr>
      <vt:lpstr>Variable Declaration:</vt:lpstr>
      <vt:lpstr>Local Variable:         Global Variable:</vt:lpstr>
      <vt:lpstr>Tokens:</vt:lpstr>
      <vt:lpstr>Data Types:</vt:lpstr>
      <vt:lpstr>Primary Datatypes:</vt:lpstr>
      <vt:lpstr>Type Casting:</vt:lpstr>
      <vt:lpstr>Operator:</vt:lpstr>
      <vt:lpstr>Arithmetic Operator:</vt:lpstr>
      <vt:lpstr>Assignment Operator</vt:lpstr>
      <vt:lpstr>Relational operator</vt:lpstr>
      <vt:lpstr>Logical, Identity &amp; Membership</vt:lpstr>
      <vt:lpstr>User Input:</vt:lpstr>
      <vt:lpstr>Strings:</vt:lpstr>
      <vt:lpstr>String Operations:</vt:lpstr>
      <vt:lpstr>PowerPoint Presentation</vt:lpstr>
      <vt:lpstr>Python List:</vt:lpstr>
      <vt:lpstr>List methods:</vt:lpstr>
      <vt:lpstr>Python Tuples</vt:lpstr>
      <vt:lpstr>Manipulating Tuples:</vt:lpstr>
      <vt:lpstr>Unpack tuples:</vt:lpstr>
      <vt:lpstr>Python set:</vt:lpstr>
      <vt:lpstr>Set operations:</vt:lpstr>
      <vt:lpstr>Join sets:</vt:lpstr>
      <vt:lpstr>Python Dictionaries:</vt:lpstr>
      <vt:lpstr>Dictionary methods:</vt:lpstr>
      <vt:lpstr>Conditional Statements</vt:lpstr>
      <vt:lpstr>if statements</vt:lpstr>
      <vt:lpstr>Looping:</vt:lpstr>
      <vt:lpstr>Control statement</vt:lpstr>
      <vt:lpstr>Function:</vt:lpstr>
      <vt:lpstr>Function Arguments:</vt:lpstr>
      <vt:lpstr>Anonymous Functions:</vt:lpstr>
      <vt:lpstr>Oops in python</vt:lpstr>
      <vt:lpstr>__init__ method:</vt:lpstr>
      <vt:lpstr>Inheritance:</vt:lpstr>
      <vt:lpstr>Types of Inheritance:</vt:lpstr>
      <vt:lpstr>Polymorphism:</vt:lpstr>
      <vt:lpstr>Built-in or Magic function</vt:lpstr>
      <vt:lpstr>Exception handling</vt:lpstr>
      <vt:lpstr>Date &amp; time:</vt:lpstr>
      <vt:lpstr>File Handling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HP-PC</dc:creator>
  <cp:lastModifiedBy>Admin</cp:lastModifiedBy>
  <cp:revision>340</cp:revision>
  <dcterms:created xsi:type="dcterms:W3CDTF">2024-08-07T06:47:00Z</dcterms:created>
  <dcterms:modified xsi:type="dcterms:W3CDTF">2026-03-20T10:54:54Z</dcterms:modified>
</cp:coreProperties>
</file>