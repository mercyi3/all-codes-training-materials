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3" r:id="rId13"/>
    <p:sldId id="274" r:id="rId14"/>
    <p:sldId id="276" r:id="rId15"/>
    <p:sldId id="271" r:id="rId16"/>
    <p:sldId id="277" r:id="rId17"/>
    <p:sldId id="284" r:id="rId18"/>
    <p:sldId id="278" r:id="rId19"/>
    <p:sldId id="280" r:id="rId20"/>
    <p:sldId id="281" r:id="rId21"/>
    <p:sldId id="282" r:id="rId22"/>
    <p:sldId id="283" r:id="rId23"/>
    <p:sldId id="286" r:id="rId24"/>
    <p:sldId id="287" r:id="rId25"/>
    <p:sldId id="288" r:id="rId26"/>
    <p:sldId id="285" r:id="rId27"/>
    <p:sldId id="297" r:id="rId28"/>
    <p:sldId id="298" r:id="rId29"/>
    <p:sldId id="260" r:id="rId30"/>
    <p:sldId id="261" r:id="rId31"/>
    <p:sldId id="262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63" r:id="rId41"/>
    <p:sldId id="279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4660"/>
  </p:normalViewPr>
  <p:slideViewPr>
    <p:cSldViewPr snapToGrid="0">
      <p:cViewPr varScale="1">
        <p:scale>
          <a:sx n="73" d="100"/>
          <a:sy n="73" d="100"/>
        </p:scale>
        <p:origin x="5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2T09:35:55.656"/>
    </inkml:context>
    <inkml:brush xml:id="br0">
      <inkml:brushProperty name="width" value="0.35" units="cm"/>
      <inkml:brushProperty name="height" value="0.35" units="cm"/>
      <inkml:brushProperty name="color" value="#7C49FD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2T09:35:56.904"/>
    </inkml:context>
    <inkml:brush xml:id="br0">
      <inkml:brushProperty name="width" value="0.35" units="cm"/>
      <inkml:brushProperty name="height" value="0.35" units="cm"/>
      <inkml:brushProperty name="color" value="#7C49FD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2T09:35:58.666"/>
    </inkml:context>
    <inkml:brush xml:id="br0">
      <inkml:brushProperty name="width" value="0.35" units="cm"/>
      <inkml:brushProperty name="height" value="0.35" units="cm"/>
      <inkml:brushProperty name="color" value="#7C49FD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2T09:35:59.801"/>
    </inkml:context>
    <inkml:brush xml:id="br0">
      <inkml:brushProperty name="width" value="0.35" units="cm"/>
      <inkml:brushProperty name="height" value="0.35" units="cm"/>
      <inkml:brushProperty name="color" value="#7C49FD"/>
    </inkml:brush>
  </inkml:definitions>
  <inkml:trace contextRef="#ctx0" brushRef="#br0">0 0 24575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2T09:36:01.449"/>
    </inkml:context>
    <inkml:brush xml:id="br0">
      <inkml:brushProperty name="width" value="0.35" units="cm"/>
      <inkml:brushProperty name="height" value="0.35" units="cm"/>
      <inkml:brushProperty name="color" value="#7C49FD"/>
    </inkml:brush>
  </inkml:definitions>
  <inkml:trace contextRef="#ctx0" brushRef="#br0">1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2T09:36:04.112"/>
    </inkml:context>
    <inkml:brush xml:id="br0">
      <inkml:brushProperty name="width" value="0.35" units="cm"/>
      <inkml:brushProperty name="height" value="0.35" units="cm"/>
      <inkml:brushProperty name="color" value="#7C49FD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2T09:36:10.604"/>
    </inkml:context>
    <inkml:brush xml:id="br0">
      <inkml:brushProperty name="width" value="0.35" units="cm"/>
      <inkml:brushProperty name="height" value="0.35" units="cm"/>
      <inkml:brushProperty name="color" value="#7C49FD"/>
    </inkml:brush>
  </inkml:definitions>
  <inkml:trace contextRef="#ctx0" brushRef="#br0">1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2T09:36:13.370"/>
    </inkml:context>
    <inkml:brush xml:id="br0">
      <inkml:brushProperty name="width" value="0.35" units="cm"/>
      <inkml:brushProperty name="height" value="0.35" units="cm"/>
      <inkml:brushProperty name="color" value="#7C49FD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2T09:36:14.740"/>
    </inkml:context>
    <inkml:brush xml:id="br0">
      <inkml:brushProperty name="width" value="0.35" units="cm"/>
      <inkml:brushProperty name="height" value="0.35" units="cm"/>
      <inkml:brushProperty name="color" value="#7C49FD"/>
    </inkml:brush>
  </inkml:definitions>
  <inkml:trace contextRef="#ctx0" brushRef="#br0">0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2T09:36:16.112"/>
    </inkml:context>
    <inkml:brush xml:id="br0">
      <inkml:brushProperty name="width" value="0.35" units="cm"/>
      <inkml:brushProperty name="height" value="0.35" units="cm"/>
      <inkml:brushProperty name="color" value="#7C49FD"/>
    </inkml:brush>
  </inkml:definitions>
  <inkml:trace contextRef="#ctx0" brushRef="#br0">0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2T09:36:18.094"/>
    </inkml:context>
    <inkml:brush xml:id="br0">
      <inkml:brushProperty name="width" value="0.35" units="cm"/>
      <inkml:brushProperty name="height" value="0.35" units="cm"/>
      <inkml:brushProperty name="color" value="#7C49FD"/>
    </inkml:brush>
  </inkml:definitions>
  <inkml:trace contextRef="#ctx0" brushRef="#br0">0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2T09:36:19.436"/>
    </inkml:context>
    <inkml:brush xml:id="br0">
      <inkml:brushProperty name="width" value="0.35" units="cm"/>
      <inkml:brushProperty name="height" value="0.35" units="cm"/>
      <inkml:brushProperty name="color" value="#7C49FD"/>
    </inkml:brush>
  </inkml:definitions>
  <inkml:trace contextRef="#ctx0" brushRef="#br0">0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2T09:36:20.558"/>
    </inkml:context>
    <inkml:brush xml:id="br0">
      <inkml:brushProperty name="width" value="0.35" units="cm"/>
      <inkml:brushProperty name="height" value="0.35" units="cm"/>
      <inkml:brushProperty name="color" value="#7C49FD"/>
    </inkml:brush>
  </inkml:definitions>
  <inkml:trace contextRef="#ctx0" brushRef="#br0">0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2T09:36:22.271"/>
    </inkml:context>
    <inkml:brush xml:id="br0">
      <inkml:brushProperty name="width" value="0.35" units="cm"/>
      <inkml:brushProperty name="height" value="0.35" units="cm"/>
      <inkml:brushProperty name="color" value="#7C49FD"/>
    </inkml:brush>
  </inkml:definitions>
  <inkml:trace contextRef="#ctx0" brushRef="#br0">0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2T09:36:23.941"/>
    </inkml:context>
    <inkml:brush xml:id="br0">
      <inkml:brushProperty name="width" value="0.35" units="cm"/>
      <inkml:brushProperty name="height" value="0.35" units="cm"/>
      <inkml:brushProperty name="color" value="#7C49FD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2T09:36:25.886"/>
    </inkml:context>
    <inkml:brush xml:id="br0">
      <inkml:brushProperty name="width" value="0.35" units="cm"/>
      <inkml:brushProperty name="height" value="0.35" units="cm"/>
      <inkml:brushProperty name="color" value="#7C49FD"/>
    </inkml:brush>
  </inkml:definitions>
  <inkml:trace contextRef="#ctx0" brushRef="#br0">0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2T09:36:27.541"/>
    </inkml:context>
    <inkml:brush xml:id="br0">
      <inkml:brushProperty name="width" value="0.35" units="cm"/>
      <inkml:brushProperty name="height" value="0.35" units="cm"/>
      <inkml:brushProperty name="color" value="#7C49FD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2T09:36:29.272"/>
    </inkml:context>
    <inkml:brush xml:id="br0">
      <inkml:brushProperty name="width" value="0.35" units="cm"/>
      <inkml:brushProperty name="height" value="0.35" units="cm"/>
      <inkml:brushProperty name="color" value="#7C49FD"/>
    </inkml:brush>
  </inkml:definitions>
  <inkml:trace contextRef="#ctx0" brushRef="#br0">0 0 24575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2T09:36:31.485"/>
    </inkml:context>
    <inkml:brush xml:id="br0">
      <inkml:brushProperty name="width" value="0.35" units="cm"/>
      <inkml:brushProperty name="height" value="0.35" units="cm"/>
      <inkml:brushProperty name="color" value="#7C49FD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522B-2ABE-41F4-B9F6-185E3C5700BE}" type="datetimeFigureOut">
              <a:rPr lang="en-IN" smtClean="0"/>
              <a:t>27-10-2025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2F5E4-D3A1-4765-ADFE-949802FD4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8842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522B-2ABE-41F4-B9F6-185E3C5700BE}" type="datetimeFigureOut">
              <a:rPr lang="en-IN" smtClean="0"/>
              <a:t>27-10-2025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B42F5E4-D3A1-4765-ADFE-949802FD4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321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522B-2ABE-41F4-B9F6-185E3C5700BE}" type="datetimeFigureOut">
              <a:rPr lang="en-IN" smtClean="0"/>
              <a:t>27-10-2025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2F5E4-D3A1-4765-ADFE-949802FD4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1810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522B-2ABE-41F4-B9F6-185E3C5700BE}" type="datetimeFigureOut">
              <a:rPr lang="en-IN" smtClean="0"/>
              <a:t>27-10-2025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2F5E4-D3A1-4765-ADFE-949802FD4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8719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522B-2ABE-41F4-B9F6-185E3C5700BE}" type="datetimeFigureOut">
              <a:rPr lang="en-IN" smtClean="0"/>
              <a:t>27-10-2025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2F5E4-D3A1-4765-ADFE-949802FD4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049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522B-2ABE-41F4-B9F6-185E3C5700BE}" type="datetimeFigureOut">
              <a:rPr lang="en-IN" smtClean="0"/>
              <a:t>27-10-2025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2F5E4-D3A1-4765-ADFE-949802FD4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9719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522B-2ABE-41F4-B9F6-185E3C5700BE}" type="datetimeFigureOut">
              <a:rPr lang="en-IN" smtClean="0"/>
              <a:t>27-10-2025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2F5E4-D3A1-4765-ADFE-949802FD4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2683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522B-2ABE-41F4-B9F6-185E3C5700BE}" type="datetimeFigureOut">
              <a:rPr lang="en-IN" smtClean="0"/>
              <a:t>27-10-2025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2F5E4-D3A1-4765-ADFE-949802FD4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6293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522B-2ABE-41F4-B9F6-185E3C5700BE}" type="datetimeFigureOut">
              <a:rPr lang="en-IN" smtClean="0"/>
              <a:t>27-10-2025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2F5E4-D3A1-4765-ADFE-949802FD4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2796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522B-2ABE-41F4-B9F6-185E3C5700BE}" type="datetimeFigureOut">
              <a:rPr lang="en-IN" smtClean="0"/>
              <a:t>27-10-2025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2F5E4-D3A1-4765-ADFE-949802FD4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9682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522B-2ABE-41F4-B9F6-185E3C5700BE}" type="datetimeFigureOut">
              <a:rPr lang="en-IN" smtClean="0"/>
              <a:t>27-10-2025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2F5E4-D3A1-4765-ADFE-949802FD4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0265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522B-2ABE-41F4-B9F6-185E3C5700BE}" type="datetimeFigureOut">
              <a:rPr lang="en-IN" smtClean="0"/>
              <a:t>27-10-2025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2F5E4-D3A1-4765-ADFE-949802FD4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2882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522B-2ABE-41F4-B9F6-185E3C5700BE}" type="datetimeFigureOut">
              <a:rPr lang="en-IN" smtClean="0"/>
              <a:t>27-10-2025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2F5E4-D3A1-4765-ADFE-949802FD4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9608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522B-2ABE-41F4-B9F6-185E3C5700BE}" type="datetimeFigureOut">
              <a:rPr lang="en-IN" smtClean="0"/>
              <a:t>27-10-2025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2F5E4-D3A1-4765-ADFE-949802FD4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9196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522B-2ABE-41F4-B9F6-185E3C5700BE}" type="datetimeFigureOut">
              <a:rPr lang="en-IN" smtClean="0"/>
              <a:t>27-10-2025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2F5E4-D3A1-4765-ADFE-949802FD4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1402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522B-2ABE-41F4-B9F6-185E3C5700BE}" type="datetimeFigureOut">
              <a:rPr lang="en-IN" smtClean="0"/>
              <a:t>27-10-2025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2F5E4-D3A1-4765-ADFE-949802FD4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8897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522B-2ABE-41F4-B9F6-185E3C5700BE}" type="datetimeFigureOut">
              <a:rPr lang="en-IN" smtClean="0"/>
              <a:t>27-10-2025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2F5E4-D3A1-4765-ADFE-949802FD4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250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A8F522B-2ABE-41F4-B9F6-185E3C5700BE}" type="datetimeFigureOut">
              <a:rPr lang="en-IN" smtClean="0"/>
              <a:t>27-10-2025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B42F5E4-D3A1-4765-ADFE-949802FD4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2517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customXml" Target="../ink/ink10.xml"/><Relationship Id="rId18" Type="http://schemas.openxmlformats.org/officeDocument/2006/relationships/customXml" Target="../ink/ink15.xml"/><Relationship Id="rId3" Type="http://schemas.openxmlformats.org/officeDocument/2006/relationships/customXml" Target="../ink/ink1.xml"/><Relationship Id="rId21" Type="http://schemas.openxmlformats.org/officeDocument/2006/relationships/customXml" Target="../ink/ink18.xml"/><Relationship Id="rId7" Type="http://schemas.openxmlformats.org/officeDocument/2006/relationships/customXml" Target="../ink/ink4.xml"/><Relationship Id="rId12" Type="http://schemas.openxmlformats.org/officeDocument/2006/relationships/customXml" Target="../ink/ink9.xml"/><Relationship Id="rId17" Type="http://schemas.openxmlformats.org/officeDocument/2006/relationships/customXml" Target="../ink/ink14.xml"/><Relationship Id="rId2" Type="http://schemas.openxmlformats.org/officeDocument/2006/relationships/image" Target="../media/image2.jpeg"/><Relationship Id="rId16" Type="http://schemas.openxmlformats.org/officeDocument/2006/relationships/customXml" Target="../ink/ink13.xml"/><Relationship Id="rId20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customXml" Target="../ink/ink8.xml"/><Relationship Id="rId5" Type="http://schemas.openxmlformats.org/officeDocument/2006/relationships/customXml" Target="../ink/ink2.xml"/><Relationship Id="rId15" Type="http://schemas.openxmlformats.org/officeDocument/2006/relationships/customXml" Target="../ink/ink12.xml"/><Relationship Id="rId10" Type="http://schemas.openxmlformats.org/officeDocument/2006/relationships/customXml" Target="../ink/ink7.xml"/><Relationship Id="rId19" Type="http://schemas.openxmlformats.org/officeDocument/2006/relationships/customXml" Target="../ink/ink16.xml"/><Relationship Id="rId4" Type="http://schemas.openxmlformats.org/officeDocument/2006/relationships/image" Target="../media/image3.png"/><Relationship Id="rId9" Type="http://schemas.openxmlformats.org/officeDocument/2006/relationships/customXml" Target="../ink/ink6.xml"/><Relationship Id="rId14" Type="http://schemas.openxmlformats.org/officeDocument/2006/relationships/customXml" Target="../ink/ink11.xml"/><Relationship Id="rId22" Type="http://schemas.openxmlformats.org/officeDocument/2006/relationships/customXml" Target="../ink/ink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51E6-CB4D-9044-B97E-A7E95F07B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6403858" cy="2371661"/>
          </a:xfrm>
        </p:spPr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Bootstrap</a:t>
            </a:r>
          </a:p>
        </p:txBody>
      </p:sp>
    </p:spTree>
    <p:extLst>
      <p:ext uri="{BB962C8B-B14F-4D97-AF65-F5344CB8AC3E}">
        <p14:creationId xmlns:p14="http://schemas.microsoft.com/office/powerpoint/2010/main" val="4291214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E06D5-BAA9-3B59-13D4-091569E8C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6017" y="766483"/>
            <a:ext cx="9300230" cy="739588"/>
          </a:xfrm>
        </p:spPr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DFB83-4D15-F7ED-6FDD-F247FFCE4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2738" y="1136277"/>
            <a:ext cx="8963509" cy="5069540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Bootstrap is a free front-end framework for faster and easier web development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Bootstrap includes HTML and CSS based design templates for  forms, buttons, tables, navigation, modals, image and many other, as well as optional JavaScript plugins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Bootstrap also gives you the ability to easily create responsive 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designs</a:t>
            </a: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144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01FCF-3F3A-E1EE-4B35-920CAB509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06824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Advantages of Bootstrap: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14880-A720-8605-C4E3-9CD408E19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4986" y="1593544"/>
            <a:ext cx="8897362" cy="4890383"/>
          </a:xfrm>
        </p:spPr>
        <p:txBody>
          <a:bodyPr>
            <a:noAutofit/>
          </a:bodyPr>
          <a:lstStyle/>
          <a:p>
            <a:r>
              <a:rPr lang="en-US" sz="2800" b="1" dirty="0"/>
              <a:t>Easy to use: </a:t>
            </a:r>
            <a:r>
              <a:rPr lang="en-US" sz="2800" dirty="0"/>
              <a:t>Anybody with just basic knowledge of HTML and CSS can start using Bootstrap</a:t>
            </a:r>
          </a:p>
          <a:p>
            <a:r>
              <a:rPr lang="en-US" sz="2800" b="1" dirty="0"/>
              <a:t>Responsive features: </a:t>
            </a:r>
            <a:r>
              <a:rPr lang="en-US" sz="2800" dirty="0"/>
              <a:t>Bootstrap's responsive CSS adjusts to phones, tablets, and desktops</a:t>
            </a:r>
          </a:p>
          <a:p>
            <a:r>
              <a:rPr lang="en-US" sz="2800" b="1" dirty="0"/>
              <a:t>Mobile-first approach: </a:t>
            </a:r>
            <a:r>
              <a:rPr lang="en-US" sz="2800" dirty="0"/>
              <a:t>In Bootstrap, mobile-first styles are part of the core framework</a:t>
            </a:r>
          </a:p>
          <a:p>
            <a:r>
              <a:rPr lang="en-US" sz="2800" b="1" dirty="0"/>
              <a:t>Browser compatibility</a:t>
            </a:r>
            <a:r>
              <a:rPr lang="en-US" sz="2800" dirty="0"/>
              <a:t>: Bootstrap 5 is compatible with all modern browsers (Chrome, Firefox, Edge, Safari, and Opera).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46663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B54E3-1A73-319C-7185-4EECC784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39588"/>
          </a:xfrm>
        </p:spPr>
        <p:txBody>
          <a:bodyPr/>
          <a:lstStyle/>
          <a:p>
            <a:r>
              <a:rPr lang="en-IN" b="1" i="0" dirty="0">
                <a:solidFill>
                  <a:schemeClr val="accent1"/>
                </a:solidFill>
                <a:effectLst/>
                <a:latin typeface="Verdana" panose="020B0604030504040204" pitchFamily="34" charset="0"/>
              </a:rPr>
              <a:t>CDN (Content Delivery Network):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609C9-A83A-B50E-0175-4B953FAAF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6015" y="1748118"/>
            <a:ext cx="10018713" cy="4276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CSS :</a:t>
            </a:r>
          </a:p>
          <a:p>
            <a:r>
              <a:rPr lang="en-US" sz="2800" dirty="0"/>
              <a:t>&lt;link href="https://cdn.jsdelivr.net/npm/bootstrap@5.2.3/dist/css/bootstrap.min.css" rel="stylesheet"&gt;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JavaScript :</a:t>
            </a:r>
          </a:p>
          <a:p>
            <a:r>
              <a:rPr lang="en-US" sz="2800" dirty="0"/>
              <a:t>&lt;script src="https://cdn.jsdelivr.net/npm/bootstrap@5.2.3/dist/js/bootstrap.bundle.min.js"&gt;&lt;/script&gt;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180610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02C307-85C9-0722-7600-817B4A6E3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5852528" cy="2048931"/>
          </a:xfrm>
        </p:spPr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Java Script</a:t>
            </a:r>
          </a:p>
        </p:txBody>
      </p:sp>
    </p:spTree>
    <p:extLst>
      <p:ext uri="{BB962C8B-B14F-4D97-AF65-F5344CB8AC3E}">
        <p14:creationId xmlns:p14="http://schemas.microsoft.com/office/powerpoint/2010/main" val="3749337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DB21B-ADC0-84FE-DBAB-CEE5945E7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820271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D2BC3-233C-544B-635B-7FDB3BBA4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6892" y="1506071"/>
            <a:ext cx="9257581" cy="4802365"/>
          </a:xfrm>
        </p:spPr>
        <p:txBody>
          <a:bodyPr>
            <a:noAutofit/>
          </a:bodyPr>
          <a:lstStyle/>
          <a:p>
            <a:r>
              <a:rPr lang="en-US" sz="2800" dirty="0"/>
              <a:t>JavaScript (js) is a light-weight object-oriented programming language.</a:t>
            </a:r>
          </a:p>
          <a:p>
            <a:r>
              <a:rPr lang="en-US" sz="2800" dirty="0"/>
              <a:t> which is used by several websites for scripting the webpages. </a:t>
            </a:r>
          </a:p>
          <a:p>
            <a:r>
              <a:rPr lang="en-US" sz="2800" dirty="0"/>
              <a:t>It is an interpreted, full-fledged programming language that enables dynamic interactivity on websites when applied to an HTML document. </a:t>
            </a:r>
          </a:p>
          <a:p>
            <a:r>
              <a:rPr lang="en-US" sz="2800" dirty="0"/>
              <a:t>It was introduced in the year 1995 for adding programs to the webpages in the Netscape Navigator browser.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66737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1726B-BBCD-CA5B-9351-FA8E50781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87506"/>
          </a:xfrm>
        </p:spPr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Application of JavaScript: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EE179-37A9-4BD6-89F7-A8749A60B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343" y="1573307"/>
            <a:ext cx="9446058" cy="4791907"/>
          </a:xfrm>
        </p:spPr>
        <p:txBody>
          <a:bodyPr>
            <a:noAutofit/>
          </a:bodyPr>
          <a:lstStyle/>
          <a:p>
            <a:r>
              <a:rPr lang="en-IN" sz="2800" dirty="0"/>
              <a:t>JavaScript is used to create interactive websites. </a:t>
            </a:r>
          </a:p>
          <a:p>
            <a:r>
              <a:rPr lang="en-IN" sz="2800" dirty="0"/>
              <a:t>It is mainly used for:</a:t>
            </a:r>
          </a:p>
          <a:p>
            <a:pPr lvl="2"/>
            <a:r>
              <a:rPr lang="en-IN" sz="2800" dirty="0"/>
              <a:t>Client-side validation,</a:t>
            </a:r>
          </a:p>
          <a:p>
            <a:pPr lvl="2"/>
            <a:r>
              <a:rPr lang="en-IN" sz="2800" dirty="0"/>
              <a:t>Dynamic drop-down menus,</a:t>
            </a:r>
          </a:p>
          <a:p>
            <a:pPr lvl="2"/>
            <a:r>
              <a:rPr lang="en-IN" sz="2800" dirty="0"/>
              <a:t>Displaying date and time,</a:t>
            </a:r>
          </a:p>
          <a:p>
            <a:pPr lvl="2"/>
            <a:r>
              <a:rPr lang="en-IN" sz="2800" dirty="0"/>
              <a:t>Displaying pop-up windows and dialog boxes (like an </a:t>
            </a:r>
            <a:r>
              <a:rPr lang="en-IN" sz="2800" dirty="0" smtClean="0"/>
              <a:t>alert, confirm </a:t>
            </a:r>
            <a:r>
              <a:rPr lang="en-IN" sz="2800" dirty="0"/>
              <a:t>and prompt dialog </a:t>
            </a:r>
            <a:r>
              <a:rPr lang="en-IN" sz="2800" dirty="0" smtClean="0"/>
              <a:t>boxes),</a:t>
            </a:r>
            <a:endParaRPr lang="en-IN" sz="2800" dirty="0"/>
          </a:p>
          <a:p>
            <a:pPr lvl="2"/>
            <a:r>
              <a:rPr lang="en-IN" sz="2800" dirty="0"/>
              <a:t>Displaying clocks etc.</a:t>
            </a:r>
          </a:p>
        </p:txBody>
      </p:sp>
    </p:spTree>
    <p:extLst>
      <p:ext uri="{BB962C8B-B14F-4D97-AF65-F5344CB8AC3E}">
        <p14:creationId xmlns:p14="http://schemas.microsoft.com/office/powerpoint/2010/main" val="118721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82161-624E-D208-E1F2-C3E90A8FD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6945" y="415636"/>
            <a:ext cx="9036916" cy="6002347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Internal Js:</a:t>
            </a:r>
          </a:p>
          <a:p>
            <a:pPr marL="457200" lvl="1" indent="0">
              <a:buNone/>
            </a:pPr>
            <a:r>
              <a:rPr lang="en-IN" sz="2400" dirty="0"/>
              <a:t>&lt;script type="text/javascript"&gt;  </a:t>
            </a:r>
          </a:p>
          <a:p>
            <a:pPr marL="457200" lvl="1" indent="0">
              <a:buNone/>
            </a:pPr>
            <a:r>
              <a:rPr lang="en-IN" sz="2400" dirty="0" smtClean="0"/>
              <a:t>	</a:t>
            </a:r>
            <a:r>
              <a:rPr lang="en-IN" sz="2400" dirty="0" err="1" smtClean="0"/>
              <a:t>document.write</a:t>
            </a:r>
            <a:r>
              <a:rPr lang="en-IN" sz="2400" dirty="0"/>
              <a:t>("JavaScript Example");  </a:t>
            </a:r>
          </a:p>
          <a:p>
            <a:pPr marL="457200" lvl="1" indent="0">
              <a:buNone/>
            </a:pPr>
            <a:r>
              <a:rPr lang="en-IN" sz="2400" dirty="0"/>
              <a:t>&lt;/script&gt;  </a:t>
            </a: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External Js:</a:t>
            </a:r>
          </a:p>
          <a:p>
            <a:pPr marL="0" indent="0">
              <a:buNone/>
            </a:pPr>
            <a:r>
              <a:rPr lang="en-IN" sz="2800" dirty="0"/>
              <a:t>	</a:t>
            </a:r>
            <a:r>
              <a:rPr lang="en-IN" sz="2800" b="1" dirty="0"/>
              <a:t>messge.js</a:t>
            </a:r>
          </a:p>
          <a:p>
            <a:pPr marL="457200" lvl="1" indent="0">
              <a:buNone/>
            </a:pPr>
            <a:r>
              <a:rPr lang="en-IN" sz="2400" dirty="0"/>
              <a:t>		function msg(){  </a:t>
            </a:r>
          </a:p>
          <a:p>
            <a:pPr marL="457200" lvl="1" indent="0">
              <a:buNone/>
            </a:pPr>
            <a:r>
              <a:rPr lang="en-IN" sz="2400" dirty="0"/>
              <a:t>				 alert("Hello JavaScript");  </a:t>
            </a:r>
          </a:p>
          <a:p>
            <a:pPr marL="457200" lvl="1" indent="0">
              <a:buNone/>
            </a:pPr>
            <a:r>
              <a:rPr lang="en-IN" sz="2400" dirty="0"/>
              <a:t>		} </a:t>
            </a:r>
          </a:p>
          <a:p>
            <a:pPr marL="457200" lvl="1" indent="0">
              <a:buNone/>
            </a:pPr>
            <a:r>
              <a:rPr lang="en-IN" sz="2800" b="1" dirty="0"/>
              <a:t>Ex.html</a:t>
            </a:r>
            <a:r>
              <a:rPr lang="en-IN" sz="2800" b="1" dirty="0" smtClean="0"/>
              <a:t>: </a:t>
            </a:r>
          </a:p>
          <a:p>
            <a:pPr marL="457200" lvl="1" indent="0">
              <a:buNone/>
            </a:pPr>
            <a:r>
              <a:rPr lang="en-IN" sz="2800" b="1" dirty="0"/>
              <a:t>	</a:t>
            </a:r>
            <a:r>
              <a:rPr lang="en-IN" sz="2400" dirty="0" smtClean="0"/>
              <a:t>&lt;</a:t>
            </a:r>
            <a:r>
              <a:rPr lang="en-IN" sz="2400" dirty="0"/>
              <a:t>script type="</a:t>
            </a:r>
            <a:r>
              <a:rPr lang="en-IN" sz="2400" dirty="0" smtClean="0"/>
              <a:t>text/</a:t>
            </a:r>
            <a:r>
              <a:rPr lang="en-IN" sz="2400" dirty="0" err="1" smtClean="0"/>
              <a:t>javascript</a:t>
            </a:r>
            <a:r>
              <a:rPr lang="en-IN" sz="2400" dirty="0" smtClean="0"/>
              <a:t>“ </a:t>
            </a:r>
            <a:r>
              <a:rPr lang="en-IN" sz="2400" dirty="0" err="1" smtClean="0"/>
              <a:t>src</a:t>
            </a:r>
            <a:r>
              <a:rPr lang="en-IN" sz="2400" dirty="0"/>
              <a:t>="message.js"&gt;&lt;/script&gt; </a:t>
            </a:r>
          </a:p>
        </p:txBody>
      </p:sp>
    </p:spTree>
    <p:extLst>
      <p:ext uri="{BB962C8B-B14F-4D97-AF65-F5344CB8AC3E}">
        <p14:creationId xmlns:p14="http://schemas.microsoft.com/office/powerpoint/2010/main" val="616322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30799-9F8E-F9E8-E8A9-492056E1F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33718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Variable: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D0566-54F3-A215-A0B0-41BF067F2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798" y="1250578"/>
            <a:ext cx="8818096" cy="5094194"/>
          </a:xfrm>
        </p:spPr>
        <p:txBody>
          <a:bodyPr>
            <a:normAutofit/>
          </a:bodyPr>
          <a:lstStyle/>
          <a:p>
            <a:r>
              <a:rPr lang="en-US" dirty="0"/>
              <a:t>A JavaScript variable is simply a name of storage location.</a:t>
            </a:r>
          </a:p>
          <a:p>
            <a:r>
              <a:rPr lang="en-US" dirty="0"/>
              <a:t> There are two types of variables in JavaScript : </a:t>
            </a:r>
          </a:p>
          <a:p>
            <a:pPr lvl="1"/>
            <a:r>
              <a:rPr lang="en-US" sz="2400" dirty="0"/>
              <a:t>local variable and global variable.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Rules:</a:t>
            </a:r>
          </a:p>
          <a:p>
            <a:pPr lvl="1"/>
            <a:r>
              <a:rPr lang="en-US" sz="2400" dirty="0"/>
              <a:t>Name must start with a letter (a to z or A to Z), underscore( _ ), or dollar( $ ) sign.</a:t>
            </a:r>
          </a:p>
          <a:p>
            <a:pPr lvl="1"/>
            <a:r>
              <a:rPr lang="en-US" sz="2400" dirty="0"/>
              <a:t>After first letter we can use digits (0 to 9), for example value1.</a:t>
            </a:r>
          </a:p>
          <a:p>
            <a:pPr lvl="1"/>
            <a:r>
              <a:rPr lang="en-US" sz="2400" dirty="0"/>
              <a:t>JavaScript variables are case sensitive, for example x and X are different variables.</a:t>
            </a:r>
          </a:p>
        </p:txBody>
      </p:sp>
    </p:spTree>
    <p:extLst>
      <p:ext uri="{BB962C8B-B14F-4D97-AF65-F5344CB8AC3E}">
        <p14:creationId xmlns:p14="http://schemas.microsoft.com/office/powerpoint/2010/main" val="1954566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524EA-9C7B-7314-E489-ED310EEC9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33718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Local Variable                     Global Variable: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1AAB9-0BBB-A224-8985-D82AB5C5F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0387" y="1479179"/>
            <a:ext cx="4491319" cy="5109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&lt;script&gt;  </a:t>
            </a:r>
          </a:p>
          <a:p>
            <a:pPr marL="0" indent="0">
              <a:buNone/>
            </a:pPr>
            <a:r>
              <a:rPr lang="en-IN" dirty="0"/>
              <a:t>		var value=50;		</a:t>
            </a:r>
          </a:p>
          <a:p>
            <a:pPr marL="0" indent="0">
              <a:buNone/>
            </a:pPr>
            <a:r>
              <a:rPr lang="en-IN" dirty="0"/>
              <a:t>		function a(){  </a:t>
            </a:r>
          </a:p>
          <a:p>
            <a:pPr marL="0" indent="0">
              <a:buNone/>
            </a:pPr>
            <a:r>
              <a:rPr lang="en-IN" dirty="0"/>
              <a:t>				alert(value);  </a:t>
            </a:r>
          </a:p>
          <a:p>
            <a:pPr marL="0" indent="0">
              <a:buNone/>
            </a:pPr>
            <a:r>
              <a:rPr lang="en-IN" dirty="0"/>
              <a:t>		}  </a:t>
            </a:r>
          </a:p>
          <a:p>
            <a:pPr marL="0" indent="0">
              <a:buNone/>
            </a:pPr>
            <a:r>
              <a:rPr lang="en-IN" dirty="0"/>
              <a:t>		function b(){  </a:t>
            </a:r>
          </a:p>
          <a:p>
            <a:pPr marL="0" indent="0">
              <a:buNone/>
            </a:pPr>
            <a:r>
              <a:rPr lang="en-IN" dirty="0"/>
              <a:t>				alert(value);  </a:t>
            </a:r>
          </a:p>
          <a:p>
            <a:pPr marL="0" indent="0">
              <a:buNone/>
            </a:pPr>
            <a:r>
              <a:rPr lang="en-IN" dirty="0"/>
              <a:t>		}  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F6A721-F424-3A4E-765F-74E8BFC0964B}"/>
              </a:ext>
            </a:extLst>
          </p:cNvPr>
          <p:cNvSpPr txBox="1"/>
          <p:nvPr/>
        </p:nvSpPr>
        <p:spPr>
          <a:xfrm>
            <a:off x="2272938" y="1763101"/>
            <a:ext cx="441800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" sz="2800" dirty="0"/>
              <a:t>&lt;script&gt;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" sz="2800" dirty="0"/>
              <a:t>	</a:t>
            </a:r>
            <a:r>
              <a:rPr lang="es-ES" sz="2800" dirty="0" err="1" smtClean="0"/>
              <a:t>function</a:t>
            </a:r>
            <a:r>
              <a:rPr lang="es-ES" sz="2800" dirty="0" smtClean="0"/>
              <a:t> demo() {</a:t>
            </a:r>
            <a:r>
              <a:rPr lang="es-ES" sz="2800" dirty="0"/>
              <a:t>	</a:t>
            </a:r>
            <a:endParaRPr lang="es-ES" sz="28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s-ES" sz="2800" dirty="0"/>
              <a:t>	</a:t>
            </a:r>
            <a:r>
              <a:rPr lang="es-ES" sz="2800" dirty="0" smtClean="0"/>
              <a:t>	</a:t>
            </a:r>
            <a:r>
              <a:rPr lang="es-ES" sz="2800" dirty="0" err="1" smtClean="0"/>
              <a:t>var</a:t>
            </a:r>
            <a:r>
              <a:rPr lang="es-ES" sz="2800" dirty="0" smtClean="0"/>
              <a:t> z=50;</a:t>
            </a:r>
            <a:r>
              <a:rPr lang="es-ES" sz="2800" dirty="0"/>
              <a:t>		</a:t>
            </a:r>
            <a:r>
              <a:rPr lang="es-ES" sz="2800" dirty="0" smtClean="0"/>
              <a:t>					</a:t>
            </a:r>
            <a:r>
              <a:rPr lang="es-ES" sz="2800" dirty="0" err="1" smtClean="0"/>
              <a:t>document.write</a:t>
            </a:r>
            <a:r>
              <a:rPr lang="es-ES" sz="2800" dirty="0" smtClean="0"/>
              <a:t>(z</a:t>
            </a:r>
            <a:r>
              <a:rPr lang="es-ES" sz="2800" dirty="0"/>
              <a:t>); </a:t>
            </a:r>
            <a:endParaRPr lang="es-ES" sz="28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s-ES" sz="2800" dirty="0" smtClean="0"/>
              <a:t>	} </a:t>
            </a:r>
            <a:endParaRPr lang="es-ES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s-ES" sz="2800" dirty="0"/>
              <a:t>&lt;/script&gt;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1080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8F91B-09D0-F5E0-F838-E56F3770C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524436"/>
            <a:ext cx="10018713" cy="860612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Data Types: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E23DB-C827-0080-3075-141ABA909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380" y="1223684"/>
            <a:ext cx="10018713" cy="4854386"/>
          </a:xfrm>
        </p:spPr>
        <p:txBody>
          <a:bodyPr>
            <a:normAutofit/>
          </a:bodyPr>
          <a:lstStyle/>
          <a:p>
            <a:r>
              <a:rPr lang="en-US" dirty="0"/>
              <a:t>JavaScript provides different data types to hold different types of values. </a:t>
            </a:r>
          </a:p>
          <a:p>
            <a:r>
              <a:rPr lang="en-US" dirty="0"/>
              <a:t>There are two types of data types in JavaScript.</a:t>
            </a:r>
          </a:p>
          <a:p>
            <a:pPr lvl="2"/>
            <a:r>
              <a:rPr lang="en-US" sz="2400" dirty="0"/>
              <a:t>Primitive data type</a:t>
            </a:r>
          </a:p>
          <a:p>
            <a:pPr lvl="2"/>
            <a:r>
              <a:rPr lang="en-US" sz="2400" dirty="0"/>
              <a:t>Non-primitive (reference) data type</a:t>
            </a:r>
          </a:p>
          <a:p>
            <a:r>
              <a:rPr lang="en-US" dirty="0"/>
              <a:t>JavaScript is a dynamic type language, means you don't need to specify type of the variable because it is dynamically used by JavaScript engine. </a:t>
            </a:r>
          </a:p>
          <a:p>
            <a:r>
              <a:rPr lang="en-US" dirty="0"/>
              <a:t>You need to use </a:t>
            </a:r>
            <a:r>
              <a:rPr lang="en-US" b="1" dirty="0"/>
              <a:t>var</a:t>
            </a:r>
            <a:r>
              <a:rPr lang="en-US" dirty="0"/>
              <a:t> here to specify the data type. </a:t>
            </a:r>
          </a:p>
          <a:p>
            <a:r>
              <a:rPr lang="en-US" dirty="0"/>
              <a:t>It can hold any type of values such as numbers, strings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2643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FB2F-E4A7-BFD3-961C-7CE560ECD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05" y="349624"/>
            <a:ext cx="10018713" cy="820271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Operators:</a:t>
            </a:r>
          </a:p>
        </p:txBody>
      </p:sp>
      <p:pic>
        <p:nvPicPr>
          <p:cNvPr id="1026" name="Picture 2" descr="Enough JavaScript to get you Started : #6 Operators">
            <a:extLst>
              <a:ext uri="{FF2B5EF4-FFF2-40B4-BE49-F238E27FC236}">
                <a16:creationId xmlns:a16="http://schemas.microsoft.com/office/drawing/2014/main" id="{45C559B4-C08B-B1BF-5453-95DB229F65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965" y="1315123"/>
            <a:ext cx="8283387" cy="4964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03E44A9B-747F-28C9-E82F-1C5D1EB680BF}"/>
              </a:ext>
            </a:extLst>
          </p:cNvPr>
          <p:cNvGrpSpPr/>
          <p:nvPr/>
        </p:nvGrpSpPr>
        <p:grpSpPr>
          <a:xfrm>
            <a:off x="6750021" y="3845668"/>
            <a:ext cx="497880" cy="81360"/>
            <a:chOff x="6750021" y="3845668"/>
            <a:chExt cx="497880" cy="8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C463F9C-434E-56B5-50D6-F46C1DB1E232}"/>
                    </a:ext>
                  </a:extLst>
                </p14:cNvPr>
                <p14:cNvContentPartPr/>
                <p14:nvPr/>
              </p14:nvContentPartPr>
              <p14:xfrm>
                <a:off x="6750021" y="3872668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C463F9C-434E-56B5-50D6-F46C1DB1E23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87021" y="380966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FE9E2D1-176B-7376-3A1C-3B63FB9F2A94}"/>
                    </a:ext>
                  </a:extLst>
                </p14:cNvPr>
                <p14:cNvContentPartPr/>
                <p14:nvPr/>
              </p14:nvContentPartPr>
              <p14:xfrm>
                <a:off x="6884661" y="3872668"/>
                <a:ext cx="3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FE9E2D1-176B-7376-3A1C-3B63FB9F2A9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822021" y="380966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56FDCAD-8B75-A28C-9795-1789B4EE117E}"/>
                    </a:ext>
                  </a:extLst>
                </p14:cNvPr>
                <p14:cNvContentPartPr/>
                <p14:nvPr/>
              </p14:nvContentPartPr>
              <p14:xfrm>
                <a:off x="6978621" y="3885988"/>
                <a:ext cx="36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56FDCAD-8B75-A28C-9795-1789B4EE117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915981" y="382298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46FF772-2D2F-322F-B423-21922164E838}"/>
                    </a:ext>
                  </a:extLst>
                </p14:cNvPr>
                <p14:cNvContentPartPr/>
                <p14:nvPr/>
              </p14:nvContentPartPr>
              <p14:xfrm>
                <a:off x="7059621" y="3926668"/>
                <a:ext cx="36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46FF772-2D2F-322F-B423-21922164E83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996621" y="386366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5E36909-2169-7A46-45D1-50EA647884A5}"/>
                    </a:ext>
                  </a:extLst>
                </p14:cNvPr>
                <p14:cNvContentPartPr/>
                <p14:nvPr/>
              </p14:nvContentPartPr>
              <p14:xfrm>
                <a:off x="7220541" y="3845668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5E36909-2169-7A46-45D1-50EA647884A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157901" y="378302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D89EA63-94B6-A469-2860-31A0F1124286}"/>
                    </a:ext>
                  </a:extLst>
                </p14:cNvPr>
                <p14:cNvContentPartPr/>
                <p14:nvPr/>
              </p14:nvContentPartPr>
              <p14:xfrm>
                <a:off x="7247541" y="3885988"/>
                <a:ext cx="36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D89EA63-94B6-A469-2860-31A0F112428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184901" y="382298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24B9757-5963-B14B-B1D3-D2C3FB28E8D5}"/>
                  </a:ext>
                </a:extLst>
              </p14:cNvPr>
              <p14:cNvContentPartPr/>
              <p14:nvPr/>
            </p14:nvContentPartPr>
            <p14:xfrm>
              <a:off x="9426261" y="3872668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24B9757-5963-B14B-B1D3-D2C3FB28E8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63621" y="3809668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40E2918E-E008-9B1C-3361-C9C3E0831D6F}"/>
              </a:ext>
            </a:extLst>
          </p:cNvPr>
          <p:cNvGrpSpPr/>
          <p:nvPr/>
        </p:nvGrpSpPr>
        <p:grpSpPr>
          <a:xfrm>
            <a:off x="8740101" y="5607148"/>
            <a:ext cx="713520" cy="135000"/>
            <a:chOff x="8740101" y="5607148"/>
            <a:chExt cx="713520" cy="13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802D663-44C7-5882-5E0F-09FC72DFA502}"/>
                    </a:ext>
                  </a:extLst>
                </p14:cNvPr>
                <p14:cNvContentPartPr/>
                <p14:nvPr/>
              </p14:nvContentPartPr>
              <p14:xfrm>
                <a:off x="9453261" y="5688148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802D663-44C7-5882-5E0F-09FC72DFA50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390621" y="562514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54B9EBF-1800-95AD-7FBE-FDAD5884B7C5}"/>
                    </a:ext>
                  </a:extLst>
                </p14:cNvPr>
                <p14:cNvContentPartPr/>
                <p14:nvPr/>
              </p14:nvContentPartPr>
              <p14:xfrm>
                <a:off x="9183981" y="5634148"/>
                <a:ext cx="36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54B9EBF-1800-95AD-7FBE-FDAD5884B7C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120981" y="557150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FB12470-D5A9-87F3-D2F8-C704B4907C7F}"/>
                    </a:ext>
                  </a:extLst>
                </p14:cNvPr>
                <p14:cNvContentPartPr/>
                <p14:nvPr/>
              </p14:nvContentPartPr>
              <p14:xfrm>
                <a:off x="9278661" y="5647468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FB12470-D5A9-87F3-D2F8-C704B4907C7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215661" y="558446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5072353-BE3F-E85A-BC6E-049A266EA902}"/>
                    </a:ext>
                  </a:extLst>
                </p14:cNvPr>
                <p14:cNvContentPartPr/>
                <p14:nvPr/>
              </p14:nvContentPartPr>
              <p14:xfrm>
                <a:off x="9224661" y="5741788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5072353-BE3F-E85A-BC6E-049A266EA90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161661" y="567914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0B12FEA-6CB2-17B6-C9DF-C6735DC5E3A9}"/>
                    </a:ext>
                  </a:extLst>
                </p14:cNvPr>
                <p14:cNvContentPartPr/>
                <p14:nvPr/>
              </p14:nvContentPartPr>
              <p14:xfrm>
                <a:off x="9345621" y="5661148"/>
                <a:ext cx="36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0B12FEA-6CB2-17B6-C9DF-C6735DC5E3A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282621" y="559814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B4BF1A0-37FD-F5B5-5D42-DD80FE3D92A9}"/>
                    </a:ext>
                  </a:extLst>
                </p14:cNvPr>
                <p14:cNvContentPartPr/>
                <p14:nvPr/>
              </p14:nvContentPartPr>
              <p14:xfrm>
                <a:off x="9345621" y="5741788"/>
                <a:ext cx="360" cy="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B4BF1A0-37FD-F5B5-5D42-DD80FE3D92A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282621" y="567914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BD1908D-CB02-838B-30E7-21DDC8940CEF}"/>
                    </a:ext>
                  </a:extLst>
                </p14:cNvPr>
                <p14:cNvContentPartPr/>
                <p14:nvPr/>
              </p14:nvContentPartPr>
              <p14:xfrm>
                <a:off x="9117021" y="5728108"/>
                <a:ext cx="36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BD1908D-CB02-838B-30E7-21DDC8940CE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054021" y="566546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ECA8B25-B56F-C081-91BB-26DD256549CC}"/>
                    </a:ext>
                  </a:extLst>
                </p14:cNvPr>
                <p14:cNvContentPartPr/>
                <p14:nvPr/>
              </p14:nvContentPartPr>
              <p14:xfrm>
                <a:off x="8901741" y="5661148"/>
                <a:ext cx="360" cy="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ECA8B25-B56F-C081-91BB-26DD256549C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839101" y="559814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B1D10E0-34CB-30A8-78A7-909C1F83A0C6}"/>
                    </a:ext>
                  </a:extLst>
                </p14:cNvPr>
                <p14:cNvContentPartPr/>
                <p14:nvPr/>
              </p14:nvContentPartPr>
              <p14:xfrm>
                <a:off x="8754141" y="5607148"/>
                <a:ext cx="36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B1D10E0-34CB-30A8-78A7-909C1F83A0C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691141" y="554450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D40B58F-29EE-7606-B1FE-446303EF60D1}"/>
                    </a:ext>
                  </a:extLst>
                </p14:cNvPr>
                <p14:cNvContentPartPr/>
                <p14:nvPr/>
              </p14:nvContentPartPr>
              <p14:xfrm>
                <a:off x="8740101" y="5674468"/>
                <a:ext cx="360" cy="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D40B58F-29EE-7606-B1FE-446303EF60D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677461" y="561146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7DDE3D3-F0EB-3E6D-A63E-983C5C08020E}"/>
                    </a:ext>
                  </a:extLst>
                </p14:cNvPr>
                <p14:cNvContentPartPr/>
                <p14:nvPr/>
              </p14:nvContentPartPr>
              <p14:xfrm>
                <a:off x="8942061" y="5715148"/>
                <a:ext cx="360" cy="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7DDE3D3-F0EB-3E6D-A63E-983C5C08020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879061" y="565214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83C9641-552E-EA99-F26C-98DA425C3F67}"/>
                  </a:ext>
                </a:extLst>
              </p14:cNvPr>
              <p14:cNvContentPartPr/>
              <p14:nvPr/>
            </p14:nvContentPartPr>
            <p14:xfrm>
              <a:off x="8673141" y="5741788"/>
              <a:ext cx="360" cy="3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83C9641-552E-EA99-F26C-98DA425C3F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10501" y="5679148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A33894BB-6ADA-170C-B29C-EB2223B18D60}"/>
              </a:ext>
            </a:extLst>
          </p:cNvPr>
          <p:cNvSpPr txBox="1"/>
          <p:nvPr/>
        </p:nvSpPr>
        <p:spPr>
          <a:xfrm>
            <a:off x="6817658" y="3662622"/>
            <a:ext cx="725781" cy="366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&lt;,&gt;,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F36D5B5-5DFC-EF8B-A38A-220C00AC7510}"/>
              </a:ext>
            </a:extLst>
          </p:cNvPr>
          <p:cNvSpPr txBox="1"/>
          <p:nvPr/>
        </p:nvSpPr>
        <p:spPr>
          <a:xfrm>
            <a:off x="8673141" y="3064804"/>
            <a:ext cx="1009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,++,--</a:t>
            </a:r>
          </a:p>
        </p:txBody>
      </p:sp>
    </p:spTree>
    <p:extLst>
      <p:ext uri="{BB962C8B-B14F-4D97-AF65-F5344CB8AC3E}">
        <p14:creationId xmlns:p14="http://schemas.microsoft.com/office/powerpoint/2010/main" val="275279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FD205-005D-BD88-FBBB-2F29197E5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610" y="698863"/>
            <a:ext cx="6549346" cy="77724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Decision Contructs:</a:t>
            </a: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51918-FA33-0671-5BF9-D08BB5602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3383" y="1463648"/>
            <a:ext cx="8725988" cy="497816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dirty="0" smtClean="0"/>
              <a:t>  To </a:t>
            </a:r>
            <a:r>
              <a:rPr lang="en-US" sz="2200" dirty="0"/>
              <a:t>change the flow of the program</a:t>
            </a:r>
          </a:p>
          <a:p>
            <a:pPr marL="0" indent="0">
              <a:buNone/>
            </a:pPr>
            <a:r>
              <a:rPr lang="en-US" b="1" dirty="0" smtClean="0"/>
              <a:t>Control </a:t>
            </a:r>
            <a:r>
              <a:rPr lang="en-US" b="1" dirty="0"/>
              <a:t>Statements</a:t>
            </a:r>
            <a:r>
              <a:rPr lang="en-US" b="1" dirty="0" smtClean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/>
              <a:t>Conditional </a:t>
            </a:r>
            <a:r>
              <a:rPr lang="en-US" sz="2200" b="1" dirty="0" smtClean="0"/>
              <a:t>Branching</a:t>
            </a:r>
            <a:r>
              <a:rPr lang="en-US" sz="2200" dirty="0" smtClean="0">
                <a:sym typeface="Wingdings" panose="05000000000000000000" pitchFamily="2" charset="2"/>
              </a:rPr>
              <a:t>:  </a:t>
            </a:r>
            <a:r>
              <a:rPr lang="en-IN" sz="2200" dirty="0" smtClean="0"/>
              <a:t>To </a:t>
            </a:r>
            <a:r>
              <a:rPr lang="en-IN" sz="2200" dirty="0"/>
              <a:t>check the condition right or wrong.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/>
              <a:t>Conditional </a:t>
            </a:r>
            <a:r>
              <a:rPr lang="en-US" sz="2200" b="1" dirty="0" smtClean="0"/>
              <a:t>Looping</a:t>
            </a:r>
            <a:r>
              <a:rPr lang="en-US" sz="2200" b="1" dirty="0" smtClean="0">
                <a:sym typeface="Wingdings" panose="05000000000000000000" pitchFamily="2" charset="2"/>
              </a:rPr>
              <a:t>: </a:t>
            </a:r>
            <a:r>
              <a:rPr lang="en-US" sz="2200" dirty="0" smtClean="0">
                <a:sym typeface="Wingdings" panose="05000000000000000000" pitchFamily="2" charset="2"/>
              </a:rPr>
              <a:t>To </a:t>
            </a:r>
            <a:r>
              <a:rPr lang="en-US" sz="2200" dirty="0">
                <a:sym typeface="Wingdings" panose="05000000000000000000" pitchFamily="2" charset="2"/>
              </a:rPr>
              <a:t>repeat the process with conditions</a:t>
            </a:r>
            <a:r>
              <a:rPr lang="en-US" sz="2200" dirty="0" smtClean="0">
                <a:sym typeface="Wingdings" panose="05000000000000000000" pitchFamily="2" charset="2"/>
              </a:rPr>
              <a:t>.</a:t>
            </a:r>
            <a:endParaRPr lang="en-US" sz="2200" b="1" dirty="0" smtClean="0"/>
          </a:p>
          <a:p>
            <a:pPr marL="0" indent="0">
              <a:buNone/>
            </a:pPr>
            <a:r>
              <a:rPr lang="en-US" b="1" dirty="0" smtClean="0"/>
              <a:t>Syntax for Branching:</a:t>
            </a:r>
          </a:p>
          <a:p>
            <a:pPr marL="0" indent="0">
              <a:buNone/>
            </a:pPr>
            <a:r>
              <a:rPr lang="en-US" sz="2200" b="1" dirty="0"/>
              <a:t>	</a:t>
            </a:r>
            <a:r>
              <a:rPr lang="en-US" sz="2200" b="1" dirty="0" smtClean="0"/>
              <a:t>		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If: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	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		</a:t>
            </a:r>
            <a:r>
              <a:rPr lang="en-US" sz="2400" dirty="0" smtClean="0"/>
              <a:t>if(Condition</a:t>
            </a:r>
            <a:r>
              <a:rPr lang="en-US" sz="2400" dirty="0"/>
              <a:t>){  </a:t>
            </a:r>
            <a:endParaRPr lang="en-US" sz="2400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sz="2400" dirty="0"/>
              <a:t>		// </a:t>
            </a:r>
            <a:r>
              <a:rPr lang="en-US" sz="2400" dirty="0" smtClean="0"/>
              <a:t>Statement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</a:t>
            </a:r>
            <a:r>
              <a:rPr lang="en-US" sz="2400" dirty="0" smtClean="0"/>
              <a:t>}  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C09A34-EC46-8952-4613-80E0C2ED7C1E}"/>
              </a:ext>
            </a:extLst>
          </p:cNvPr>
          <p:cNvSpPr txBox="1"/>
          <p:nvPr/>
        </p:nvSpPr>
        <p:spPr>
          <a:xfrm>
            <a:off x="7225682" y="3784966"/>
            <a:ext cx="40475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If-else:</a:t>
            </a:r>
          </a:p>
          <a:p>
            <a:pPr marL="0" indent="0">
              <a:buNone/>
            </a:pPr>
            <a:r>
              <a:rPr lang="en-US" sz="2400" dirty="0"/>
              <a:t>if(Condition){  </a:t>
            </a:r>
          </a:p>
          <a:p>
            <a:pPr marL="0" indent="0">
              <a:buNone/>
            </a:pPr>
            <a:r>
              <a:rPr lang="en-US" sz="2400" dirty="0"/>
              <a:t>		//Statement</a:t>
            </a:r>
          </a:p>
          <a:p>
            <a:pPr marL="0" indent="0">
              <a:buNone/>
            </a:pPr>
            <a:r>
              <a:rPr lang="en-US" sz="2400" dirty="0"/>
              <a:t>}  </a:t>
            </a:r>
          </a:p>
          <a:p>
            <a:pPr marL="0" indent="0">
              <a:buNone/>
            </a:pPr>
            <a:r>
              <a:rPr lang="en-US" sz="2400" dirty="0"/>
              <a:t>else{  </a:t>
            </a:r>
          </a:p>
          <a:p>
            <a:pPr marL="0" indent="0">
              <a:buNone/>
            </a:pPr>
            <a:r>
              <a:rPr lang="en-US" sz="2400" dirty="0"/>
              <a:t>		// Statement</a:t>
            </a:r>
          </a:p>
          <a:p>
            <a:pPr marL="0" indent="0">
              <a:buNone/>
            </a:pPr>
            <a:r>
              <a:rPr lang="en-US" sz="2400" dirty="0"/>
              <a:t>}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3323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D9711-D6F7-5A48-14DB-AEDF2BF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362" y="510989"/>
            <a:ext cx="4805085" cy="779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Else-if ladder: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BB719-866B-EDD7-F6A6-38A2C47C5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5516" y="1290918"/>
            <a:ext cx="4805085" cy="51502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if(Condition1){  </a:t>
            </a:r>
          </a:p>
          <a:p>
            <a:pPr marL="0" indent="0">
              <a:buNone/>
            </a:pPr>
            <a:r>
              <a:rPr lang="en-US" sz="2400" dirty="0"/>
              <a:t>		// Statement</a:t>
            </a:r>
          </a:p>
          <a:p>
            <a:pPr marL="0" indent="0">
              <a:buNone/>
            </a:pPr>
            <a:r>
              <a:rPr lang="en-US" sz="2400" dirty="0"/>
              <a:t>}  </a:t>
            </a:r>
          </a:p>
          <a:p>
            <a:pPr marL="0" indent="0">
              <a:buNone/>
            </a:pPr>
            <a:r>
              <a:rPr lang="en-US" sz="2400" dirty="0"/>
              <a:t>else if(Condition1 2){  </a:t>
            </a:r>
          </a:p>
          <a:p>
            <a:pPr marL="0" indent="0">
              <a:buNone/>
            </a:pPr>
            <a:r>
              <a:rPr lang="en-US" sz="2400" dirty="0"/>
              <a:t>		// Statement</a:t>
            </a:r>
          </a:p>
          <a:p>
            <a:pPr marL="0" indent="0">
              <a:buNone/>
            </a:pPr>
            <a:r>
              <a:rPr lang="en-US" sz="2400" dirty="0"/>
              <a:t>}   </a:t>
            </a:r>
          </a:p>
          <a:p>
            <a:pPr marL="0" indent="0">
              <a:buNone/>
            </a:pPr>
            <a:r>
              <a:rPr lang="en-US" sz="2400" dirty="0"/>
              <a:t>else{  </a:t>
            </a:r>
          </a:p>
          <a:p>
            <a:pPr marL="0" indent="0">
              <a:buNone/>
            </a:pPr>
            <a:r>
              <a:rPr lang="en-US" sz="2400" dirty="0"/>
              <a:t>		// Statement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E47702-A068-B8F0-0688-74F10D32566F}"/>
              </a:ext>
            </a:extLst>
          </p:cNvPr>
          <p:cNvSpPr txBox="1"/>
          <p:nvPr/>
        </p:nvSpPr>
        <p:spPr>
          <a:xfrm>
            <a:off x="1924232" y="537881"/>
            <a:ext cx="466613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Nested If: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	if(Condition){  </a:t>
            </a:r>
          </a:p>
          <a:p>
            <a:pPr marL="0" indent="0">
              <a:buNone/>
            </a:pPr>
            <a:r>
              <a:rPr lang="en-US" sz="2800" dirty="0"/>
              <a:t>		//Statement</a:t>
            </a:r>
          </a:p>
          <a:p>
            <a:pPr marL="0" indent="0">
              <a:buNone/>
            </a:pPr>
            <a:r>
              <a:rPr lang="en-US" sz="2800" dirty="0"/>
              <a:t>		if(condition)</a:t>
            </a:r>
          </a:p>
          <a:p>
            <a:pPr marL="0" indent="0">
              <a:buNone/>
            </a:pPr>
            <a:r>
              <a:rPr lang="en-US" sz="2800" dirty="0"/>
              <a:t>		{</a:t>
            </a:r>
          </a:p>
          <a:p>
            <a:pPr marL="0" indent="0">
              <a:buNone/>
            </a:pPr>
            <a:r>
              <a:rPr lang="en-US" sz="2800" dirty="0"/>
              <a:t>			//Statement</a:t>
            </a:r>
          </a:p>
          <a:p>
            <a:pPr marL="0" indent="0">
              <a:buNone/>
            </a:pPr>
            <a:r>
              <a:rPr lang="en-US" sz="2800" dirty="0"/>
              <a:t>		}</a:t>
            </a:r>
          </a:p>
          <a:p>
            <a:pPr marL="0" indent="0">
              <a:buNone/>
            </a:pPr>
            <a:r>
              <a:rPr lang="en-US" sz="2800" dirty="0"/>
              <a:t>	}  </a:t>
            </a:r>
          </a:p>
          <a:p>
            <a:pPr marL="0" indent="0">
              <a:buNone/>
            </a:pPr>
            <a:r>
              <a:rPr lang="en-US" sz="2800" dirty="0"/>
              <a:t>	else{  </a:t>
            </a:r>
          </a:p>
          <a:p>
            <a:pPr marL="0" indent="0">
              <a:buNone/>
            </a:pPr>
            <a:r>
              <a:rPr lang="en-US" sz="2800" dirty="0"/>
              <a:t>		// Statement</a:t>
            </a:r>
          </a:p>
          <a:p>
            <a:pPr marL="0" indent="0">
              <a:buNone/>
            </a:pPr>
            <a:r>
              <a:rPr lang="en-US" sz="2800" dirty="0"/>
              <a:t>	}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3281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167A49-7761-2412-455B-75AE51C8DDD2}"/>
              </a:ext>
            </a:extLst>
          </p:cNvPr>
          <p:cNvSpPr txBox="1"/>
          <p:nvPr/>
        </p:nvSpPr>
        <p:spPr>
          <a:xfrm>
            <a:off x="2285999" y="584176"/>
            <a:ext cx="940640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Conditional Looping:</a:t>
            </a:r>
          </a:p>
          <a:p>
            <a:pPr lvl="1">
              <a:lnSpc>
                <a:spcPct val="150000"/>
              </a:lnSpc>
            </a:pPr>
            <a:r>
              <a:rPr lang="en-IN" sz="2400" dirty="0"/>
              <a:t>		</a:t>
            </a:r>
            <a:r>
              <a:rPr lang="en-IN" sz="2400" b="1" dirty="0"/>
              <a:t>for(initializer; condition; increment/decrement)</a:t>
            </a:r>
          </a:p>
          <a:p>
            <a:pPr lvl="1"/>
            <a:r>
              <a:rPr lang="en-IN" sz="2400" dirty="0"/>
              <a:t>		{</a:t>
            </a:r>
          </a:p>
          <a:p>
            <a:pPr lvl="1"/>
            <a:r>
              <a:rPr lang="en-IN" sz="2400" dirty="0"/>
              <a:t>			//statement;</a:t>
            </a:r>
          </a:p>
          <a:p>
            <a:pPr lvl="1"/>
            <a:r>
              <a:rPr lang="en-IN" sz="2400" dirty="0"/>
              <a:t>		}</a:t>
            </a:r>
          </a:p>
          <a:p>
            <a:pPr lvl="1">
              <a:lnSpc>
                <a:spcPct val="150000"/>
              </a:lnSpc>
            </a:pPr>
            <a:r>
              <a:rPr lang="en-IN" sz="2400" dirty="0"/>
              <a:t>		</a:t>
            </a:r>
            <a:r>
              <a:rPr lang="en-IN" sz="2400" b="1" dirty="0"/>
              <a:t>while(condition)</a:t>
            </a:r>
          </a:p>
          <a:p>
            <a:pPr lvl="1"/>
            <a:r>
              <a:rPr lang="en-IN" sz="2400" dirty="0"/>
              <a:t>		{</a:t>
            </a:r>
          </a:p>
          <a:p>
            <a:pPr lvl="1"/>
            <a:r>
              <a:rPr lang="en-IN" sz="2400" dirty="0"/>
              <a:t>				//statement;</a:t>
            </a:r>
          </a:p>
          <a:p>
            <a:pPr lvl="1"/>
            <a:r>
              <a:rPr lang="en-IN" sz="2400" dirty="0"/>
              <a:t>				increment;</a:t>
            </a:r>
          </a:p>
          <a:p>
            <a:pPr lvl="1"/>
            <a:r>
              <a:rPr lang="en-IN" sz="2400" dirty="0"/>
              <a:t>		}</a:t>
            </a:r>
          </a:p>
          <a:p>
            <a:pPr lvl="1">
              <a:lnSpc>
                <a:spcPct val="150000"/>
              </a:lnSpc>
            </a:pPr>
            <a:r>
              <a:rPr lang="en-IN" sz="2400" dirty="0"/>
              <a:t>		</a:t>
            </a:r>
            <a:r>
              <a:rPr lang="en-IN" sz="2400" b="1" dirty="0"/>
              <a:t>do</a:t>
            </a:r>
            <a:r>
              <a:rPr lang="en-IN" sz="2400" dirty="0"/>
              <a:t>{</a:t>
            </a:r>
          </a:p>
          <a:p>
            <a:pPr lvl="1"/>
            <a:r>
              <a:rPr lang="en-IN" sz="2400" dirty="0"/>
              <a:t>				  //statement;</a:t>
            </a:r>
          </a:p>
          <a:p>
            <a:pPr lvl="1"/>
            <a:r>
              <a:rPr lang="en-IN" sz="2400" dirty="0"/>
              <a:t>     				  increment;</a:t>
            </a:r>
          </a:p>
          <a:p>
            <a:pPr lvl="1"/>
            <a:r>
              <a:rPr lang="en-IN" sz="2400" dirty="0"/>
              <a:t>		}</a:t>
            </a:r>
            <a:r>
              <a:rPr lang="en-IN" sz="2400" b="1" dirty="0"/>
              <a:t>while(condition);</a:t>
            </a:r>
          </a:p>
        </p:txBody>
      </p:sp>
    </p:spTree>
    <p:extLst>
      <p:ext uri="{BB962C8B-B14F-4D97-AF65-F5344CB8AC3E}">
        <p14:creationId xmlns:p14="http://schemas.microsoft.com/office/powerpoint/2010/main" val="3087021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06E81-C080-C937-07A0-761396F42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686" y="551195"/>
            <a:ext cx="10071068" cy="793376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Functions: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466D1-F428-A20E-A3EA-0C2360419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0125" y="1088668"/>
            <a:ext cx="9009694" cy="5626168"/>
          </a:xfrm>
        </p:spPr>
        <p:txBody>
          <a:bodyPr>
            <a:normAutofit/>
          </a:bodyPr>
          <a:lstStyle/>
          <a:p>
            <a:r>
              <a:rPr lang="en-US" sz="2800" dirty="0"/>
              <a:t>JavaScript functions are used to perform operations. </a:t>
            </a:r>
          </a:p>
          <a:p>
            <a:r>
              <a:rPr lang="en-US" sz="2800" dirty="0"/>
              <a:t>We can call JavaScript function many times to reuse the code.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Advantage of JavaScript function</a:t>
            </a:r>
          </a:p>
          <a:p>
            <a:r>
              <a:rPr lang="en-US" sz="2800" b="1" dirty="0"/>
              <a:t>Code reusability: </a:t>
            </a:r>
            <a:r>
              <a:rPr lang="en-US" sz="2800" dirty="0"/>
              <a:t>We can call a function several times so it save coding.</a:t>
            </a:r>
          </a:p>
          <a:p>
            <a:r>
              <a:rPr lang="en-US" sz="2800" b="1" dirty="0"/>
              <a:t>Less coding: </a:t>
            </a:r>
            <a:r>
              <a:rPr lang="en-US" sz="2800" dirty="0"/>
              <a:t>It makes our program compact.</a:t>
            </a:r>
          </a:p>
          <a:p>
            <a:r>
              <a:rPr lang="en-US" sz="2800" dirty="0"/>
              <a:t> We don’t need to write many lines of code each time to perform a common task.</a:t>
            </a:r>
          </a:p>
        </p:txBody>
      </p:sp>
    </p:spTree>
    <p:extLst>
      <p:ext uri="{BB962C8B-B14F-4D97-AF65-F5344CB8AC3E}">
        <p14:creationId xmlns:p14="http://schemas.microsoft.com/office/powerpoint/2010/main" val="238611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1C240-6333-C873-3B49-A3B7661EA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8318" y="348944"/>
            <a:ext cx="4324818" cy="820271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Types:</a:t>
            </a:r>
            <a:endParaRPr lang="en-IN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82F1E-A6E6-1628-C07F-A9BB10039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41" y="1452284"/>
            <a:ext cx="8735454" cy="5002304"/>
          </a:xfrm>
        </p:spPr>
        <p:txBody>
          <a:bodyPr>
            <a:noAutofit/>
          </a:bodyPr>
          <a:lstStyle/>
          <a:p>
            <a:r>
              <a:rPr lang="en-US" sz="2800" dirty="0"/>
              <a:t>With argument with Return</a:t>
            </a:r>
          </a:p>
          <a:p>
            <a:r>
              <a:rPr lang="en-US" sz="2800" dirty="0"/>
              <a:t>Without argument with Return</a:t>
            </a:r>
          </a:p>
          <a:p>
            <a:r>
              <a:rPr lang="en-US" sz="2800" dirty="0"/>
              <a:t>With argument without Return</a:t>
            </a:r>
          </a:p>
          <a:p>
            <a:r>
              <a:rPr lang="en-US" sz="2800" dirty="0"/>
              <a:t>Without Argument without Return</a:t>
            </a:r>
          </a:p>
          <a:p>
            <a:pPr marL="0" indent="0">
              <a:buNone/>
            </a:pP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Syntax:</a:t>
            </a:r>
          </a:p>
          <a:p>
            <a:pPr marL="0" indent="0">
              <a:buNone/>
            </a:pPr>
            <a:r>
              <a:rPr lang="en-US" sz="2800" dirty="0"/>
              <a:t>		function </a:t>
            </a:r>
            <a:r>
              <a:rPr lang="en-US" sz="2800" dirty="0" err="1"/>
              <a:t>functionName</a:t>
            </a:r>
            <a:r>
              <a:rPr lang="en-US" sz="2800" dirty="0"/>
              <a:t>(arguments)</a:t>
            </a:r>
          </a:p>
          <a:p>
            <a:pPr marL="0" indent="0">
              <a:buNone/>
            </a:pPr>
            <a:r>
              <a:rPr lang="en-US" sz="2800" dirty="0"/>
              <a:t>		{  </a:t>
            </a:r>
          </a:p>
          <a:p>
            <a:pPr marL="0" indent="0">
              <a:buNone/>
            </a:pPr>
            <a:r>
              <a:rPr lang="en-US" sz="2800" dirty="0"/>
              <a:t>				 //code to be executed  </a:t>
            </a:r>
          </a:p>
          <a:p>
            <a:pPr marL="0" indent="0">
              <a:buNone/>
            </a:pPr>
            <a:r>
              <a:rPr lang="en-US" sz="2800" dirty="0"/>
              <a:t>		}</a:t>
            </a:r>
            <a:endParaRPr lang="en-US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37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07598-A8C3-EC88-6629-1E84880A3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6698" y="484096"/>
            <a:ext cx="2764961" cy="739588"/>
          </a:xfrm>
        </p:spPr>
        <p:txBody>
          <a:bodyPr/>
          <a:lstStyle/>
          <a:p>
            <a:r>
              <a:rPr lang="en-IN" b="1" dirty="0" err="1">
                <a:solidFill>
                  <a:schemeClr val="accent1">
                    <a:lumMod val="75000"/>
                  </a:schemeClr>
                </a:solidFill>
              </a:rPr>
              <a:t>Exapmle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617C1-06EF-AAC5-1AB5-82CA1B3D8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2194" y="1304366"/>
            <a:ext cx="9273336" cy="51771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			</a:t>
            </a:r>
            <a:r>
              <a:rPr lang="en-US" sz="2800" dirty="0"/>
              <a:t>&lt;script&gt;  </a:t>
            </a:r>
          </a:p>
          <a:p>
            <a:pPr marL="0" indent="0">
              <a:buNone/>
            </a:pPr>
            <a:r>
              <a:rPr lang="en-US" sz="2800" dirty="0"/>
              <a:t>				function msg(name)</a:t>
            </a:r>
          </a:p>
          <a:p>
            <a:pPr marL="0" indent="0">
              <a:buNone/>
            </a:pPr>
            <a:r>
              <a:rPr lang="en-US" sz="2800" dirty="0"/>
              <a:t>				{  </a:t>
            </a:r>
          </a:p>
          <a:p>
            <a:pPr marL="0" indent="0">
              <a:buNone/>
            </a:pPr>
            <a:r>
              <a:rPr lang="en-US" sz="2800" dirty="0"/>
              <a:t>						alert("hello! “ + name);  </a:t>
            </a:r>
          </a:p>
          <a:p>
            <a:pPr marL="0" indent="0">
              <a:buNone/>
            </a:pPr>
            <a:r>
              <a:rPr lang="en-US" sz="2800" dirty="0"/>
              <a:t>				}  </a:t>
            </a:r>
          </a:p>
          <a:p>
            <a:pPr marL="0" indent="0">
              <a:buNone/>
            </a:pPr>
            <a:r>
              <a:rPr lang="en-US" sz="2800" dirty="0"/>
              <a:t>			&lt;/script&gt;  </a:t>
            </a:r>
          </a:p>
          <a:p>
            <a:pPr marL="0" indent="0">
              <a:buNone/>
            </a:pPr>
            <a:r>
              <a:rPr lang="en-US" sz="2800" dirty="0"/>
              <a:t>		&lt;input type="button" onclick="msg(“</a:t>
            </a:r>
            <a:r>
              <a:rPr lang="en-US" sz="2800" dirty="0" err="1"/>
              <a:t>Zoro</a:t>
            </a:r>
            <a:r>
              <a:rPr lang="en-US" sz="2800" dirty="0"/>
              <a:t>”)" </a:t>
            </a:r>
          </a:p>
          <a:p>
            <a:pPr marL="0" indent="0">
              <a:buNone/>
            </a:pPr>
            <a:r>
              <a:rPr lang="en-US" sz="2800" dirty="0"/>
              <a:t>									</a:t>
            </a:r>
            <a:r>
              <a:rPr lang="en-US" sz="2800" dirty="0" smtClean="0"/>
              <a:t>value</a:t>
            </a:r>
            <a:r>
              <a:rPr lang="en-US" sz="2800" dirty="0"/>
              <a:t>="call function"/&gt;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47677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148EF-3574-53FA-0766-CA1A65772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524435"/>
            <a:ext cx="10018713" cy="726141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Event Handling: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05A5F-9E85-5889-7F06-4F1256E58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2228" y="1438836"/>
            <a:ext cx="8651595" cy="50157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Onclick Event: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&lt;h1 id="rose"&gt;&lt;/h1&gt;</a:t>
            </a:r>
          </a:p>
          <a:p>
            <a:pPr marL="0" indent="0">
              <a:buNone/>
            </a:pPr>
            <a:r>
              <a:rPr lang="en-IN" dirty="0"/>
              <a:t>	&lt;button onclick="Click()"&gt;Submit&lt;/button&gt; </a:t>
            </a:r>
          </a:p>
          <a:p>
            <a:pPr marL="0" indent="0">
              <a:buNone/>
            </a:pPr>
            <a:r>
              <a:rPr lang="en-IN" dirty="0"/>
              <a:t>        &lt;script&gt;</a:t>
            </a:r>
          </a:p>
          <a:p>
            <a:pPr marL="0" indent="0">
              <a:buNone/>
            </a:pPr>
            <a:r>
              <a:rPr lang="en-IN" dirty="0"/>
              <a:t>           var count=0;</a:t>
            </a:r>
          </a:p>
          <a:p>
            <a:pPr marL="0" indent="0">
              <a:buNone/>
            </a:pPr>
            <a:r>
              <a:rPr lang="en-IN" dirty="0"/>
              <a:t>           function Click(){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smtClean="0"/>
              <a:t>	count=count+1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smtClean="0"/>
              <a:t>	</a:t>
            </a:r>
            <a:r>
              <a:rPr lang="en-IN" dirty="0" err="1" smtClean="0"/>
              <a:t>document.getElementById</a:t>
            </a:r>
            <a:r>
              <a:rPr lang="en-IN" dirty="0"/>
              <a:t>("rose").innerHTML=count;</a:t>
            </a:r>
          </a:p>
          <a:p>
            <a:pPr marL="0" indent="0">
              <a:buNone/>
            </a:pPr>
            <a:r>
              <a:rPr lang="en-IN" dirty="0"/>
              <a:t>           }</a:t>
            </a:r>
          </a:p>
          <a:p>
            <a:pPr marL="0" indent="0">
              <a:buNone/>
            </a:pPr>
            <a:r>
              <a:rPr lang="en-IN" dirty="0"/>
              <a:t>        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980280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1669A-5497-323F-9631-67B3FC673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524435"/>
            <a:ext cx="4835808" cy="685799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On-change Event: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1E611-7162-955A-ABBA-F79659D0C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0145" y="1317812"/>
            <a:ext cx="8932244" cy="52309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/>
              <a:t> &lt;select id=“R"&gt;</a:t>
            </a:r>
          </a:p>
          <a:p>
            <a:pPr marL="0" indent="0">
              <a:buNone/>
            </a:pPr>
            <a:r>
              <a:rPr lang="en-IN" dirty="0"/>
              <a:t>            &lt;option value="1"&gt;Tae&lt;/option&gt;</a:t>
            </a:r>
          </a:p>
          <a:p>
            <a:pPr marL="0" indent="0">
              <a:buNone/>
            </a:pPr>
            <a:r>
              <a:rPr lang="en-IN" dirty="0"/>
              <a:t>            &lt;option value="2"&gt;Kookie&lt;/option&gt;</a:t>
            </a:r>
          </a:p>
          <a:p>
            <a:pPr marL="0" indent="0">
              <a:buNone/>
            </a:pPr>
            <a:r>
              <a:rPr lang="en-IN" dirty="0"/>
              <a:t>            &lt;option value="3"&gt;Jimin&lt;/option&gt;</a:t>
            </a:r>
          </a:p>
          <a:p>
            <a:pPr marL="0" indent="0">
              <a:buNone/>
            </a:pPr>
            <a:r>
              <a:rPr lang="en-IN" dirty="0"/>
              <a:t>        &lt;/select&gt;</a:t>
            </a:r>
          </a:p>
          <a:p>
            <a:pPr marL="0" indent="0">
              <a:buNone/>
            </a:pPr>
            <a:r>
              <a:rPr lang="en-IN" dirty="0"/>
              <a:t>        &lt;script&gt;</a:t>
            </a:r>
          </a:p>
          <a:p>
            <a:pPr marL="0" indent="0">
              <a:buNone/>
            </a:pPr>
            <a:r>
              <a:rPr lang="en-IN" dirty="0"/>
              <a:t>           </a:t>
            </a:r>
            <a:r>
              <a:rPr lang="en-IN" dirty="0" smtClean="0"/>
              <a:t>		function </a:t>
            </a:r>
            <a:r>
              <a:rPr lang="en-IN" dirty="0"/>
              <a:t>Demo(){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smtClean="0"/>
              <a:t>		alert</a:t>
            </a:r>
            <a:r>
              <a:rPr lang="en-IN" dirty="0"/>
              <a:t>("Value select");</a:t>
            </a:r>
          </a:p>
          <a:p>
            <a:pPr marL="0" indent="0">
              <a:buNone/>
            </a:pPr>
            <a:r>
              <a:rPr lang="en-IN" dirty="0"/>
              <a:t>           }</a:t>
            </a:r>
          </a:p>
          <a:p>
            <a:pPr marL="0" indent="0">
              <a:buNone/>
            </a:pPr>
            <a:r>
              <a:rPr lang="en-IN" dirty="0"/>
              <a:t>           document.getElementById(“R").onchange=Demo;</a:t>
            </a:r>
          </a:p>
          <a:p>
            <a:pPr marL="0" indent="0">
              <a:buNone/>
            </a:pPr>
            <a:r>
              <a:rPr lang="en-IN" dirty="0"/>
              <a:t>        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481591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2009F-25BF-B567-4DB3-8A5D4754E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228" y="914400"/>
            <a:ext cx="4862701" cy="739588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Mouse Over Event: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591B-0D92-30DC-0585-DA6BE9685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652" y="1653988"/>
            <a:ext cx="8574090" cy="42044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&lt;h1 onmouseover="Demo()"&gt;Hello Everyone&lt;/h1&gt;</a:t>
            </a:r>
          </a:p>
          <a:p>
            <a:pPr marL="0" indent="0">
              <a:buNone/>
            </a:pPr>
            <a:r>
              <a:rPr lang="en-IN" sz="2800" dirty="0"/>
              <a:t>        &lt;script&gt;</a:t>
            </a:r>
          </a:p>
          <a:p>
            <a:pPr marL="0" indent="0">
              <a:buNone/>
            </a:pPr>
            <a:r>
              <a:rPr lang="en-IN" sz="2800" dirty="0"/>
              <a:t>           function Demo()  {</a:t>
            </a:r>
          </a:p>
          <a:p>
            <a:pPr marL="0" indent="0">
              <a:buNone/>
            </a:pPr>
            <a:r>
              <a:rPr lang="en-IN" sz="2800" dirty="0"/>
              <a:t>           document.write("My action event");</a:t>
            </a:r>
          </a:p>
          <a:p>
            <a:pPr marL="0" indent="0">
              <a:buNone/>
            </a:pPr>
            <a:r>
              <a:rPr lang="en-IN" sz="2800" dirty="0"/>
              <a:t>           }</a:t>
            </a:r>
          </a:p>
          <a:p>
            <a:pPr marL="0" indent="0">
              <a:buNone/>
            </a:pPr>
            <a:r>
              <a:rPr lang="en-IN" sz="2800" dirty="0"/>
              <a:t>        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894761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1D813-1CF3-76BE-3C86-C5B2CCD9A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123" y="363072"/>
            <a:ext cx="4862701" cy="699246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Confirmation Action: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68112-7194-51B5-F1F2-AAD4B1705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1745" y="1129555"/>
            <a:ext cx="8614431" cy="567465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&lt;form action=""&gt;</a:t>
            </a:r>
          </a:p>
          <a:p>
            <a:pPr marL="0" indent="0">
              <a:buNone/>
            </a:pPr>
            <a:r>
              <a:rPr lang="en-IN" dirty="0"/>
              <a:t>    &lt;input type="button" onclick="Demo()" value="want to confirm? "&gt;</a:t>
            </a:r>
          </a:p>
          <a:p>
            <a:pPr marL="0" indent="0">
              <a:buNone/>
            </a:pPr>
            <a:r>
              <a:rPr lang="en-IN" dirty="0"/>
              <a:t>&lt;/form&gt;    </a:t>
            </a:r>
          </a:p>
          <a:p>
            <a:pPr marL="0" indent="0">
              <a:buNone/>
            </a:pPr>
            <a:r>
              <a:rPr lang="en-IN" dirty="0"/>
              <a:t>&lt;h1 id="rezult"&gt;&lt;/h1&gt;</a:t>
            </a:r>
          </a:p>
          <a:p>
            <a:pPr marL="0" indent="0">
              <a:buNone/>
            </a:pPr>
            <a:r>
              <a:rPr lang="en-IN" dirty="0"/>
              <a:t>        &lt;script&gt;           </a:t>
            </a:r>
          </a:p>
          <a:p>
            <a:pPr marL="0" indent="0">
              <a:buNone/>
            </a:pPr>
            <a:r>
              <a:rPr lang="en-IN" dirty="0"/>
              <a:t>         function Demo() {</a:t>
            </a:r>
          </a:p>
          <a:p>
            <a:pPr marL="0" indent="0">
              <a:buNone/>
            </a:pPr>
            <a:r>
              <a:rPr lang="en-IN" dirty="0"/>
              <a:t>            var z=confirm("Are you ready to confirm?");</a:t>
            </a:r>
          </a:p>
          <a:p>
            <a:pPr marL="0" indent="0">
              <a:buNone/>
            </a:pPr>
            <a:r>
              <a:rPr lang="en-IN" dirty="0"/>
              <a:t>            if(z==true){</a:t>
            </a:r>
          </a:p>
          <a:p>
            <a:pPr marL="0" indent="0">
              <a:buNone/>
            </a:pPr>
            <a:r>
              <a:rPr lang="en-IN" dirty="0"/>
              <a:t>                document.getElementById("rezult").innerHTML="Confirmed";</a:t>
            </a:r>
          </a:p>
          <a:p>
            <a:pPr marL="0" indent="0">
              <a:buNone/>
            </a:pPr>
            <a:r>
              <a:rPr lang="en-IN" dirty="0"/>
              <a:t>            }</a:t>
            </a:r>
          </a:p>
          <a:p>
            <a:pPr marL="0" indent="0">
              <a:buNone/>
            </a:pPr>
            <a:r>
              <a:rPr lang="en-IN" dirty="0"/>
              <a:t>            else{</a:t>
            </a:r>
          </a:p>
          <a:p>
            <a:pPr marL="0" indent="0">
              <a:buNone/>
            </a:pPr>
            <a:r>
              <a:rPr lang="en-IN" dirty="0"/>
              <a:t>                document.getElementById("rezult").innerHTML="Cancelled";</a:t>
            </a:r>
          </a:p>
          <a:p>
            <a:pPr marL="0" indent="0">
              <a:buNone/>
            </a:pPr>
            <a:r>
              <a:rPr lang="en-IN" dirty="0"/>
              <a:t>            }</a:t>
            </a:r>
          </a:p>
          <a:p>
            <a:pPr marL="0" indent="0">
              <a:buNone/>
            </a:pPr>
            <a:r>
              <a:rPr lang="en-IN" dirty="0"/>
              <a:t>         }</a:t>
            </a:r>
          </a:p>
          <a:p>
            <a:pPr marL="0" indent="0">
              <a:buNone/>
            </a:pPr>
            <a:r>
              <a:rPr lang="en-IN" dirty="0"/>
              <a:t>        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32027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C8D8-33C6-8CFC-2924-2C8BCAF45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531" y="494282"/>
            <a:ext cx="10018713" cy="793377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JavaScript Objects: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5B599-F8F6-5DF8-BC6A-6A6DC2319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019" y="1398495"/>
            <a:ext cx="9778892" cy="5140850"/>
          </a:xfrm>
        </p:spPr>
        <p:txBody>
          <a:bodyPr>
            <a:normAutofit fontScale="92500" lnSpcReduction="20000"/>
          </a:bodyPr>
          <a:lstStyle/>
          <a:p>
            <a:r>
              <a:rPr lang="en-US" sz="3000" dirty="0"/>
              <a:t>JavaScript is an object-based language. </a:t>
            </a:r>
          </a:p>
          <a:p>
            <a:r>
              <a:rPr lang="en-US" sz="3000" dirty="0"/>
              <a:t>Everything is an object in JavaScript.</a:t>
            </a:r>
          </a:p>
          <a:p>
            <a:r>
              <a:rPr lang="en-US" sz="3000" dirty="0"/>
              <a:t>JavaScript is template based not class based. </a:t>
            </a:r>
          </a:p>
          <a:p>
            <a:r>
              <a:rPr lang="en-US" sz="3000" dirty="0"/>
              <a:t>Here, we don't create class to get the object. But, we direct create objects.</a:t>
            </a:r>
          </a:p>
          <a:p>
            <a:pPr marL="0" indent="0">
              <a:buNone/>
            </a:pPr>
            <a:r>
              <a:rPr lang="en-US" sz="3500" b="1" dirty="0" err="1">
                <a:solidFill>
                  <a:schemeClr val="accent1">
                    <a:lumMod val="50000"/>
                  </a:schemeClr>
                </a:solidFill>
              </a:rPr>
              <a:t>Exapmle</a:t>
            </a:r>
            <a:r>
              <a:rPr lang="en-US" sz="3500" b="1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 marL="0" indent="0">
              <a:buNone/>
            </a:pPr>
            <a:r>
              <a:rPr lang="en-US" sz="3000" dirty="0"/>
              <a:t>					var emp=new Array("</a:t>
            </a:r>
            <a:r>
              <a:rPr lang="en-US" sz="3000" dirty="0" err="1"/>
              <a:t>Jai","Vijay","Smith</a:t>
            </a:r>
            <a:r>
              <a:rPr lang="en-US" sz="3000" dirty="0"/>
              <a:t>");  </a:t>
            </a:r>
          </a:p>
          <a:p>
            <a:pPr marL="0" indent="0">
              <a:buNone/>
            </a:pPr>
            <a:r>
              <a:rPr lang="en-US" sz="3000" dirty="0"/>
              <a:t>					for (</a:t>
            </a:r>
            <a:r>
              <a:rPr lang="en-US" sz="3000" dirty="0" err="1"/>
              <a:t>i</a:t>
            </a:r>
            <a:r>
              <a:rPr lang="en-US" sz="3000" dirty="0"/>
              <a:t>=0;i&lt;</a:t>
            </a:r>
            <a:r>
              <a:rPr lang="en-US" sz="3000" dirty="0" err="1"/>
              <a:t>emp.length;i</a:t>
            </a:r>
            <a:r>
              <a:rPr lang="en-US" sz="3000" dirty="0"/>
              <a:t>++){  </a:t>
            </a:r>
          </a:p>
          <a:p>
            <a:pPr marL="0" indent="0">
              <a:buNone/>
            </a:pPr>
            <a:r>
              <a:rPr lang="en-US" sz="3000" dirty="0"/>
              <a:t>						</a:t>
            </a:r>
            <a:r>
              <a:rPr lang="en-US" sz="3000" dirty="0" err="1"/>
              <a:t>document.write</a:t>
            </a:r>
            <a:r>
              <a:rPr lang="en-US" sz="3000" dirty="0"/>
              <a:t>(emp[</a:t>
            </a:r>
            <a:r>
              <a:rPr lang="en-US" sz="3000" dirty="0" err="1"/>
              <a:t>i</a:t>
            </a:r>
            <a:r>
              <a:rPr lang="en-US" sz="3000" dirty="0"/>
              <a:t>] + "&lt;</a:t>
            </a:r>
            <a:r>
              <a:rPr lang="en-US" sz="3000" dirty="0" err="1"/>
              <a:t>br</a:t>
            </a:r>
            <a:r>
              <a:rPr lang="en-US" sz="3000" dirty="0"/>
              <a:t>&gt;");  </a:t>
            </a:r>
          </a:p>
          <a:p>
            <a:pPr marL="0" indent="0">
              <a:buNone/>
            </a:pPr>
            <a:r>
              <a:rPr lang="en-US" sz="3000" dirty="0"/>
              <a:t>					}</a:t>
            </a:r>
            <a:r>
              <a:rPr lang="en-US" dirty="0"/>
              <a:t>					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402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D7FAF-864C-0966-4344-ED51F4D41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39588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Math Object: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E2FCD-12E6-8026-8E72-A58197AAC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2238" y="1409905"/>
            <a:ext cx="10018713" cy="5190564"/>
          </a:xfrm>
        </p:spPr>
        <p:txBody>
          <a:bodyPr>
            <a:normAutofit/>
          </a:bodyPr>
          <a:lstStyle/>
          <a:p>
            <a:r>
              <a:rPr lang="en-US" dirty="0"/>
              <a:t>The JavaScript math object provides several constants and methods to perform mathematical operation. Unlike date object, it doesn't have constructors.</a:t>
            </a:r>
          </a:p>
          <a:p>
            <a:r>
              <a:rPr lang="en-US" dirty="0"/>
              <a:t>abs()	    </a:t>
            </a:r>
            <a:r>
              <a:rPr lang="en-US" dirty="0">
                <a:sym typeface="Wingdings" panose="05000000000000000000" pitchFamily="2" charset="2"/>
              </a:rPr>
              <a:t>       </a:t>
            </a:r>
            <a:r>
              <a:rPr lang="en-US" dirty="0"/>
              <a:t>It returns the </a:t>
            </a:r>
            <a:r>
              <a:rPr lang="en-US" b="1" dirty="0"/>
              <a:t>absolute</a:t>
            </a:r>
            <a:r>
              <a:rPr lang="en-US" dirty="0"/>
              <a:t> value of the given number.</a:t>
            </a:r>
          </a:p>
          <a:p>
            <a:r>
              <a:rPr lang="en-US" dirty="0"/>
              <a:t>exp()    </a:t>
            </a:r>
            <a:r>
              <a:rPr lang="en-US" dirty="0">
                <a:sym typeface="Wingdings" panose="05000000000000000000" pitchFamily="2" charset="2"/>
              </a:rPr>
              <a:t>  </a:t>
            </a:r>
            <a:r>
              <a:rPr lang="en-US" dirty="0"/>
              <a:t>	It returns the </a:t>
            </a:r>
            <a:r>
              <a:rPr lang="en-US" b="1" dirty="0"/>
              <a:t>exponential</a:t>
            </a:r>
            <a:r>
              <a:rPr lang="en-US" dirty="0"/>
              <a:t> form of the given number.</a:t>
            </a:r>
          </a:p>
          <a:p>
            <a:r>
              <a:rPr lang="en-US" dirty="0"/>
              <a:t>floor() 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	It returns </a:t>
            </a:r>
            <a:r>
              <a:rPr lang="en-US" b="1" dirty="0"/>
              <a:t>largest integer value</a:t>
            </a:r>
            <a:r>
              <a:rPr lang="en-US" dirty="0"/>
              <a:t>, lower than or equal to the given number.</a:t>
            </a:r>
          </a:p>
          <a:p>
            <a:r>
              <a:rPr lang="en-US" dirty="0"/>
              <a:t>pow() 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	It returns value of base to the </a:t>
            </a:r>
            <a:r>
              <a:rPr lang="en-US" b="1" dirty="0"/>
              <a:t>power</a:t>
            </a:r>
            <a:r>
              <a:rPr lang="en-US" dirty="0"/>
              <a:t> of exponent.</a:t>
            </a:r>
          </a:p>
          <a:p>
            <a:r>
              <a:rPr lang="en-US" dirty="0"/>
              <a:t>random()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	It returns random number between 0 and 1.</a:t>
            </a:r>
          </a:p>
          <a:p>
            <a:r>
              <a:rPr lang="en-US" dirty="0"/>
              <a:t>sqrt() </a:t>
            </a:r>
            <a:r>
              <a:rPr lang="en-US" dirty="0">
                <a:sym typeface="Wingdings" panose="05000000000000000000" pitchFamily="2" charset="2"/>
              </a:rPr>
              <a:t>  </a:t>
            </a:r>
            <a:r>
              <a:rPr lang="en-US" dirty="0"/>
              <a:t>	It returns the </a:t>
            </a:r>
            <a:r>
              <a:rPr lang="en-US" b="1" dirty="0"/>
              <a:t>square root </a:t>
            </a:r>
            <a:r>
              <a:rPr lang="en-US" dirty="0"/>
              <a:t>of the given number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1209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2AEE8-E704-4F99-F3EE-E99381294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159" y="354106"/>
            <a:ext cx="3679360" cy="712694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Example: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B6E6B-F163-AB9C-8D7D-29D007205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6985" y="1066800"/>
            <a:ext cx="9232996" cy="552674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&lt;h1&gt;Square Root of 17 is: &lt;span id="p1"&gt;&lt;/span&gt; </a:t>
            </a:r>
          </a:p>
          <a:p>
            <a:pPr marL="0" indent="0">
              <a:buNone/>
            </a:pPr>
            <a:r>
              <a:rPr lang="en-IN" dirty="0"/>
              <a:t>Random Number is: &lt;span id="p2"&gt;&lt;/span&gt; </a:t>
            </a:r>
          </a:p>
          <a:p>
            <a:pPr marL="0" indent="0">
              <a:buNone/>
            </a:pPr>
            <a:r>
              <a:rPr lang="en-IN" dirty="0"/>
              <a:t>3 to the power of 4 is: &lt;span id="p3"&gt;&lt;/span&gt;  </a:t>
            </a:r>
          </a:p>
          <a:p>
            <a:pPr marL="0" indent="0">
              <a:buNone/>
            </a:pPr>
            <a:r>
              <a:rPr lang="en-IN" dirty="0"/>
              <a:t>Floor of 4.6 is: &lt;span id="p4"&gt;&lt;/span&gt;   &lt;/h1&gt;</a:t>
            </a:r>
          </a:p>
          <a:p>
            <a:pPr marL="0" indent="0">
              <a:buNone/>
            </a:pPr>
            <a:r>
              <a:rPr lang="en-IN" dirty="0"/>
              <a:t>&lt;script&gt;    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('p1').</a:t>
            </a:r>
            <a:r>
              <a:rPr lang="en-IN" dirty="0" err="1"/>
              <a:t>innerHTML</a:t>
            </a:r>
            <a:r>
              <a:rPr lang="en-IN" dirty="0"/>
              <a:t>=</a:t>
            </a:r>
            <a:r>
              <a:rPr lang="en-IN" dirty="0" err="1"/>
              <a:t>Math.sqrt</a:t>
            </a:r>
            <a:r>
              <a:rPr lang="en-IN" dirty="0"/>
              <a:t>(17); 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('p3').</a:t>
            </a:r>
            <a:r>
              <a:rPr lang="en-IN" dirty="0" err="1"/>
              <a:t>innerHTML</a:t>
            </a:r>
            <a:r>
              <a:rPr lang="en-IN" dirty="0"/>
              <a:t>=</a:t>
            </a:r>
            <a:r>
              <a:rPr lang="en-IN" dirty="0" err="1"/>
              <a:t>Math.pow</a:t>
            </a:r>
            <a:r>
              <a:rPr lang="en-IN" dirty="0"/>
              <a:t>(3,4); 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('p2').</a:t>
            </a:r>
            <a:r>
              <a:rPr lang="en-IN" dirty="0" err="1"/>
              <a:t>innerHTML</a:t>
            </a:r>
            <a:r>
              <a:rPr lang="en-IN" dirty="0"/>
              <a:t>=</a:t>
            </a:r>
            <a:r>
              <a:rPr lang="en-IN" dirty="0" err="1"/>
              <a:t>Math.random</a:t>
            </a:r>
            <a:r>
              <a:rPr lang="en-IN" dirty="0"/>
              <a:t>();   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('p4').</a:t>
            </a:r>
            <a:r>
              <a:rPr lang="en-IN" dirty="0" err="1"/>
              <a:t>innerHTML</a:t>
            </a:r>
            <a:r>
              <a:rPr lang="en-IN" dirty="0"/>
              <a:t>=</a:t>
            </a:r>
            <a:r>
              <a:rPr lang="en-IN" dirty="0" err="1"/>
              <a:t>Math.floor</a:t>
            </a:r>
            <a:r>
              <a:rPr lang="en-IN" dirty="0"/>
              <a:t>(4.6);   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</p:txBody>
      </p:sp>
    </p:spTree>
    <p:extLst>
      <p:ext uri="{BB962C8B-B14F-4D97-AF65-F5344CB8AC3E}">
        <p14:creationId xmlns:p14="http://schemas.microsoft.com/office/powerpoint/2010/main" val="3365498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21ABC-850D-EFB5-F71B-34BB6EB21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134" y="583384"/>
            <a:ext cx="7901736" cy="726141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JS Time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formate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: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0807C-00F0-6296-C477-B77D33BDB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6584" y="1191492"/>
            <a:ext cx="9521089" cy="5314030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JavaScript date object </a:t>
            </a:r>
            <a:r>
              <a:rPr lang="en-US" dirty="0"/>
              <a:t>can be used to get year, month and day. </a:t>
            </a:r>
          </a:p>
          <a:p>
            <a:r>
              <a:rPr lang="en-US" dirty="0"/>
              <a:t>You can display a timer on the webpage by the help of JavaScript date object.</a:t>
            </a:r>
          </a:p>
          <a:p>
            <a:r>
              <a:rPr lang="en-US" dirty="0"/>
              <a:t>You can use different Date constructors to create date object. </a:t>
            </a:r>
          </a:p>
          <a:p>
            <a:r>
              <a:rPr lang="en-US" dirty="0"/>
              <a:t>It provides methods to get and set day, month, year, hour, minute and seconds.</a:t>
            </a:r>
          </a:p>
          <a:p>
            <a:r>
              <a:rPr lang="en-US" dirty="0"/>
              <a:t>You can use </a:t>
            </a:r>
            <a:r>
              <a:rPr lang="en-US" dirty="0" smtClean="0"/>
              <a:t>3 </a:t>
            </a:r>
            <a:r>
              <a:rPr lang="en-US" dirty="0"/>
              <a:t>variant of Date constructor to create date object.</a:t>
            </a:r>
          </a:p>
          <a:p>
            <a:pPr lvl="2"/>
            <a:r>
              <a:rPr lang="en-US" sz="2400" dirty="0"/>
              <a:t>Date()</a:t>
            </a:r>
          </a:p>
          <a:p>
            <a:pPr lvl="2"/>
            <a:r>
              <a:rPr lang="en-US" sz="2400" dirty="0"/>
              <a:t>Date(milliseconds)</a:t>
            </a:r>
          </a:p>
          <a:p>
            <a:pPr lvl="2"/>
            <a:r>
              <a:rPr lang="en-US" sz="2400" dirty="0"/>
              <a:t>Date(year, month, day, hours, minutes, seconds, milliseconds)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3815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53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28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7DDE41-E42F-16E7-2F87-83DB066206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2" y="1380069"/>
            <a:ext cx="5032258" cy="2048931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jQuery</a:t>
            </a:r>
            <a:endParaRPr lang="en-IN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723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20D46-3EB4-D566-456E-3D5A44BA1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537882"/>
            <a:ext cx="10018713" cy="96818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Introduction: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BD01B-9FB1-8F03-01ED-DA4E2CB8C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8781" y="1680882"/>
            <a:ext cx="10018713" cy="463923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jQuery was first released in January 2006 by John Resig at BarCamp NYC. </a:t>
            </a:r>
          </a:p>
          <a:p>
            <a:r>
              <a:rPr lang="en-US" dirty="0"/>
              <a:t>It is currently headed by Timmy Wilson and maintained by a team of developers.</a:t>
            </a:r>
          </a:p>
          <a:p>
            <a:r>
              <a:rPr lang="en-US" dirty="0"/>
              <a:t>Nowadays, jQuery is widely used technology most of the websites are using jQuery.</a:t>
            </a:r>
          </a:p>
          <a:p>
            <a:r>
              <a:rPr lang="en-US" dirty="0"/>
              <a:t>jQuery is a small and lightweight JavaScript library.</a:t>
            </a:r>
          </a:p>
          <a:p>
            <a:r>
              <a:rPr lang="en-US" dirty="0"/>
              <a:t>jQuery means "write less do more".</a:t>
            </a:r>
          </a:p>
          <a:p>
            <a:r>
              <a:rPr lang="en-US" dirty="0"/>
              <a:t>jQuery is developed by Google.</a:t>
            </a:r>
          </a:p>
          <a:p>
            <a:r>
              <a:rPr lang="en-US" dirty="0"/>
              <a:t> To create the first jQuery example, you need to use JavaScript file for jQuery.</a:t>
            </a:r>
          </a:p>
        </p:txBody>
      </p:sp>
    </p:spTree>
    <p:extLst>
      <p:ext uri="{BB962C8B-B14F-4D97-AF65-F5344CB8AC3E}">
        <p14:creationId xmlns:p14="http://schemas.microsoft.com/office/powerpoint/2010/main" val="24656823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47F06-BBE6-DA3F-3E36-1EEB7B17C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67235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B5FB6-6DED-821A-40D2-92D43E2C2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7311" y="1358153"/>
            <a:ext cx="9300232" cy="50785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1"/>
                </a:solidFill>
              </a:rPr>
              <a:t>Link:</a:t>
            </a:r>
          </a:p>
          <a:p>
            <a:pPr marL="0" indent="0">
              <a:buNone/>
            </a:pPr>
            <a:r>
              <a:rPr lang="en-IN" dirty="0"/>
              <a:t>&lt;script type="text/javascript" src="http://ajax.googleapis.com/ajax/libs/jquery/2.1.3/jquery.min.js"&gt; 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1"/>
                </a:solidFill>
              </a:rPr>
              <a:t>jQuery: </a:t>
            </a:r>
          </a:p>
          <a:p>
            <a:pPr marL="0" indent="0">
              <a:buNone/>
            </a:pPr>
            <a:r>
              <a:rPr lang="en-IN" dirty="0"/>
              <a:t>&lt;script type="text/javascript" language="javascript"&gt;  </a:t>
            </a:r>
          </a:p>
          <a:p>
            <a:pPr marL="0" indent="0">
              <a:buNone/>
            </a:pPr>
            <a:r>
              <a:rPr lang="en-IN" dirty="0"/>
              <a:t> $(document).ready(function() </a:t>
            </a:r>
          </a:p>
          <a:p>
            <a:pPr marL="0" indent="0">
              <a:buNone/>
            </a:pPr>
            <a:r>
              <a:rPr lang="en-IN" dirty="0"/>
              <a:t> {  </a:t>
            </a:r>
          </a:p>
          <a:p>
            <a:pPr marL="0" indent="0">
              <a:buNone/>
            </a:pPr>
            <a:r>
              <a:rPr lang="en-IN" dirty="0"/>
              <a:t>    $("p").css("background-color", "cyan");  </a:t>
            </a:r>
          </a:p>
          <a:p>
            <a:pPr marL="0" indent="0">
              <a:buNone/>
            </a:pPr>
            <a:r>
              <a:rPr lang="en-IN" dirty="0"/>
              <a:t> });  </a:t>
            </a:r>
          </a:p>
          <a:p>
            <a:pPr marL="0" indent="0">
              <a:buNone/>
            </a:pPr>
            <a:r>
              <a:rPr lang="en-IN" dirty="0"/>
              <a:t> &lt;/script&gt; </a:t>
            </a:r>
          </a:p>
        </p:txBody>
      </p:sp>
    </p:spTree>
    <p:extLst>
      <p:ext uri="{BB962C8B-B14F-4D97-AF65-F5344CB8AC3E}">
        <p14:creationId xmlns:p14="http://schemas.microsoft.com/office/powerpoint/2010/main" val="40839386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A96E-C827-712E-2446-7B9607296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551330"/>
            <a:ext cx="10018713" cy="739588"/>
          </a:xfrm>
        </p:spPr>
        <p:txBody>
          <a:bodyPr/>
          <a:lstStyle/>
          <a:p>
            <a:r>
              <a:rPr lang="en-IN" b="1" dirty="0" err="1">
                <a:solidFill>
                  <a:schemeClr val="accent1">
                    <a:lumMod val="50000"/>
                  </a:schemeClr>
                </a:solidFill>
              </a:rPr>
              <a:t>Jquery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4EBC6-D8FE-EC36-F80C-175E5137F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9463" y="1506070"/>
            <a:ext cx="10018713" cy="50291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jQuery provides a trivially simple interface for doing various kind of amazing effects like show, hide, fade-in, fade-out, slide-up, slide-down, toggle etc.</a:t>
            </a:r>
          </a:p>
          <a:p>
            <a:r>
              <a:rPr lang="en-US" dirty="0"/>
              <a:t> jQuery methods allow us to quickly apply commonly used effects with a minimum configuration.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Example: 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Toggle Effect: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			$(document).ready(function() {</a:t>
            </a:r>
          </a:p>
          <a:p>
            <a:pPr marL="0" indent="0">
              <a:buNone/>
            </a:pPr>
            <a:r>
              <a:rPr lang="en-IN" dirty="0"/>
              <a:t>        					$("#button").click(function(){</a:t>
            </a:r>
          </a:p>
          <a:p>
            <a:pPr marL="0" indent="0">
              <a:buNone/>
            </a:pPr>
            <a:r>
              <a:rPr lang="en-IN" dirty="0"/>
              <a:t>         					$("#box").</a:t>
            </a:r>
            <a:r>
              <a:rPr lang="en-IN" b="1" dirty="0"/>
              <a:t>toggle(1000);</a:t>
            </a:r>
          </a:p>
          <a:p>
            <a:pPr marL="0" indent="0">
              <a:buNone/>
            </a:pPr>
            <a:r>
              <a:rPr lang="en-IN" dirty="0"/>
              <a:t>      					});</a:t>
            </a:r>
          </a:p>
          <a:p>
            <a:pPr marL="0" indent="0">
              <a:buNone/>
            </a:pPr>
            <a:r>
              <a:rPr lang="en-IN" dirty="0"/>
              <a:t>   				});</a:t>
            </a:r>
          </a:p>
        </p:txBody>
      </p:sp>
    </p:spTree>
    <p:extLst>
      <p:ext uri="{BB962C8B-B14F-4D97-AF65-F5344CB8AC3E}">
        <p14:creationId xmlns:p14="http://schemas.microsoft.com/office/powerpoint/2010/main" val="29991341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595F7-17EF-B445-59A6-BC7BD798A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7686" y="551330"/>
            <a:ext cx="10018713" cy="61721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4000" b="1" dirty="0">
                <a:solidFill>
                  <a:schemeClr val="accent1">
                    <a:lumMod val="50000"/>
                  </a:schemeClr>
                </a:solidFill>
              </a:rPr>
              <a:t>Hide and Show : </a:t>
            </a:r>
          </a:p>
          <a:p>
            <a:pPr marL="0" indent="0">
              <a:buNone/>
            </a:pPr>
            <a:r>
              <a:rPr lang="en-IN" sz="2800" dirty="0"/>
              <a:t>	&lt;script&gt;</a:t>
            </a:r>
          </a:p>
          <a:p>
            <a:pPr marL="0" indent="0">
              <a:buNone/>
            </a:pPr>
            <a:r>
              <a:rPr lang="en-IN" sz="2800" dirty="0"/>
              <a:t>			</a:t>
            </a:r>
            <a:r>
              <a:rPr lang="en-IN" dirty="0"/>
              <a:t>$(document).ready(function() {</a:t>
            </a:r>
          </a:p>
          <a:p>
            <a:pPr marL="0" indent="0">
              <a:buNone/>
            </a:pPr>
            <a:r>
              <a:rPr lang="en-IN" dirty="0"/>
              <a:t>      				 $("#show").click(function(){</a:t>
            </a:r>
          </a:p>
          <a:p>
            <a:pPr marL="0" indent="0">
              <a:buNone/>
            </a:pPr>
            <a:r>
              <a:rPr lang="en-IN" dirty="0"/>
              <a:t>           				$("#box").</a:t>
            </a:r>
            <a:r>
              <a:rPr lang="en-IN" b="1" dirty="0"/>
              <a:t>show(2000);</a:t>
            </a:r>
          </a:p>
          <a:p>
            <a:pPr marL="0" indent="0">
              <a:buNone/>
            </a:pPr>
            <a:r>
              <a:rPr lang="en-IN" dirty="0"/>
              <a:t>        			});</a:t>
            </a:r>
          </a:p>
          <a:p>
            <a:pPr marL="0" indent="0">
              <a:buNone/>
            </a:pPr>
            <a:r>
              <a:rPr lang="en-IN" dirty="0"/>
              <a:t>       			$("#hide").click(function(){</a:t>
            </a:r>
          </a:p>
          <a:p>
            <a:pPr marL="0" indent="0">
              <a:buNone/>
            </a:pPr>
            <a:r>
              <a:rPr lang="en-IN" dirty="0"/>
              <a:t>           				$("#box").</a:t>
            </a:r>
            <a:r>
              <a:rPr lang="en-IN" b="1" dirty="0"/>
              <a:t>hide(1000);</a:t>
            </a:r>
          </a:p>
          <a:p>
            <a:pPr marL="0" indent="0">
              <a:buNone/>
            </a:pPr>
            <a:r>
              <a:rPr lang="en-IN" dirty="0"/>
              <a:t>        			});</a:t>
            </a:r>
          </a:p>
          <a:p>
            <a:pPr marL="0" indent="0">
              <a:buNone/>
            </a:pPr>
            <a:r>
              <a:rPr lang="en-IN" dirty="0"/>
              <a:t>     			});</a:t>
            </a:r>
          </a:p>
          <a:p>
            <a:pPr marL="0" indent="0">
              <a:buNone/>
            </a:pPr>
            <a:r>
              <a:rPr lang="en-IN" dirty="0"/>
              <a:t>	&lt;/script&gt;</a:t>
            </a:r>
          </a:p>
          <a:p>
            <a:pPr marL="0" indent="0">
              <a:buNone/>
            </a:pPr>
            <a:r>
              <a:rPr lang="en-US" dirty="0"/>
              <a:t>		&lt;div id="box"&gt;This is Box&lt;/div&gt;</a:t>
            </a:r>
          </a:p>
          <a:p>
            <a:pPr marL="0" indent="0">
              <a:buNone/>
            </a:pPr>
            <a:r>
              <a:rPr lang="en-US" dirty="0"/>
              <a:t>   		&lt;button id="button"&gt;Toggle Box&lt;/button&gt;</a:t>
            </a:r>
            <a:endParaRPr lang="en-IN" dirty="0"/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9991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D016-D372-EFA0-D99B-744295D7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557" y="497541"/>
            <a:ext cx="6879761" cy="766482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Fade In and Fade Out: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09BD2-FEE0-A850-EFC4-B89CD1762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9797" y="1264023"/>
            <a:ext cx="5910310" cy="52846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   $(document).ready(function() {</a:t>
            </a:r>
          </a:p>
          <a:p>
            <a:pPr marL="0" indent="0">
              <a:buNone/>
            </a:pPr>
            <a:r>
              <a:rPr lang="en-IN" dirty="0"/>
              <a:t>      $("#show").click(function(){</a:t>
            </a:r>
          </a:p>
          <a:p>
            <a:pPr marL="0" indent="0">
              <a:buNone/>
            </a:pPr>
            <a:r>
              <a:rPr lang="en-IN" dirty="0"/>
              <a:t>         $("#box").</a:t>
            </a:r>
            <a:r>
              <a:rPr lang="en-IN" b="1" dirty="0" err="1"/>
              <a:t>fadeIn</a:t>
            </a:r>
            <a:r>
              <a:rPr lang="en-IN" b="1" dirty="0"/>
              <a:t>(1000);</a:t>
            </a:r>
          </a:p>
          <a:p>
            <a:pPr marL="0" indent="0">
              <a:buNone/>
            </a:pPr>
            <a:r>
              <a:rPr lang="en-IN" dirty="0"/>
              <a:t>      });</a:t>
            </a:r>
          </a:p>
          <a:p>
            <a:pPr marL="0" indent="0">
              <a:buNone/>
            </a:pPr>
            <a:r>
              <a:rPr lang="en-IN" dirty="0"/>
              <a:t>      $("#hide").click(function(){</a:t>
            </a:r>
          </a:p>
          <a:p>
            <a:pPr marL="0" indent="0">
              <a:buNone/>
            </a:pPr>
            <a:r>
              <a:rPr lang="en-IN" dirty="0"/>
              <a:t>         $("#box").</a:t>
            </a:r>
            <a:r>
              <a:rPr lang="en-IN" b="1" dirty="0" err="1"/>
              <a:t>fadeOut</a:t>
            </a:r>
            <a:r>
              <a:rPr lang="en-IN" b="1" dirty="0"/>
              <a:t>(1000);</a:t>
            </a:r>
          </a:p>
          <a:p>
            <a:pPr marL="0" indent="0">
              <a:buNone/>
            </a:pPr>
            <a:r>
              <a:rPr lang="en-IN" dirty="0"/>
              <a:t>      });</a:t>
            </a:r>
          </a:p>
          <a:p>
            <a:pPr marL="0" indent="0">
              <a:buNone/>
            </a:pPr>
            <a:r>
              <a:rPr lang="en-IN" dirty="0"/>
              <a:t>   });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9544956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8162D-DF7E-919A-2E13-AC19DE781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551331"/>
            <a:ext cx="5346795" cy="68579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Slide Up &amp; Slide Down: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31D64-A5FD-DF3A-B3EB-56D0CCD62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2393" y="1438837"/>
            <a:ext cx="6637714" cy="51098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   $(document).ready(function() {</a:t>
            </a:r>
          </a:p>
          <a:p>
            <a:pPr marL="0" indent="0">
              <a:buNone/>
            </a:pPr>
            <a:r>
              <a:rPr lang="en-IN" dirty="0"/>
              <a:t>      $("#show").click(function(){</a:t>
            </a:r>
          </a:p>
          <a:p>
            <a:pPr marL="0" indent="0">
              <a:buNone/>
            </a:pPr>
            <a:r>
              <a:rPr lang="en-IN" dirty="0"/>
              <a:t>         $("#box").</a:t>
            </a:r>
            <a:r>
              <a:rPr lang="en-IN" dirty="0" err="1"/>
              <a:t>slideUp</a:t>
            </a:r>
            <a:r>
              <a:rPr lang="en-IN" dirty="0"/>
              <a:t>(1000);</a:t>
            </a:r>
          </a:p>
          <a:p>
            <a:pPr marL="0" indent="0">
              <a:buNone/>
            </a:pPr>
            <a:r>
              <a:rPr lang="en-IN" dirty="0"/>
              <a:t>      });</a:t>
            </a:r>
          </a:p>
          <a:p>
            <a:pPr marL="0" indent="0">
              <a:buNone/>
            </a:pPr>
            <a:r>
              <a:rPr lang="en-IN" dirty="0"/>
              <a:t>      $("#hide").click(function(){</a:t>
            </a:r>
          </a:p>
          <a:p>
            <a:pPr marL="0" indent="0">
              <a:buNone/>
            </a:pPr>
            <a:r>
              <a:rPr lang="en-IN" dirty="0"/>
              <a:t>         $("#box").</a:t>
            </a:r>
            <a:r>
              <a:rPr lang="en-IN" dirty="0" err="1"/>
              <a:t>slideUp</a:t>
            </a:r>
            <a:r>
              <a:rPr lang="en-IN" dirty="0"/>
              <a:t>(1000);</a:t>
            </a:r>
          </a:p>
          <a:p>
            <a:pPr marL="0" indent="0">
              <a:buNone/>
            </a:pPr>
            <a:r>
              <a:rPr lang="en-IN" dirty="0"/>
              <a:t>      });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0269303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8E7F-6D0C-ABD5-DD62-0047FD6C8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735" y="2855258"/>
            <a:ext cx="2939771" cy="69924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Toggles: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C92EA-040B-3F1C-9B5F-D66EFA194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5791" y="1066800"/>
            <a:ext cx="5469123" cy="54236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dirty="0"/>
              <a:t>&lt;script&gt;  $(document).ready(function()</a:t>
            </a:r>
          </a:p>
          <a:p>
            <a:pPr marL="0" indent="0">
              <a:buNone/>
            </a:pPr>
            <a:r>
              <a:rPr lang="en-IN" sz="2800" dirty="0"/>
              <a:t> {</a:t>
            </a:r>
          </a:p>
          <a:p>
            <a:pPr marL="0" indent="0">
              <a:buNone/>
            </a:pPr>
            <a:r>
              <a:rPr lang="en-IN" sz="2800" dirty="0"/>
              <a:t>	 $("#button").click(function()</a:t>
            </a:r>
          </a:p>
          <a:p>
            <a:pPr marL="0" indent="0">
              <a:buNone/>
            </a:pPr>
            <a:r>
              <a:rPr lang="en-IN" sz="2800" dirty="0"/>
              <a:t>	{        </a:t>
            </a:r>
          </a:p>
          <a:p>
            <a:pPr marL="0" indent="0">
              <a:buNone/>
            </a:pPr>
            <a:r>
              <a:rPr lang="en-IN" sz="2800" dirty="0"/>
              <a:t>	$("#box").</a:t>
            </a:r>
            <a:r>
              <a:rPr lang="en-IN" sz="2800" dirty="0" err="1"/>
              <a:t>fadeToggle</a:t>
            </a:r>
            <a:r>
              <a:rPr lang="en-IN" sz="2800" dirty="0"/>
              <a:t>(1000);</a:t>
            </a:r>
          </a:p>
          <a:p>
            <a:pPr marL="0" indent="0">
              <a:buNone/>
            </a:pPr>
            <a:r>
              <a:rPr lang="en-IN" sz="2800" dirty="0"/>
              <a:t>	// $("#box").</a:t>
            </a:r>
            <a:r>
              <a:rPr lang="en-IN" sz="2800" dirty="0" err="1"/>
              <a:t>slideToggle</a:t>
            </a:r>
            <a:r>
              <a:rPr lang="en-IN" sz="2800" dirty="0"/>
              <a:t>(1000);</a:t>
            </a:r>
          </a:p>
          <a:p>
            <a:pPr marL="0" indent="0">
              <a:buNone/>
            </a:pPr>
            <a:r>
              <a:rPr lang="en-IN" sz="2800" dirty="0"/>
              <a:t>      });</a:t>
            </a:r>
          </a:p>
          <a:p>
            <a:pPr marL="0" indent="0">
              <a:buNone/>
            </a:pPr>
            <a:r>
              <a:rPr lang="en-IN" sz="2800" dirty="0"/>
              <a:t>   });</a:t>
            </a:r>
          </a:p>
          <a:p>
            <a:pPr marL="0" indent="0">
              <a:buNone/>
            </a:pPr>
            <a:r>
              <a:rPr lang="en-IN" sz="2800" dirty="0"/>
              <a:t>&lt;/script&gt;</a:t>
            </a:r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57674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4E055-8CE3-6DF8-1E4A-E91C4B54C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36177"/>
            <a:ext cx="3262500" cy="847164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Animation: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E2D9-4FDD-0475-8679-3CAA21D46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592" y="1116105"/>
            <a:ext cx="10018713" cy="5405718"/>
          </a:xfrm>
        </p:spPr>
        <p:txBody>
          <a:bodyPr/>
          <a:lstStyle/>
          <a:p>
            <a:r>
              <a:rPr lang="en-US" dirty="0"/>
              <a:t>The jQuery animate() method is used to create custom animations by changing the CSS numerical properties of a DOM element, for example, width, height, margin, padding, opacity, top, left, etc.</a:t>
            </a:r>
          </a:p>
          <a:p>
            <a:r>
              <a:rPr lang="en-US" dirty="0"/>
              <a:t>jQuery animate() method can not be used to animate non-numeric properties such as color or background-color etc. </a:t>
            </a:r>
          </a:p>
          <a:p>
            <a:r>
              <a:rPr lang="en-US" dirty="0"/>
              <a:t>Though you can use jQuery plugin </a:t>
            </a:r>
            <a:r>
              <a:rPr lang="en-US" dirty="0" err="1"/>
              <a:t>jQuery.Color</a:t>
            </a:r>
            <a:r>
              <a:rPr lang="en-US" dirty="0"/>
              <a:t> to animate such properties.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Example:</a:t>
            </a:r>
          </a:p>
          <a:p>
            <a:pPr marL="457200" lvl="1" indent="0">
              <a:buNone/>
            </a:pPr>
            <a:r>
              <a:rPr lang="en-IN" sz="2800" dirty="0"/>
              <a:t>	 $("div").animate({left: '0px',width:'180px’,</a:t>
            </a:r>
          </a:p>
          <a:p>
            <a:pPr marL="457200" lvl="1" indent="0">
              <a:buNone/>
            </a:pPr>
            <a:r>
              <a:rPr lang="en-IN" sz="2800" dirty="0"/>
              <a:t>							 height:'100px', opacity:1.0});	</a:t>
            </a:r>
          </a:p>
        </p:txBody>
      </p:sp>
    </p:spTree>
    <p:extLst>
      <p:ext uri="{BB962C8B-B14F-4D97-AF65-F5344CB8AC3E}">
        <p14:creationId xmlns:p14="http://schemas.microsoft.com/office/powerpoint/2010/main" val="29260381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AAB7A-35CB-C164-870A-8890078FA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224" y="3032312"/>
            <a:ext cx="3657600" cy="793376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2F106-73F6-B366-0329-4EC5351A2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827" y="161365"/>
            <a:ext cx="7767266" cy="65352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$(document).ready(function() {</a:t>
            </a:r>
          </a:p>
          <a:p>
            <a:pPr marL="0" indent="0">
              <a:buNone/>
            </a:pPr>
            <a:r>
              <a:rPr lang="en-IN" dirty="0"/>
              <a:t>   $("#right").click(function(){</a:t>
            </a:r>
          </a:p>
          <a:p>
            <a:pPr marL="0" indent="0">
              <a:buNone/>
            </a:pPr>
            <a:r>
              <a:rPr lang="en-IN" dirty="0"/>
              <a:t>      $("div").animate({left: '250px'});</a:t>
            </a:r>
          </a:p>
          <a:p>
            <a:pPr marL="0" indent="0">
              <a:buNone/>
            </a:pPr>
            <a:r>
              <a:rPr lang="en-IN" dirty="0"/>
              <a:t>   });</a:t>
            </a:r>
          </a:p>
          <a:p>
            <a:pPr marL="0" indent="0">
              <a:buNone/>
            </a:pPr>
            <a:r>
              <a:rPr lang="en-IN" dirty="0"/>
              <a:t>   $("#left").click(function(){</a:t>
            </a:r>
          </a:p>
          <a:p>
            <a:pPr marL="0" indent="0">
              <a:buNone/>
            </a:pPr>
            <a:r>
              <a:rPr lang="en-IN" dirty="0"/>
              <a:t>      $("div").animate({left: '0px'});</a:t>
            </a:r>
          </a:p>
          <a:p>
            <a:pPr marL="0" indent="0">
              <a:buNone/>
            </a:pPr>
            <a:r>
              <a:rPr lang="en-IN" dirty="0"/>
              <a:t>   });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&lt;div id="box"&gt;This is Box&lt;/div&gt;</a:t>
            </a:r>
          </a:p>
          <a:p>
            <a:pPr marL="0" indent="0">
              <a:buNone/>
            </a:pPr>
            <a:r>
              <a:rPr lang="en-IN" dirty="0"/>
              <a:t>   &lt;button id="right"&gt;Right Move&lt;/button&gt;</a:t>
            </a:r>
          </a:p>
          <a:p>
            <a:pPr marL="0" indent="0">
              <a:buNone/>
            </a:pPr>
            <a:r>
              <a:rPr lang="en-IN" dirty="0"/>
              <a:t>   &lt;button id="left"&gt;Left Move&lt;/button&gt;</a:t>
            </a:r>
          </a:p>
        </p:txBody>
      </p:sp>
    </p:spTree>
    <p:extLst>
      <p:ext uri="{BB962C8B-B14F-4D97-AF65-F5344CB8AC3E}">
        <p14:creationId xmlns:p14="http://schemas.microsoft.com/office/powerpoint/2010/main" val="3107177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F654-74C4-7E4C-6FC6-2AC70E388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653" y="3186954"/>
            <a:ext cx="2294313" cy="833718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32327-82BA-F133-D2EE-4352923F5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3994" y="282388"/>
            <a:ext cx="5884677" cy="62932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$(document).ready(function() {</a:t>
            </a:r>
          </a:p>
          <a:p>
            <a:pPr marL="0" indent="0">
              <a:buNone/>
            </a:pPr>
            <a:r>
              <a:rPr lang="en-IN" dirty="0"/>
              <a:t>   $("button").click(function(){</a:t>
            </a:r>
          </a:p>
          <a:p>
            <a:pPr marL="0" indent="0">
              <a:buNone/>
            </a:pPr>
            <a:r>
              <a:rPr lang="en-IN" dirty="0"/>
              <a:t>      	$("div").animate({left: '250px'});</a:t>
            </a:r>
          </a:p>
          <a:p>
            <a:pPr marL="0" indent="0">
              <a:buNone/>
            </a:pPr>
            <a:r>
              <a:rPr lang="en-IN" dirty="0"/>
              <a:t>     	 $("div").animate({top: '100px'});</a:t>
            </a:r>
          </a:p>
          <a:p>
            <a:pPr marL="0" indent="0">
              <a:buNone/>
            </a:pPr>
            <a:r>
              <a:rPr lang="en-IN" dirty="0"/>
              <a:t>      	$("div").animate({left: '0px'});</a:t>
            </a:r>
          </a:p>
          <a:p>
            <a:pPr marL="0" indent="0">
              <a:buNone/>
            </a:pPr>
            <a:r>
              <a:rPr lang="en-IN" dirty="0"/>
              <a:t>      	$("div").animate({top: '0px'});</a:t>
            </a:r>
          </a:p>
          <a:p>
            <a:pPr marL="0" indent="0">
              <a:buNone/>
            </a:pPr>
            <a:r>
              <a:rPr lang="en-IN" dirty="0"/>
              <a:t>   });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&lt;div id="box"&gt;This is Box&lt;/div&gt;</a:t>
            </a:r>
          </a:p>
          <a:p>
            <a:pPr marL="0" indent="0">
              <a:buNone/>
            </a:pPr>
            <a:r>
              <a:rPr lang="en-IN" dirty="0"/>
              <a:t>   &lt;button&gt;Start Animation&lt;/button&gt;</a:t>
            </a:r>
          </a:p>
        </p:txBody>
      </p:sp>
    </p:spTree>
    <p:extLst>
      <p:ext uri="{BB962C8B-B14F-4D97-AF65-F5344CB8AC3E}">
        <p14:creationId xmlns:p14="http://schemas.microsoft.com/office/powerpoint/2010/main" val="42321840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B1BC8-5623-195E-473E-DDC73055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643217"/>
            <a:ext cx="10018713" cy="847165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JSON: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8117F-FE49-8053-CD97-A83874763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3251" y="1490382"/>
            <a:ext cx="10018713" cy="4300818"/>
          </a:xfrm>
        </p:spPr>
        <p:txBody>
          <a:bodyPr/>
          <a:lstStyle/>
          <a:p>
            <a:r>
              <a:rPr lang="en-US" dirty="0"/>
              <a:t>JSON Stands for JavaScript Object Notation.</a:t>
            </a:r>
          </a:p>
          <a:p>
            <a:r>
              <a:rPr lang="en-US" dirty="0"/>
              <a:t>It is an open standard format, which is text-based, designed explicitly for human-readable data interchange. </a:t>
            </a:r>
          </a:p>
          <a:p>
            <a:r>
              <a:rPr lang="en-US" dirty="0"/>
              <a:t>It is a language-independent data format. </a:t>
            </a:r>
          </a:p>
          <a:p>
            <a:r>
              <a:rPr lang="en-US" dirty="0"/>
              <a:t>It supports almost every kind of language, framework, and library.</a:t>
            </a:r>
          </a:p>
          <a:p>
            <a:r>
              <a:rPr lang="en-US" dirty="0"/>
              <a:t>JSON is an open standard for exchanging data on the web. </a:t>
            </a:r>
          </a:p>
          <a:p>
            <a:r>
              <a:rPr lang="en-US" dirty="0"/>
              <a:t>It supports data structures like objects and arrays. </a:t>
            </a:r>
          </a:p>
          <a:p>
            <a:r>
              <a:rPr lang="en-US" dirty="0"/>
              <a:t>So, it is easy to write and read data from JSON.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42376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A956C-3196-EEA9-528B-1DFD383B7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89966"/>
            <a:ext cx="10018713" cy="712694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Example:</a:t>
            </a: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563B7-0D9F-DA0E-482F-C64C9826A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8369" y="1264024"/>
            <a:ext cx="9833631" cy="53384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JSON Object:</a:t>
            </a:r>
          </a:p>
          <a:p>
            <a:pPr marL="0" indent="0">
              <a:buNone/>
            </a:pPr>
            <a:r>
              <a:rPr lang="en-IN" dirty="0"/>
              <a:t>	{"name" : “Tae", "employeeid" : 001, "present" : false}  </a:t>
            </a:r>
          </a:p>
          <a:p>
            <a:pPr marL="0" indent="0">
              <a:buNone/>
            </a:pP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JSON Array:</a:t>
            </a:r>
          </a:p>
          <a:p>
            <a:pPr marL="0" indent="0">
              <a:buNone/>
            </a:pPr>
            <a:r>
              <a:rPr lang="en-IN" dirty="0"/>
              <a:t>	 [{  </a:t>
            </a:r>
          </a:p>
          <a:p>
            <a:pPr marL="0" indent="0">
              <a:buNone/>
            </a:pPr>
            <a:r>
              <a:rPr lang="en-IN" dirty="0"/>
              <a:t>		"PizzaName" : "Country Feast",  </a:t>
            </a:r>
          </a:p>
          <a:p>
            <a:pPr marL="0" indent="0">
              <a:buNone/>
            </a:pPr>
            <a:r>
              <a:rPr lang="en-IN" dirty="0"/>
              <a:t>		"Base" : "Cheese burst",  </a:t>
            </a:r>
          </a:p>
          <a:p>
            <a:pPr marL="0" indent="0">
              <a:buNone/>
            </a:pPr>
            <a:r>
              <a:rPr lang="en-IN" dirty="0"/>
              <a:t>		"Toppings" : ["Black Olives", "Extra cheese", "Sausages", 																"Cherry tomatoes"],  </a:t>
            </a:r>
          </a:p>
          <a:p>
            <a:pPr marL="0" indent="0">
              <a:buNone/>
            </a:pPr>
            <a:r>
              <a:rPr lang="en-IN" dirty="0"/>
              <a:t>		"Spicy" : "yes",  </a:t>
            </a:r>
          </a:p>
          <a:p>
            <a:pPr marL="0" indent="0">
              <a:buNone/>
            </a:pPr>
            <a:r>
              <a:rPr lang="en-IN" dirty="0"/>
              <a:t>		"Veg" : "yes"  </a:t>
            </a:r>
          </a:p>
          <a:p>
            <a:pPr marL="0" indent="0">
              <a:buNone/>
            </a:pPr>
            <a:r>
              <a:rPr lang="en-IN" dirty="0"/>
              <a:t>	}] </a:t>
            </a:r>
          </a:p>
        </p:txBody>
      </p:sp>
    </p:spTree>
    <p:extLst>
      <p:ext uri="{BB962C8B-B14F-4D97-AF65-F5344CB8AC3E}">
        <p14:creationId xmlns:p14="http://schemas.microsoft.com/office/powerpoint/2010/main" val="8751052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2225</TotalTime>
  <Words>2589</Words>
  <Application>Microsoft Office PowerPoint</Application>
  <PresentationFormat>Widescreen</PresentationFormat>
  <Paragraphs>366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Corbel</vt:lpstr>
      <vt:lpstr>Verdana</vt:lpstr>
      <vt:lpstr>Wingdings</vt:lpstr>
      <vt:lpstr>Parallax</vt:lpstr>
      <vt:lpstr>Bootstrap</vt:lpstr>
      <vt:lpstr>Introduction:</vt:lpstr>
      <vt:lpstr>Advantages of Bootstrap:</vt:lpstr>
      <vt:lpstr>CDN (Content Delivery Network):</vt:lpstr>
      <vt:lpstr>Java Script</vt:lpstr>
      <vt:lpstr>Introduction:</vt:lpstr>
      <vt:lpstr>Application of JavaScript:</vt:lpstr>
      <vt:lpstr>PowerPoint Presentation</vt:lpstr>
      <vt:lpstr>Variable:</vt:lpstr>
      <vt:lpstr>Local Variable                     Global Variable:</vt:lpstr>
      <vt:lpstr>Data Types:</vt:lpstr>
      <vt:lpstr>Operators:</vt:lpstr>
      <vt:lpstr>Decision Contructs:</vt:lpstr>
      <vt:lpstr>Else-if ladder:</vt:lpstr>
      <vt:lpstr>PowerPoint Presentation</vt:lpstr>
      <vt:lpstr>Functions:</vt:lpstr>
      <vt:lpstr>Types:</vt:lpstr>
      <vt:lpstr>Exapmle:</vt:lpstr>
      <vt:lpstr>Event Handling:</vt:lpstr>
      <vt:lpstr>On-change Event:</vt:lpstr>
      <vt:lpstr>Mouse Over Event:</vt:lpstr>
      <vt:lpstr>Confirmation Action:</vt:lpstr>
      <vt:lpstr>JavaScript Objects:</vt:lpstr>
      <vt:lpstr>Math Object:</vt:lpstr>
      <vt:lpstr>Example:</vt:lpstr>
      <vt:lpstr>JS Time formate:</vt:lpstr>
      <vt:lpstr>PowerPoint Presentation</vt:lpstr>
      <vt:lpstr>PowerPoint Presentation</vt:lpstr>
      <vt:lpstr>jQuery</vt:lpstr>
      <vt:lpstr>Introduction:</vt:lpstr>
      <vt:lpstr>Example:</vt:lpstr>
      <vt:lpstr>Jquery Effects</vt:lpstr>
      <vt:lpstr>PowerPoint Presentation</vt:lpstr>
      <vt:lpstr>Fade In and Fade Out:</vt:lpstr>
      <vt:lpstr>Slide Up &amp; Slide Down:</vt:lpstr>
      <vt:lpstr>Toggles:</vt:lpstr>
      <vt:lpstr>Animation:</vt:lpstr>
      <vt:lpstr>Example:</vt:lpstr>
      <vt:lpstr>Example:</vt:lpstr>
      <vt:lpstr>JSON:</vt:lpstr>
      <vt:lpstr>Example: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Bootstrap</dc:title>
  <dc:creator>Roshni S</dc:creator>
  <cp:lastModifiedBy>Admin</cp:lastModifiedBy>
  <cp:revision>128</cp:revision>
  <dcterms:created xsi:type="dcterms:W3CDTF">2023-03-11T05:20:14Z</dcterms:created>
  <dcterms:modified xsi:type="dcterms:W3CDTF">2025-10-27T11:11:02Z</dcterms:modified>
</cp:coreProperties>
</file>