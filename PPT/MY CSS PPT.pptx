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7" r:id="rId14"/>
    <p:sldId id="269" r:id="rId15"/>
    <p:sldId id="270" r:id="rId16"/>
    <p:sldId id="271" r:id="rId17"/>
    <p:sldId id="274" r:id="rId18"/>
    <p:sldId id="283" r:id="rId19"/>
    <p:sldId id="275" r:id="rId20"/>
    <p:sldId id="276" r:id="rId21"/>
    <p:sldId id="277" r:id="rId22"/>
    <p:sldId id="278" r:id="rId23"/>
    <p:sldId id="279" r:id="rId24"/>
    <p:sldId id="280" r:id="rId25"/>
    <p:sldId id="282" r:id="rId26"/>
    <p:sldId id="281" r:id="rId27"/>
    <p:sldId id="284" r:id="rId28"/>
    <p:sldId id="286" r:id="rId29"/>
    <p:sldId id="287" r:id="rId30"/>
    <p:sldId id="288" r:id="rId31"/>
    <p:sldId id="289" r:id="rId32"/>
    <p:sldId id="285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8" r:id="rId41"/>
    <p:sldId id="299" r:id="rId42"/>
    <p:sldId id="304" r:id="rId43"/>
    <p:sldId id="311" r:id="rId44"/>
    <p:sldId id="312" r:id="rId45"/>
    <p:sldId id="313" r:id="rId46"/>
    <p:sldId id="314" r:id="rId47"/>
    <p:sldId id="310" r:id="rId48"/>
    <p:sldId id="315" r:id="rId49"/>
    <p:sldId id="316" r:id="rId50"/>
    <p:sldId id="317" r:id="rId51"/>
    <p:sldId id="318" r:id="rId52"/>
    <p:sldId id="319" r:id="rId53"/>
    <p:sldId id="306" r:id="rId54"/>
    <p:sldId id="305" r:id="rId55"/>
    <p:sldId id="308" r:id="rId56"/>
    <p:sldId id="309" r:id="rId5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0EE08-5654-4D71-89A1-F99C5A13DC07}" type="datetimeFigureOut">
              <a:rPr lang="en-IN" smtClean="0"/>
              <a:t>18-04-2025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301B8-18F6-49B4-8CC7-FD749A280D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7613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0EE08-5654-4D71-89A1-F99C5A13DC07}" type="datetimeFigureOut">
              <a:rPr lang="en-IN" smtClean="0"/>
              <a:t>18-04-2025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301B8-18F6-49B4-8CC7-FD749A280D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28633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0EE08-5654-4D71-89A1-F99C5A13DC07}" type="datetimeFigureOut">
              <a:rPr lang="en-IN" smtClean="0"/>
              <a:t>18-04-2025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301B8-18F6-49B4-8CC7-FD749A280D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9308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0EE08-5654-4D71-89A1-F99C5A13DC07}" type="datetimeFigureOut">
              <a:rPr lang="en-IN" smtClean="0"/>
              <a:t>18-04-2025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301B8-18F6-49B4-8CC7-FD749A280D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39433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0EE08-5654-4D71-89A1-F99C5A13DC07}" type="datetimeFigureOut">
              <a:rPr lang="en-IN" smtClean="0"/>
              <a:t>18-04-2025</a:t>
            </a:fld>
            <a:endParaRPr lang="en-IN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301B8-18F6-49B4-8CC7-FD749A280D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40534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0EE08-5654-4D71-89A1-F99C5A13DC07}" type="datetimeFigureOut">
              <a:rPr lang="en-IN" smtClean="0"/>
              <a:t>18-04-2025</a:t>
            </a:fld>
            <a:endParaRPr lang="en-IN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301B8-18F6-49B4-8CC7-FD749A280D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0186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0EE08-5654-4D71-89A1-F99C5A13DC07}" type="datetimeFigureOut">
              <a:rPr lang="en-IN" smtClean="0"/>
              <a:t>18-04-2025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301B8-18F6-49B4-8CC7-FD749A280D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42811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0EE08-5654-4D71-89A1-F99C5A13DC07}" type="datetimeFigureOut">
              <a:rPr lang="en-IN" smtClean="0"/>
              <a:t>18-04-2025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301B8-18F6-49B4-8CC7-FD749A280D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97878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0EE08-5654-4D71-89A1-F99C5A13DC07}" type="datetimeFigureOut">
              <a:rPr lang="en-IN" smtClean="0"/>
              <a:t>18-04-2025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301B8-18F6-49B4-8CC7-FD749A280D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5586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0EE08-5654-4D71-89A1-F99C5A13DC07}" type="datetimeFigureOut">
              <a:rPr lang="en-IN" smtClean="0"/>
              <a:t>18-04-2025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301B8-18F6-49B4-8CC7-FD749A280D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65114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0EE08-5654-4D71-89A1-F99C5A13DC07}" type="datetimeFigureOut">
              <a:rPr lang="en-IN" smtClean="0"/>
              <a:t>18-04-2025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301B8-18F6-49B4-8CC7-FD749A280D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60115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BAC0EE08-5654-4D71-89A1-F99C5A13DC07}" type="datetimeFigureOut">
              <a:rPr lang="en-IN" smtClean="0"/>
              <a:t>18-04-2025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D69301B8-18F6-49B4-8CC7-FD749A280D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09176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CCBB3-50EE-3B3F-7F7B-F5455DED60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46612" y="1298448"/>
            <a:ext cx="5238436" cy="2278470"/>
          </a:xfrm>
        </p:spPr>
        <p:txBody>
          <a:bodyPr>
            <a:normAutofit/>
          </a:bodyPr>
          <a:lstStyle/>
          <a:p>
            <a:r>
              <a:rPr lang="en-IN" sz="7200" b="1" dirty="0"/>
              <a:t>CSS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19A5C6-80F2-2E85-D480-A7F36A027E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46612" y="3576918"/>
            <a:ext cx="7315200" cy="914400"/>
          </a:xfrm>
        </p:spPr>
        <p:txBody>
          <a:bodyPr>
            <a:normAutofit/>
          </a:bodyPr>
          <a:lstStyle/>
          <a:p>
            <a:r>
              <a:rPr lang="en-IN" sz="2400" b="1" dirty="0"/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21780682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0A0A0-B7A2-B883-CFEB-34A0DB5C4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Introduction: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179100-888C-5B38-9F1D-18AA678AD8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8" y="864108"/>
            <a:ext cx="7315200" cy="5281198"/>
          </a:xfrm>
        </p:spPr>
        <p:txBody>
          <a:bodyPr>
            <a:normAutofit/>
          </a:bodyPr>
          <a:lstStyle/>
          <a:p>
            <a:r>
              <a:rPr lang="en-US" sz="2800" dirty="0"/>
              <a:t>CSS stands for </a:t>
            </a:r>
            <a:r>
              <a:rPr lang="en-US" sz="2800" b="1" dirty="0"/>
              <a:t>Cascading Style Sheets</a:t>
            </a:r>
            <a:r>
              <a:rPr lang="en-US" sz="2800" dirty="0"/>
              <a:t>.</a:t>
            </a:r>
          </a:p>
          <a:p>
            <a:r>
              <a:rPr lang="en-US" sz="2800" dirty="0"/>
              <a:t>CSS is a language that describes the style of an HTML document.</a:t>
            </a:r>
          </a:p>
          <a:p>
            <a:r>
              <a:rPr lang="en-US" sz="2800" dirty="0"/>
              <a:t>CSS describes how HTML elements are to be displayed on screen, paper, or in other media.</a:t>
            </a:r>
          </a:p>
          <a:p>
            <a:r>
              <a:rPr lang="en-US" sz="2800" dirty="0"/>
              <a:t>It can control the layout of multiple web pages all at once.</a:t>
            </a:r>
          </a:p>
          <a:p>
            <a:r>
              <a:rPr lang="en-US" sz="2800" dirty="0"/>
              <a:t>External stylesheets are stored in CSS </a:t>
            </a:r>
            <a:r>
              <a:rPr lang="en-US" sz="2800" dirty="0" smtClean="0"/>
              <a:t>files</a:t>
            </a:r>
            <a:r>
              <a:rPr lang="en-US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25501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33786-3731-0647-8E3D-1801407AA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     Syntax: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01EFB5-4E50-5C22-37BE-19CA468B9B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5821" y="2286175"/>
            <a:ext cx="7315200" cy="4245775"/>
          </a:xfrm>
        </p:spPr>
        <p:txBody>
          <a:bodyPr>
            <a:normAutofit/>
          </a:bodyPr>
          <a:lstStyle/>
          <a:p>
            <a:r>
              <a:rPr lang="en-US" sz="2400" dirty="0"/>
              <a:t>The </a:t>
            </a:r>
            <a:r>
              <a:rPr lang="en-US" sz="2400" b="1" dirty="0"/>
              <a:t>selector</a:t>
            </a:r>
            <a:r>
              <a:rPr lang="en-US" sz="2400" dirty="0"/>
              <a:t> points to the HTML element you want to style.</a:t>
            </a:r>
          </a:p>
          <a:p>
            <a:r>
              <a:rPr lang="en-US" sz="2400" dirty="0"/>
              <a:t>The </a:t>
            </a:r>
            <a:r>
              <a:rPr lang="en-US" sz="2400" b="1" dirty="0"/>
              <a:t>declaration</a:t>
            </a:r>
            <a:r>
              <a:rPr lang="en-US" sz="2400" dirty="0"/>
              <a:t> block contains one or more declarations separated by </a:t>
            </a:r>
            <a:r>
              <a:rPr lang="en-US" sz="2400" b="1" dirty="0"/>
              <a:t>semicolons</a:t>
            </a:r>
            <a:r>
              <a:rPr lang="en-US" sz="2400" dirty="0"/>
              <a:t>.</a:t>
            </a:r>
          </a:p>
          <a:p>
            <a:r>
              <a:rPr lang="en-US" sz="2400" dirty="0"/>
              <a:t>Each declaration includes a CSS property name and a value, separated by a colon.</a:t>
            </a:r>
          </a:p>
          <a:p>
            <a:r>
              <a:rPr lang="en-US" sz="2400" dirty="0"/>
              <a:t>A CSS declaration always ends with a semicolon, and declaration blocks are surrounded by curly braces. </a:t>
            </a:r>
          </a:p>
        </p:txBody>
      </p:sp>
      <p:pic>
        <p:nvPicPr>
          <p:cNvPr id="4" name="Picture 3" descr="IMG_256">
            <a:extLst>
              <a:ext uri="{FF2B5EF4-FFF2-40B4-BE49-F238E27FC236}">
                <a16:creationId xmlns:a16="http://schemas.microsoft.com/office/drawing/2014/main" id="{057D7FDB-4077-CF3E-A83F-87D9B686A4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7355" y="885719"/>
            <a:ext cx="6696298" cy="1400456"/>
          </a:xfrm>
          <a:prstGeom prst="rect">
            <a:avLst/>
          </a:prstGeom>
          <a:noFill/>
          <a:ln w="9525">
            <a:noFill/>
          </a:ln>
        </p:spPr>
      </p:pic>
    </p:spTree>
    <p:extLst>
      <p:ext uri="{BB962C8B-B14F-4D97-AF65-F5344CB8AC3E}">
        <p14:creationId xmlns:p14="http://schemas.microsoft.com/office/powerpoint/2010/main" val="3656148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E7FA3-2B1A-7440-3EDB-630333E9A0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707" y="1128408"/>
            <a:ext cx="2947482" cy="4601183"/>
          </a:xfrm>
        </p:spPr>
        <p:txBody>
          <a:bodyPr/>
          <a:lstStyle/>
          <a:p>
            <a:r>
              <a:rPr lang="en-IN" dirty="0"/>
              <a:t>Selectors: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24B81-6112-64B9-52BF-ABC8D374B9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4796" y="658906"/>
            <a:ext cx="7937251" cy="583602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id Selector:</a:t>
            </a:r>
          </a:p>
          <a:p>
            <a:r>
              <a:rPr lang="en-US" sz="2400" dirty="0"/>
              <a:t>The id selector uses the id attribute of an HTML element to select a specific element.</a:t>
            </a:r>
          </a:p>
          <a:p>
            <a:r>
              <a:rPr lang="en-US" sz="2400" dirty="0"/>
              <a:t>The id of an element should be unique within a page, so the id selector is used to select one unique element!</a:t>
            </a:r>
          </a:p>
          <a:p>
            <a:r>
              <a:rPr lang="en-US" sz="2400" dirty="0"/>
              <a:t>To select an element with a specific id, write a hash (#) character, followed by the id of the element.</a:t>
            </a:r>
          </a:p>
          <a:p>
            <a:pPr marL="0" indent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class Selector:</a:t>
            </a:r>
          </a:p>
          <a:p>
            <a:r>
              <a:rPr lang="en-US" sz="2400" dirty="0"/>
              <a:t>The class selector selects elements with a specific class attribute.</a:t>
            </a:r>
          </a:p>
          <a:p>
            <a:pPr marL="0" indent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Examples: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400" b="1" dirty="0">
                <a:solidFill>
                  <a:schemeClr val="accent1"/>
                </a:solidFill>
              </a:rPr>
              <a:t>	</a:t>
            </a:r>
            <a:r>
              <a:rPr lang="en-US" sz="2400" b="1" dirty="0">
                <a:solidFill>
                  <a:schemeClr val="tx2"/>
                </a:solidFill>
              </a:rPr>
              <a:t>#para1 </a:t>
            </a:r>
            <a:r>
              <a:rPr lang="en-US" sz="2400" dirty="0">
                <a:solidFill>
                  <a:schemeClr val="tx2"/>
                </a:solidFill>
              </a:rPr>
              <a:t>{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2"/>
                </a:solidFill>
              </a:rPr>
              <a:t>	  text-align: center;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2"/>
                </a:solidFill>
              </a:rPr>
              <a:t> 	 color: red;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2"/>
                </a:solidFill>
              </a:rPr>
              <a:t>	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C8B781-CC37-FFC5-6FEE-D4F269BA8CCD}"/>
              </a:ext>
            </a:extLst>
          </p:cNvPr>
          <p:cNvSpPr txBox="1"/>
          <p:nvPr/>
        </p:nvSpPr>
        <p:spPr>
          <a:xfrm>
            <a:off x="8027893" y="4629434"/>
            <a:ext cx="311971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</a:rPr>
              <a:t>.center </a:t>
            </a:r>
            <a:r>
              <a:rPr lang="en-US" sz="2400" dirty="0">
                <a:solidFill>
                  <a:schemeClr val="tx2"/>
                </a:solidFill>
              </a:rPr>
              <a:t>{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2"/>
                </a:solidFill>
              </a:rPr>
              <a:t>  text-align: center;  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2"/>
                </a:solidFill>
              </a:rPr>
              <a:t>  color: red;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2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41331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0120EC-D7F6-78C0-AEC4-FFCD5DD7B6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2033" y="958237"/>
            <a:ext cx="7315200" cy="51206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Grouping Selectors:</a:t>
            </a:r>
          </a:p>
          <a:p>
            <a:pPr lvl="1"/>
            <a:r>
              <a:rPr lang="en-US" sz="2400" dirty="0"/>
              <a:t>Same elements are considered to be style in once.</a:t>
            </a:r>
          </a:p>
          <a:p>
            <a:pPr marL="0" indent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CSS Comments:</a:t>
            </a:r>
          </a:p>
          <a:p>
            <a:pPr lvl="1"/>
            <a:r>
              <a:rPr lang="en-US" sz="2400" dirty="0"/>
              <a:t>Comments are used to explain the code, and may help when you edit the source code at a later date.</a:t>
            </a:r>
          </a:p>
          <a:p>
            <a:pPr lvl="1"/>
            <a:r>
              <a:rPr lang="en-US" sz="2400" dirty="0"/>
              <a:t>Comments are ignored by browsers.</a:t>
            </a:r>
          </a:p>
          <a:p>
            <a:pPr lvl="1"/>
            <a:r>
              <a:rPr lang="en-US" sz="2400" b="1" dirty="0"/>
              <a:t>Example:</a:t>
            </a:r>
          </a:p>
          <a:p>
            <a:pPr marL="0" indent="0">
              <a:buNone/>
            </a:pPr>
            <a:r>
              <a:rPr lang="en-US" sz="2400" dirty="0"/>
              <a:t>		/* this is Single line command */</a:t>
            </a:r>
          </a:p>
          <a:p>
            <a:pPr marL="0" indent="0">
              <a:buNone/>
            </a:pPr>
            <a:r>
              <a:rPr lang="en-US" sz="2400" dirty="0"/>
              <a:t>		/* This is</a:t>
            </a:r>
          </a:p>
          <a:p>
            <a:pPr marL="0" indent="0">
              <a:buNone/>
            </a:pPr>
            <a:r>
              <a:rPr lang="en-US" sz="2400" dirty="0"/>
              <a:t>		a multi-line</a:t>
            </a:r>
          </a:p>
          <a:p>
            <a:pPr marL="0" indent="0">
              <a:buNone/>
            </a:pPr>
            <a:r>
              <a:rPr lang="en-US" sz="2400" dirty="0"/>
              <a:t>		comment */</a:t>
            </a:r>
          </a:p>
        </p:txBody>
      </p:sp>
    </p:spTree>
    <p:extLst>
      <p:ext uri="{BB962C8B-B14F-4D97-AF65-F5344CB8AC3E}">
        <p14:creationId xmlns:p14="http://schemas.microsoft.com/office/powerpoint/2010/main" val="25647301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E582C-C3B2-3ADC-5566-A79DC1E7B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Inserting CSS: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3C537A-4343-285A-15A6-451F324C25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7" y="864108"/>
            <a:ext cx="7775885" cy="512064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dirty="0"/>
              <a:t>There are three ways of inserting a style sheet:</a:t>
            </a:r>
          </a:p>
          <a:p>
            <a:pPr lvl="1">
              <a:lnSpc>
                <a:spcPct val="150000"/>
              </a:lnSpc>
            </a:pPr>
            <a:r>
              <a:rPr lang="en-US" sz="2400" dirty="0"/>
              <a:t>External style sheet</a:t>
            </a:r>
          </a:p>
          <a:p>
            <a:pPr lvl="1">
              <a:lnSpc>
                <a:spcPct val="150000"/>
              </a:lnSpc>
            </a:pPr>
            <a:r>
              <a:rPr lang="en-US" sz="2400" dirty="0"/>
              <a:t>Internal style sheet</a:t>
            </a:r>
          </a:p>
          <a:p>
            <a:pPr lvl="1">
              <a:lnSpc>
                <a:spcPct val="150000"/>
              </a:lnSpc>
            </a:pPr>
            <a:r>
              <a:rPr lang="en-US" sz="2400" dirty="0"/>
              <a:t>Inline style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b="1" dirty="0">
                <a:solidFill>
                  <a:schemeClr val="accent1"/>
                </a:solidFill>
              </a:rPr>
              <a:t>Multiple Style Sheets: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If some properties have been defined for the same selector (element) in different style sheets, the value from the </a:t>
            </a:r>
            <a:r>
              <a:rPr lang="en-US" sz="2400" b="1" dirty="0"/>
              <a:t>last read style </a:t>
            </a:r>
            <a:r>
              <a:rPr lang="en-US" sz="2400" dirty="0"/>
              <a:t>sheet will be used. </a:t>
            </a:r>
          </a:p>
        </p:txBody>
      </p:sp>
    </p:spTree>
    <p:extLst>
      <p:ext uri="{BB962C8B-B14F-4D97-AF65-F5344CB8AC3E}">
        <p14:creationId xmlns:p14="http://schemas.microsoft.com/office/powerpoint/2010/main" val="3907968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987CD-CF4F-CF34-70FE-FB8841A34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CSS </a:t>
            </a:r>
            <a:r>
              <a:rPr lang="en-IN" b="1" dirty="0" err="1"/>
              <a:t>Colors</a:t>
            </a:r>
            <a:r>
              <a:rPr lang="en-IN" b="1" dirty="0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9673C7-CB0A-1A60-768E-D769BC95B6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8" y="864108"/>
            <a:ext cx="7668308" cy="51206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Text Color:</a:t>
            </a:r>
          </a:p>
          <a:p>
            <a:pPr lvl="1"/>
            <a:r>
              <a:rPr lang="en-US" sz="2400" dirty="0"/>
              <a:t>You can set the color of text:</a:t>
            </a:r>
          </a:p>
          <a:p>
            <a:pPr lvl="1"/>
            <a:r>
              <a:rPr lang="en-US" sz="2400" dirty="0"/>
              <a:t>h1 style="</a:t>
            </a:r>
            <a:r>
              <a:rPr lang="en-US" sz="2400" dirty="0" err="1"/>
              <a:t>color:red</a:t>
            </a:r>
            <a:r>
              <a:rPr lang="en-US" sz="2400" dirty="0"/>
              <a:t>;"&gt;Hello World&lt;/h1&gt;</a:t>
            </a:r>
          </a:p>
          <a:p>
            <a:pPr marL="0" indent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Border Color:</a:t>
            </a:r>
          </a:p>
          <a:p>
            <a:pPr lvl="1"/>
            <a:r>
              <a:rPr lang="en-US" sz="2400" dirty="0"/>
              <a:t>You can set the color of borders:</a:t>
            </a:r>
          </a:p>
          <a:p>
            <a:pPr lvl="1"/>
            <a:r>
              <a:rPr lang="en-US" sz="2400" dirty="0"/>
              <a:t>&lt;h1 style="border:2px solid green;"&gt;Hello World&lt;/h1&gt;</a:t>
            </a:r>
          </a:p>
          <a:p>
            <a:pPr marL="0" indent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Color Values:</a:t>
            </a:r>
          </a:p>
          <a:p>
            <a:pPr lvl="1"/>
            <a:r>
              <a:rPr lang="en-US" sz="2400" dirty="0"/>
              <a:t>In HTML, colors can also be specified using RGB values, HEX values, HSL values, RGBA values, and HSLA values.</a:t>
            </a:r>
          </a:p>
          <a:p>
            <a:pPr lvl="1"/>
            <a:r>
              <a:rPr lang="en-US" sz="2400" dirty="0"/>
              <a:t>Same as color name "Tomato“.</a:t>
            </a:r>
          </a:p>
        </p:txBody>
      </p:sp>
    </p:spTree>
    <p:extLst>
      <p:ext uri="{BB962C8B-B14F-4D97-AF65-F5344CB8AC3E}">
        <p14:creationId xmlns:p14="http://schemas.microsoft.com/office/powerpoint/2010/main" val="15932623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97A3C5D-5B3E-146D-89EF-C481F56F5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RGB values: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9118758-808D-76CD-1826-740F3C7C9E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8" y="864108"/>
            <a:ext cx="7708650" cy="5120640"/>
          </a:xfrm>
        </p:spPr>
        <p:txBody>
          <a:bodyPr>
            <a:normAutofit/>
          </a:bodyPr>
          <a:lstStyle/>
          <a:p>
            <a:r>
              <a:rPr lang="en-US" sz="2400" dirty="0"/>
              <a:t>In HTML a color can be specified as an RGB value, using this formula:</a:t>
            </a:r>
          </a:p>
          <a:p>
            <a:pPr marL="0" indent="0">
              <a:buNone/>
            </a:pPr>
            <a:r>
              <a:rPr lang="en-US" sz="2400" dirty="0"/>
              <a:t>	</a:t>
            </a:r>
            <a:r>
              <a:rPr lang="en-US" sz="2400" dirty="0" err="1"/>
              <a:t>rgb</a:t>
            </a:r>
            <a:r>
              <a:rPr lang="en-US" sz="2400" dirty="0"/>
              <a:t>(red, green, blue)</a:t>
            </a:r>
          </a:p>
          <a:p>
            <a:r>
              <a:rPr lang="en-US" sz="2400" dirty="0"/>
              <a:t>Each parameter (red, green, and blue) defines the intensity of the color between 0 and 255.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Example: </a:t>
            </a:r>
          </a:p>
          <a:p>
            <a:r>
              <a:rPr lang="en-US" sz="2400" dirty="0" err="1"/>
              <a:t>rgb</a:t>
            </a:r>
            <a:r>
              <a:rPr lang="en-US" sz="2400" dirty="0"/>
              <a:t>(255, 0, 0) is displayed as </a:t>
            </a:r>
            <a:r>
              <a:rPr lang="en-US" sz="2400" b="1" dirty="0"/>
              <a:t>red</a:t>
            </a:r>
            <a:r>
              <a:rPr lang="en-US" sz="2400" dirty="0"/>
              <a:t>, because red is set to its highest value (255) and the others are set to 0.</a:t>
            </a:r>
          </a:p>
          <a:p>
            <a:r>
              <a:rPr lang="en-US" sz="2400" dirty="0"/>
              <a:t>To display the color </a:t>
            </a:r>
            <a:r>
              <a:rPr lang="en-US" sz="2400" b="1" dirty="0"/>
              <a:t>black</a:t>
            </a:r>
            <a:r>
              <a:rPr lang="en-US" sz="2400" dirty="0"/>
              <a:t>, all color parameters must be set to 0, like this: </a:t>
            </a:r>
            <a:r>
              <a:rPr lang="en-US" sz="2400" dirty="0" err="1"/>
              <a:t>rgb</a:t>
            </a:r>
            <a:r>
              <a:rPr lang="en-US" sz="2400" dirty="0"/>
              <a:t>(0, 0, 0).</a:t>
            </a:r>
          </a:p>
          <a:p>
            <a:r>
              <a:rPr lang="en-US" sz="2400" dirty="0"/>
              <a:t>To display the color</a:t>
            </a:r>
            <a:r>
              <a:rPr lang="en-US" sz="2400" b="1" dirty="0"/>
              <a:t> white</a:t>
            </a:r>
            <a:r>
              <a:rPr lang="en-US" sz="2400" dirty="0"/>
              <a:t>, all color parameters must be set to 255, like this: </a:t>
            </a:r>
            <a:r>
              <a:rPr lang="en-US" sz="2400" dirty="0" err="1"/>
              <a:t>rgb</a:t>
            </a:r>
            <a:r>
              <a:rPr lang="en-US" sz="2400" dirty="0"/>
              <a:t>(255, 255, 255).</a:t>
            </a:r>
          </a:p>
        </p:txBody>
      </p:sp>
    </p:spTree>
    <p:extLst>
      <p:ext uri="{BB962C8B-B14F-4D97-AF65-F5344CB8AC3E}">
        <p14:creationId xmlns:p14="http://schemas.microsoft.com/office/powerpoint/2010/main" val="2609886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4A5A4-A1AE-0441-CC36-6F5B31F6F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HEX Value: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B6E9FB-E10E-1E65-786D-085A664A92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In HTML, a color can be specified using a hexadecimal value in the form:</a:t>
            </a:r>
          </a:p>
          <a:p>
            <a:pPr marL="0" indent="0">
              <a:buNone/>
            </a:pPr>
            <a:r>
              <a:rPr lang="en-US" sz="2400" dirty="0"/>
              <a:t>		</a:t>
            </a:r>
            <a:r>
              <a:rPr lang="en-US" sz="2400" b="1" dirty="0"/>
              <a:t>#rrggbb</a:t>
            </a:r>
          </a:p>
          <a:p>
            <a:r>
              <a:rPr lang="en-US" sz="2400" dirty="0"/>
              <a:t>Where </a:t>
            </a:r>
            <a:r>
              <a:rPr lang="en-US" sz="2400" dirty="0" err="1"/>
              <a:t>rr</a:t>
            </a:r>
            <a:r>
              <a:rPr lang="en-US" sz="2400" dirty="0"/>
              <a:t> (red), gg (green) and bb (blue) are hexadecimal values between 00 and ff (same as decimal 0-255).</a:t>
            </a:r>
          </a:p>
          <a:p>
            <a:pPr marL="0" indent="0">
              <a:buNone/>
            </a:pPr>
            <a:r>
              <a:rPr lang="en-US" sz="2400" b="1" dirty="0"/>
              <a:t>Example:</a:t>
            </a:r>
          </a:p>
          <a:p>
            <a:r>
              <a:rPr lang="en-US" sz="2400" dirty="0"/>
              <a:t> #ff0000 is displayed as red, because red is set to its highest value (ff) and the others are set to the lowest value (00)</a:t>
            </a:r>
          </a:p>
        </p:txBody>
      </p:sp>
    </p:spTree>
    <p:extLst>
      <p:ext uri="{BB962C8B-B14F-4D97-AF65-F5344CB8AC3E}">
        <p14:creationId xmlns:p14="http://schemas.microsoft.com/office/powerpoint/2010/main" val="8720468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80943-E3EC-6336-5B68-05AF2A553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HSL Value: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9FEC99-1A08-9CB8-8211-55D72D557C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4114" y="671815"/>
            <a:ext cx="7829674" cy="5505226"/>
          </a:xfrm>
        </p:spPr>
        <p:txBody>
          <a:bodyPr>
            <a:normAutofit fontScale="92500" lnSpcReduction="10000"/>
          </a:bodyPr>
          <a:lstStyle/>
          <a:p>
            <a:r>
              <a:rPr lang="en-US" sz="2400" dirty="0"/>
              <a:t>In HTML, a color can be specified using hue, saturation, and lightness (HSL) in the form:</a:t>
            </a:r>
          </a:p>
          <a:p>
            <a:pPr marL="0" indent="0">
              <a:buNone/>
            </a:pPr>
            <a:r>
              <a:rPr lang="en-US" sz="2400" dirty="0"/>
              <a:t>	</a:t>
            </a:r>
            <a:r>
              <a:rPr lang="en-US" sz="2400" b="1" dirty="0" err="1"/>
              <a:t>hsl</a:t>
            </a:r>
            <a:r>
              <a:rPr lang="en-US" sz="2400" b="1" dirty="0"/>
              <a:t>(hue, saturation, lightness)</a:t>
            </a:r>
          </a:p>
          <a:p>
            <a:r>
              <a:rPr lang="en-US" sz="2400" b="1" dirty="0"/>
              <a:t>Hue</a:t>
            </a:r>
            <a:r>
              <a:rPr lang="en-US" sz="2400" dirty="0"/>
              <a:t> is a degree on the color wheel from 0 to 360. 0 is red, 120 is green, and 240 is blue.</a:t>
            </a:r>
          </a:p>
          <a:p>
            <a:r>
              <a:rPr lang="en-US" sz="2400" b="1" dirty="0"/>
              <a:t>Saturation</a:t>
            </a:r>
            <a:r>
              <a:rPr lang="en-US" sz="2400" dirty="0"/>
              <a:t> is a percentage value, 0% means a shade of gray, and 100% is the full color.</a:t>
            </a:r>
          </a:p>
          <a:p>
            <a:r>
              <a:rPr lang="en-US" sz="2400" dirty="0"/>
              <a:t>Saturation can be described as the intensity of a color.</a:t>
            </a:r>
          </a:p>
          <a:p>
            <a:r>
              <a:rPr lang="en-US" sz="2400" b="1" dirty="0"/>
              <a:t>Lightness</a:t>
            </a:r>
            <a:r>
              <a:rPr lang="en-US" sz="2400" dirty="0"/>
              <a:t> is also a percentage, 0% is black, 50% is neither light or dark, 100% is white.</a:t>
            </a:r>
          </a:p>
          <a:p>
            <a:pPr marL="0" indent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HSLA and RGBA</a:t>
            </a:r>
            <a:r>
              <a:rPr lang="en-US" sz="2400" b="1" dirty="0">
                <a:solidFill>
                  <a:schemeClr val="accent1"/>
                </a:solidFill>
              </a:rPr>
              <a:t>:</a:t>
            </a:r>
            <a:endParaRPr lang="en-US" sz="2400" b="1" dirty="0"/>
          </a:p>
          <a:p>
            <a:r>
              <a:rPr lang="en-US" sz="2400" dirty="0"/>
              <a:t>The </a:t>
            </a:r>
            <a:r>
              <a:rPr lang="en-US" sz="2400" b="1" dirty="0"/>
              <a:t>alpha parameter </a:t>
            </a:r>
            <a:r>
              <a:rPr lang="en-US" sz="2400" dirty="0"/>
              <a:t>is a number between 0.0 (fully transparent) and 1.0 (not transparent at all)</a:t>
            </a:r>
          </a:p>
          <a:p>
            <a:r>
              <a:rPr lang="en-US" sz="2400" dirty="0"/>
              <a:t>alpha channel - which specifies the opacity for a color.</a:t>
            </a:r>
          </a:p>
        </p:txBody>
      </p:sp>
    </p:spTree>
    <p:extLst>
      <p:ext uri="{BB962C8B-B14F-4D97-AF65-F5344CB8AC3E}">
        <p14:creationId xmlns:p14="http://schemas.microsoft.com/office/powerpoint/2010/main" val="3055539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6974F-D11E-8CFC-EBC1-673B394A2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CSS Background: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EC3BE2-D72F-8097-9F20-ED151EED16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7" y="864108"/>
            <a:ext cx="7775885" cy="51206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CSS background-image:</a:t>
            </a:r>
          </a:p>
          <a:p>
            <a:r>
              <a:rPr lang="en-US" sz="2400" dirty="0"/>
              <a:t>To add the background image for our website we can use this property </a:t>
            </a:r>
            <a:r>
              <a:rPr lang="en-US" sz="2400" b="1" dirty="0"/>
              <a:t>with </a:t>
            </a:r>
            <a:r>
              <a:rPr lang="en-US" sz="2400" b="1" dirty="0" err="1"/>
              <a:t>url</a:t>
            </a:r>
            <a:r>
              <a:rPr lang="en-US" sz="2400" b="1" dirty="0"/>
              <a:t>() function to attach image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r>
              <a:rPr lang="en-US" sz="2400" b="1" dirty="0" smtClean="0">
                <a:solidFill>
                  <a:schemeClr val="accent1"/>
                </a:solidFill>
              </a:rPr>
              <a:t>CSS </a:t>
            </a:r>
            <a:r>
              <a:rPr lang="en-US" sz="2400" b="1" dirty="0">
                <a:solidFill>
                  <a:schemeClr val="accent1"/>
                </a:solidFill>
              </a:rPr>
              <a:t>background-repeat:</a:t>
            </a:r>
          </a:p>
          <a:p>
            <a:r>
              <a:rPr lang="en-US" sz="2400" dirty="0"/>
              <a:t>By default, the background-image property repeats an image both horizontally and vertically.</a:t>
            </a:r>
          </a:p>
          <a:p>
            <a:r>
              <a:rPr lang="en-US" sz="2400" dirty="0"/>
              <a:t>Some images should be repeated only horizontally or vertically, or they will look strange</a:t>
            </a:r>
          </a:p>
          <a:p>
            <a:pPr marL="0" indent="0">
              <a:buNone/>
            </a:pPr>
            <a:r>
              <a:rPr lang="en-US" sz="2400" b="1" dirty="0" smtClean="0">
                <a:solidFill>
                  <a:schemeClr val="accent1"/>
                </a:solidFill>
              </a:rPr>
              <a:t>CSS background-size</a:t>
            </a:r>
            <a:endParaRPr lang="en-US" sz="2400" b="1" dirty="0">
              <a:solidFill>
                <a:schemeClr val="accent1"/>
              </a:solidFill>
            </a:endParaRPr>
          </a:p>
          <a:p>
            <a:r>
              <a:rPr lang="en-US" sz="2400" dirty="0" smtClean="0"/>
              <a:t>It is </a:t>
            </a:r>
            <a:r>
              <a:rPr lang="en-US" sz="2400" dirty="0"/>
              <a:t>used to specify the </a:t>
            </a:r>
            <a:r>
              <a:rPr lang="en-US" sz="2400" dirty="0" smtClean="0"/>
              <a:t>size </a:t>
            </a:r>
            <a:r>
              <a:rPr lang="en-US" sz="2400" dirty="0"/>
              <a:t>of the background </a:t>
            </a:r>
            <a:r>
              <a:rPr lang="en-US" sz="2400" dirty="0" smtClean="0"/>
              <a:t>image to fill the width e need to use </a:t>
            </a:r>
            <a:r>
              <a:rPr lang="en-US" sz="2400" b="1" dirty="0" smtClean="0"/>
              <a:t>cover as a value</a:t>
            </a:r>
            <a:r>
              <a:rPr lang="en-US" sz="2400" dirty="0" smtClean="0"/>
              <a:t> 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866908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D5A48-0130-D672-FA36-C6A680311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     Margin</a:t>
            </a:r>
            <a:br>
              <a:rPr lang="en-IN" b="1" dirty="0"/>
            </a:br>
            <a:r>
              <a:rPr lang="en-IN" b="1" dirty="0"/>
              <a:t>     Border</a:t>
            </a:r>
            <a:br>
              <a:rPr lang="en-IN" b="1" dirty="0"/>
            </a:br>
            <a:r>
              <a:rPr lang="en-IN" b="1" dirty="0"/>
              <a:t>     Padding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33A1168-482E-9F31-8A0F-66B6C19F84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6199" y="304854"/>
            <a:ext cx="6992471" cy="6248292"/>
          </a:xfrm>
        </p:spPr>
      </p:pic>
    </p:spTree>
    <p:extLst>
      <p:ext uri="{BB962C8B-B14F-4D97-AF65-F5344CB8AC3E}">
        <p14:creationId xmlns:p14="http://schemas.microsoft.com/office/powerpoint/2010/main" val="3642417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DE203-7BB7-6631-7490-BB65DE1B1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CSS Margins: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EFFA74-1808-61C3-AA32-9C1C288EE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1349" y="868680"/>
            <a:ext cx="7883463" cy="5120640"/>
          </a:xfrm>
        </p:spPr>
        <p:txBody>
          <a:bodyPr>
            <a:normAutofit/>
          </a:bodyPr>
          <a:lstStyle/>
          <a:p>
            <a:r>
              <a:rPr lang="en-US" sz="2400" dirty="0"/>
              <a:t>The CSS margin properties are used to create space around elements, outside of any defined borders.</a:t>
            </a:r>
          </a:p>
          <a:p>
            <a:r>
              <a:rPr lang="en-US" sz="2400" dirty="0"/>
              <a:t>With CSS, you have full control over the margins. </a:t>
            </a:r>
          </a:p>
          <a:p>
            <a:r>
              <a:rPr lang="en-US" sz="2400" dirty="0"/>
              <a:t>There are properties for setting the margin for each side of an element (top, right, bottom, and left).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Margin - Individual Sides:</a:t>
            </a:r>
          </a:p>
          <a:p>
            <a:r>
              <a:rPr lang="en-US" sz="2400" dirty="0"/>
              <a:t>CSS has properties for specifying the margin for each side of an element:</a:t>
            </a:r>
          </a:p>
          <a:p>
            <a:pPr lvl="2"/>
            <a:r>
              <a:rPr lang="en-US" sz="2400" dirty="0"/>
              <a:t>margin-top</a:t>
            </a:r>
          </a:p>
          <a:p>
            <a:pPr lvl="2"/>
            <a:r>
              <a:rPr lang="en-US" sz="2400" dirty="0"/>
              <a:t>margin-right</a:t>
            </a:r>
          </a:p>
          <a:p>
            <a:pPr lvl="2"/>
            <a:r>
              <a:rPr lang="en-US" sz="2400" dirty="0"/>
              <a:t>margin-bottom</a:t>
            </a:r>
          </a:p>
          <a:p>
            <a:pPr lvl="2"/>
            <a:r>
              <a:rPr lang="en-US" sz="2400" dirty="0"/>
              <a:t>margin-left</a:t>
            </a:r>
          </a:p>
        </p:txBody>
      </p:sp>
    </p:spTree>
    <p:extLst>
      <p:ext uri="{BB962C8B-B14F-4D97-AF65-F5344CB8AC3E}">
        <p14:creationId xmlns:p14="http://schemas.microsoft.com/office/powerpoint/2010/main" val="15512388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F15D2-B3FB-0911-2FD2-569169BBF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Margin: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4FAC6F-A058-3E85-C2C4-273813D8E1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2715" y="1123837"/>
            <a:ext cx="7315200" cy="51206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Margin - Shorthand Property:</a:t>
            </a:r>
          </a:p>
          <a:p>
            <a:pPr lvl="1"/>
            <a:r>
              <a:rPr lang="en-US" sz="2400" dirty="0"/>
              <a:t>To shorten the code, it is possible to specify all the margin properties in one property.</a:t>
            </a:r>
          </a:p>
          <a:p>
            <a:pPr lvl="2"/>
            <a:r>
              <a:rPr lang="en-US" sz="2400" b="1" dirty="0"/>
              <a:t>margin: 25px 50px 75px 100px;</a:t>
            </a:r>
          </a:p>
          <a:p>
            <a:pPr marL="0" indent="0">
              <a:buNone/>
            </a:pPr>
            <a:r>
              <a:rPr lang="en-US" sz="2400" dirty="0"/>
              <a:t>All the margin properties can have the following values:</a:t>
            </a:r>
          </a:p>
          <a:p>
            <a:pPr lvl="1">
              <a:lnSpc>
                <a:spcPct val="150000"/>
              </a:lnSpc>
            </a:pPr>
            <a:r>
              <a:rPr lang="en-US" sz="2400" b="1" dirty="0"/>
              <a:t>auto</a:t>
            </a:r>
            <a:r>
              <a:rPr lang="en-US" sz="2400" dirty="0"/>
              <a:t> - the browser calculates the margin</a:t>
            </a:r>
          </a:p>
          <a:p>
            <a:pPr lvl="1"/>
            <a:r>
              <a:rPr lang="en-US" sz="2400" b="1" dirty="0"/>
              <a:t>length</a:t>
            </a:r>
            <a:r>
              <a:rPr lang="en-US" sz="2400" dirty="0"/>
              <a:t> - specifies a margin in </a:t>
            </a:r>
            <a:r>
              <a:rPr lang="en-US" sz="2400" dirty="0" err="1"/>
              <a:t>px</a:t>
            </a:r>
            <a:r>
              <a:rPr lang="en-US" sz="2400" dirty="0"/>
              <a:t>, pt, cm, etc.</a:t>
            </a:r>
          </a:p>
          <a:p>
            <a:pPr lvl="1"/>
            <a:r>
              <a:rPr lang="en-US" sz="2400" b="1" dirty="0"/>
              <a:t>%</a:t>
            </a:r>
            <a:r>
              <a:rPr lang="en-US" sz="2400" dirty="0"/>
              <a:t> - specifies a margin in % of the width of the containing element</a:t>
            </a:r>
          </a:p>
          <a:p>
            <a:pPr lvl="1"/>
            <a:r>
              <a:rPr lang="en-US" sz="2400" b="1" dirty="0"/>
              <a:t>inherit</a:t>
            </a:r>
            <a:r>
              <a:rPr lang="en-US" sz="2400" dirty="0"/>
              <a:t> - specifies that the margin should be inherited from the parent element.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908326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A1142-35A3-4F02-5E3E-01DCCFC0C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CSS Padding: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2EB0D1-DA09-EA21-0A47-90BC46A2B5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81008" y="868680"/>
            <a:ext cx="7775885" cy="5120640"/>
          </a:xfrm>
        </p:spPr>
        <p:txBody>
          <a:bodyPr>
            <a:normAutofit/>
          </a:bodyPr>
          <a:lstStyle/>
          <a:p>
            <a:r>
              <a:rPr lang="en-US" sz="2400" dirty="0"/>
              <a:t>The CSS padding properties are used to generate space around an element's content, inside of any defined borders.</a:t>
            </a:r>
          </a:p>
          <a:p>
            <a:r>
              <a:rPr lang="en-US" sz="2400" dirty="0"/>
              <a:t>With CSS, you have full control over the padding. There are properties for setting the padding for each side of an element (top, right, bottom, and left).</a:t>
            </a:r>
          </a:p>
          <a:p>
            <a:pPr marL="0" indent="0">
              <a:buNone/>
            </a:pPr>
            <a:r>
              <a:rPr lang="en-US" sz="2400" dirty="0"/>
              <a:t>All the padding properties can have the following values:</a:t>
            </a:r>
          </a:p>
          <a:p>
            <a:pPr lvl="1">
              <a:lnSpc>
                <a:spcPct val="150000"/>
              </a:lnSpc>
            </a:pPr>
            <a:r>
              <a:rPr lang="en-US" sz="2400" b="1" dirty="0"/>
              <a:t>length</a:t>
            </a:r>
            <a:r>
              <a:rPr lang="en-US" sz="2400" dirty="0"/>
              <a:t> - specifies a padding in </a:t>
            </a:r>
            <a:r>
              <a:rPr lang="en-US" sz="2400" dirty="0" err="1"/>
              <a:t>px</a:t>
            </a:r>
            <a:r>
              <a:rPr lang="en-US" sz="2400" dirty="0"/>
              <a:t>, pt, cm, etc.</a:t>
            </a:r>
          </a:p>
          <a:p>
            <a:pPr lvl="1"/>
            <a:r>
              <a:rPr lang="en-US" sz="2400" b="1" dirty="0"/>
              <a:t>%</a:t>
            </a:r>
            <a:r>
              <a:rPr lang="en-US" sz="2400" dirty="0"/>
              <a:t> - specifies a padding in % of the width of the containing element</a:t>
            </a:r>
          </a:p>
          <a:p>
            <a:pPr lvl="1"/>
            <a:r>
              <a:rPr lang="en-US" sz="2400" b="1" dirty="0"/>
              <a:t>inherit</a:t>
            </a:r>
            <a:r>
              <a:rPr lang="en-US" sz="2400" dirty="0"/>
              <a:t> - specifies that the padding should be inherited from the parent element.</a:t>
            </a:r>
          </a:p>
        </p:txBody>
      </p:sp>
    </p:spTree>
    <p:extLst>
      <p:ext uri="{BB962C8B-B14F-4D97-AF65-F5344CB8AC3E}">
        <p14:creationId xmlns:p14="http://schemas.microsoft.com/office/powerpoint/2010/main" val="41822536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47019-63A2-640E-C51F-AD87ECCA1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Box-sizing: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530C5F-42E3-F393-93D9-D0A02088BE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Use the box-sizing property to keep the width at 300px, no matter the amount of padding:</a:t>
            </a:r>
          </a:p>
          <a:p>
            <a:pPr marL="0" indent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Example:</a:t>
            </a:r>
          </a:p>
          <a:p>
            <a:pPr marL="0" indent="0">
              <a:buNone/>
            </a:pPr>
            <a:r>
              <a:rPr lang="en-US" sz="2800" dirty="0"/>
              <a:t>	div {</a:t>
            </a:r>
          </a:p>
          <a:p>
            <a:pPr marL="0" indent="0">
              <a:buNone/>
            </a:pPr>
            <a:r>
              <a:rPr lang="en-US" sz="2800" dirty="0"/>
              <a:t>		  width: 300px;</a:t>
            </a:r>
          </a:p>
          <a:p>
            <a:pPr marL="0" indent="0">
              <a:buNone/>
            </a:pPr>
            <a:r>
              <a:rPr lang="en-US" sz="2800" dirty="0"/>
              <a:t>  		  padding: 25px;</a:t>
            </a:r>
          </a:p>
          <a:p>
            <a:pPr marL="0" indent="0">
              <a:buNone/>
            </a:pPr>
            <a:r>
              <a:rPr lang="en-US" sz="2800" dirty="0"/>
              <a:t>  		  box-sizing: border-box;</a:t>
            </a:r>
          </a:p>
          <a:p>
            <a:pPr marL="0" indent="0">
              <a:buNone/>
            </a:pPr>
            <a:r>
              <a:rPr lang="en-US" sz="2800" dirty="0"/>
              <a:t>	   }</a:t>
            </a:r>
          </a:p>
        </p:txBody>
      </p:sp>
    </p:spTree>
    <p:extLst>
      <p:ext uri="{BB962C8B-B14F-4D97-AF65-F5344CB8AC3E}">
        <p14:creationId xmlns:p14="http://schemas.microsoft.com/office/powerpoint/2010/main" val="2129493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409E8-5B59-1BFE-1632-032B1D7C8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CSS Shadow Effects: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DF41CC-5BB5-AF11-7259-14E8B4000E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27220" y="667377"/>
            <a:ext cx="8031379" cy="5854447"/>
          </a:xfrm>
        </p:spPr>
        <p:txBody>
          <a:bodyPr>
            <a:noAutofit/>
          </a:bodyPr>
          <a:lstStyle/>
          <a:p>
            <a:r>
              <a:rPr lang="en-US" sz="2400" dirty="0"/>
              <a:t>With CSS you can add shadow to text and to elements.</a:t>
            </a:r>
          </a:p>
          <a:p>
            <a:r>
              <a:rPr lang="en-US" sz="2400" dirty="0"/>
              <a:t>In this chapter you will learn about the following properties:</a:t>
            </a:r>
          </a:p>
          <a:p>
            <a:pPr lvl="2"/>
            <a:r>
              <a:rPr lang="en-US" sz="2400" dirty="0"/>
              <a:t>text-shadow</a:t>
            </a:r>
          </a:p>
          <a:p>
            <a:pPr lvl="2"/>
            <a:r>
              <a:rPr lang="en-US" sz="2400" dirty="0"/>
              <a:t>box-shadow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CSS Text Shadow:</a:t>
            </a:r>
          </a:p>
          <a:p>
            <a:r>
              <a:rPr lang="en-US" sz="2400" dirty="0"/>
              <a:t>The CSS text-shadow property applies shadow to text.</a:t>
            </a:r>
          </a:p>
          <a:p>
            <a:r>
              <a:rPr lang="en-US" sz="2400" dirty="0"/>
              <a:t>In its simplest use, you only specify the horizontal shadow (2px) and the vertical shadow (2px):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Example:</a:t>
            </a:r>
          </a:p>
          <a:p>
            <a:pPr marL="0" indent="0">
              <a:buNone/>
            </a:pPr>
            <a:r>
              <a:rPr lang="en-US" sz="2400" dirty="0"/>
              <a:t>		h1 {</a:t>
            </a:r>
          </a:p>
          <a:p>
            <a:pPr marL="0" indent="0">
              <a:buNone/>
            </a:pPr>
            <a:r>
              <a:rPr lang="en-US" sz="2400" dirty="0"/>
              <a:t>			  text-shadow: 2px </a:t>
            </a:r>
            <a:r>
              <a:rPr lang="en-US" sz="2400" dirty="0" err="1"/>
              <a:t>2px</a:t>
            </a:r>
            <a:r>
              <a:rPr lang="en-US" sz="2400" dirty="0"/>
              <a:t> red;</a:t>
            </a:r>
          </a:p>
          <a:p>
            <a:pPr marL="0" indent="0">
              <a:buNone/>
            </a:pPr>
            <a:r>
              <a:rPr lang="en-US" sz="2400" dirty="0"/>
              <a:t>		}</a:t>
            </a:r>
          </a:p>
        </p:txBody>
      </p:sp>
    </p:spTree>
    <p:extLst>
      <p:ext uri="{BB962C8B-B14F-4D97-AF65-F5344CB8AC3E}">
        <p14:creationId xmlns:p14="http://schemas.microsoft.com/office/powerpoint/2010/main" val="844593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78D8D-3D03-7FE9-AAAC-0C41CC960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Box Shadow: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8C9027-1B44-5167-A285-4024967812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The box-shadow property adds shadow to box.</a:t>
            </a:r>
          </a:p>
          <a:p>
            <a:r>
              <a:rPr lang="en-US" sz="2400" dirty="0"/>
              <a:t>The following example specifies the position of the horizontal shadow (3px), the position of the vertical shadow (2px) and the color of the shadow (red).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Example:</a:t>
            </a:r>
          </a:p>
          <a:p>
            <a:pPr marL="0" indent="0">
              <a:buNone/>
            </a:pPr>
            <a:r>
              <a:rPr lang="en-US" sz="2400" dirty="0"/>
              <a:t>		div {</a:t>
            </a:r>
          </a:p>
          <a:p>
            <a:pPr marL="0" indent="0">
              <a:buNone/>
            </a:pPr>
            <a:r>
              <a:rPr lang="en-US" sz="2400" dirty="0"/>
              <a:t>		        width: 100px; </a:t>
            </a:r>
            <a:endParaRPr lang="en-US" sz="2400" dirty="0" smtClean="0"/>
          </a:p>
          <a:p>
            <a:pPr marL="0" indent="0">
              <a:buNone/>
            </a:pPr>
            <a:r>
              <a:rPr lang="en-US" sz="2400" dirty="0"/>
              <a:t>	</a:t>
            </a:r>
            <a:r>
              <a:rPr lang="en-US" sz="2400" dirty="0" smtClean="0"/>
              <a:t>	        height:100px</a:t>
            </a:r>
            <a:r>
              <a:rPr lang="en-US" sz="2400" dirty="0"/>
              <a:t>;</a:t>
            </a:r>
          </a:p>
          <a:p>
            <a:pPr marL="0" indent="0">
              <a:buNone/>
            </a:pPr>
            <a:r>
              <a:rPr lang="en-US" sz="2400" dirty="0"/>
              <a:t>		        box-shadow:  0 0 5px red;</a:t>
            </a:r>
          </a:p>
          <a:p>
            <a:pPr marL="0" indent="0">
              <a:buNone/>
            </a:pPr>
            <a:r>
              <a:rPr lang="en-US" sz="2400" dirty="0"/>
              <a:t>		     }</a:t>
            </a:r>
          </a:p>
        </p:txBody>
      </p:sp>
    </p:spTree>
    <p:extLst>
      <p:ext uri="{BB962C8B-B14F-4D97-AF65-F5344CB8AC3E}">
        <p14:creationId xmlns:p14="http://schemas.microsoft.com/office/powerpoint/2010/main" val="656191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0EA76-E356-302B-4C45-EEE34C08D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Multiple Shadows: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A85E13-C846-123E-1EAD-DE00E8F149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8" y="847165"/>
            <a:ext cx="7908750" cy="5137583"/>
          </a:xfrm>
        </p:spPr>
        <p:txBody>
          <a:bodyPr>
            <a:normAutofit/>
          </a:bodyPr>
          <a:lstStyle/>
          <a:p>
            <a:r>
              <a:rPr lang="en-US" sz="2400" dirty="0"/>
              <a:t>To add more than one shadow to the text, you can add a comma-separated list of shadows.</a:t>
            </a:r>
          </a:p>
          <a:p>
            <a:r>
              <a:rPr lang="en-US" sz="2400" dirty="0"/>
              <a:t>The following example shows a red and blue neon glow shadow:</a:t>
            </a:r>
          </a:p>
          <a:p>
            <a:r>
              <a:rPr lang="en-US" sz="2400" dirty="0"/>
              <a:t>Example:</a:t>
            </a:r>
          </a:p>
          <a:p>
            <a:pPr marL="0" indent="0">
              <a:buNone/>
            </a:pPr>
            <a:r>
              <a:rPr lang="en-US" sz="2400" dirty="0"/>
              <a:t>	h1 {</a:t>
            </a:r>
          </a:p>
          <a:p>
            <a:pPr marL="0" indent="0">
              <a:buNone/>
            </a:pPr>
            <a:r>
              <a:rPr lang="en-US" sz="2400" dirty="0"/>
              <a:t>	  text-shadow: 2px </a:t>
            </a:r>
            <a:r>
              <a:rPr lang="en-US" sz="2400" dirty="0" err="1"/>
              <a:t>2px</a:t>
            </a:r>
            <a:r>
              <a:rPr lang="en-US" sz="2400" dirty="0"/>
              <a:t> #FF0000, </a:t>
            </a:r>
            <a:r>
              <a:rPr lang="en-US" sz="2400" dirty="0" err="1"/>
              <a:t>px</a:t>
            </a:r>
            <a:r>
              <a:rPr lang="en-US" sz="2400" dirty="0"/>
              <a:t> 5px #0000FF;</a:t>
            </a:r>
          </a:p>
          <a:p>
            <a:pPr marL="0" indent="0">
              <a:buNone/>
            </a:pPr>
            <a:r>
              <a:rPr lang="en-US" sz="2400" dirty="0"/>
              <a:t>	}</a:t>
            </a:r>
          </a:p>
        </p:txBody>
      </p:sp>
    </p:spTree>
    <p:extLst>
      <p:ext uri="{BB962C8B-B14F-4D97-AF65-F5344CB8AC3E}">
        <p14:creationId xmlns:p14="http://schemas.microsoft.com/office/powerpoint/2010/main" val="31516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16897-5DB8-0B63-88F2-78FC647BA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CSS Text: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7CFFF8-86DE-AD08-0A99-074A2ED3F1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81008" y="537882"/>
            <a:ext cx="7950698" cy="603772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0B0F0"/>
                </a:solidFill>
              </a:rPr>
              <a:t>Text Alignment:</a:t>
            </a:r>
          </a:p>
          <a:p>
            <a:r>
              <a:rPr lang="en-US" sz="2400" dirty="0"/>
              <a:t>The text-align property is used to set the horizontal alignment of a text.</a:t>
            </a:r>
          </a:p>
          <a:p>
            <a:r>
              <a:rPr lang="en-US" sz="2400" dirty="0"/>
              <a:t>A text can be left or right aligned, centered, or justified.</a:t>
            </a:r>
          </a:p>
          <a:p>
            <a:r>
              <a:rPr lang="en-US" sz="2400" dirty="0"/>
              <a:t>.left alignment is default if text direction is left-to-right, and right alignment is default if text direction is right-to-left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Example:</a:t>
            </a:r>
          </a:p>
          <a:p>
            <a:pPr marL="0" indent="0">
              <a:buNone/>
            </a:pPr>
            <a:r>
              <a:rPr lang="en-US" sz="2400" dirty="0"/>
              <a:t>	h1 {</a:t>
            </a:r>
          </a:p>
          <a:p>
            <a:pPr marL="0" indent="0">
              <a:buNone/>
            </a:pPr>
            <a:r>
              <a:rPr lang="en-US" sz="2400" dirty="0"/>
              <a:t>		  text-align: center;</a:t>
            </a:r>
          </a:p>
          <a:p>
            <a:pPr marL="0" indent="0">
              <a:buNone/>
            </a:pPr>
            <a:r>
              <a:rPr lang="en-US" sz="2400" dirty="0"/>
              <a:t>		text-align: right;</a:t>
            </a:r>
          </a:p>
          <a:p>
            <a:pPr marL="0" indent="0">
              <a:buNone/>
            </a:pPr>
            <a:r>
              <a:rPr lang="en-US" sz="2400" dirty="0"/>
              <a:t>		text-align: left;</a:t>
            </a:r>
          </a:p>
          <a:p>
            <a:pPr marL="0" indent="0">
              <a:buNone/>
            </a:pPr>
            <a:r>
              <a:rPr lang="en-US" sz="2400" dirty="0"/>
              <a:t>	}</a:t>
            </a:r>
          </a:p>
        </p:txBody>
      </p:sp>
    </p:spTree>
    <p:extLst>
      <p:ext uri="{BB962C8B-B14F-4D97-AF65-F5344CB8AC3E}">
        <p14:creationId xmlns:p14="http://schemas.microsoft.com/office/powerpoint/2010/main" val="2782693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0E4C9-0775-D2A8-E348-3E1E6C8CC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CSS Text: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706390-AD05-06AC-29BF-1D7C6D9F61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00B0F0"/>
                </a:solidFill>
              </a:rPr>
              <a:t>Text Color:</a:t>
            </a:r>
          </a:p>
          <a:p>
            <a:r>
              <a:rPr lang="en-US" sz="2400" dirty="0"/>
              <a:t>The color property is used to set the color of the text. </a:t>
            </a:r>
          </a:p>
          <a:p>
            <a:r>
              <a:rPr lang="en-US" sz="2400" dirty="0"/>
              <a:t>The color is specified by:</a:t>
            </a:r>
          </a:p>
          <a:p>
            <a:pPr lvl="1"/>
            <a:r>
              <a:rPr lang="en-US" sz="2400" dirty="0"/>
              <a:t>a color name - like "red"</a:t>
            </a:r>
          </a:p>
          <a:p>
            <a:pPr lvl="1"/>
            <a:r>
              <a:rPr lang="en-US" sz="2400" dirty="0"/>
              <a:t>a HEX value - like "#ff0000"</a:t>
            </a:r>
          </a:p>
          <a:p>
            <a:pPr lvl="1"/>
            <a:r>
              <a:rPr lang="en-US" sz="2400" dirty="0"/>
              <a:t>an RGB value - like "</a:t>
            </a:r>
            <a:r>
              <a:rPr lang="en-US" sz="2400" dirty="0" err="1"/>
              <a:t>rgb</a:t>
            </a:r>
            <a:r>
              <a:rPr lang="en-US" sz="2400" dirty="0"/>
              <a:t>(255,0,0)“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00B0F0"/>
                </a:solidFill>
              </a:rPr>
              <a:t>Text Decoration:</a:t>
            </a:r>
          </a:p>
          <a:p>
            <a:r>
              <a:rPr lang="en-US" sz="2400" dirty="0"/>
              <a:t>The text-decoration property is used to set or remove decorations from text.</a:t>
            </a:r>
          </a:p>
          <a:p>
            <a:r>
              <a:rPr lang="en-US" sz="2400" dirty="0"/>
              <a:t>The value text-decoration: none; is often used to remove underlines from links</a:t>
            </a:r>
          </a:p>
        </p:txBody>
      </p:sp>
    </p:spTree>
    <p:extLst>
      <p:ext uri="{BB962C8B-B14F-4D97-AF65-F5344CB8AC3E}">
        <p14:creationId xmlns:p14="http://schemas.microsoft.com/office/powerpoint/2010/main" val="2715561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E3D32-C577-FEE7-F0BF-FCD876941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Example: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4F77C8-B32C-414B-C099-5417F7335A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53634" y="322729"/>
            <a:ext cx="5630833" cy="605117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/>
              <a:t>a {</a:t>
            </a:r>
          </a:p>
          <a:p>
            <a:pPr marL="0" indent="0">
              <a:buNone/>
            </a:pPr>
            <a:r>
              <a:rPr lang="en-US" sz="2400" dirty="0"/>
              <a:t>  text-decoration: none;</a:t>
            </a:r>
          </a:p>
          <a:p>
            <a:pPr marL="0" indent="0">
              <a:buNone/>
            </a:pPr>
            <a:r>
              <a:rPr lang="en-US" sz="2400" dirty="0"/>
              <a:t>}</a:t>
            </a:r>
          </a:p>
          <a:p>
            <a:pPr marL="0" indent="0">
              <a:buNone/>
            </a:pPr>
            <a:r>
              <a:rPr lang="en-US" sz="2400" dirty="0"/>
              <a:t>h1 {</a:t>
            </a:r>
          </a:p>
          <a:p>
            <a:pPr marL="0" indent="0">
              <a:buNone/>
            </a:pPr>
            <a:r>
              <a:rPr lang="en-US" sz="2400" dirty="0"/>
              <a:t>  text-decoration: overline;</a:t>
            </a:r>
          </a:p>
          <a:p>
            <a:pPr marL="0" indent="0">
              <a:buNone/>
            </a:pPr>
            <a:r>
              <a:rPr lang="en-US" sz="2400" dirty="0"/>
              <a:t>}</a:t>
            </a:r>
          </a:p>
          <a:p>
            <a:pPr marL="0" indent="0">
              <a:buNone/>
            </a:pPr>
            <a:r>
              <a:rPr lang="en-US" sz="2400" dirty="0"/>
              <a:t>h2 {</a:t>
            </a:r>
          </a:p>
          <a:p>
            <a:pPr marL="0" indent="0">
              <a:buNone/>
            </a:pPr>
            <a:r>
              <a:rPr lang="en-US" sz="2400" dirty="0"/>
              <a:t>  text-decoration: line-through;</a:t>
            </a:r>
          </a:p>
          <a:p>
            <a:pPr marL="0" indent="0">
              <a:buNone/>
            </a:pPr>
            <a:r>
              <a:rPr lang="en-US" sz="2400" dirty="0"/>
              <a:t>}</a:t>
            </a:r>
          </a:p>
          <a:p>
            <a:pPr marL="0" indent="0">
              <a:buNone/>
            </a:pPr>
            <a:r>
              <a:rPr lang="en-US" sz="2400" dirty="0"/>
              <a:t>h3 {</a:t>
            </a:r>
          </a:p>
          <a:p>
            <a:pPr marL="0" indent="0">
              <a:buNone/>
            </a:pPr>
            <a:r>
              <a:rPr lang="en-US" sz="2400" dirty="0"/>
              <a:t>  text-decoration: underline;</a:t>
            </a:r>
          </a:p>
          <a:p>
            <a:pPr marL="0" indent="0">
              <a:buNone/>
            </a:pPr>
            <a:r>
              <a:rPr lang="en-US" sz="2400" dirty="0"/>
              <a:t>}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250244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AB0C0-52C0-E32E-AC88-066EA17B0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text-transform: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997FFA-219F-FE54-11F8-3F8CC29406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1350" y="702742"/>
            <a:ext cx="7695203" cy="5724951"/>
          </a:xfrm>
        </p:spPr>
        <p:txBody>
          <a:bodyPr>
            <a:noAutofit/>
          </a:bodyPr>
          <a:lstStyle/>
          <a:p>
            <a:r>
              <a:rPr lang="en-US" sz="2400" dirty="0"/>
              <a:t>The text-transform property is used to specify uppercase and lowercase letters in a text.</a:t>
            </a:r>
          </a:p>
          <a:p>
            <a:r>
              <a:rPr lang="en-US" sz="2400" dirty="0"/>
              <a:t>It can be used to turn everything into uppercase or lowercase letters, or capitalize the first letter of each word: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00B0F0"/>
                </a:solidFill>
              </a:rPr>
              <a:t>Example:</a:t>
            </a:r>
          </a:p>
          <a:p>
            <a:pPr marL="0" indent="0">
              <a:buNone/>
            </a:pPr>
            <a:r>
              <a:rPr lang="en-US" sz="2400" dirty="0"/>
              <a:t>	</a:t>
            </a:r>
            <a:r>
              <a:rPr lang="en-US" sz="2400" dirty="0" err="1"/>
              <a:t>p.uppercase</a:t>
            </a:r>
            <a:r>
              <a:rPr lang="en-US" sz="2400" dirty="0"/>
              <a:t> {</a:t>
            </a:r>
          </a:p>
          <a:p>
            <a:pPr marL="0" indent="0">
              <a:buNone/>
            </a:pPr>
            <a:r>
              <a:rPr lang="en-US" sz="2400" dirty="0"/>
              <a:t>		  text-transform: uppercase;</a:t>
            </a:r>
          </a:p>
          <a:p>
            <a:pPr marL="0" indent="0">
              <a:buNone/>
            </a:pPr>
            <a:r>
              <a:rPr lang="en-US" sz="2400" dirty="0"/>
              <a:t>	}</a:t>
            </a:r>
          </a:p>
          <a:p>
            <a:pPr marL="0" indent="0">
              <a:buNone/>
            </a:pPr>
            <a:r>
              <a:rPr lang="en-US" sz="2400" dirty="0"/>
              <a:t>	</a:t>
            </a:r>
            <a:r>
              <a:rPr lang="en-US" sz="2400" dirty="0" err="1"/>
              <a:t>p.capitalize</a:t>
            </a:r>
            <a:r>
              <a:rPr lang="en-US" sz="2400" dirty="0"/>
              <a:t> {</a:t>
            </a:r>
          </a:p>
          <a:p>
            <a:pPr marL="0" indent="0">
              <a:buNone/>
            </a:pPr>
            <a:r>
              <a:rPr lang="en-US" sz="2400" dirty="0"/>
              <a:t>		  text-transform: capitalize;</a:t>
            </a:r>
          </a:p>
          <a:p>
            <a:pPr marL="0" indent="0">
              <a:buNone/>
            </a:pPr>
            <a:r>
              <a:rPr lang="en-US" sz="2400" dirty="0"/>
              <a:t>	}</a:t>
            </a:r>
          </a:p>
        </p:txBody>
      </p:sp>
    </p:spTree>
    <p:extLst>
      <p:ext uri="{BB962C8B-B14F-4D97-AF65-F5344CB8AC3E}">
        <p14:creationId xmlns:p14="http://schemas.microsoft.com/office/powerpoint/2010/main" val="1496185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F0A47-06AF-79AF-34D3-175B635C8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Text Indentation</a:t>
            </a:r>
            <a:br>
              <a:rPr lang="en-US" b="1" dirty="0"/>
            </a:br>
            <a:r>
              <a:rPr lang="en-US" b="1" dirty="0"/>
              <a:t>and Spacing: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749F09-F8EB-118E-83F7-689E61AA9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1350" y="756531"/>
            <a:ext cx="7789332" cy="5711504"/>
          </a:xfrm>
        </p:spPr>
        <p:txBody>
          <a:bodyPr>
            <a:noAutofit/>
          </a:bodyPr>
          <a:lstStyle/>
          <a:p>
            <a:r>
              <a:rPr lang="en-US" sz="2400" dirty="0"/>
              <a:t>The text-indent property is used to specify the indentation of the first line of a text: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00B0F0"/>
                </a:solidFill>
              </a:rPr>
              <a:t>Letter Spacing:</a:t>
            </a:r>
          </a:p>
          <a:p>
            <a:r>
              <a:rPr lang="en-US" sz="2400" dirty="0"/>
              <a:t>The letter-spacing property is used to specify the space between the characters in a text</a:t>
            </a:r>
            <a:r>
              <a:rPr lang="en-US" sz="2400" dirty="0" smtClean="0"/>
              <a:t>. </a:t>
            </a:r>
          </a:p>
          <a:p>
            <a:pPr marL="0" indent="0">
              <a:buNone/>
            </a:pPr>
            <a:r>
              <a:rPr lang="en-US" sz="2400" b="1" dirty="0" smtClean="0">
                <a:solidFill>
                  <a:srgbClr val="00B0F0"/>
                </a:solidFill>
              </a:rPr>
              <a:t>Example</a:t>
            </a:r>
            <a:endParaRPr lang="en-US" sz="2400" b="1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sz="2400" dirty="0"/>
              <a:t>		</a:t>
            </a:r>
            <a:r>
              <a:rPr lang="en-US" sz="2400" dirty="0" smtClean="0"/>
              <a:t>h1 {</a:t>
            </a:r>
          </a:p>
          <a:p>
            <a:pPr marL="0" indent="0">
              <a:buNone/>
            </a:pPr>
            <a:r>
              <a:rPr lang="en-US" sz="2400" dirty="0" smtClean="0"/>
              <a:t>		  	letter-spacing: 3px;</a:t>
            </a:r>
          </a:p>
          <a:p>
            <a:pPr marL="0" indent="0">
              <a:buNone/>
            </a:pPr>
            <a:r>
              <a:rPr lang="en-US" sz="2400" dirty="0" smtClean="0"/>
              <a:t>			text-indent: 50px;</a:t>
            </a:r>
          </a:p>
          <a:p>
            <a:pPr marL="0" indent="0">
              <a:buNone/>
            </a:pPr>
            <a:r>
              <a:rPr lang="en-US" sz="2400" dirty="0" smtClean="0"/>
              <a:t>			letter-spacing: -2px;</a:t>
            </a:r>
          </a:p>
          <a:p>
            <a:pPr marL="0" indent="0">
              <a:buNone/>
            </a:pPr>
            <a:r>
              <a:rPr lang="en-US" sz="2400" dirty="0" smtClean="0"/>
              <a:t>		}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75175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CD894-E8F8-4C16-B78C-A3E38724B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Word Spacing: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5061BA-C669-2D6D-F158-CCEE4FA91D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The word-spacing property is used to specify the space between the words in a text</a:t>
            </a:r>
            <a:r>
              <a:rPr lang="en-US" sz="2400" dirty="0" smtClean="0"/>
              <a:t>. </a:t>
            </a:r>
          </a:p>
          <a:p>
            <a:r>
              <a:rPr lang="en-US" sz="2400" b="1" dirty="0" smtClean="0">
                <a:solidFill>
                  <a:schemeClr val="accent1"/>
                </a:solidFill>
              </a:rPr>
              <a:t>Example</a:t>
            </a:r>
            <a:r>
              <a:rPr lang="en-US" sz="2400" b="1" dirty="0">
                <a:solidFill>
                  <a:schemeClr val="accent1"/>
                </a:solidFill>
              </a:rPr>
              <a:t>:</a:t>
            </a:r>
          </a:p>
          <a:p>
            <a:pPr marL="0" indent="0">
              <a:buNone/>
            </a:pPr>
            <a:r>
              <a:rPr lang="en-US" sz="2400" dirty="0"/>
              <a:t>		h1 {</a:t>
            </a:r>
          </a:p>
          <a:p>
            <a:pPr marL="0" indent="0">
              <a:buNone/>
            </a:pPr>
            <a:r>
              <a:rPr lang="en-US" sz="2400" dirty="0"/>
              <a:t>			  word-spacing: 10px;</a:t>
            </a:r>
          </a:p>
          <a:p>
            <a:pPr marL="0" indent="0">
              <a:buNone/>
            </a:pPr>
            <a:r>
              <a:rPr lang="en-US" sz="2400" dirty="0"/>
              <a:t>		}</a:t>
            </a:r>
          </a:p>
          <a:p>
            <a:pPr marL="0" indent="0">
              <a:buNone/>
            </a:pPr>
            <a:r>
              <a:rPr lang="en-US" sz="2400" dirty="0"/>
              <a:t>		h2 {</a:t>
            </a:r>
          </a:p>
          <a:p>
            <a:pPr marL="0" indent="0">
              <a:buNone/>
            </a:pPr>
            <a:r>
              <a:rPr lang="en-US" sz="2400" dirty="0"/>
              <a:t>			  word-spacing: -5px;</a:t>
            </a:r>
          </a:p>
          <a:p>
            <a:pPr marL="0" indent="0">
              <a:buNone/>
            </a:pPr>
            <a:r>
              <a:rPr lang="en-US" sz="2400" dirty="0"/>
              <a:t>		}</a:t>
            </a:r>
          </a:p>
        </p:txBody>
      </p:sp>
    </p:spTree>
    <p:extLst>
      <p:ext uri="{BB962C8B-B14F-4D97-AF65-F5344CB8AC3E}">
        <p14:creationId xmlns:p14="http://schemas.microsoft.com/office/powerpoint/2010/main" val="1546802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33D55-7C8C-F587-662B-D37D7DFD2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Line Height: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F3C945-C1E5-B02D-8A3F-EACB82ED74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2714" y="971684"/>
            <a:ext cx="7950697" cy="5120640"/>
          </a:xfrm>
        </p:spPr>
        <p:txBody>
          <a:bodyPr>
            <a:normAutofit/>
          </a:bodyPr>
          <a:lstStyle/>
          <a:p>
            <a:r>
              <a:rPr lang="en-US" sz="2400" dirty="0"/>
              <a:t>The line-height property is used to specify the space between lines:</a:t>
            </a:r>
          </a:p>
          <a:p>
            <a:pPr marL="0" indent="0">
              <a:buNone/>
            </a:pPr>
            <a:r>
              <a:rPr lang="en-US" sz="2400" b="1" dirty="0"/>
              <a:t>Example</a:t>
            </a:r>
          </a:p>
          <a:p>
            <a:pPr marL="0" indent="0">
              <a:buNone/>
            </a:pPr>
            <a:r>
              <a:rPr lang="en-US" sz="2400" dirty="0"/>
              <a:t>	p {</a:t>
            </a:r>
          </a:p>
          <a:p>
            <a:pPr marL="0" indent="0">
              <a:buNone/>
            </a:pPr>
            <a:r>
              <a:rPr lang="en-US" sz="2400" dirty="0"/>
              <a:t>		  line-height: 0.8;</a:t>
            </a:r>
          </a:p>
          <a:p>
            <a:pPr marL="0" indent="0">
              <a:buNone/>
            </a:pPr>
            <a:r>
              <a:rPr lang="en-US" sz="2400" dirty="0"/>
              <a:t>	}</a:t>
            </a:r>
          </a:p>
          <a:p>
            <a:pPr marL="0" indent="0">
              <a:buNone/>
            </a:pPr>
            <a:r>
              <a:rPr lang="en-US" sz="2400" dirty="0"/>
              <a:t>	p {</a:t>
            </a:r>
          </a:p>
          <a:p>
            <a:pPr marL="0" indent="0">
              <a:buNone/>
            </a:pPr>
            <a:r>
              <a:rPr lang="en-US" sz="2400" dirty="0"/>
              <a:t>		  line-height: 1.8;</a:t>
            </a:r>
          </a:p>
          <a:p>
            <a:pPr marL="0" indent="0">
              <a:buNone/>
            </a:pPr>
            <a:r>
              <a:rPr lang="en-US" sz="2400" dirty="0"/>
              <a:t>	}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712031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983D6-0CDC-06A1-AF76-34F544E8C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CSS Font: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C9649A-AE65-D5B3-7C16-425CDC55D1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94456" y="662805"/>
            <a:ext cx="7964144" cy="552324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CSS Font Families:</a:t>
            </a:r>
          </a:p>
          <a:p>
            <a:r>
              <a:rPr lang="en-US" sz="2400" dirty="0"/>
              <a:t>In CSS, there are two types of font family names:</a:t>
            </a:r>
          </a:p>
          <a:p>
            <a:pPr lvl="1"/>
            <a:r>
              <a:rPr lang="en-US" sz="2400" b="1" dirty="0"/>
              <a:t>generic family </a:t>
            </a:r>
            <a:r>
              <a:rPr lang="en-US" sz="2400" dirty="0"/>
              <a:t>- a group of font families with a similar look (like "Serif" or "Monospace")</a:t>
            </a:r>
          </a:p>
          <a:p>
            <a:pPr lvl="1"/>
            <a:r>
              <a:rPr lang="en-US" sz="2400" b="1" dirty="0"/>
              <a:t>font family </a:t>
            </a:r>
            <a:r>
              <a:rPr lang="en-US" sz="2400" dirty="0"/>
              <a:t>- a specific font family (like "Times New Roman" or "Arial")</a:t>
            </a:r>
            <a:endParaRPr lang="en-US" sz="2400" b="1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Font Family:</a:t>
            </a:r>
          </a:p>
          <a:p>
            <a:r>
              <a:rPr lang="en-US" sz="2400" dirty="0">
                <a:solidFill>
                  <a:schemeClr val="tx2"/>
                </a:solidFill>
              </a:rPr>
              <a:t>The font family of a text is set with the font-family property.</a:t>
            </a:r>
          </a:p>
          <a:p>
            <a:r>
              <a:rPr lang="en-US" sz="2400" dirty="0">
                <a:solidFill>
                  <a:schemeClr val="tx2"/>
                </a:solidFill>
              </a:rPr>
              <a:t>The font-family property should hold several font names as a "fallback" system. </a:t>
            </a:r>
          </a:p>
          <a:p>
            <a:r>
              <a:rPr lang="en-US" sz="2400" dirty="0">
                <a:solidFill>
                  <a:schemeClr val="tx2"/>
                </a:solidFill>
              </a:rPr>
              <a:t>If the browser does not support the first font, it tries the next font, and so on.</a:t>
            </a:r>
          </a:p>
        </p:txBody>
      </p:sp>
    </p:spTree>
    <p:extLst>
      <p:ext uri="{BB962C8B-B14F-4D97-AF65-F5344CB8AC3E}">
        <p14:creationId xmlns:p14="http://schemas.microsoft.com/office/powerpoint/2010/main" val="758392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BD89B-E7EC-AE51-A7A7-FE55A7C76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Font Style: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0AC351-CBC2-0E91-6564-61C032B656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81009" y="546354"/>
            <a:ext cx="7829673" cy="5765292"/>
          </a:xfrm>
        </p:spPr>
        <p:txBody>
          <a:bodyPr>
            <a:noAutofit/>
          </a:bodyPr>
          <a:lstStyle/>
          <a:p>
            <a:r>
              <a:rPr lang="en-US" sz="2400" dirty="0"/>
              <a:t>The font-style property is mostly used to specify italic text.</a:t>
            </a:r>
          </a:p>
          <a:p>
            <a:r>
              <a:rPr lang="en-US" sz="2400" dirty="0"/>
              <a:t>This property has three values:</a:t>
            </a:r>
          </a:p>
          <a:p>
            <a:pPr lvl="1"/>
            <a:r>
              <a:rPr lang="en-US" sz="2400" b="1" dirty="0"/>
              <a:t>normal</a:t>
            </a:r>
            <a:r>
              <a:rPr lang="en-US" sz="2400" dirty="0"/>
              <a:t> - The text is shown normally</a:t>
            </a:r>
          </a:p>
          <a:p>
            <a:pPr lvl="1"/>
            <a:r>
              <a:rPr lang="en-US" sz="2400" b="1" dirty="0"/>
              <a:t>italic</a:t>
            </a:r>
            <a:r>
              <a:rPr lang="en-US" sz="2400" dirty="0"/>
              <a:t> - The text is shown in italics</a:t>
            </a:r>
          </a:p>
          <a:p>
            <a:pPr lvl="1"/>
            <a:r>
              <a:rPr lang="en-US" sz="2400" b="1" dirty="0"/>
              <a:t>oblique</a:t>
            </a:r>
            <a:r>
              <a:rPr lang="en-US" sz="2400" dirty="0"/>
              <a:t> - The text is "leaning" (oblique is very similar to italic, but less supported)</a:t>
            </a:r>
          </a:p>
          <a:p>
            <a:pPr marL="0" indent="0">
              <a:buNone/>
            </a:pPr>
            <a:r>
              <a:rPr lang="en-IN" sz="2400" b="1" dirty="0">
                <a:solidFill>
                  <a:schemeClr val="accent1"/>
                </a:solidFill>
              </a:rPr>
              <a:t>Example:</a:t>
            </a:r>
          </a:p>
          <a:p>
            <a:pPr marL="0" indent="0">
              <a:buNone/>
            </a:pPr>
            <a:r>
              <a:rPr lang="en-IN" sz="2400" dirty="0"/>
              <a:t>	</a:t>
            </a:r>
            <a:r>
              <a:rPr lang="en-IN" sz="2400" dirty="0" err="1"/>
              <a:t>p.normal</a:t>
            </a:r>
            <a:r>
              <a:rPr lang="en-IN" sz="2400" dirty="0"/>
              <a:t>  {    font-style: normal;   }</a:t>
            </a:r>
          </a:p>
          <a:p>
            <a:pPr marL="0" indent="0">
              <a:buNone/>
            </a:pPr>
            <a:r>
              <a:rPr lang="en-IN" sz="2400" dirty="0"/>
              <a:t>	</a:t>
            </a:r>
            <a:r>
              <a:rPr lang="en-IN" sz="2400" dirty="0" err="1"/>
              <a:t>p.italic</a:t>
            </a:r>
            <a:r>
              <a:rPr lang="en-IN" sz="2400" dirty="0"/>
              <a:t>   {    font-style: italic;   }</a:t>
            </a:r>
          </a:p>
        </p:txBody>
      </p:sp>
    </p:spTree>
    <p:extLst>
      <p:ext uri="{BB962C8B-B14F-4D97-AF65-F5344CB8AC3E}">
        <p14:creationId xmlns:p14="http://schemas.microsoft.com/office/powerpoint/2010/main" val="319927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382A0-0313-2FEE-680B-FF14EC9DC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Font Size: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6B39DF-3C88-E422-1290-9E039D2F3D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8283" y="618565"/>
            <a:ext cx="7933764" cy="6024281"/>
          </a:xfrm>
        </p:spPr>
        <p:txBody>
          <a:bodyPr>
            <a:noAutofit/>
          </a:bodyPr>
          <a:lstStyle/>
          <a:p>
            <a:r>
              <a:rPr lang="en-US" sz="2400" dirty="0"/>
              <a:t>The font-size property sets the size of the text.</a:t>
            </a:r>
          </a:p>
          <a:p>
            <a:r>
              <a:rPr lang="en-US" sz="2400" dirty="0"/>
              <a:t>Being able to manage the text size is important in web design. </a:t>
            </a:r>
          </a:p>
          <a:p>
            <a:r>
              <a:rPr lang="en-US" sz="2400" dirty="0"/>
              <a:t>The font-size value can be an </a:t>
            </a:r>
            <a:r>
              <a:rPr lang="en-US" sz="2400" b="1" dirty="0"/>
              <a:t>absolute</a:t>
            </a:r>
            <a:r>
              <a:rPr lang="en-US" sz="2400" dirty="0"/>
              <a:t>, or </a:t>
            </a:r>
            <a:r>
              <a:rPr lang="en-US" sz="2400" b="1" dirty="0"/>
              <a:t>relative</a:t>
            </a:r>
            <a:r>
              <a:rPr lang="en-US" sz="2400" dirty="0"/>
              <a:t> size.</a:t>
            </a:r>
          </a:p>
          <a:p>
            <a:r>
              <a:rPr lang="en-US" sz="2400" b="1" dirty="0"/>
              <a:t>Absolute size:</a:t>
            </a:r>
          </a:p>
          <a:p>
            <a:pPr lvl="1"/>
            <a:r>
              <a:rPr lang="en-US" sz="2400" dirty="0"/>
              <a:t>Sets the text to a specified size</a:t>
            </a:r>
          </a:p>
          <a:p>
            <a:pPr lvl="1"/>
            <a:r>
              <a:rPr lang="en-US" sz="2400" dirty="0"/>
              <a:t>Does not allow a user to change the text size in all browsers (bad for accessibility reasons)</a:t>
            </a:r>
          </a:p>
          <a:p>
            <a:pPr lvl="1"/>
            <a:r>
              <a:rPr lang="en-US" sz="2400" dirty="0"/>
              <a:t>Absolute size is useful when the physical size of the output is known</a:t>
            </a:r>
          </a:p>
        </p:txBody>
      </p:sp>
    </p:spTree>
    <p:extLst>
      <p:ext uri="{BB962C8B-B14F-4D97-AF65-F5344CB8AC3E}">
        <p14:creationId xmlns:p14="http://schemas.microsoft.com/office/powerpoint/2010/main" val="18755665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1E9BE6-4093-A323-D830-B02DF7525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Font Size: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583C39-268F-C44E-EB75-C069C1FA77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1351" y="801443"/>
            <a:ext cx="7762438" cy="57472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Set Font Size With </a:t>
            </a:r>
            <a:r>
              <a:rPr lang="en-US" sz="2400" b="1" dirty="0" err="1">
                <a:solidFill>
                  <a:schemeClr val="accent1"/>
                </a:solidFill>
              </a:rPr>
              <a:t>Em</a:t>
            </a:r>
            <a:r>
              <a:rPr lang="en-US" sz="2400" b="1" dirty="0">
                <a:solidFill>
                  <a:schemeClr val="accent1"/>
                </a:solidFill>
              </a:rPr>
              <a:t>:</a:t>
            </a:r>
          </a:p>
          <a:p>
            <a:r>
              <a:rPr lang="en-US" sz="2400" dirty="0"/>
              <a:t>To allow users to resize the text (in the browser menu), many developers use </a:t>
            </a:r>
            <a:r>
              <a:rPr lang="en-US" sz="2400" dirty="0" err="1"/>
              <a:t>em</a:t>
            </a:r>
            <a:r>
              <a:rPr lang="en-US" sz="2400" dirty="0"/>
              <a:t> instead of pixels.</a:t>
            </a:r>
          </a:p>
          <a:p>
            <a:r>
              <a:rPr lang="en-US" sz="2400" dirty="0"/>
              <a:t>1em is equal to the current font size.</a:t>
            </a:r>
          </a:p>
          <a:p>
            <a:r>
              <a:rPr lang="en-US" sz="2400" dirty="0"/>
              <a:t> The default text size in browsers is 16px. </a:t>
            </a:r>
          </a:p>
          <a:p>
            <a:r>
              <a:rPr lang="en-US" sz="2400" dirty="0"/>
              <a:t>The size can be calculated from pixels to </a:t>
            </a:r>
            <a:r>
              <a:rPr lang="en-US" sz="2400" dirty="0" err="1"/>
              <a:t>em</a:t>
            </a:r>
            <a:r>
              <a:rPr lang="en-US" sz="2400" dirty="0"/>
              <a:t> using this formula: </a:t>
            </a:r>
            <a:r>
              <a:rPr lang="en-US" sz="2400" b="1" dirty="0"/>
              <a:t>pixels/16=</a:t>
            </a:r>
            <a:r>
              <a:rPr lang="en-US" sz="2400" b="1" dirty="0" err="1"/>
              <a:t>em</a:t>
            </a:r>
            <a:endParaRPr lang="en-US" sz="2400" b="1" dirty="0"/>
          </a:p>
          <a:p>
            <a:pPr marL="0" indent="0">
              <a:buNone/>
            </a:pPr>
            <a:r>
              <a:rPr lang="pt-BR" sz="2400" b="1" dirty="0">
                <a:solidFill>
                  <a:schemeClr val="accent1"/>
                </a:solidFill>
              </a:rPr>
              <a:t>Example</a:t>
            </a:r>
          </a:p>
          <a:p>
            <a:pPr marL="0" indent="0">
              <a:buNone/>
            </a:pPr>
            <a:r>
              <a:rPr lang="pt-BR" sz="2400" dirty="0"/>
              <a:t>	h1 {</a:t>
            </a:r>
          </a:p>
          <a:p>
            <a:pPr marL="0" indent="0">
              <a:buNone/>
            </a:pPr>
            <a:r>
              <a:rPr lang="pt-BR" sz="2400" dirty="0"/>
              <a:t>		  font-size: 2.5em; /* 40px/16=2.5em */</a:t>
            </a:r>
          </a:p>
          <a:p>
            <a:pPr marL="0" indent="0">
              <a:buNone/>
            </a:pPr>
            <a:r>
              <a:rPr lang="pt-BR" sz="2400" dirty="0"/>
              <a:t>	      }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5493129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C1650-0F9D-3F76-9A46-C1328BC84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0CE131-2AB6-7474-C49E-BA9133D4FB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07903" y="591671"/>
            <a:ext cx="7870014" cy="598474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Use a Combination of Percent and </a:t>
            </a:r>
            <a:r>
              <a:rPr lang="en-US" sz="2400" b="1" dirty="0" err="1">
                <a:solidFill>
                  <a:schemeClr val="accent1"/>
                </a:solidFill>
              </a:rPr>
              <a:t>Em</a:t>
            </a:r>
            <a:r>
              <a:rPr lang="en-US" sz="2400" b="1" dirty="0">
                <a:solidFill>
                  <a:schemeClr val="accent1"/>
                </a:solidFill>
              </a:rPr>
              <a:t>:</a:t>
            </a:r>
          </a:p>
          <a:p>
            <a:pPr marL="0" indent="0">
              <a:buNone/>
            </a:pPr>
            <a:r>
              <a:rPr lang="en-US" sz="2400" dirty="0"/>
              <a:t>The solution that works in all browsers, is to set a default font-size in percent for the &lt;body&gt; element: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Example:</a:t>
            </a:r>
          </a:p>
          <a:p>
            <a:pPr marL="0" indent="0">
              <a:buNone/>
            </a:pPr>
            <a:r>
              <a:rPr lang="en-US" sz="2400" dirty="0"/>
              <a:t>		body {</a:t>
            </a:r>
          </a:p>
          <a:p>
            <a:pPr marL="0" indent="0">
              <a:buNone/>
            </a:pPr>
            <a:r>
              <a:rPr lang="en-US" sz="2400" dirty="0"/>
              <a:t>			  font-size: 100%;</a:t>
            </a:r>
          </a:p>
          <a:p>
            <a:pPr marL="0" indent="0">
              <a:buNone/>
            </a:pPr>
            <a:r>
              <a:rPr lang="en-US" sz="2400" dirty="0"/>
              <a:t>		}</a:t>
            </a:r>
          </a:p>
          <a:p>
            <a:pPr marL="0" indent="0">
              <a:buNone/>
            </a:pPr>
            <a:r>
              <a:rPr lang="en-US" sz="2400" dirty="0"/>
              <a:t>		h1 {</a:t>
            </a:r>
          </a:p>
          <a:p>
            <a:pPr marL="0" indent="0">
              <a:buNone/>
            </a:pPr>
            <a:r>
              <a:rPr lang="en-US" sz="2400" dirty="0"/>
              <a:t>			  font-size: 2.5em;</a:t>
            </a:r>
          </a:p>
          <a:p>
            <a:pPr marL="0" indent="0">
              <a:buNone/>
            </a:pPr>
            <a:r>
              <a:rPr lang="en-US" sz="2400" dirty="0"/>
              <a:t>		}</a:t>
            </a:r>
          </a:p>
        </p:txBody>
      </p:sp>
    </p:spTree>
    <p:extLst>
      <p:ext uri="{BB962C8B-B14F-4D97-AF65-F5344CB8AC3E}">
        <p14:creationId xmlns:p14="http://schemas.microsoft.com/office/powerpoint/2010/main" val="1946124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70C75-E4AD-97B2-56E0-510676DA2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Font Weight: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7EA90B-0F60-467C-77E7-0553937F03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3431" y="712694"/>
            <a:ext cx="7802779" cy="57687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Font Weight:</a:t>
            </a:r>
          </a:p>
          <a:p>
            <a:r>
              <a:rPr lang="en-US" sz="2600" dirty="0"/>
              <a:t>The font-weight property specifies the weight of a font:</a:t>
            </a:r>
          </a:p>
          <a:p>
            <a:pPr marL="0" indent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Example:</a:t>
            </a:r>
          </a:p>
          <a:p>
            <a:pPr marL="0" indent="0">
              <a:buNone/>
            </a:pPr>
            <a:r>
              <a:rPr lang="en-US" sz="2600" dirty="0"/>
              <a:t>		p {</a:t>
            </a:r>
          </a:p>
          <a:p>
            <a:pPr marL="0" indent="0">
              <a:buNone/>
            </a:pPr>
            <a:r>
              <a:rPr lang="en-US" sz="2600" dirty="0"/>
              <a:t>			  font-weight: normal;</a:t>
            </a:r>
          </a:p>
          <a:p>
            <a:pPr marL="0" indent="0">
              <a:buNone/>
            </a:pPr>
            <a:r>
              <a:rPr lang="en-US" sz="2600" dirty="0"/>
              <a:t>			  font-weight: bold;</a:t>
            </a:r>
          </a:p>
          <a:p>
            <a:pPr marL="0" indent="0">
              <a:buNone/>
            </a:pPr>
            <a:r>
              <a:rPr lang="en-US" sz="2600" dirty="0"/>
              <a:t>		}</a:t>
            </a:r>
            <a:endParaRPr lang="en-IN" sz="2600" dirty="0"/>
          </a:p>
        </p:txBody>
      </p:sp>
    </p:spTree>
    <p:extLst>
      <p:ext uri="{BB962C8B-B14F-4D97-AF65-F5344CB8AC3E}">
        <p14:creationId xmlns:p14="http://schemas.microsoft.com/office/powerpoint/2010/main" val="3677108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238E6-AFE1-E3B0-96B6-5C840D36F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Font Variant: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504C6D-14F6-BB7E-E506-09D175D343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07903" y="257646"/>
            <a:ext cx="7883461" cy="6333564"/>
          </a:xfrm>
        </p:spPr>
        <p:txBody>
          <a:bodyPr>
            <a:noAutofit/>
          </a:bodyPr>
          <a:lstStyle/>
          <a:p>
            <a:r>
              <a:rPr lang="en-US" sz="2400" dirty="0"/>
              <a:t>The font-variant property specifies whether or not a text should be displayed in a small-caps font.</a:t>
            </a:r>
          </a:p>
          <a:p>
            <a:r>
              <a:rPr lang="en-US" sz="2400" dirty="0"/>
              <a:t>In a small-caps font, all lowercase letters are converted to uppercase letters. 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Example:</a:t>
            </a:r>
          </a:p>
          <a:p>
            <a:pPr marL="0" indent="0">
              <a:buNone/>
            </a:pPr>
            <a:r>
              <a:rPr lang="en-US" sz="2400" dirty="0"/>
              <a:t>		p {    font-variant: normal;   }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		p {  font-variant: small-caps;   }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385598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B9BEF-40FC-2D5E-E153-13DB36CD7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Advanced - Link Buttons: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30796-7155-F3AB-51EA-EB8122DF42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96162" y="426502"/>
            <a:ext cx="7829674" cy="5943599"/>
          </a:xfrm>
        </p:spPr>
        <p:txBody>
          <a:bodyPr>
            <a:noAutofit/>
          </a:bodyPr>
          <a:lstStyle/>
          <a:p>
            <a:r>
              <a:rPr lang="en-US" sz="2400" dirty="0"/>
              <a:t>we combine several CSS properties to display links as boxes/buttons: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Example:</a:t>
            </a:r>
          </a:p>
          <a:p>
            <a:pPr marL="0" indent="0">
              <a:buNone/>
            </a:pPr>
            <a:r>
              <a:rPr lang="en-US" sz="2400" dirty="0"/>
              <a:t>a:link, a:visited {</a:t>
            </a:r>
          </a:p>
          <a:p>
            <a:pPr marL="0" indent="0">
              <a:buNone/>
            </a:pPr>
            <a:r>
              <a:rPr lang="en-US" sz="2400" dirty="0"/>
              <a:t>  background-color: #f44336;</a:t>
            </a:r>
          </a:p>
          <a:p>
            <a:pPr marL="0" indent="0">
              <a:buNone/>
            </a:pPr>
            <a:r>
              <a:rPr lang="en-US" sz="2400" dirty="0"/>
              <a:t>  color: white;</a:t>
            </a:r>
          </a:p>
          <a:p>
            <a:pPr marL="0" indent="0">
              <a:buNone/>
            </a:pPr>
            <a:r>
              <a:rPr lang="en-US" sz="2400" dirty="0"/>
              <a:t>  padding: 14px 25px;</a:t>
            </a:r>
          </a:p>
          <a:p>
            <a:pPr marL="0" indent="0">
              <a:buNone/>
            </a:pPr>
            <a:r>
              <a:rPr lang="en-US" sz="2400" dirty="0"/>
              <a:t>  text-align: center;</a:t>
            </a:r>
          </a:p>
          <a:p>
            <a:pPr marL="0" indent="0">
              <a:buNone/>
            </a:pPr>
            <a:r>
              <a:rPr lang="en-US" sz="2400" dirty="0"/>
              <a:t>  text-decoration: none;</a:t>
            </a:r>
          </a:p>
          <a:p>
            <a:pPr marL="0" indent="0">
              <a:buNone/>
            </a:pPr>
            <a:r>
              <a:rPr lang="en-US" sz="2400" dirty="0"/>
              <a:t>  display: inline-block;</a:t>
            </a:r>
          </a:p>
          <a:p>
            <a:pPr marL="0" indent="0">
              <a:buNone/>
            </a:pPr>
            <a:r>
              <a:rPr lang="en-US" sz="2400" dirty="0"/>
              <a:t>}</a:t>
            </a:r>
          </a:p>
          <a:p>
            <a:pPr marL="0" indent="0">
              <a:buNone/>
            </a:pPr>
            <a:r>
              <a:rPr lang="en-US" sz="2400" dirty="0"/>
              <a:t>a:hover, a:active {     background-color: red;    }</a:t>
            </a:r>
          </a:p>
        </p:txBody>
      </p:sp>
    </p:spTree>
    <p:extLst>
      <p:ext uri="{BB962C8B-B14F-4D97-AF65-F5344CB8AC3E}">
        <p14:creationId xmlns:p14="http://schemas.microsoft.com/office/powerpoint/2010/main" val="3333701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027F3-D68B-B9E8-BBCB-5A63F26CB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CSS Tables: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17819D-BEB2-1D99-2223-9CC19C5A89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Table Borders:</a:t>
            </a:r>
          </a:p>
          <a:p>
            <a:r>
              <a:rPr lang="en-US" sz="2800" dirty="0"/>
              <a:t>To specify table borders in CSS, use the border property.</a:t>
            </a:r>
          </a:p>
          <a:p>
            <a:r>
              <a:rPr lang="en-US" sz="2800" dirty="0"/>
              <a:t>The example below specifies a black border for &lt;table&gt;, &lt;</a:t>
            </a:r>
            <a:r>
              <a:rPr lang="en-US" sz="2800" dirty="0" err="1"/>
              <a:t>th</a:t>
            </a:r>
            <a:r>
              <a:rPr lang="en-US" sz="2800" dirty="0"/>
              <a:t>&gt;, and &lt;td&gt; elements:</a:t>
            </a:r>
          </a:p>
          <a:p>
            <a:pPr marL="0" indent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Example:</a:t>
            </a:r>
          </a:p>
          <a:p>
            <a:pPr marL="0" indent="0">
              <a:buNone/>
            </a:pPr>
            <a:r>
              <a:rPr lang="en-US" sz="2800" dirty="0"/>
              <a:t>	table, </a:t>
            </a:r>
            <a:r>
              <a:rPr lang="en-US" sz="2800" dirty="0" err="1"/>
              <a:t>th</a:t>
            </a:r>
            <a:r>
              <a:rPr lang="en-US" sz="2800" dirty="0"/>
              <a:t>, td {</a:t>
            </a:r>
          </a:p>
          <a:p>
            <a:pPr marL="0" indent="0">
              <a:buNone/>
            </a:pPr>
            <a:r>
              <a:rPr lang="en-US" sz="2800" dirty="0"/>
              <a:t>		  border: 1px solid black;</a:t>
            </a:r>
          </a:p>
          <a:p>
            <a:pPr marL="0" indent="0">
              <a:buNone/>
            </a:pPr>
            <a:r>
              <a:rPr lang="en-US" sz="2800" dirty="0"/>
              <a:t>	}</a:t>
            </a:r>
          </a:p>
        </p:txBody>
      </p:sp>
    </p:spTree>
    <p:extLst>
      <p:ext uri="{BB962C8B-B14F-4D97-AF65-F5344CB8AC3E}">
        <p14:creationId xmlns:p14="http://schemas.microsoft.com/office/powerpoint/2010/main" val="3061901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CFA79-BA27-84CA-CBB4-6DC9C72EA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Collapse Table Borders: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5447BB-8A93-F7DA-9091-C412138B3C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8" y="864108"/>
            <a:ext cx="7533838" cy="5187068"/>
          </a:xfrm>
        </p:spPr>
        <p:txBody>
          <a:bodyPr>
            <a:normAutofit/>
          </a:bodyPr>
          <a:lstStyle/>
          <a:p>
            <a:r>
              <a:rPr lang="en-IN" sz="2800" dirty="0"/>
              <a:t>The border-collapse property sets whether the table borders should be collapsed into a single border:</a:t>
            </a:r>
          </a:p>
          <a:p>
            <a:pPr marL="0" indent="0">
              <a:buNone/>
            </a:pPr>
            <a:r>
              <a:rPr lang="en-IN" sz="2800" b="1" dirty="0">
                <a:solidFill>
                  <a:schemeClr val="accent1"/>
                </a:solidFill>
              </a:rPr>
              <a:t>Example:</a:t>
            </a:r>
          </a:p>
          <a:p>
            <a:pPr marL="0" indent="0">
              <a:buNone/>
            </a:pPr>
            <a:r>
              <a:rPr lang="en-IN" sz="2800" dirty="0"/>
              <a:t>	table {</a:t>
            </a:r>
          </a:p>
          <a:p>
            <a:pPr marL="0" indent="0">
              <a:buNone/>
            </a:pPr>
            <a:r>
              <a:rPr lang="en-IN" sz="2800" dirty="0"/>
              <a:t>		  border-collapse: collapse;</a:t>
            </a:r>
          </a:p>
          <a:p>
            <a:pPr marL="0" indent="0">
              <a:buNone/>
            </a:pPr>
            <a:r>
              <a:rPr lang="en-IN" sz="2800" dirty="0"/>
              <a:t>	}</a:t>
            </a:r>
          </a:p>
          <a:p>
            <a:pPr marL="0" indent="0">
              <a:buNone/>
            </a:pPr>
            <a:r>
              <a:rPr lang="en-IN" sz="2800" dirty="0"/>
              <a:t>	table, </a:t>
            </a:r>
            <a:r>
              <a:rPr lang="en-IN" sz="2800" dirty="0" err="1"/>
              <a:t>th</a:t>
            </a:r>
            <a:r>
              <a:rPr lang="en-IN" sz="2800" dirty="0"/>
              <a:t>, td {</a:t>
            </a:r>
          </a:p>
          <a:p>
            <a:pPr marL="0" indent="0">
              <a:buNone/>
            </a:pPr>
            <a:r>
              <a:rPr lang="en-IN" sz="2800" dirty="0"/>
              <a:t>		  border: 1px solid black;</a:t>
            </a:r>
          </a:p>
          <a:p>
            <a:pPr marL="0" indent="0">
              <a:buNone/>
            </a:pPr>
            <a:r>
              <a:rPr lang="en-IN" sz="2800" dirty="0"/>
              <a:t>	}</a:t>
            </a:r>
          </a:p>
        </p:txBody>
      </p:sp>
    </p:spTree>
    <p:extLst>
      <p:ext uri="{BB962C8B-B14F-4D97-AF65-F5344CB8AC3E}">
        <p14:creationId xmlns:p14="http://schemas.microsoft.com/office/powerpoint/2010/main" val="374632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8F44E-E62B-6E6E-9C33-3D011E0D8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Table Width and Height: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C8DD29-66D8-F0DB-B070-13EF828271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Width and height of a table are defined by width and height properties.</a:t>
            </a:r>
          </a:p>
          <a:p>
            <a:pPr marL="0" indent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Example:</a:t>
            </a:r>
          </a:p>
          <a:p>
            <a:pPr marL="0" indent="0">
              <a:buNone/>
            </a:pPr>
            <a:r>
              <a:rPr lang="en-US" sz="2800" dirty="0"/>
              <a:t>	table {</a:t>
            </a:r>
          </a:p>
          <a:p>
            <a:pPr marL="0" indent="0">
              <a:buNone/>
            </a:pPr>
            <a:r>
              <a:rPr lang="en-US" sz="2800" dirty="0"/>
              <a:t>		  width: 100%;</a:t>
            </a:r>
          </a:p>
          <a:p>
            <a:pPr marL="0" indent="0">
              <a:buNone/>
            </a:pPr>
            <a:r>
              <a:rPr lang="en-US" sz="2800" dirty="0"/>
              <a:t>	}</a:t>
            </a:r>
          </a:p>
          <a:p>
            <a:pPr marL="0" indent="0">
              <a:buNone/>
            </a:pPr>
            <a:r>
              <a:rPr lang="en-US" sz="2800" dirty="0"/>
              <a:t>	</a:t>
            </a:r>
            <a:r>
              <a:rPr lang="en-US" sz="2800" dirty="0" err="1"/>
              <a:t>th</a:t>
            </a:r>
            <a:r>
              <a:rPr lang="en-US" sz="2800" dirty="0"/>
              <a:t> {</a:t>
            </a:r>
          </a:p>
          <a:p>
            <a:pPr marL="0" indent="0">
              <a:buNone/>
            </a:pPr>
            <a:r>
              <a:rPr lang="en-US" sz="2800" dirty="0"/>
              <a:t>		  height: 50px;</a:t>
            </a:r>
          </a:p>
          <a:p>
            <a:pPr marL="0" indent="0">
              <a:buNone/>
            </a:pPr>
            <a:r>
              <a:rPr lang="en-US" sz="2800" dirty="0"/>
              <a:t>	}</a:t>
            </a:r>
          </a:p>
        </p:txBody>
      </p:sp>
    </p:spTree>
    <p:extLst>
      <p:ext uri="{BB962C8B-B14F-4D97-AF65-F5344CB8AC3E}">
        <p14:creationId xmlns:p14="http://schemas.microsoft.com/office/powerpoint/2010/main" val="615880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CA788-A3D9-C78F-5E7C-E33139694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CSS Outline: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BD2D63-12F8-EBB4-D0B0-19C09D1B2F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2033" y="868680"/>
            <a:ext cx="7708650" cy="5120640"/>
          </a:xfrm>
        </p:spPr>
        <p:txBody>
          <a:bodyPr>
            <a:normAutofit/>
          </a:bodyPr>
          <a:lstStyle/>
          <a:p>
            <a:r>
              <a:rPr lang="en-US" sz="2800" dirty="0"/>
              <a:t>An outline is a line that is drawn around elements, OUTSIDE the borders, to make the element "stand out".</a:t>
            </a:r>
          </a:p>
          <a:p>
            <a:r>
              <a:rPr lang="en-US" sz="2800" dirty="0"/>
              <a:t>CSS has the following outline properties:</a:t>
            </a:r>
          </a:p>
          <a:p>
            <a:pPr lvl="1"/>
            <a:r>
              <a:rPr lang="en-US" sz="2800" dirty="0"/>
              <a:t>outline-style</a:t>
            </a:r>
          </a:p>
          <a:p>
            <a:pPr lvl="1"/>
            <a:r>
              <a:rPr lang="en-US" sz="2800" dirty="0"/>
              <a:t>outline-color</a:t>
            </a:r>
          </a:p>
          <a:p>
            <a:pPr lvl="1"/>
            <a:r>
              <a:rPr lang="en-US" sz="2800" dirty="0"/>
              <a:t>outline-width</a:t>
            </a:r>
          </a:p>
        </p:txBody>
      </p:sp>
    </p:spTree>
    <p:extLst>
      <p:ext uri="{BB962C8B-B14F-4D97-AF65-F5344CB8AC3E}">
        <p14:creationId xmlns:p14="http://schemas.microsoft.com/office/powerpoint/2010/main" val="879364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1E22E-603B-9420-DFB0-3A6F4E7E09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CSS Outline Style: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6C303E-40D9-316C-55CE-CFB0DFE63C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94456" y="658502"/>
            <a:ext cx="7829674" cy="5540995"/>
          </a:xfrm>
        </p:spPr>
        <p:txBody>
          <a:bodyPr>
            <a:normAutofit/>
          </a:bodyPr>
          <a:lstStyle/>
          <a:p>
            <a:r>
              <a:rPr lang="en-US" sz="2400" dirty="0"/>
              <a:t>The outline-style property specifies the style of the outline, and can have one of the following values:</a:t>
            </a:r>
          </a:p>
          <a:p>
            <a:pPr lvl="1"/>
            <a:r>
              <a:rPr lang="en-US" sz="2400" dirty="0"/>
              <a:t>dotted - Defines a dotted outline</a:t>
            </a:r>
          </a:p>
          <a:p>
            <a:pPr lvl="1"/>
            <a:r>
              <a:rPr lang="en-US" sz="2400" dirty="0"/>
              <a:t>dashed - Defines a dashed outline</a:t>
            </a:r>
          </a:p>
          <a:p>
            <a:pPr lvl="1"/>
            <a:r>
              <a:rPr lang="en-US" sz="2400" dirty="0"/>
              <a:t>solid - Defines a solid outline</a:t>
            </a:r>
          </a:p>
          <a:p>
            <a:pPr lvl="1"/>
            <a:r>
              <a:rPr lang="en-US" sz="2400" dirty="0"/>
              <a:t>double - Defines a double outline</a:t>
            </a:r>
          </a:p>
          <a:p>
            <a:pPr lvl="1"/>
            <a:r>
              <a:rPr lang="en-US" sz="2400" dirty="0"/>
              <a:t>groove - Defines a 3D grooved outline</a:t>
            </a:r>
          </a:p>
          <a:p>
            <a:pPr lvl="1"/>
            <a:r>
              <a:rPr lang="en-US" sz="2400" dirty="0"/>
              <a:t>ridge - Defines a 3D ridged outline</a:t>
            </a:r>
          </a:p>
          <a:p>
            <a:pPr lvl="1"/>
            <a:r>
              <a:rPr lang="en-US" sz="2400" dirty="0"/>
              <a:t>inset - Defines a 3D inset outline</a:t>
            </a:r>
          </a:p>
          <a:p>
            <a:pPr lvl="1"/>
            <a:r>
              <a:rPr lang="en-US" sz="2400" dirty="0"/>
              <a:t>outset - Defines a 3D outset outline</a:t>
            </a:r>
          </a:p>
          <a:p>
            <a:pPr lvl="1"/>
            <a:r>
              <a:rPr lang="en-US" sz="2400" dirty="0"/>
              <a:t>none - Defines no outline</a:t>
            </a:r>
          </a:p>
          <a:p>
            <a:pPr lvl="1"/>
            <a:r>
              <a:rPr lang="en-US" sz="2400" dirty="0"/>
              <a:t>hidden - Defines a hidden outline</a:t>
            </a:r>
          </a:p>
        </p:txBody>
      </p:sp>
    </p:spTree>
    <p:extLst>
      <p:ext uri="{BB962C8B-B14F-4D97-AF65-F5344CB8AC3E}">
        <p14:creationId xmlns:p14="http://schemas.microsoft.com/office/powerpoint/2010/main" val="1039919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F9DD7-AC40-2EE9-2368-4B487095B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CSS Outline Color: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816FE2-14E0-36D7-B0BC-6829A0BFA7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07903" y="779929"/>
            <a:ext cx="7735544" cy="5526741"/>
          </a:xfrm>
        </p:spPr>
        <p:txBody>
          <a:bodyPr>
            <a:normAutofit fontScale="85000" lnSpcReduction="20000"/>
          </a:bodyPr>
          <a:lstStyle/>
          <a:p>
            <a:r>
              <a:rPr lang="en-US" sz="2800" dirty="0"/>
              <a:t>The outline-color property is used to set the color of the outline.</a:t>
            </a:r>
          </a:p>
          <a:p>
            <a:r>
              <a:rPr lang="en-US" sz="2800" dirty="0"/>
              <a:t>The color can be set by:</a:t>
            </a:r>
          </a:p>
          <a:p>
            <a:r>
              <a:rPr lang="en-US" sz="2800" b="1" dirty="0"/>
              <a:t>name</a:t>
            </a:r>
            <a:r>
              <a:rPr lang="en-US" sz="2800" dirty="0"/>
              <a:t> - specify a color name, like "red"</a:t>
            </a:r>
          </a:p>
          <a:p>
            <a:r>
              <a:rPr lang="en-US" sz="2800" b="1" dirty="0"/>
              <a:t>RGB</a:t>
            </a:r>
            <a:r>
              <a:rPr lang="en-US" sz="2800" dirty="0"/>
              <a:t> - specify a RGB value, like "</a:t>
            </a:r>
            <a:r>
              <a:rPr lang="en-US" sz="2800" dirty="0" err="1"/>
              <a:t>rgb</a:t>
            </a:r>
            <a:r>
              <a:rPr lang="en-US" sz="2800" dirty="0"/>
              <a:t>(255,0,0)"</a:t>
            </a:r>
          </a:p>
          <a:p>
            <a:r>
              <a:rPr lang="en-US" sz="2800" b="1" dirty="0"/>
              <a:t>Hex</a:t>
            </a:r>
            <a:r>
              <a:rPr lang="en-US" sz="2800" dirty="0"/>
              <a:t> - specify a hex value, like "#ff0000"</a:t>
            </a:r>
          </a:p>
          <a:p>
            <a:r>
              <a:rPr lang="en-US" sz="2800" b="1" dirty="0"/>
              <a:t>invert</a:t>
            </a:r>
            <a:r>
              <a:rPr lang="en-US" sz="2800" dirty="0"/>
              <a:t> - performs a color inversion (which ensures that the outline is visible, regardless of color background)</a:t>
            </a:r>
          </a:p>
          <a:p>
            <a:r>
              <a:rPr lang="en-US" sz="2800" b="1" dirty="0"/>
              <a:t>Example:</a:t>
            </a:r>
          </a:p>
          <a:p>
            <a:pPr marL="0" indent="0">
              <a:buNone/>
            </a:pPr>
            <a:r>
              <a:rPr lang="en-US" sz="2800" dirty="0"/>
              <a:t>	p {</a:t>
            </a:r>
          </a:p>
          <a:p>
            <a:pPr marL="0" indent="0">
              <a:buNone/>
            </a:pPr>
            <a:r>
              <a:rPr lang="en-US" sz="2800" dirty="0"/>
              <a:t>		  border: 1px solid black;</a:t>
            </a:r>
          </a:p>
          <a:p>
            <a:pPr marL="0" indent="0">
              <a:buNone/>
            </a:pPr>
            <a:r>
              <a:rPr lang="en-US" sz="2800" dirty="0"/>
              <a:t>  		outline-style: solid;</a:t>
            </a:r>
          </a:p>
          <a:p>
            <a:pPr marL="0" indent="0">
              <a:buNone/>
            </a:pPr>
            <a:r>
              <a:rPr lang="en-US" sz="2800" dirty="0"/>
              <a:t>  		outline-color: red;</a:t>
            </a:r>
          </a:p>
          <a:p>
            <a:pPr marL="0" indent="0">
              <a:buNone/>
            </a:pPr>
            <a:r>
              <a:rPr lang="en-US" sz="2800" dirty="0"/>
              <a:t>	}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208317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D573F-7A93-0318-95D4-1A1A9A7E0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CSS Outline Width: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A7089-BCBC-E8D8-85AB-C86386FA9F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8282" y="632013"/>
            <a:ext cx="7772400" cy="5809128"/>
          </a:xfrm>
        </p:spPr>
        <p:txBody>
          <a:bodyPr>
            <a:normAutofit/>
          </a:bodyPr>
          <a:lstStyle/>
          <a:p>
            <a:r>
              <a:rPr lang="en-US" sz="2400" dirty="0"/>
              <a:t>The outline-width property specifies the width of the outline, and can have one of the following values:</a:t>
            </a:r>
          </a:p>
          <a:p>
            <a:pPr lvl="1"/>
            <a:r>
              <a:rPr lang="en-US" sz="2400" dirty="0"/>
              <a:t>thin (typically 1px)</a:t>
            </a:r>
          </a:p>
          <a:p>
            <a:pPr lvl="1"/>
            <a:r>
              <a:rPr lang="en-US" sz="2400" dirty="0"/>
              <a:t>medium (typically 3px)</a:t>
            </a:r>
          </a:p>
          <a:p>
            <a:pPr lvl="1"/>
            <a:r>
              <a:rPr lang="en-US" sz="2400" dirty="0"/>
              <a:t>thick (typically 5px)</a:t>
            </a:r>
          </a:p>
          <a:p>
            <a:pPr lvl="1"/>
            <a:r>
              <a:rPr lang="en-US" sz="2400" dirty="0"/>
              <a:t>A specific size (in </a:t>
            </a:r>
            <a:r>
              <a:rPr lang="en-US" sz="2400" dirty="0" err="1"/>
              <a:t>px</a:t>
            </a:r>
            <a:r>
              <a:rPr lang="en-US" sz="2400" dirty="0"/>
              <a:t>, pt, cm, </a:t>
            </a:r>
            <a:r>
              <a:rPr lang="en-US" sz="2400" dirty="0" err="1"/>
              <a:t>em</a:t>
            </a:r>
            <a:r>
              <a:rPr lang="en-US" sz="2400" dirty="0"/>
              <a:t>, </a:t>
            </a:r>
            <a:r>
              <a:rPr lang="en-US" sz="2400" dirty="0" err="1"/>
              <a:t>etc</a:t>
            </a:r>
            <a:r>
              <a:rPr lang="en-US" sz="2400" dirty="0"/>
              <a:t>)</a:t>
            </a:r>
          </a:p>
          <a:p>
            <a:pPr marL="0" indent="0">
              <a:buNone/>
            </a:pPr>
            <a:r>
              <a:rPr lang="en-US" sz="2400" dirty="0"/>
              <a:t>Example</a:t>
            </a:r>
          </a:p>
          <a:p>
            <a:pPr marL="0" indent="0">
              <a:buNone/>
            </a:pPr>
            <a:r>
              <a:rPr lang="en-US" sz="2400" dirty="0"/>
              <a:t>	p {</a:t>
            </a:r>
          </a:p>
          <a:p>
            <a:pPr marL="0" indent="0">
              <a:buNone/>
            </a:pPr>
            <a:r>
              <a:rPr lang="en-US" sz="2400" dirty="0"/>
              <a:t>		  outline-style: solid;</a:t>
            </a:r>
          </a:p>
          <a:p>
            <a:pPr marL="0" indent="0">
              <a:buNone/>
            </a:pPr>
            <a:r>
              <a:rPr lang="en-US" sz="2400" dirty="0"/>
              <a:t>		  outline-color: red;</a:t>
            </a:r>
          </a:p>
          <a:p>
            <a:pPr marL="0" indent="0">
              <a:buNone/>
            </a:pPr>
            <a:r>
              <a:rPr lang="en-US" sz="2400" dirty="0"/>
              <a:t>		  outline-width: thin;</a:t>
            </a:r>
          </a:p>
          <a:p>
            <a:pPr marL="0" indent="0">
              <a:buNone/>
            </a:pPr>
            <a:r>
              <a:rPr lang="en-US" sz="2400" dirty="0"/>
              <a:t>	}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4118614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8538CC2-20A2-695D-C51A-C68CE6ABA7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39034" y="1298448"/>
            <a:ext cx="5346013" cy="2802905"/>
          </a:xfrm>
        </p:spPr>
        <p:txBody>
          <a:bodyPr/>
          <a:lstStyle/>
          <a:p>
            <a:r>
              <a:rPr lang="en-IN" dirty="0"/>
              <a:t>CSS Layout</a:t>
            </a:r>
          </a:p>
        </p:txBody>
      </p:sp>
    </p:spTree>
    <p:extLst>
      <p:ext uri="{BB962C8B-B14F-4D97-AF65-F5344CB8AC3E}">
        <p14:creationId xmlns:p14="http://schemas.microsoft.com/office/powerpoint/2010/main" val="1868079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  Flex Layout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err="1"/>
              <a:t>FlexBox</a:t>
            </a:r>
            <a:r>
              <a:rPr lang="en-US" sz="2400" dirty="0"/>
              <a:t> aka </a:t>
            </a:r>
            <a:r>
              <a:rPr lang="en-US" sz="2400" b="1" dirty="0"/>
              <a:t>Flexible Box Layout </a:t>
            </a:r>
            <a:r>
              <a:rPr lang="en-US" sz="2400" dirty="0"/>
              <a:t>makes it easier to layout, align and style items in the container while maintaining the responsiveness of the website.</a:t>
            </a:r>
          </a:p>
          <a:p>
            <a:r>
              <a:rPr lang="en-US" sz="2400" dirty="0"/>
              <a:t>To create a flexbox you need to set the display of the container as flex</a:t>
            </a:r>
          </a:p>
          <a:p>
            <a:pPr marL="0" indent="0">
              <a:buNone/>
            </a:pPr>
            <a:r>
              <a:rPr lang="en-US" sz="2400" b="1" dirty="0" smtClean="0"/>
              <a:t>	</a:t>
            </a:r>
            <a:r>
              <a:rPr lang="en-US" sz="2400" b="1" dirty="0" err="1" smtClean="0"/>
              <a:t>Eg</a:t>
            </a:r>
            <a:r>
              <a:rPr lang="en-US" sz="2400" b="1" dirty="0"/>
              <a:t>: </a:t>
            </a:r>
            <a:r>
              <a:rPr lang="en-US" sz="2400" b="1" dirty="0" smtClean="0"/>
              <a:t>{</a:t>
            </a:r>
            <a:r>
              <a:rPr lang="en-US" sz="2400" b="1" dirty="0"/>
              <a:t>display: flex</a:t>
            </a:r>
            <a:r>
              <a:rPr lang="en-US" sz="2400" b="1" dirty="0" smtClean="0"/>
              <a:t>;}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Flex Direction</a:t>
            </a:r>
          </a:p>
          <a:p>
            <a:pPr marL="0" indent="0">
              <a:buNone/>
            </a:pPr>
            <a:r>
              <a:rPr lang="en-US" sz="2400" dirty="0"/>
              <a:t>It defines in which direction the flex elements would be displayed. It takes values like row, column or “reverse” too</a:t>
            </a:r>
            <a:r>
              <a:rPr lang="en-US" sz="2400" dirty="0" smtClean="0"/>
              <a:t>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154614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Flex Container Properties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40034" y="365761"/>
            <a:ext cx="8229600" cy="61656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smtClean="0">
                <a:solidFill>
                  <a:schemeClr val="accent1"/>
                </a:solidFill>
              </a:rPr>
              <a:t>Flex </a:t>
            </a:r>
            <a:r>
              <a:rPr lang="en-US" sz="2400" b="1" dirty="0">
                <a:solidFill>
                  <a:schemeClr val="accent1"/>
                </a:solidFill>
              </a:rPr>
              <a:t>Wrap</a:t>
            </a:r>
          </a:p>
          <a:p>
            <a:pPr marL="0" indent="0">
              <a:buNone/>
            </a:pPr>
            <a:r>
              <a:rPr lang="en-US" sz="2400" dirty="0"/>
              <a:t>By using this property we can make our elements responsive for different screen sizes. </a:t>
            </a:r>
          </a:p>
          <a:p>
            <a:pPr marL="0" indent="0">
              <a:buNone/>
            </a:pPr>
            <a:r>
              <a:rPr lang="en-US" sz="2400" b="1" dirty="0" smtClean="0">
                <a:solidFill>
                  <a:schemeClr val="accent1"/>
                </a:solidFill>
              </a:rPr>
              <a:t>Justify </a:t>
            </a:r>
            <a:r>
              <a:rPr lang="en-US" sz="2400" b="1" dirty="0">
                <a:solidFill>
                  <a:schemeClr val="accent1"/>
                </a:solidFill>
              </a:rPr>
              <a:t>Content</a:t>
            </a:r>
          </a:p>
          <a:p>
            <a:pPr marL="0" indent="0">
              <a:buNone/>
            </a:pPr>
            <a:r>
              <a:rPr lang="en-US" sz="2400" dirty="0"/>
              <a:t>This property is used to set the position of content or rather align content along the main axis.</a:t>
            </a:r>
          </a:p>
          <a:p>
            <a:pPr marL="0" indent="0">
              <a:buNone/>
            </a:pPr>
            <a:r>
              <a:rPr lang="en-US" sz="2400" b="1" dirty="0" smtClean="0">
                <a:solidFill>
                  <a:schemeClr val="accent1"/>
                </a:solidFill>
              </a:rPr>
              <a:t>Align </a:t>
            </a:r>
            <a:r>
              <a:rPr lang="en-US" sz="2400" b="1" dirty="0">
                <a:solidFill>
                  <a:schemeClr val="accent1"/>
                </a:solidFill>
              </a:rPr>
              <a:t>Items</a:t>
            </a:r>
          </a:p>
          <a:p>
            <a:pPr marL="0" indent="0">
              <a:buNone/>
            </a:pPr>
            <a:r>
              <a:rPr lang="en-US" sz="2400" dirty="0"/>
              <a:t>Just like the justify-content property, align-items define the alignment of the flex container but along the cross-axis.</a:t>
            </a:r>
          </a:p>
          <a:p>
            <a:pPr marL="0" indent="0">
              <a:buNone/>
            </a:pPr>
            <a:r>
              <a:rPr lang="en-US" sz="2400" b="1" dirty="0" smtClean="0">
                <a:solidFill>
                  <a:schemeClr val="accent1"/>
                </a:solidFill>
              </a:rPr>
              <a:t>Align </a:t>
            </a:r>
            <a:r>
              <a:rPr lang="en-US" sz="2400" b="1" dirty="0">
                <a:solidFill>
                  <a:schemeClr val="accent1"/>
                </a:solidFill>
              </a:rPr>
              <a:t>Content</a:t>
            </a:r>
          </a:p>
          <a:p>
            <a:pPr marL="0" indent="0">
              <a:buNone/>
            </a:pPr>
            <a:r>
              <a:rPr lang="en-US" sz="2400" dirty="0"/>
              <a:t>This property is very similar to align item but here rather than the flex items, the content present in the item is selected for the property.</a:t>
            </a:r>
          </a:p>
        </p:txBody>
      </p:sp>
    </p:spTree>
    <p:extLst>
      <p:ext uri="{BB962C8B-B14F-4D97-AF65-F5344CB8AC3E}">
        <p14:creationId xmlns:p14="http://schemas.microsoft.com/office/powerpoint/2010/main" val="4201892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Example: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.flex-container </a:t>
            </a:r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/>
              <a:t>      {</a:t>
            </a:r>
            <a:endParaRPr lang="en-US" sz="2400" dirty="0"/>
          </a:p>
          <a:p>
            <a:pPr marL="502920" lvl="1" indent="0">
              <a:buNone/>
            </a:pPr>
            <a:r>
              <a:rPr lang="en-US" sz="2400" dirty="0"/>
              <a:t>           </a:t>
            </a:r>
            <a:r>
              <a:rPr lang="en-US" sz="2400" dirty="0" smtClean="0"/>
              <a:t>	display</a:t>
            </a:r>
            <a:r>
              <a:rPr lang="en-US" sz="2400" dirty="0"/>
              <a:t>: flex;</a:t>
            </a:r>
          </a:p>
          <a:p>
            <a:pPr marL="502920" lvl="1" indent="0">
              <a:buNone/>
            </a:pPr>
            <a:r>
              <a:rPr lang="en-US" sz="2400" dirty="0"/>
              <a:t>            </a:t>
            </a:r>
            <a:r>
              <a:rPr lang="en-US" sz="2400" dirty="0" smtClean="0"/>
              <a:t>	height</a:t>
            </a:r>
            <a:r>
              <a:rPr lang="en-US" sz="2400" dirty="0"/>
              <a:t>: 200px;</a:t>
            </a:r>
          </a:p>
          <a:p>
            <a:pPr marL="502920" lvl="1" indent="0">
              <a:buNone/>
            </a:pPr>
            <a:r>
              <a:rPr lang="en-US" sz="2400" dirty="0"/>
              <a:t>            </a:t>
            </a:r>
            <a:r>
              <a:rPr lang="en-US" sz="2400" dirty="0" smtClean="0"/>
              <a:t>	flex-direction</a:t>
            </a:r>
            <a:r>
              <a:rPr lang="en-US" sz="2400" dirty="0"/>
              <a:t>: row;</a:t>
            </a:r>
          </a:p>
          <a:p>
            <a:pPr marL="502920" lvl="1" indent="0">
              <a:buNone/>
            </a:pPr>
            <a:r>
              <a:rPr lang="en-US" sz="2400" dirty="0"/>
              <a:t>            </a:t>
            </a:r>
            <a:r>
              <a:rPr lang="en-US" sz="2400" dirty="0" smtClean="0"/>
              <a:t>	background-color</a:t>
            </a:r>
            <a:r>
              <a:rPr lang="en-US" sz="2400" dirty="0"/>
              <a:t>: </a:t>
            </a:r>
            <a:r>
              <a:rPr lang="en-US" sz="2400" dirty="0" err="1"/>
              <a:t>yellowgreen</a:t>
            </a:r>
            <a:r>
              <a:rPr lang="en-US" sz="2400" dirty="0"/>
              <a:t>;</a:t>
            </a:r>
          </a:p>
          <a:p>
            <a:pPr marL="502920" lvl="1" indent="0">
              <a:buNone/>
            </a:pPr>
            <a:r>
              <a:rPr lang="en-US" sz="2400" dirty="0"/>
              <a:t>            </a:t>
            </a:r>
            <a:r>
              <a:rPr lang="en-US" sz="2400" dirty="0" smtClean="0"/>
              <a:t>	align-content</a:t>
            </a:r>
            <a:r>
              <a:rPr lang="en-US" sz="2400" dirty="0"/>
              <a:t>: center</a:t>
            </a:r>
            <a:r>
              <a:rPr lang="en-US" sz="2400" dirty="0" smtClean="0"/>
              <a:t>;</a:t>
            </a:r>
          </a:p>
          <a:p>
            <a:pPr marL="960120" lvl="2" indent="0">
              <a:buNone/>
            </a:pPr>
            <a:r>
              <a:rPr lang="en-US" sz="2400" dirty="0"/>
              <a:t>	align-items: center;</a:t>
            </a:r>
          </a:p>
          <a:p>
            <a:pPr marL="960120" lvl="2" indent="0">
              <a:buNone/>
            </a:pPr>
            <a:r>
              <a:rPr lang="en-US" sz="2400" dirty="0" smtClean="0"/>
              <a:t>	justify-content</a:t>
            </a:r>
            <a:r>
              <a:rPr lang="en-US" sz="2400" dirty="0"/>
              <a:t>: center;</a:t>
            </a:r>
          </a:p>
          <a:p>
            <a:pPr marL="960120" lvl="2" indent="0">
              <a:buNone/>
            </a:pPr>
            <a:r>
              <a:rPr lang="en-US" sz="2400" dirty="0" smtClean="0"/>
              <a:t>	flex-wrap</a:t>
            </a:r>
            <a:r>
              <a:rPr lang="en-US" sz="2400" dirty="0"/>
              <a:t>: wrap;</a:t>
            </a:r>
          </a:p>
          <a:p>
            <a:pPr marL="0" indent="0">
              <a:buNone/>
            </a:pPr>
            <a:r>
              <a:rPr lang="en-US" sz="2400" dirty="0"/>
              <a:t>        }</a:t>
            </a:r>
          </a:p>
        </p:txBody>
      </p:sp>
    </p:spTree>
    <p:extLst>
      <p:ext uri="{BB962C8B-B14F-4D97-AF65-F5344CB8AC3E}">
        <p14:creationId xmlns:p14="http://schemas.microsoft.com/office/powerpoint/2010/main" val="1749146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Flex Items Properties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smtClean="0">
                <a:solidFill>
                  <a:schemeClr val="accent1"/>
                </a:solidFill>
              </a:rPr>
              <a:t>Order</a:t>
            </a:r>
            <a:r>
              <a:rPr lang="en-US" sz="2400" b="1" dirty="0">
                <a:solidFill>
                  <a:schemeClr val="accent1"/>
                </a:solidFill>
              </a:rPr>
              <a:t>:</a:t>
            </a:r>
          </a:p>
          <a:p>
            <a:pPr marL="0" indent="0">
              <a:buNone/>
            </a:pPr>
            <a:r>
              <a:rPr lang="en-US" sz="2200" dirty="0"/>
              <a:t>As the name suggests, this property sets the order in which the flex items are shown.</a:t>
            </a:r>
          </a:p>
          <a:p>
            <a:pPr marL="0" indent="0">
              <a:buNone/>
            </a:pPr>
            <a:r>
              <a:rPr lang="en-US" sz="2400" b="1" dirty="0" smtClean="0">
                <a:solidFill>
                  <a:schemeClr val="accent1"/>
                </a:solidFill>
              </a:rPr>
              <a:t>Flex </a:t>
            </a:r>
            <a:r>
              <a:rPr lang="en-US" sz="2400" b="1" dirty="0">
                <a:solidFill>
                  <a:schemeClr val="accent1"/>
                </a:solidFill>
              </a:rPr>
              <a:t>Grow &amp; Shrink</a:t>
            </a:r>
          </a:p>
          <a:p>
            <a:pPr marL="0" indent="0">
              <a:buNone/>
            </a:pPr>
            <a:r>
              <a:rPr lang="en-US" sz="2200" dirty="0"/>
              <a:t>Decides the relative size of flex items. By default, this property is zero and thus items have the same size.</a:t>
            </a:r>
          </a:p>
          <a:p>
            <a:pPr marL="0" indent="0">
              <a:buNone/>
            </a:pPr>
            <a:r>
              <a:rPr lang="en-US" sz="2400" b="1" dirty="0" smtClean="0">
                <a:solidFill>
                  <a:schemeClr val="accent1"/>
                </a:solidFill>
              </a:rPr>
              <a:t>Align </a:t>
            </a:r>
            <a:r>
              <a:rPr lang="en-US" sz="2400" b="1" dirty="0">
                <a:solidFill>
                  <a:schemeClr val="accent1"/>
                </a:solidFill>
              </a:rPr>
              <a:t>Self</a:t>
            </a:r>
          </a:p>
          <a:p>
            <a:pPr marL="0" indent="0">
              <a:buNone/>
            </a:pPr>
            <a:r>
              <a:rPr lang="en-US" sz="2200" dirty="0"/>
              <a:t>This property allows default alignment to be overridden for the individual flex items. Try adding inline CSS to see how this property is used</a:t>
            </a:r>
            <a:r>
              <a:rPr lang="en-US" sz="2200" dirty="0" smtClean="0"/>
              <a:t>.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637103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Grid Layout: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47200" y="758625"/>
            <a:ext cx="7861178" cy="5514485"/>
          </a:xfrm>
        </p:spPr>
        <p:txBody>
          <a:bodyPr>
            <a:normAutofit/>
          </a:bodyPr>
          <a:lstStyle/>
          <a:p>
            <a:r>
              <a:rPr lang="en-US" sz="2400" dirty="0"/>
              <a:t>CSS Grid with the </a:t>
            </a:r>
            <a:r>
              <a:rPr lang="en-US" sz="2400" b="1" dirty="0"/>
              <a:t>use of rows and columns</a:t>
            </a:r>
            <a:r>
              <a:rPr lang="en-US" sz="2400" dirty="0"/>
              <a:t>, make it easier to style website elements.</a:t>
            </a:r>
          </a:p>
          <a:p>
            <a:r>
              <a:rPr lang="en-US" sz="2400" dirty="0"/>
              <a:t>CSS display property allows two grid properties: </a:t>
            </a:r>
            <a:r>
              <a:rPr lang="en-US" sz="2400" b="1" dirty="0"/>
              <a:t>Grid and Inline Grid</a:t>
            </a:r>
            <a:r>
              <a:rPr lang="en-US" sz="2400" dirty="0"/>
              <a:t>. The elements placed in the grid container are called grid items.</a:t>
            </a:r>
          </a:p>
          <a:p>
            <a:r>
              <a:rPr lang="en-US" sz="2400" dirty="0"/>
              <a:t>Most of the properties of Grid are similar to </a:t>
            </a:r>
            <a:r>
              <a:rPr lang="en-US" sz="2400" dirty="0" smtClean="0"/>
              <a:t>Flex Box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r>
              <a:rPr lang="en-US" sz="2400" b="1" dirty="0"/>
              <a:t>Grid Row &amp; Column Property</a:t>
            </a:r>
          </a:p>
          <a:p>
            <a:r>
              <a:rPr lang="en-US" sz="2400" dirty="0"/>
              <a:t>This is just adjacent to the flex-grow property in Flex Box. </a:t>
            </a:r>
            <a:endParaRPr lang="en-US" sz="2400" dirty="0" smtClean="0"/>
          </a:p>
          <a:p>
            <a:r>
              <a:rPr lang="en-US" sz="2400" dirty="0" smtClean="0"/>
              <a:t>It </a:t>
            </a:r>
            <a:r>
              <a:rPr lang="en-US" sz="2400" dirty="0"/>
              <a:t>decides how many columns would the selected element be taking in the Grid.</a:t>
            </a:r>
          </a:p>
          <a:p>
            <a:pPr marL="0" indent="0">
              <a:buNone/>
            </a:pPr>
            <a:r>
              <a:rPr lang="en-US" sz="2400" b="1" dirty="0" smtClean="0"/>
              <a:t>Example</a:t>
            </a:r>
            <a:r>
              <a:rPr lang="en-US" sz="2400" b="1" dirty="0"/>
              <a:t>: </a:t>
            </a:r>
            <a:endParaRPr lang="en-US" sz="2400" b="1" dirty="0" smtClean="0"/>
          </a:p>
          <a:p>
            <a:pPr marL="0" indent="0">
              <a:buNone/>
            </a:pPr>
            <a:r>
              <a:rPr lang="en-US" dirty="0" smtClean="0"/>
              <a:t>	</a:t>
            </a:r>
            <a:r>
              <a:rPr lang="en-US" sz="2400" dirty="0" smtClean="0"/>
              <a:t>&lt;</a:t>
            </a:r>
            <a:r>
              <a:rPr lang="en-US" sz="2400" dirty="0"/>
              <a:t>div class="grid-item" style="grid-row: 1/5;"&gt;2&lt;/div</a:t>
            </a:r>
            <a:r>
              <a:rPr lang="en-US" sz="2400" dirty="0" smtClean="0"/>
              <a:t>&gt;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488791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Example: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96788" y="733478"/>
            <a:ext cx="7513805" cy="564119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/>
              <a:t>span {</a:t>
            </a:r>
          </a:p>
          <a:p>
            <a:pPr marL="0" indent="0">
              <a:buNone/>
            </a:pPr>
            <a:r>
              <a:rPr lang="en-US" sz="2400" dirty="0"/>
              <a:t>	display: grid;</a:t>
            </a:r>
          </a:p>
          <a:p>
            <a:pPr marL="0" indent="0">
              <a:buNone/>
            </a:pPr>
            <a:r>
              <a:rPr lang="en-US" sz="2400" dirty="0"/>
              <a:t>	grid-template-columns: auto </a:t>
            </a:r>
            <a:r>
              <a:rPr lang="en-US" sz="2400" dirty="0" err="1"/>
              <a:t>auto</a:t>
            </a:r>
            <a:r>
              <a:rPr lang="en-US" sz="2400" dirty="0"/>
              <a:t> </a:t>
            </a:r>
            <a:r>
              <a:rPr lang="en-US" sz="2400" dirty="0" err="1"/>
              <a:t>auto</a:t>
            </a:r>
            <a:r>
              <a:rPr lang="en-US" sz="2400" dirty="0"/>
              <a:t>;</a:t>
            </a:r>
          </a:p>
          <a:p>
            <a:pPr marL="0" indent="0">
              <a:buNone/>
            </a:pPr>
            <a:r>
              <a:rPr lang="en-US" sz="2400" dirty="0"/>
              <a:t>	background-color: green;</a:t>
            </a:r>
          </a:p>
          <a:p>
            <a:pPr marL="0" indent="0">
              <a:buNone/>
            </a:pPr>
            <a:r>
              <a:rPr lang="en-US" sz="2400" dirty="0"/>
              <a:t>}</a:t>
            </a:r>
          </a:p>
          <a:p>
            <a:pPr marL="0" indent="0">
              <a:buNone/>
            </a:pPr>
            <a:r>
              <a:rPr lang="en-US" sz="2400" dirty="0"/>
              <a:t>div {</a:t>
            </a:r>
          </a:p>
          <a:p>
            <a:pPr marL="0" indent="0">
              <a:buNone/>
            </a:pPr>
            <a:r>
              <a:rPr lang="en-US" sz="2400" dirty="0" smtClean="0"/>
              <a:t>	color: #</a:t>
            </a:r>
            <a:r>
              <a:rPr lang="en-US" sz="2400" dirty="0" err="1" smtClean="0"/>
              <a:t>fff</a:t>
            </a:r>
            <a:r>
              <a:rPr lang="en-US" sz="2400" dirty="0" smtClean="0"/>
              <a:t>;</a:t>
            </a:r>
          </a:p>
          <a:p>
            <a:pPr marL="0" indent="0">
              <a:buNone/>
            </a:pPr>
            <a:r>
              <a:rPr lang="en-US" sz="2400" dirty="0"/>
              <a:t>	padding: 20px;</a:t>
            </a:r>
          </a:p>
          <a:p>
            <a:pPr marL="0" indent="0">
              <a:buNone/>
            </a:pPr>
            <a:r>
              <a:rPr lang="en-US" sz="2400" dirty="0"/>
              <a:t>	border: 1px solid black;</a:t>
            </a:r>
          </a:p>
          <a:p>
            <a:pPr marL="0" indent="0">
              <a:buNone/>
            </a:pPr>
            <a:r>
              <a:rPr lang="en-US" sz="2400" dirty="0"/>
              <a:t>	font-size: 30px;</a:t>
            </a:r>
          </a:p>
          <a:p>
            <a:pPr marL="0" indent="0">
              <a:buNone/>
            </a:pPr>
            <a:r>
              <a:rPr lang="en-US" sz="2400" dirty="0"/>
              <a:t>	text-align: center;</a:t>
            </a:r>
          </a:p>
          <a:p>
            <a:pPr marL="0" indent="0">
              <a:buNone/>
            </a:pPr>
            <a:r>
              <a:rPr lang="en-US" sz="2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464189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/>
              <a:t>2D Transform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40035" y="708332"/>
            <a:ext cx="8281850" cy="5641195"/>
          </a:xfrm>
        </p:spPr>
        <p:txBody>
          <a:bodyPr>
            <a:noAutofit/>
          </a:bodyPr>
          <a:lstStyle/>
          <a:p>
            <a:r>
              <a:rPr lang="en-US" sz="2200" dirty="0"/>
              <a:t>This property allows the content to be restructured in ways like translate, rotate, scale or skew, etc.</a:t>
            </a:r>
          </a:p>
          <a:p>
            <a:r>
              <a:rPr lang="en-US" sz="2200" dirty="0"/>
              <a:t>As it is 2D, therefore the content is transformed into x and y dimensions.</a:t>
            </a:r>
          </a:p>
          <a:p>
            <a:pPr marL="0" indent="0">
              <a:buNone/>
            </a:pPr>
            <a:r>
              <a:rPr lang="en-US" sz="2400" b="1" dirty="0" smtClean="0"/>
              <a:t>Rotate</a:t>
            </a:r>
            <a:endParaRPr lang="en-US" sz="2400" b="1" dirty="0"/>
          </a:p>
          <a:p>
            <a:r>
              <a:rPr lang="en-US" sz="2200" dirty="0"/>
              <a:t>This property rotates the content of the division either anticlockwise or </a:t>
            </a:r>
            <a:r>
              <a:rPr lang="en-US" sz="2200" dirty="0" smtClean="0"/>
              <a:t>clockwise </a:t>
            </a:r>
            <a:r>
              <a:rPr lang="en-US" sz="2200" dirty="0"/>
              <a:t>to the degree of rotation. </a:t>
            </a:r>
          </a:p>
          <a:p>
            <a:r>
              <a:rPr lang="en-US" sz="2200" dirty="0"/>
              <a:t>The values are taken in degree and on adding a negative sign the rotation becomes anticlockwise.</a:t>
            </a:r>
          </a:p>
          <a:p>
            <a:pPr marL="0" indent="0">
              <a:buNone/>
            </a:pPr>
            <a:r>
              <a:rPr lang="en-US" sz="2200" b="1" dirty="0" smtClean="0"/>
              <a:t>	Syntax</a:t>
            </a:r>
            <a:r>
              <a:rPr lang="en-US" sz="2200" b="1" dirty="0"/>
              <a:t>: transform: rotate(value);</a:t>
            </a:r>
          </a:p>
        </p:txBody>
      </p:sp>
    </p:spTree>
    <p:extLst>
      <p:ext uri="{BB962C8B-B14F-4D97-AF65-F5344CB8AC3E}">
        <p14:creationId xmlns:p14="http://schemas.microsoft.com/office/powerpoint/2010/main" val="3934990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  Properties: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47199" y="864108"/>
            <a:ext cx="7730549" cy="51206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Translate</a:t>
            </a:r>
          </a:p>
          <a:p>
            <a:r>
              <a:rPr lang="en-US" sz="2400" dirty="0"/>
              <a:t>This property transforms the element’s position along x or y or both x and y directions.</a:t>
            </a:r>
          </a:p>
          <a:p>
            <a:pPr marL="0" indent="0">
              <a:buNone/>
            </a:pPr>
            <a:r>
              <a:rPr lang="en-US" sz="2400" dirty="0"/>
              <a:t>	</a:t>
            </a:r>
            <a:r>
              <a:rPr lang="en-US" sz="2400" b="1" dirty="0"/>
              <a:t>Syntax: transform: translate(</a:t>
            </a:r>
            <a:r>
              <a:rPr lang="en-US" sz="2400" b="1" dirty="0" err="1"/>
              <a:t>x,y</a:t>
            </a:r>
            <a:r>
              <a:rPr lang="en-US" sz="2400" b="1" dirty="0"/>
              <a:t>);</a:t>
            </a:r>
          </a:p>
          <a:p>
            <a:pPr marL="0" indent="0">
              <a:buNone/>
            </a:pPr>
            <a:r>
              <a:rPr lang="en-US" sz="2400" b="1" dirty="0" smtClean="0"/>
              <a:t>Scale</a:t>
            </a:r>
            <a:endParaRPr lang="en-US" sz="2400" b="1" dirty="0"/>
          </a:p>
          <a:p>
            <a:r>
              <a:rPr lang="en-US" sz="2200" dirty="0"/>
              <a:t>This property rescales the width and height of the division in the ratio to the original dimensions. </a:t>
            </a:r>
          </a:p>
          <a:p>
            <a:pPr marL="0" indent="0">
              <a:buNone/>
            </a:pPr>
            <a:r>
              <a:rPr lang="en-US" sz="2200" dirty="0" smtClean="0"/>
              <a:t>	</a:t>
            </a:r>
            <a:r>
              <a:rPr lang="en-US" sz="2200" b="1" dirty="0" err="1" smtClean="0"/>
              <a:t>Eg</a:t>
            </a:r>
            <a:r>
              <a:rPr lang="en-US" sz="2200" b="1" dirty="0" smtClean="0"/>
              <a:t>: transform</a:t>
            </a:r>
            <a:r>
              <a:rPr lang="en-US" sz="2200" b="1" dirty="0"/>
              <a:t>: scale(1.4, 1.2</a:t>
            </a:r>
            <a:r>
              <a:rPr lang="en-US" sz="2200" b="1" dirty="0" smtClean="0"/>
              <a:t>);</a:t>
            </a:r>
          </a:p>
          <a:p>
            <a:pPr marL="0" indent="0">
              <a:buNone/>
            </a:pPr>
            <a:r>
              <a:rPr lang="en-US" sz="2400" b="1" dirty="0" smtClean="0"/>
              <a:t>Skew</a:t>
            </a:r>
            <a:endParaRPr lang="en-US" sz="2400" b="1" dirty="0"/>
          </a:p>
          <a:p>
            <a:r>
              <a:rPr lang="en-US" sz="2200" dirty="0"/>
              <a:t>This property helps in adding a slant or skew to division. (Skew: A pair of lines neither intersecting nor parallel)</a:t>
            </a:r>
          </a:p>
          <a:p>
            <a:pPr marL="0" indent="0">
              <a:buNone/>
            </a:pPr>
            <a:r>
              <a:rPr lang="en-US" sz="2200" dirty="0" smtClean="0"/>
              <a:t>	</a:t>
            </a:r>
            <a:r>
              <a:rPr lang="en-US" sz="2200" b="1" dirty="0" err="1" smtClean="0"/>
              <a:t>Eg</a:t>
            </a:r>
            <a:r>
              <a:rPr lang="en-US" sz="2200" b="1" dirty="0"/>
              <a:t>: transform: skew(10deg, 5deg);</a:t>
            </a:r>
          </a:p>
        </p:txBody>
      </p:sp>
    </p:spTree>
    <p:extLst>
      <p:ext uri="{BB962C8B-B14F-4D97-AF65-F5344CB8AC3E}">
        <p14:creationId xmlns:p14="http://schemas.microsoft.com/office/powerpoint/2010/main" val="3166051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   Example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div {</a:t>
            </a:r>
          </a:p>
          <a:p>
            <a:pPr marL="502920" lvl="1" indent="0">
              <a:buNone/>
            </a:pPr>
            <a:r>
              <a:rPr lang="en-US" sz="2400" dirty="0"/>
              <a:t>        width: 400px;</a:t>
            </a:r>
          </a:p>
          <a:p>
            <a:pPr marL="502920" lvl="1" indent="0">
              <a:buNone/>
            </a:pPr>
            <a:r>
              <a:rPr lang="en-US" sz="2400" dirty="0"/>
              <a:t>        height: 200px;</a:t>
            </a:r>
          </a:p>
          <a:p>
            <a:pPr marL="502920" lvl="1" indent="0">
              <a:buNone/>
            </a:pPr>
            <a:r>
              <a:rPr lang="en-US" sz="2400" dirty="0"/>
              <a:t>        color: </a:t>
            </a:r>
            <a:r>
              <a:rPr lang="en-US" sz="2400" dirty="0" err="1"/>
              <a:t>aliceblue</a:t>
            </a:r>
            <a:r>
              <a:rPr lang="en-US" sz="2400" dirty="0"/>
              <a:t>;</a:t>
            </a:r>
          </a:p>
          <a:p>
            <a:pPr marL="502920" lvl="1" indent="0">
              <a:buNone/>
            </a:pPr>
            <a:r>
              <a:rPr lang="en-US" sz="2400" dirty="0"/>
              <a:t>        background-color: </a:t>
            </a:r>
            <a:r>
              <a:rPr lang="en-US" sz="2400" dirty="0" err="1"/>
              <a:t>blueviolet</a:t>
            </a:r>
            <a:r>
              <a:rPr lang="en-US" sz="2400" dirty="0"/>
              <a:t>;</a:t>
            </a:r>
          </a:p>
          <a:p>
            <a:pPr marL="502920" lvl="1" indent="0">
              <a:buNone/>
            </a:pPr>
            <a:r>
              <a:rPr lang="en-US" sz="2400" dirty="0"/>
              <a:t>        border: 2px solid black;</a:t>
            </a:r>
          </a:p>
          <a:p>
            <a:pPr marL="502920" lvl="1" indent="0">
              <a:buNone/>
            </a:pPr>
            <a:r>
              <a:rPr lang="en-US" sz="2400" dirty="0"/>
              <a:t>        transform: translate(10px, 20px);</a:t>
            </a:r>
          </a:p>
          <a:p>
            <a:pPr marL="502920" lvl="1" indent="0">
              <a:buNone/>
            </a:pPr>
            <a:r>
              <a:rPr lang="en-US" sz="2400" dirty="0"/>
              <a:t>        /* transform: rotate(-10deg); */</a:t>
            </a:r>
          </a:p>
          <a:p>
            <a:pPr marL="502920" lvl="1" indent="0">
              <a:buNone/>
            </a:pPr>
            <a:r>
              <a:rPr lang="en-US" sz="2400" dirty="0"/>
              <a:t>        /* transform: scale(1.4, 1.2); */</a:t>
            </a:r>
          </a:p>
          <a:p>
            <a:pPr marL="502920" lvl="1" indent="0">
              <a:buNone/>
            </a:pPr>
            <a:r>
              <a:rPr lang="en-US" sz="2400" dirty="0"/>
              <a:t>        /* transform: skew(10deg, 5deg); */</a:t>
            </a:r>
          </a:p>
          <a:p>
            <a:pPr marL="0" indent="0">
              <a:buNone/>
            </a:pPr>
            <a:r>
              <a:rPr lang="en-US" sz="2400" dirty="0"/>
              <a:t>    }</a:t>
            </a:r>
          </a:p>
        </p:txBody>
      </p:sp>
    </p:spTree>
    <p:extLst>
      <p:ext uri="{BB962C8B-B14F-4D97-AF65-F5344CB8AC3E}">
        <p14:creationId xmlns:p14="http://schemas.microsoft.com/office/powerpoint/2010/main" val="129030532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  Transitions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44537" y="864107"/>
            <a:ext cx="7929154" cy="5549755"/>
          </a:xfrm>
        </p:spPr>
        <p:txBody>
          <a:bodyPr>
            <a:normAutofit/>
          </a:bodyPr>
          <a:lstStyle/>
          <a:p>
            <a:r>
              <a:rPr lang="en-US" sz="2400" dirty="0"/>
              <a:t>Transitions control the ease of transformation from one style to another when we hover over that element. </a:t>
            </a:r>
            <a:endParaRPr lang="en-US" sz="2400" dirty="0" smtClean="0"/>
          </a:p>
          <a:p>
            <a:r>
              <a:rPr lang="en-US" sz="2400" dirty="0" smtClean="0"/>
              <a:t>Basically</a:t>
            </a:r>
            <a:r>
              <a:rPr lang="en-US" sz="2400" dirty="0"/>
              <a:t>, you can control the time take for any transformation to occur</a:t>
            </a:r>
            <a:r>
              <a:rPr lang="en-US" sz="2400" dirty="0" smtClean="0"/>
              <a:t>.</a:t>
            </a:r>
          </a:p>
          <a:p>
            <a:pPr marL="0" indent="0">
              <a:buNone/>
            </a:pPr>
            <a:r>
              <a:rPr lang="en-US" sz="2400" b="1" dirty="0" smtClean="0"/>
              <a:t>Example:</a:t>
            </a:r>
          </a:p>
          <a:p>
            <a:pPr marL="0" indent="0">
              <a:buNone/>
            </a:pPr>
            <a:r>
              <a:rPr lang="en-US" sz="2400" b="1" dirty="0"/>
              <a:t>	</a:t>
            </a:r>
            <a:r>
              <a:rPr lang="en-US" sz="2200" b="1" dirty="0" smtClean="0"/>
              <a:t>div { transition: 3s; }</a:t>
            </a:r>
          </a:p>
          <a:p>
            <a:pPr marL="0" indent="0">
              <a:buNone/>
            </a:pPr>
            <a:r>
              <a:rPr lang="en-US" sz="2200" b="1" dirty="0"/>
              <a:t>	</a:t>
            </a:r>
            <a:r>
              <a:rPr lang="en-US" sz="2200" b="1" dirty="0" err="1" smtClean="0"/>
              <a:t>div:hover</a:t>
            </a:r>
            <a:r>
              <a:rPr lang="en-US" sz="2200" b="1" dirty="0" smtClean="0"/>
              <a:t>{</a:t>
            </a:r>
          </a:p>
          <a:p>
            <a:pPr marL="0" indent="0">
              <a:buNone/>
            </a:pPr>
            <a:r>
              <a:rPr lang="en-US" sz="2200" b="1" dirty="0"/>
              <a:t>	</a:t>
            </a:r>
            <a:r>
              <a:rPr lang="en-US" sz="2200" b="1" dirty="0" smtClean="0"/>
              <a:t>		width: 300px;</a:t>
            </a:r>
          </a:p>
          <a:p>
            <a:pPr marL="0" indent="0">
              <a:buNone/>
            </a:pPr>
            <a:r>
              <a:rPr lang="en-US" sz="2200" b="1" dirty="0"/>
              <a:t>	</a:t>
            </a:r>
            <a:r>
              <a:rPr lang="en-US" sz="2200" b="1" dirty="0" smtClean="0"/>
              <a:t>		height: 300px</a:t>
            </a:r>
          </a:p>
          <a:p>
            <a:pPr marL="0" indent="0">
              <a:buNone/>
            </a:pPr>
            <a:r>
              <a:rPr lang="en-US" sz="2200" b="1" dirty="0"/>
              <a:t>	</a:t>
            </a:r>
            <a:r>
              <a:rPr lang="en-US" sz="2200" b="1" dirty="0" smtClean="0"/>
              <a:t>		color: brown</a:t>
            </a:r>
          </a:p>
          <a:p>
            <a:pPr marL="0" indent="0">
              <a:buNone/>
            </a:pPr>
            <a:r>
              <a:rPr lang="en-US" sz="2200" b="1" dirty="0"/>
              <a:t>	</a:t>
            </a:r>
            <a:r>
              <a:rPr lang="en-US" sz="2200" b="1" dirty="0" smtClean="0"/>
              <a:t>	}</a:t>
            </a:r>
            <a:endParaRPr lang="en-US" sz="2200" b="1" dirty="0"/>
          </a:p>
        </p:txBody>
      </p:sp>
    </p:spTree>
    <p:extLst>
      <p:ext uri="{BB962C8B-B14F-4D97-AF65-F5344CB8AC3E}">
        <p14:creationId xmlns:p14="http://schemas.microsoft.com/office/powerpoint/2010/main" val="405753426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41DE4-428C-58C9-B41F-C14674BB8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are CSS Animations?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B29FF6-CCE7-C6EA-B7C2-256A9CB673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An animation lets an element gradually change from one style to another.</a:t>
            </a:r>
          </a:p>
          <a:p>
            <a:r>
              <a:rPr lang="en-US" sz="2400" dirty="0"/>
              <a:t>You can change as many CSS properties you want, as many times you want.</a:t>
            </a:r>
          </a:p>
          <a:p>
            <a:r>
              <a:rPr lang="en-US" sz="2400" dirty="0"/>
              <a:t>To use CSS animation, you must first specify some keyframes for the animation.</a:t>
            </a:r>
          </a:p>
          <a:p>
            <a:r>
              <a:rPr lang="en-US" sz="2400" dirty="0"/>
              <a:t>Keyframes hold what styles the element will have at certain times</a:t>
            </a:r>
          </a:p>
        </p:txBody>
      </p:sp>
    </p:spTree>
    <p:extLst>
      <p:ext uri="{BB962C8B-B14F-4D97-AF65-F5344CB8AC3E}">
        <p14:creationId xmlns:p14="http://schemas.microsoft.com/office/powerpoint/2010/main" val="1992517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D4EDF-ED1C-B23C-3CEF-A1B16E83B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CSS Animations: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E8C672-FEB9-B0E4-EE7E-2A873AF039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1833" y="926428"/>
            <a:ext cx="7587626" cy="5187068"/>
          </a:xfrm>
        </p:spPr>
        <p:txBody>
          <a:bodyPr>
            <a:noAutofit/>
          </a:bodyPr>
          <a:lstStyle/>
          <a:p>
            <a:r>
              <a:rPr lang="en-US" sz="2400" dirty="0"/>
              <a:t>When you specify CSS styles inside the </a:t>
            </a:r>
            <a:r>
              <a:rPr lang="en-US" sz="2400" b="1" dirty="0"/>
              <a:t>@keyframes </a:t>
            </a:r>
            <a:r>
              <a:rPr lang="en-US" sz="2400" dirty="0"/>
              <a:t>rule, the animation will gradually change from the current style to the new style at certain times.</a:t>
            </a:r>
          </a:p>
          <a:p>
            <a:r>
              <a:rPr lang="en-US" sz="2400" dirty="0"/>
              <a:t>To get an animation to work, you must bind the animation to an element </a:t>
            </a:r>
          </a:p>
          <a:p>
            <a:r>
              <a:rPr lang="en-US" sz="2400" dirty="0"/>
              <a:t>CSS allows animation of HTML elements without using JavaScript or Flash!</a:t>
            </a:r>
          </a:p>
          <a:p>
            <a:pPr marL="502920" lvl="1" indent="0">
              <a:buNone/>
            </a:pPr>
            <a:r>
              <a:rPr lang="en-US" sz="2400" b="1" dirty="0"/>
              <a:t>@keyframes</a:t>
            </a:r>
          </a:p>
          <a:p>
            <a:pPr lvl="1"/>
            <a:r>
              <a:rPr lang="en-US" sz="2400" dirty="0"/>
              <a:t>animation-name</a:t>
            </a:r>
          </a:p>
          <a:p>
            <a:pPr lvl="1"/>
            <a:r>
              <a:rPr lang="en-US" sz="2400" dirty="0"/>
              <a:t>animation-duration</a:t>
            </a:r>
          </a:p>
          <a:p>
            <a:pPr lvl="1"/>
            <a:r>
              <a:rPr lang="en-US" sz="2400" dirty="0"/>
              <a:t>animation-delay</a:t>
            </a:r>
          </a:p>
          <a:p>
            <a:pPr lvl="1"/>
            <a:r>
              <a:rPr lang="en-US" sz="2400" dirty="0"/>
              <a:t>animation-direction</a:t>
            </a:r>
          </a:p>
        </p:txBody>
      </p:sp>
    </p:spTree>
    <p:extLst>
      <p:ext uri="{BB962C8B-B14F-4D97-AF65-F5344CB8AC3E}">
        <p14:creationId xmlns:p14="http://schemas.microsoft.com/office/powerpoint/2010/main" val="940357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5C7CE-02DC-68A9-B966-B12DCF23C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@keyframes Rule: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0D7CFC-6DB6-F1B2-4AB8-539F453F0A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40667" y="658907"/>
            <a:ext cx="7748991" cy="576878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400" b="1" dirty="0"/>
              <a:t>Example:</a:t>
            </a:r>
          </a:p>
          <a:p>
            <a:pPr marL="0" indent="0">
              <a:buNone/>
            </a:pPr>
            <a:r>
              <a:rPr lang="en-US" sz="2400" dirty="0"/>
              <a:t>	div{</a:t>
            </a:r>
          </a:p>
          <a:p>
            <a:pPr marL="0" indent="0">
              <a:buNone/>
            </a:pPr>
            <a:r>
              <a:rPr lang="en-US" sz="2400" dirty="0"/>
              <a:t>		background-color: red;</a:t>
            </a:r>
          </a:p>
          <a:p>
            <a:pPr marL="0" indent="0">
              <a:buNone/>
            </a:pPr>
            <a:r>
              <a:rPr lang="en-US" sz="2400" dirty="0"/>
              <a:t>		width:50px; height: 50px;</a:t>
            </a:r>
          </a:p>
          <a:p>
            <a:pPr marL="0" indent="0">
              <a:buNone/>
            </a:pPr>
            <a:r>
              <a:rPr lang="en-US" sz="2400" dirty="0"/>
              <a:t>		 animation-name: ex;</a:t>
            </a:r>
          </a:p>
          <a:p>
            <a:pPr marL="0" indent="0">
              <a:buNone/>
            </a:pPr>
            <a:r>
              <a:rPr lang="en-US" sz="2400" dirty="0"/>
              <a:t>  		animation-duration: 4s; </a:t>
            </a:r>
          </a:p>
          <a:p>
            <a:pPr marL="0" indent="0">
              <a:buNone/>
            </a:pPr>
            <a:r>
              <a:rPr lang="en-US" sz="2400" dirty="0"/>
              <a:t>	 }</a:t>
            </a:r>
          </a:p>
          <a:p>
            <a:pPr marL="0" indent="0">
              <a:buNone/>
            </a:pPr>
            <a:r>
              <a:rPr lang="en-US" sz="2400" dirty="0"/>
              <a:t>	@keyframes ex {</a:t>
            </a:r>
          </a:p>
          <a:p>
            <a:pPr marL="0" indent="0">
              <a:buNone/>
            </a:pPr>
            <a:r>
              <a:rPr lang="en-US" sz="2400" dirty="0"/>
              <a:t> 		 from {background-color: red;}</a:t>
            </a:r>
          </a:p>
          <a:p>
            <a:pPr marL="0" indent="0">
              <a:buNone/>
            </a:pPr>
            <a:r>
              <a:rPr lang="en-US" sz="2400" dirty="0"/>
              <a:t>		  to {background-color: yellow;}     </a:t>
            </a:r>
          </a:p>
          <a:p>
            <a:pPr marL="0" indent="0">
              <a:buNone/>
            </a:pPr>
            <a:r>
              <a:rPr lang="en-US" sz="2400" dirty="0"/>
              <a:t>	}</a:t>
            </a:r>
          </a:p>
        </p:txBody>
      </p:sp>
    </p:spTree>
    <p:extLst>
      <p:ext uri="{BB962C8B-B14F-4D97-AF65-F5344CB8AC3E}">
        <p14:creationId xmlns:p14="http://schemas.microsoft.com/office/powerpoint/2010/main" val="17311682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8BCD6-E9CD-9ED1-F394-D6E3DBA7B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CSS Dropdowns: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0346D7-FCB5-C533-7051-27FBED8A3D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b="1" dirty="0"/>
              <a:t>Basic Dropdown:</a:t>
            </a:r>
          </a:p>
          <a:p>
            <a:r>
              <a:rPr lang="en-US" sz="2800" dirty="0"/>
              <a:t>Create a dropdown box that appears when the user moves the mouse over an element.</a:t>
            </a:r>
          </a:p>
          <a:p>
            <a:pPr marL="0" indent="0">
              <a:buNone/>
            </a:pPr>
            <a:r>
              <a:rPr lang="en-US" sz="2800" b="1" dirty="0"/>
              <a:t>Dropdown Menu:</a:t>
            </a:r>
          </a:p>
          <a:p>
            <a:r>
              <a:rPr lang="en-US" sz="2800" dirty="0"/>
              <a:t>Create a dropdown menu that allows the user to choose an option from a list.</a:t>
            </a:r>
          </a:p>
        </p:txBody>
      </p:sp>
    </p:spTree>
    <p:extLst>
      <p:ext uri="{BB962C8B-B14F-4D97-AF65-F5344CB8AC3E}">
        <p14:creationId xmlns:p14="http://schemas.microsoft.com/office/powerpoint/2010/main" val="937414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TM03457475[[fn=Frame]]</Template>
  <TotalTime>1517</TotalTime>
  <Words>3899</Words>
  <Application>Microsoft Office PowerPoint</Application>
  <PresentationFormat>Widescreen</PresentationFormat>
  <Paragraphs>492</Paragraphs>
  <Slides>56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59" baseType="lpstr">
      <vt:lpstr>Corbel</vt:lpstr>
      <vt:lpstr>Wingdings 2</vt:lpstr>
      <vt:lpstr>Frame</vt:lpstr>
      <vt:lpstr>CSS</vt:lpstr>
      <vt:lpstr>Introduction:</vt:lpstr>
      <vt:lpstr>     Syntax:</vt:lpstr>
      <vt:lpstr>Selectors:</vt:lpstr>
      <vt:lpstr>PowerPoint Presentation</vt:lpstr>
      <vt:lpstr>Inserting CSS:</vt:lpstr>
      <vt:lpstr>CSS Colors:</vt:lpstr>
      <vt:lpstr>RGB values:</vt:lpstr>
      <vt:lpstr>HEX Value:</vt:lpstr>
      <vt:lpstr>HSL Value:</vt:lpstr>
      <vt:lpstr>CSS Background:</vt:lpstr>
      <vt:lpstr>     Margin      Border      Padding</vt:lpstr>
      <vt:lpstr>CSS Margins:</vt:lpstr>
      <vt:lpstr>Margin:</vt:lpstr>
      <vt:lpstr>CSS Padding:</vt:lpstr>
      <vt:lpstr>Box-sizing:</vt:lpstr>
      <vt:lpstr>CSS Shadow Effects:</vt:lpstr>
      <vt:lpstr>Box Shadow:</vt:lpstr>
      <vt:lpstr>Multiple Shadows:</vt:lpstr>
      <vt:lpstr>CSS Text:</vt:lpstr>
      <vt:lpstr>CSS Text:</vt:lpstr>
      <vt:lpstr>Example:</vt:lpstr>
      <vt:lpstr>text-transform:</vt:lpstr>
      <vt:lpstr>Text Indentation and Spacing:</vt:lpstr>
      <vt:lpstr>Word Spacing:</vt:lpstr>
      <vt:lpstr>Line Height:</vt:lpstr>
      <vt:lpstr>CSS Font:</vt:lpstr>
      <vt:lpstr>Font Style:</vt:lpstr>
      <vt:lpstr>Font Size:</vt:lpstr>
      <vt:lpstr>Font Size:</vt:lpstr>
      <vt:lpstr>PowerPoint Presentation</vt:lpstr>
      <vt:lpstr>Font Weight:</vt:lpstr>
      <vt:lpstr>Font Variant:</vt:lpstr>
      <vt:lpstr>Advanced - Link Buttons:</vt:lpstr>
      <vt:lpstr>CSS Tables:</vt:lpstr>
      <vt:lpstr>Collapse Table Borders:</vt:lpstr>
      <vt:lpstr>Table Width and Height:</vt:lpstr>
      <vt:lpstr>CSS Outline:</vt:lpstr>
      <vt:lpstr>CSS Outline Style:</vt:lpstr>
      <vt:lpstr>CSS Outline Color:</vt:lpstr>
      <vt:lpstr>CSS Outline Width:</vt:lpstr>
      <vt:lpstr>CSS Layout</vt:lpstr>
      <vt:lpstr>  Flex Layout</vt:lpstr>
      <vt:lpstr>Flex Container Properties</vt:lpstr>
      <vt:lpstr>Example:</vt:lpstr>
      <vt:lpstr>Flex Items Properties</vt:lpstr>
      <vt:lpstr>Grid Layout:</vt:lpstr>
      <vt:lpstr>Example:</vt:lpstr>
      <vt:lpstr>2D Transform</vt:lpstr>
      <vt:lpstr>  Properties:</vt:lpstr>
      <vt:lpstr>   Example</vt:lpstr>
      <vt:lpstr>  Transitions</vt:lpstr>
      <vt:lpstr>What are CSS Animations?</vt:lpstr>
      <vt:lpstr>CSS Animations:</vt:lpstr>
      <vt:lpstr>@keyframes Rule:</vt:lpstr>
      <vt:lpstr>CSS Dropdowns: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CSS</dc:title>
  <dc:creator>Roshni S</dc:creator>
  <cp:lastModifiedBy>Admin</cp:lastModifiedBy>
  <cp:revision>191</cp:revision>
  <dcterms:created xsi:type="dcterms:W3CDTF">2023-02-24T06:14:31Z</dcterms:created>
  <dcterms:modified xsi:type="dcterms:W3CDTF">2025-04-18T05:42:33Z</dcterms:modified>
</cp:coreProperties>
</file>