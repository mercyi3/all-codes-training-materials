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99" r:id="rId12"/>
    <p:sldId id="266" r:id="rId13"/>
    <p:sldId id="268" r:id="rId14"/>
    <p:sldId id="267" r:id="rId15"/>
    <p:sldId id="269" r:id="rId16"/>
    <p:sldId id="271" r:id="rId17"/>
    <p:sldId id="272" r:id="rId18"/>
    <p:sldId id="273" r:id="rId19"/>
    <p:sldId id="274" r:id="rId20"/>
    <p:sldId id="300" r:id="rId21"/>
    <p:sldId id="275" r:id="rId22"/>
    <p:sldId id="276" r:id="rId23"/>
    <p:sldId id="277" r:id="rId24"/>
    <p:sldId id="278" r:id="rId25"/>
    <p:sldId id="279" r:id="rId26"/>
    <p:sldId id="281" r:id="rId27"/>
    <p:sldId id="286" r:id="rId28"/>
    <p:sldId id="287" r:id="rId29"/>
    <p:sldId id="290" r:id="rId30"/>
    <p:sldId id="289" r:id="rId31"/>
    <p:sldId id="292" r:id="rId32"/>
    <p:sldId id="295" r:id="rId33"/>
    <p:sldId id="296" r:id="rId34"/>
    <p:sldId id="297" r:id="rId35"/>
    <p:sldId id="298" r:id="rId36"/>
    <p:sldId id="293" r:id="rId37"/>
    <p:sldId id="294" r:id="rId38"/>
    <p:sldId id="270" r:id="rId39"/>
    <p:sldId id="282" r:id="rId40"/>
    <p:sldId id="283" r:id="rId41"/>
    <p:sldId id="280" r:id="rId42"/>
    <p:sldId id="284" r:id="rId43"/>
    <p:sldId id="285"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rIns="45720"/>
          <a:lstStyle/>
          <a:p>
            <a:fld id="{92A1FFED-5227-4E3B-8372-F3007F5AA79D}" type="slidenum">
              <a:rPr lang="en-IN" smtClean="0"/>
              <a:t>‹#›</a:t>
            </a:fld>
            <a:endParaRPr lang="en-IN"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605317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2A1FFED-5227-4E3B-8372-F3007F5AA79D}" type="slidenum">
              <a:rPr lang="en-IN" smtClean="0"/>
              <a:t>‹#›</a:t>
            </a:fld>
            <a:endParaRPr lang="en-IN"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860000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333065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2A1FFED-5227-4E3B-8372-F3007F5AA79D}" type="slidenum">
              <a:rPr lang="en-IN" smtClean="0"/>
              <a:t>‹#›</a:t>
            </a:fld>
            <a:endParaRPr lang="en-IN"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943063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390353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2A1FFED-5227-4E3B-8372-F3007F5AA79D}" type="slidenum">
              <a:rPr lang="en-IN" smtClean="0"/>
              <a:t>‹#›</a:t>
            </a:fld>
            <a:endParaRPr lang="en-IN"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697727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1053184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45931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2275979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807937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7749B-E7BA-4B39-A1C1-179ACCE7F529}" type="datetimeFigureOut">
              <a:rPr lang="en-IN" smtClean="0"/>
              <a:t>19-03-2024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2A1FFED-5227-4E3B-8372-F3007F5AA79D}" type="slidenum">
              <a:rPr lang="en-IN" smtClean="0"/>
              <a:t>‹#›</a:t>
            </a:fld>
            <a:endParaRPr lang="en-IN" dirty="0"/>
          </a:p>
        </p:txBody>
      </p:sp>
    </p:spTree>
    <p:extLst>
      <p:ext uri="{BB962C8B-B14F-4D97-AF65-F5344CB8AC3E}">
        <p14:creationId xmlns:p14="http://schemas.microsoft.com/office/powerpoint/2010/main" val="2443952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FC97749B-E7BA-4B39-A1C1-179ACCE7F529}" type="datetimeFigureOut">
              <a:rPr lang="en-IN" smtClean="0"/>
              <a:t>19-03-2024</a:t>
            </a:fld>
            <a:endParaRPr lang="en-IN"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92A1FFED-5227-4E3B-8372-F3007F5AA79D}" type="slidenum">
              <a:rPr lang="en-IN" smtClean="0"/>
              <a:t>‹#›</a:t>
            </a:fld>
            <a:endParaRPr lang="en-IN"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5786206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1FBAB-EFED-BBFA-8654-7E424DB6E024}"/>
              </a:ext>
            </a:extLst>
          </p:cNvPr>
          <p:cNvSpPr>
            <a:spLocks noGrp="1"/>
          </p:cNvSpPr>
          <p:nvPr>
            <p:ph type="ctrTitle"/>
          </p:nvPr>
        </p:nvSpPr>
        <p:spPr>
          <a:xfrm>
            <a:off x="2611808" y="3160057"/>
            <a:ext cx="5518066" cy="2268559"/>
          </a:xfrm>
        </p:spPr>
        <p:txBody>
          <a:bodyPr/>
          <a:lstStyle/>
          <a:p>
            <a:r>
              <a:rPr lang="en-IN" b="1" dirty="0"/>
              <a:t>Spring</a:t>
            </a:r>
          </a:p>
        </p:txBody>
      </p:sp>
    </p:spTree>
    <p:extLst>
      <p:ext uri="{BB962C8B-B14F-4D97-AF65-F5344CB8AC3E}">
        <p14:creationId xmlns:p14="http://schemas.microsoft.com/office/powerpoint/2010/main" val="1172344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AA4A-88D3-D0B1-C888-A9AEFCA74688}"/>
              </a:ext>
            </a:extLst>
          </p:cNvPr>
          <p:cNvSpPr>
            <a:spLocks noGrp="1"/>
          </p:cNvSpPr>
          <p:nvPr>
            <p:ph type="title"/>
          </p:nvPr>
        </p:nvSpPr>
        <p:spPr>
          <a:xfrm>
            <a:off x="2611808" y="808056"/>
            <a:ext cx="5402639" cy="1077229"/>
          </a:xfrm>
        </p:spPr>
        <p:txBody>
          <a:bodyPr>
            <a:normAutofit/>
          </a:bodyPr>
          <a:lstStyle/>
          <a:p>
            <a:r>
              <a:rPr lang="en-IN" sz="4000" b="1" dirty="0"/>
              <a:t>Introduction :</a:t>
            </a:r>
          </a:p>
        </p:txBody>
      </p:sp>
      <p:sp>
        <p:nvSpPr>
          <p:cNvPr id="3" name="Content Placeholder 2">
            <a:extLst>
              <a:ext uri="{FF2B5EF4-FFF2-40B4-BE49-F238E27FC236}">
                <a16:creationId xmlns:a16="http://schemas.microsoft.com/office/drawing/2014/main" id="{0D77D6C5-F306-4C11-6C54-CDEA9BF883E9}"/>
              </a:ext>
            </a:extLst>
          </p:cNvPr>
          <p:cNvSpPr>
            <a:spLocks noGrp="1"/>
          </p:cNvSpPr>
          <p:nvPr>
            <p:ph idx="1"/>
          </p:nvPr>
        </p:nvSpPr>
        <p:spPr>
          <a:xfrm>
            <a:off x="1751621" y="1416638"/>
            <a:ext cx="9194285" cy="5185867"/>
          </a:xfrm>
        </p:spPr>
        <p:txBody>
          <a:bodyPr>
            <a:normAutofit/>
          </a:bodyPr>
          <a:lstStyle/>
          <a:p>
            <a:r>
              <a:rPr lang="en-US" dirty="0"/>
              <a:t>Spring framework was initially written by </a:t>
            </a:r>
            <a:r>
              <a:rPr lang="en-US" b="1" dirty="0"/>
              <a:t>Rod Johnson </a:t>
            </a:r>
            <a:r>
              <a:rPr lang="en-US" dirty="0"/>
              <a:t>and was first released under the </a:t>
            </a:r>
            <a:r>
              <a:rPr lang="en-US" b="1" dirty="0"/>
              <a:t>Apache 2.0 license </a:t>
            </a:r>
            <a:r>
              <a:rPr lang="en-US" dirty="0"/>
              <a:t>in </a:t>
            </a:r>
            <a:r>
              <a:rPr lang="en-US" b="1" dirty="0"/>
              <a:t>June 2003</a:t>
            </a:r>
            <a:r>
              <a:rPr lang="en-US" dirty="0"/>
              <a:t>. </a:t>
            </a:r>
          </a:p>
          <a:p>
            <a:r>
              <a:rPr lang="en-US" dirty="0"/>
              <a:t>Spring framework is an </a:t>
            </a:r>
            <a:r>
              <a:rPr lang="en-US" b="1" dirty="0"/>
              <a:t>open source Java platform </a:t>
            </a:r>
            <a:r>
              <a:rPr lang="en-US" dirty="0"/>
              <a:t>that provides comprehensive infrastructure support for </a:t>
            </a:r>
            <a:r>
              <a:rPr lang="en-US" b="1" dirty="0"/>
              <a:t>developing robust Java applications very easily and very rapidly</a:t>
            </a:r>
            <a:r>
              <a:rPr lang="en-US" dirty="0"/>
              <a:t>.</a:t>
            </a:r>
          </a:p>
          <a:p>
            <a:r>
              <a:rPr lang="en-US" dirty="0"/>
              <a:t>It can be thought of as a </a:t>
            </a:r>
            <a:r>
              <a:rPr lang="en-US" b="1" dirty="0"/>
              <a:t>framework of frameworks </a:t>
            </a:r>
            <a:r>
              <a:rPr lang="en-US" dirty="0"/>
              <a:t>because it provides support to various frameworks such as Hibernate, Tapestry, EJB, JSF, etc. </a:t>
            </a:r>
          </a:p>
          <a:p>
            <a:r>
              <a:rPr lang="en-US" dirty="0"/>
              <a:t>The framework, in broader sense, can be defined as a structure where we find solution of the various technical problems.</a:t>
            </a:r>
          </a:p>
        </p:txBody>
      </p:sp>
    </p:spTree>
    <p:extLst>
      <p:ext uri="{BB962C8B-B14F-4D97-AF65-F5344CB8AC3E}">
        <p14:creationId xmlns:p14="http://schemas.microsoft.com/office/powerpoint/2010/main" val="911415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694AA-220D-88A8-C8FC-EBE5AACA868D}"/>
              </a:ext>
            </a:extLst>
          </p:cNvPr>
          <p:cNvSpPr>
            <a:spLocks noGrp="1"/>
          </p:cNvSpPr>
          <p:nvPr>
            <p:ph type="title"/>
          </p:nvPr>
        </p:nvSpPr>
        <p:spPr>
          <a:xfrm>
            <a:off x="2419768" y="808056"/>
            <a:ext cx="7352463" cy="819038"/>
          </a:xfrm>
        </p:spPr>
        <p:txBody>
          <a:bodyPr/>
          <a:lstStyle/>
          <a:p>
            <a:r>
              <a:rPr lang="en-US" b="1" dirty="0"/>
              <a:t>Advantages of Spring Framework </a:t>
            </a:r>
            <a:endParaRPr lang="en-IN" b="1" dirty="0"/>
          </a:p>
        </p:txBody>
      </p:sp>
      <p:sp>
        <p:nvSpPr>
          <p:cNvPr id="3" name="Content Placeholder 2">
            <a:extLst>
              <a:ext uri="{FF2B5EF4-FFF2-40B4-BE49-F238E27FC236}">
                <a16:creationId xmlns:a16="http://schemas.microsoft.com/office/drawing/2014/main" id="{D68AF4CD-A5D0-AB94-6156-A879AD977114}"/>
              </a:ext>
            </a:extLst>
          </p:cNvPr>
          <p:cNvSpPr>
            <a:spLocks noGrp="1"/>
          </p:cNvSpPr>
          <p:nvPr>
            <p:ph idx="1"/>
          </p:nvPr>
        </p:nvSpPr>
        <p:spPr>
          <a:xfrm>
            <a:off x="1832905" y="1519517"/>
            <a:ext cx="8526187" cy="4773706"/>
          </a:xfrm>
        </p:spPr>
        <p:txBody>
          <a:bodyPr>
            <a:normAutofit fontScale="85000" lnSpcReduction="20000"/>
          </a:bodyPr>
          <a:lstStyle/>
          <a:p>
            <a:r>
              <a:rPr lang="en-US" sz="2400" dirty="0"/>
              <a:t>Predefined Templates</a:t>
            </a:r>
          </a:p>
          <a:p>
            <a:r>
              <a:rPr lang="en-US" sz="2400" dirty="0"/>
              <a:t>Loose Coupling because of dependency injection</a:t>
            </a:r>
          </a:p>
          <a:p>
            <a:r>
              <a:rPr lang="en-US" sz="2400" dirty="0"/>
              <a:t>Easy to test</a:t>
            </a:r>
          </a:p>
          <a:p>
            <a:r>
              <a:rPr lang="en-US" sz="2400" dirty="0"/>
              <a:t>Fast Development</a:t>
            </a:r>
          </a:p>
          <a:p>
            <a:r>
              <a:rPr lang="en-US" sz="2400" dirty="0"/>
              <a:t>Works on POJOs (Plain Old Java Object) which makes your application lightweight.</a:t>
            </a:r>
          </a:p>
          <a:p>
            <a:r>
              <a:rPr lang="en-US" sz="2400" dirty="0"/>
              <a:t>Inversion Of Control ( IoC ) Containers.</a:t>
            </a:r>
          </a:p>
          <a:p>
            <a:r>
              <a:rPr lang="en-US" sz="2400" dirty="0"/>
              <a:t>In that sense Spring also has an impact on frontend.</a:t>
            </a:r>
          </a:p>
          <a:p>
            <a:r>
              <a:rPr lang="en-US" sz="2400" b="1" dirty="0"/>
              <a:t>Note:</a:t>
            </a:r>
            <a:r>
              <a:rPr lang="en-US" sz="2400" dirty="0"/>
              <a:t> it is not a "frontend framework" as such, it is a </a:t>
            </a:r>
            <a:r>
              <a:rPr lang="en-US" sz="2400" b="1" dirty="0"/>
              <a:t>java framework for backend</a:t>
            </a:r>
            <a:r>
              <a:rPr lang="en-US" sz="2400" dirty="0"/>
              <a:t>.</a:t>
            </a:r>
            <a:endParaRPr lang="en-IN" sz="2400" dirty="0"/>
          </a:p>
        </p:txBody>
      </p:sp>
    </p:spTree>
    <p:extLst>
      <p:ext uri="{BB962C8B-B14F-4D97-AF65-F5344CB8AC3E}">
        <p14:creationId xmlns:p14="http://schemas.microsoft.com/office/powerpoint/2010/main" val="3685733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D9B1B-88FD-5FCA-1484-0514EB5E3FCF}"/>
              </a:ext>
            </a:extLst>
          </p:cNvPr>
          <p:cNvSpPr>
            <a:spLocks noGrp="1"/>
          </p:cNvSpPr>
          <p:nvPr>
            <p:ph type="title"/>
          </p:nvPr>
        </p:nvSpPr>
        <p:spPr>
          <a:xfrm>
            <a:off x="2480280" y="915635"/>
            <a:ext cx="7231439" cy="724906"/>
          </a:xfrm>
        </p:spPr>
        <p:txBody>
          <a:bodyPr/>
          <a:lstStyle/>
          <a:p>
            <a:r>
              <a:rPr lang="en-IN" b="1" dirty="0"/>
              <a:t>Features Of Spring Framework </a:t>
            </a:r>
          </a:p>
        </p:txBody>
      </p:sp>
      <p:sp>
        <p:nvSpPr>
          <p:cNvPr id="3" name="Content Placeholder 2">
            <a:extLst>
              <a:ext uri="{FF2B5EF4-FFF2-40B4-BE49-F238E27FC236}">
                <a16:creationId xmlns:a16="http://schemas.microsoft.com/office/drawing/2014/main" id="{2AB52FBB-84D3-6255-2E97-56E74D804185}"/>
              </a:ext>
            </a:extLst>
          </p:cNvPr>
          <p:cNvSpPr>
            <a:spLocks noGrp="1"/>
          </p:cNvSpPr>
          <p:nvPr>
            <p:ph idx="1"/>
          </p:nvPr>
        </p:nvSpPr>
        <p:spPr>
          <a:xfrm>
            <a:off x="1815352" y="1465732"/>
            <a:ext cx="8943045" cy="4745576"/>
          </a:xfrm>
        </p:spPr>
        <p:txBody>
          <a:bodyPr>
            <a:normAutofit lnSpcReduction="10000"/>
          </a:bodyPr>
          <a:lstStyle/>
          <a:p>
            <a:r>
              <a:rPr lang="en-US" sz="2400" b="1" dirty="0"/>
              <a:t>Container: </a:t>
            </a:r>
          </a:p>
          <a:p>
            <a:pPr lvl="1"/>
            <a:r>
              <a:rPr lang="en-US" sz="2000" dirty="0"/>
              <a:t>Spring Framework creates and manages the life cycle and configuration of application objects.</a:t>
            </a:r>
          </a:p>
          <a:p>
            <a:r>
              <a:rPr lang="en-US" sz="2400" b="1" dirty="0"/>
              <a:t>MVC Framework: </a:t>
            </a:r>
          </a:p>
          <a:p>
            <a:pPr lvl="1"/>
            <a:r>
              <a:rPr lang="en-US" sz="2000" dirty="0"/>
              <a:t>Spring Framework is an </a:t>
            </a:r>
            <a:r>
              <a:rPr lang="en-US" sz="2000" b="1" dirty="0"/>
              <a:t>MVC web application framework</a:t>
            </a:r>
            <a:r>
              <a:rPr lang="en-US" sz="2000" dirty="0"/>
              <a:t>. </a:t>
            </a:r>
          </a:p>
          <a:p>
            <a:pPr lvl="1"/>
            <a:r>
              <a:rPr lang="en-US" sz="2000" dirty="0"/>
              <a:t>This framework is configurable via interfaces and accommodates </a:t>
            </a:r>
            <a:r>
              <a:rPr lang="en-US" sz="2000" b="1" dirty="0"/>
              <a:t>multiple view technologies</a:t>
            </a:r>
            <a:r>
              <a:rPr lang="en-US" sz="2000" dirty="0"/>
              <a:t>.</a:t>
            </a:r>
          </a:p>
          <a:p>
            <a:r>
              <a:rPr lang="en-US" sz="2400" b="1" dirty="0"/>
              <a:t>JDBC Exception Handling: </a:t>
            </a:r>
          </a:p>
          <a:p>
            <a:pPr lvl="1"/>
            <a:r>
              <a:rPr lang="en-US" sz="2000" dirty="0"/>
              <a:t>The JDBC abstraction layer of the Spring Framework offers an exception hierarchy, which </a:t>
            </a:r>
            <a:r>
              <a:rPr lang="en-US" sz="2000" b="1" dirty="0"/>
              <a:t>simplifies the error handling strategy</a:t>
            </a:r>
            <a:r>
              <a:rPr lang="en-US" sz="2000" dirty="0"/>
              <a:t>.</a:t>
            </a:r>
            <a:endParaRPr lang="en-IN" sz="2000" dirty="0"/>
          </a:p>
        </p:txBody>
      </p:sp>
    </p:spTree>
    <p:extLst>
      <p:ext uri="{BB962C8B-B14F-4D97-AF65-F5344CB8AC3E}">
        <p14:creationId xmlns:p14="http://schemas.microsoft.com/office/powerpoint/2010/main" val="1158703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96CE9-F0FE-03A1-372C-ED82BBEC0B68}"/>
              </a:ext>
            </a:extLst>
          </p:cNvPr>
          <p:cNvSpPr>
            <a:spLocks noGrp="1"/>
          </p:cNvSpPr>
          <p:nvPr>
            <p:ph type="title"/>
          </p:nvPr>
        </p:nvSpPr>
        <p:spPr>
          <a:xfrm>
            <a:off x="1855695" y="942527"/>
            <a:ext cx="5846392" cy="886273"/>
          </a:xfrm>
        </p:spPr>
        <p:txBody>
          <a:bodyPr/>
          <a:lstStyle/>
          <a:p>
            <a:r>
              <a:rPr lang="en-IN" b="1" dirty="0"/>
              <a:t>IoC Containers </a:t>
            </a:r>
          </a:p>
        </p:txBody>
      </p:sp>
      <p:sp>
        <p:nvSpPr>
          <p:cNvPr id="3" name="Content Placeholder 2">
            <a:extLst>
              <a:ext uri="{FF2B5EF4-FFF2-40B4-BE49-F238E27FC236}">
                <a16:creationId xmlns:a16="http://schemas.microsoft.com/office/drawing/2014/main" id="{266B4486-CFAD-8DF3-E77D-68B1D6D9ED02}"/>
              </a:ext>
            </a:extLst>
          </p:cNvPr>
          <p:cNvSpPr>
            <a:spLocks noGrp="1"/>
          </p:cNvSpPr>
          <p:nvPr>
            <p:ph idx="1"/>
          </p:nvPr>
        </p:nvSpPr>
        <p:spPr>
          <a:xfrm>
            <a:off x="1855695" y="1385663"/>
            <a:ext cx="8781680" cy="4611109"/>
          </a:xfrm>
        </p:spPr>
        <p:txBody>
          <a:bodyPr>
            <a:normAutofit fontScale="92500"/>
          </a:bodyPr>
          <a:lstStyle/>
          <a:p>
            <a:r>
              <a:rPr lang="en-US" sz="2400" dirty="0"/>
              <a:t>The Spring container is at the </a:t>
            </a:r>
            <a:r>
              <a:rPr lang="en-US" sz="2400" b="1" dirty="0"/>
              <a:t>core of the Spring Framework</a:t>
            </a:r>
            <a:r>
              <a:rPr lang="en-US" sz="2400" dirty="0"/>
              <a:t>. </a:t>
            </a:r>
          </a:p>
          <a:p>
            <a:r>
              <a:rPr lang="en-US" sz="2400" dirty="0"/>
              <a:t>The container will create the objects, wire them together, configure them, and </a:t>
            </a:r>
            <a:r>
              <a:rPr lang="en-US" sz="2400" b="1" dirty="0"/>
              <a:t>manage their complete life cycle </a:t>
            </a:r>
            <a:r>
              <a:rPr lang="en-US" sz="2400" dirty="0"/>
              <a:t>from creation till destruction. </a:t>
            </a:r>
          </a:p>
          <a:p>
            <a:r>
              <a:rPr lang="en-US" sz="2400" dirty="0"/>
              <a:t>The Spring container </a:t>
            </a:r>
            <a:r>
              <a:rPr lang="en-US" sz="2400" b="1" dirty="0"/>
              <a:t>uses DI </a:t>
            </a:r>
            <a:r>
              <a:rPr lang="en-US" sz="2400" dirty="0"/>
              <a:t>to manage the components that make up an application. These </a:t>
            </a:r>
            <a:r>
              <a:rPr lang="en-US" sz="2400" b="1" dirty="0"/>
              <a:t>objects are called Spring Beans</a:t>
            </a:r>
            <a:r>
              <a:rPr lang="en-US" sz="2400" dirty="0"/>
              <a:t>.</a:t>
            </a:r>
          </a:p>
          <a:p>
            <a:r>
              <a:rPr lang="en-US" sz="2400" dirty="0"/>
              <a:t>The Spring IoC container makes use of </a:t>
            </a:r>
            <a:r>
              <a:rPr lang="en-US" sz="2400" b="1" dirty="0"/>
              <a:t>Java POJO classes </a:t>
            </a:r>
            <a:r>
              <a:rPr lang="en-US" sz="2400" dirty="0"/>
              <a:t>and configuration metadata to produce a fully configured and executable system or application.</a:t>
            </a:r>
            <a:endParaRPr lang="en-IN" sz="2400" dirty="0"/>
          </a:p>
        </p:txBody>
      </p:sp>
    </p:spTree>
    <p:extLst>
      <p:ext uri="{BB962C8B-B14F-4D97-AF65-F5344CB8AC3E}">
        <p14:creationId xmlns:p14="http://schemas.microsoft.com/office/powerpoint/2010/main" val="167337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599A3-C576-D3FD-4022-2B6DED34F0D8}"/>
              </a:ext>
            </a:extLst>
          </p:cNvPr>
          <p:cNvSpPr>
            <a:spLocks noGrp="1"/>
          </p:cNvSpPr>
          <p:nvPr>
            <p:ph idx="1"/>
          </p:nvPr>
        </p:nvSpPr>
        <p:spPr>
          <a:xfrm>
            <a:off x="2612232" y="489721"/>
            <a:ext cx="7796540" cy="1242413"/>
          </a:xfrm>
        </p:spPr>
        <p:txBody>
          <a:bodyPr>
            <a:normAutofit/>
          </a:bodyPr>
          <a:lstStyle/>
          <a:p>
            <a:pPr marL="0" indent="0">
              <a:buNone/>
            </a:pPr>
            <a:r>
              <a:rPr lang="en-US" sz="2400" dirty="0"/>
              <a:t>The following diagram represents a high-level view of how Spring works.</a:t>
            </a:r>
            <a:endParaRPr lang="en-IN" sz="2400" dirty="0"/>
          </a:p>
        </p:txBody>
      </p:sp>
      <p:pic>
        <p:nvPicPr>
          <p:cNvPr id="1028" name="Picture 4" descr="Spring IoC Container">
            <a:extLst>
              <a:ext uri="{FF2B5EF4-FFF2-40B4-BE49-F238E27FC236}">
                <a16:creationId xmlns:a16="http://schemas.microsoft.com/office/drawing/2014/main" id="{21665F99-5804-3D68-85BD-F179B0570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0252" y="1855694"/>
            <a:ext cx="5924633" cy="4647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298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48ECC-4A14-1C2D-7582-418F6D2E515A}"/>
              </a:ext>
            </a:extLst>
          </p:cNvPr>
          <p:cNvSpPr>
            <a:spLocks noGrp="1"/>
          </p:cNvSpPr>
          <p:nvPr>
            <p:ph idx="1"/>
          </p:nvPr>
        </p:nvSpPr>
        <p:spPr>
          <a:xfrm>
            <a:off x="1304365" y="208429"/>
            <a:ext cx="9309847" cy="6441142"/>
          </a:xfrm>
        </p:spPr>
        <p:txBody>
          <a:bodyPr>
            <a:normAutofit/>
          </a:bodyPr>
          <a:lstStyle/>
          <a:p>
            <a:pPr marL="0" indent="0">
              <a:buNone/>
            </a:pPr>
            <a:r>
              <a:rPr lang="en-US" sz="2400" b="1" dirty="0"/>
              <a:t>Spring BeanFactory Container :</a:t>
            </a:r>
          </a:p>
          <a:p>
            <a:r>
              <a:rPr lang="en-US" dirty="0"/>
              <a:t>This is the simplest container providing the basic support for DI and is defined by the </a:t>
            </a:r>
            <a:r>
              <a:rPr lang="en-US" b="1" dirty="0"/>
              <a:t>org.springframework.beans.factory.BeanFactory interface.</a:t>
            </a:r>
          </a:p>
          <a:p>
            <a:r>
              <a:rPr lang="en-US" dirty="0"/>
              <a:t>The BeanFactory and related interfaces, such as BeanFactoryAware, InitializingBean, DisposableBean, are still present in Spring for the purpose of backward compatibility with a large number of third-party frameworks that integrate with Spring.</a:t>
            </a:r>
          </a:p>
          <a:p>
            <a:pPr marL="0" indent="0">
              <a:buNone/>
            </a:pPr>
            <a:r>
              <a:rPr lang="en-US" sz="2400" b="1" dirty="0"/>
              <a:t>Spring ApplicationContext Container :</a:t>
            </a:r>
          </a:p>
          <a:p>
            <a:r>
              <a:rPr lang="en-US" dirty="0"/>
              <a:t>This container adds more enterprise-specific functionality such as the ability to resolve textual messages from a properties file and the ability to publish application events to interested event listeners. </a:t>
            </a:r>
          </a:p>
          <a:p>
            <a:r>
              <a:rPr lang="en-US" dirty="0"/>
              <a:t>This container is defined by the </a:t>
            </a:r>
            <a:r>
              <a:rPr lang="en-US" b="1" dirty="0"/>
              <a:t>org.springframework.context.ApplicationContext interface</a:t>
            </a:r>
            <a:r>
              <a:rPr lang="en-US" dirty="0"/>
              <a:t>.</a:t>
            </a:r>
            <a:endParaRPr lang="en-IN" dirty="0"/>
          </a:p>
        </p:txBody>
      </p:sp>
    </p:spTree>
    <p:extLst>
      <p:ext uri="{BB962C8B-B14F-4D97-AF65-F5344CB8AC3E}">
        <p14:creationId xmlns:p14="http://schemas.microsoft.com/office/powerpoint/2010/main" val="260386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42EB-900C-6CB0-F15B-FC985AA0F643}"/>
              </a:ext>
            </a:extLst>
          </p:cNvPr>
          <p:cNvSpPr>
            <a:spLocks noGrp="1"/>
          </p:cNvSpPr>
          <p:nvPr>
            <p:ph type="title"/>
          </p:nvPr>
        </p:nvSpPr>
        <p:spPr>
          <a:xfrm>
            <a:off x="2275632" y="834951"/>
            <a:ext cx="5564004" cy="630779"/>
          </a:xfrm>
        </p:spPr>
        <p:txBody>
          <a:bodyPr/>
          <a:lstStyle/>
          <a:p>
            <a:r>
              <a:rPr lang="en-IN" b="1" dirty="0"/>
              <a:t>BEAN Definition </a:t>
            </a:r>
          </a:p>
        </p:txBody>
      </p:sp>
      <p:sp>
        <p:nvSpPr>
          <p:cNvPr id="3" name="Content Placeholder 2">
            <a:extLst>
              <a:ext uri="{FF2B5EF4-FFF2-40B4-BE49-F238E27FC236}">
                <a16:creationId xmlns:a16="http://schemas.microsoft.com/office/drawing/2014/main" id="{A8675A4D-8E58-74D5-DAF9-2BAF2896AB56}"/>
              </a:ext>
            </a:extLst>
          </p:cNvPr>
          <p:cNvSpPr>
            <a:spLocks noGrp="1"/>
          </p:cNvSpPr>
          <p:nvPr>
            <p:ph idx="1"/>
          </p:nvPr>
        </p:nvSpPr>
        <p:spPr>
          <a:xfrm>
            <a:off x="1896035" y="1465730"/>
            <a:ext cx="8660657" cy="4935070"/>
          </a:xfrm>
        </p:spPr>
        <p:txBody>
          <a:bodyPr>
            <a:normAutofit fontScale="92500" lnSpcReduction="20000"/>
          </a:bodyPr>
          <a:lstStyle/>
          <a:p>
            <a:r>
              <a:rPr lang="en-US" sz="2400" dirty="0"/>
              <a:t>The </a:t>
            </a:r>
            <a:r>
              <a:rPr lang="en-US" sz="2400" b="1" dirty="0"/>
              <a:t>objects that form the backbone of your applic</a:t>
            </a:r>
            <a:r>
              <a:rPr lang="en-US" sz="2400" dirty="0"/>
              <a:t>ation and that are managed by the Spring IoC container are called beans.</a:t>
            </a:r>
          </a:p>
          <a:p>
            <a:r>
              <a:rPr lang="en-US" sz="2400" dirty="0"/>
              <a:t>These beans are </a:t>
            </a:r>
            <a:r>
              <a:rPr lang="en-US" sz="2400" b="1" dirty="0"/>
              <a:t>created with the configuration metadata </a:t>
            </a:r>
            <a:r>
              <a:rPr lang="en-US" sz="2400" dirty="0"/>
              <a:t>that you supply to the container. For example, in the form of XML &lt;bean/&gt;.</a:t>
            </a:r>
          </a:p>
          <a:p>
            <a:r>
              <a:rPr lang="en-US" sz="2400" dirty="0"/>
              <a:t>Bean definition contains the information called configuration metadata, which is needed for the container to know the following...</a:t>
            </a:r>
          </a:p>
          <a:p>
            <a:pPr lvl="3"/>
            <a:r>
              <a:rPr lang="en-US" sz="2400" dirty="0"/>
              <a:t>How to create a bean</a:t>
            </a:r>
          </a:p>
          <a:p>
            <a:pPr lvl="3"/>
            <a:r>
              <a:rPr lang="en-US" sz="2400" dirty="0"/>
              <a:t>Bean's lifecycle details</a:t>
            </a:r>
          </a:p>
          <a:p>
            <a:pPr lvl="3"/>
            <a:r>
              <a:rPr lang="en-US" sz="2400" dirty="0"/>
              <a:t>Bean's dependencies</a:t>
            </a:r>
            <a:endParaRPr lang="en-IN" sz="2400" dirty="0"/>
          </a:p>
        </p:txBody>
      </p:sp>
    </p:spTree>
    <p:extLst>
      <p:ext uri="{BB962C8B-B14F-4D97-AF65-F5344CB8AC3E}">
        <p14:creationId xmlns:p14="http://schemas.microsoft.com/office/powerpoint/2010/main" val="62424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89CE6-8D2C-ABAF-3A39-92C4104D464C}"/>
              </a:ext>
            </a:extLst>
          </p:cNvPr>
          <p:cNvSpPr>
            <a:spLocks noGrp="1"/>
          </p:cNvSpPr>
          <p:nvPr>
            <p:ph type="title"/>
          </p:nvPr>
        </p:nvSpPr>
        <p:spPr>
          <a:xfrm>
            <a:off x="2383209" y="982867"/>
            <a:ext cx="6908710" cy="831252"/>
          </a:xfrm>
        </p:spPr>
        <p:txBody>
          <a:bodyPr/>
          <a:lstStyle/>
          <a:p>
            <a:r>
              <a:rPr lang="en-IN" b="1" dirty="0"/>
              <a:t>Spring Configuration Metadata</a:t>
            </a:r>
          </a:p>
        </p:txBody>
      </p:sp>
      <p:sp>
        <p:nvSpPr>
          <p:cNvPr id="3" name="Content Placeholder 2">
            <a:extLst>
              <a:ext uri="{FF2B5EF4-FFF2-40B4-BE49-F238E27FC236}">
                <a16:creationId xmlns:a16="http://schemas.microsoft.com/office/drawing/2014/main" id="{89696412-1056-E1E6-D106-F7CE80A9722C}"/>
              </a:ext>
            </a:extLst>
          </p:cNvPr>
          <p:cNvSpPr>
            <a:spLocks noGrp="1"/>
          </p:cNvSpPr>
          <p:nvPr>
            <p:ph idx="1"/>
          </p:nvPr>
        </p:nvSpPr>
        <p:spPr>
          <a:xfrm>
            <a:off x="1842247" y="1546413"/>
            <a:ext cx="8714445" cy="4328720"/>
          </a:xfrm>
        </p:spPr>
        <p:txBody>
          <a:bodyPr>
            <a:normAutofit/>
          </a:bodyPr>
          <a:lstStyle/>
          <a:p>
            <a:r>
              <a:rPr lang="en-US" sz="2400" dirty="0"/>
              <a:t>Spring IoC container is totally decoupled from the format in which this configuration metadata is actually written. </a:t>
            </a:r>
          </a:p>
          <a:p>
            <a:r>
              <a:rPr lang="en-US" sz="2400" dirty="0"/>
              <a:t>Following are the three important methods to provide configuration metadata to the Spring Container −</a:t>
            </a:r>
          </a:p>
          <a:p>
            <a:pPr lvl="2"/>
            <a:r>
              <a:rPr lang="en-US" sz="2400" dirty="0"/>
              <a:t>XML based configuration file.</a:t>
            </a:r>
          </a:p>
          <a:p>
            <a:pPr lvl="2"/>
            <a:r>
              <a:rPr lang="en-US" sz="2400" dirty="0"/>
              <a:t>Annotation-based configuration</a:t>
            </a:r>
          </a:p>
          <a:p>
            <a:pPr lvl="2"/>
            <a:r>
              <a:rPr lang="en-US" sz="2400" dirty="0"/>
              <a:t>Java-based configuration</a:t>
            </a:r>
          </a:p>
        </p:txBody>
      </p:sp>
    </p:spTree>
    <p:extLst>
      <p:ext uri="{BB962C8B-B14F-4D97-AF65-F5344CB8AC3E}">
        <p14:creationId xmlns:p14="http://schemas.microsoft.com/office/powerpoint/2010/main" val="3081319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0606-9D87-CE41-11D0-4684AC6D82D0}"/>
              </a:ext>
            </a:extLst>
          </p:cNvPr>
          <p:cNvSpPr>
            <a:spLocks noGrp="1"/>
          </p:cNvSpPr>
          <p:nvPr>
            <p:ph type="title"/>
          </p:nvPr>
        </p:nvSpPr>
        <p:spPr>
          <a:xfrm>
            <a:off x="2558020" y="848398"/>
            <a:ext cx="5053016" cy="711462"/>
          </a:xfrm>
        </p:spPr>
        <p:txBody>
          <a:bodyPr/>
          <a:lstStyle/>
          <a:p>
            <a:r>
              <a:rPr lang="en-IN" b="1" dirty="0"/>
              <a:t>BEAN Scopes</a:t>
            </a:r>
          </a:p>
        </p:txBody>
      </p:sp>
      <p:sp>
        <p:nvSpPr>
          <p:cNvPr id="3" name="Content Placeholder 2">
            <a:extLst>
              <a:ext uri="{FF2B5EF4-FFF2-40B4-BE49-F238E27FC236}">
                <a16:creationId xmlns:a16="http://schemas.microsoft.com/office/drawing/2014/main" id="{73F555F4-E6BC-4B77-438C-4C923150A2B6}"/>
              </a:ext>
            </a:extLst>
          </p:cNvPr>
          <p:cNvSpPr>
            <a:spLocks noGrp="1"/>
          </p:cNvSpPr>
          <p:nvPr>
            <p:ph idx="1"/>
          </p:nvPr>
        </p:nvSpPr>
        <p:spPr>
          <a:xfrm>
            <a:off x="1542862" y="1438835"/>
            <a:ext cx="8851715" cy="4693024"/>
          </a:xfrm>
        </p:spPr>
        <p:txBody>
          <a:bodyPr>
            <a:normAutofit fontScale="92500"/>
          </a:bodyPr>
          <a:lstStyle/>
          <a:p>
            <a:r>
              <a:rPr lang="en-US" sz="2400" dirty="0"/>
              <a:t>When defining a </a:t>
            </a:r>
            <a:r>
              <a:rPr lang="en-US" sz="2400" b="1" dirty="0"/>
              <a:t>&lt;bean&gt; </a:t>
            </a:r>
            <a:r>
              <a:rPr lang="en-US" sz="2400" dirty="0"/>
              <a:t>you have the option of declaring a scope for that bean. </a:t>
            </a:r>
          </a:p>
          <a:p>
            <a:r>
              <a:rPr lang="en-US" sz="2400" dirty="0"/>
              <a:t>The Spring Framework supports the following five scopes, three of which are available only if you use a </a:t>
            </a:r>
            <a:r>
              <a:rPr lang="en-US" sz="2400" b="1" dirty="0"/>
              <a:t>web-aware ApplicationContext</a:t>
            </a:r>
            <a:r>
              <a:rPr lang="en-US" sz="2400" dirty="0"/>
              <a:t>.</a:t>
            </a:r>
          </a:p>
          <a:p>
            <a:r>
              <a:rPr lang="en-US" sz="2400" dirty="0"/>
              <a:t>singleton scopes, prototype scopes, request scopes, session scopes, global-session scopes.</a:t>
            </a:r>
          </a:p>
          <a:p>
            <a:pPr marL="0" indent="0">
              <a:buNone/>
            </a:pPr>
            <a:r>
              <a:rPr lang="en-US" sz="2800" b="1" dirty="0"/>
              <a:t>Example:</a:t>
            </a:r>
          </a:p>
          <a:p>
            <a:pPr marL="0" indent="0">
              <a:buNone/>
            </a:pPr>
            <a:r>
              <a:rPr lang="en-US" sz="2400" dirty="0"/>
              <a:t>	&lt;bean id = "..." class = "..." </a:t>
            </a:r>
            <a:r>
              <a:rPr lang="en-US" sz="2400" b="1" dirty="0"/>
              <a:t>scope = "singleton"&gt; </a:t>
            </a:r>
            <a:r>
              <a:rPr lang="en-US" sz="2400" dirty="0"/>
              <a:t>&lt;/bean&gt;</a:t>
            </a:r>
          </a:p>
        </p:txBody>
      </p:sp>
    </p:spTree>
    <p:extLst>
      <p:ext uri="{BB962C8B-B14F-4D97-AF65-F5344CB8AC3E}">
        <p14:creationId xmlns:p14="http://schemas.microsoft.com/office/powerpoint/2010/main" val="302660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E07A5-8B2D-28AB-C993-FFB6FF5B31A6}"/>
              </a:ext>
            </a:extLst>
          </p:cNvPr>
          <p:cNvSpPr>
            <a:spLocks noGrp="1"/>
          </p:cNvSpPr>
          <p:nvPr>
            <p:ph type="title"/>
          </p:nvPr>
        </p:nvSpPr>
        <p:spPr>
          <a:xfrm>
            <a:off x="2625255" y="687033"/>
            <a:ext cx="6693557" cy="684568"/>
          </a:xfrm>
        </p:spPr>
        <p:txBody>
          <a:bodyPr/>
          <a:lstStyle/>
          <a:p>
            <a:pPr algn="ctr"/>
            <a:r>
              <a:rPr lang="en-IN" b="1" dirty="0"/>
              <a:t>Types of Scope</a:t>
            </a:r>
          </a:p>
        </p:txBody>
      </p:sp>
      <p:sp>
        <p:nvSpPr>
          <p:cNvPr id="3" name="Content Placeholder 2">
            <a:extLst>
              <a:ext uri="{FF2B5EF4-FFF2-40B4-BE49-F238E27FC236}">
                <a16:creationId xmlns:a16="http://schemas.microsoft.com/office/drawing/2014/main" id="{4BAE5783-BFE0-02B9-C752-122392CB9DC9}"/>
              </a:ext>
            </a:extLst>
          </p:cNvPr>
          <p:cNvSpPr>
            <a:spLocks noGrp="1"/>
          </p:cNvSpPr>
          <p:nvPr>
            <p:ph idx="1"/>
          </p:nvPr>
        </p:nvSpPr>
        <p:spPr>
          <a:xfrm>
            <a:off x="1621861" y="1250577"/>
            <a:ext cx="8948278" cy="5056096"/>
          </a:xfrm>
        </p:spPr>
        <p:txBody>
          <a:bodyPr>
            <a:normAutofit fontScale="92500"/>
          </a:bodyPr>
          <a:lstStyle/>
          <a:p>
            <a:r>
              <a:rPr lang="en-US" sz="2400" b="1" dirty="0"/>
              <a:t>Prototype</a:t>
            </a:r>
            <a:r>
              <a:rPr lang="en-US" sz="2400" dirty="0"/>
              <a:t> </a:t>
            </a:r>
            <a:r>
              <a:rPr lang="en-US" sz="2400" dirty="0">
                <a:sym typeface="Wingdings" panose="05000000000000000000" pitchFamily="2" charset="2"/>
              </a:rPr>
              <a:t> T</a:t>
            </a:r>
            <a:r>
              <a:rPr lang="en-US" sz="2400" dirty="0"/>
              <a:t>o force Spring to produce a </a:t>
            </a:r>
            <a:r>
              <a:rPr lang="en-US" sz="2400" b="1" dirty="0"/>
              <a:t>new bean instance </a:t>
            </a:r>
            <a:r>
              <a:rPr lang="en-US" sz="2400" dirty="0"/>
              <a:t>each time one is needed.</a:t>
            </a:r>
          </a:p>
          <a:p>
            <a:r>
              <a:rPr lang="en-US" sz="2400" b="1" dirty="0"/>
              <a:t>Singleton</a:t>
            </a:r>
            <a:r>
              <a:rPr lang="en-US" sz="2400" dirty="0"/>
              <a:t> </a:t>
            </a:r>
            <a:r>
              <a:rPr lang="en-US" sz="2400" dirty="0">
                <a:sym typeface="Wingdings" panose="05000000000000000000" pitchFamily="2" charset="2"/>
              </a:rPr>
              <a:t>  I</a:t>
            </a:r>
            <a:r>
              <a:rPr lang="en-US" sz="2400" dirty="0"/>
              <a:t>f you want Spring to return the </a:t>
            </a:r>
            <a:r>
              <a:rPr lang="en-US" sz="2400" b="1" dirty="0"/>
              <a:t>same bean instance </a:t>
            </a:r>
            <a:r>
              <a:rPr lang="en-US" sz="2400" dirty="0"/>
              <a:t>each time one is needed.</a:t>
            </a:r>
          </a:p>
          <a:p>
            <a:r>
              <a:rPr lang="en-US" sz="2400" b="1" dirty="0"/>
              <a:t>Request</a:t>
            </a:r>
            <a:r>
              <a:rPr lang="en-US" sz="2400" dirty="0"/>
              <a:t> </a:t>
            </a:r>
            <a:r>
              <a:rPr lang="en-US" sz="2400" dirty="0">
                <a:sym typeface="Wingdings" panose="05000000000000000000" pitchFamily="2" charset="2"/>
              </a:rPr>
              <a:t> </a:t>
            </a:r>
            <a:r>
              <a:rPr lang="en-US" sz="2400" dirty="0"/>
              <a:t>This scopes a bean definition to an </a:t>
            </a:r>
            <a:r>
              <a:rPr lang="en-US" sz="2400" b="1" dirty="0"/>
              <a:t>HTTP request</a:t>
            </a:r>
            <a:r>
              <a:rPr lang="en-US" sz="2400" dirty="0"/>
              <a:t>. Only valid in the context of a web-aware Spring ApplicationContext.</a:t>
            </a:r>
          </a:p>
          <a:p>
            <a:r>
              <a:rPr lang="en-US" sz="2400" b="1" dirty="0"/>
              <a:t>Session</a:t>
            </a:r>
            <a:r>
              <a:rPr lang="en-US" sz="2400" dirty="0"/>
              <a:t> </a:t>
            </a:r>
            <a:r>
              <a:rPr lang="en-US" sz="2400" dirty="0">
                <a:sym typeface="Wingdings" panose="05000000000000000000" pitchFamily="2" charset="2"/>
              </a:rPr>
              <a:t> </a:t>
            </a:r>
            <a:r>
              <a:rPr lang="en-US" sz="2400" dirty="0"/>
              <a:t>This scopes a bean definition to an HTTP session. </a:t>
            </a:r>
          </a:p>
          <a:p>
            <a:r>
              <a:rPr lang="en-US" sz="2400" b="1" dirty="0"/>
              <a:t>Global-session </a:t>
            </a:r>
            <a:r>
              <a:rPr lang="en-US" sz="2400" dirty="0">
                <a:sym typeface="Wingdings" panose="05000000000000000000" pitchFamily="2" charset="2"/>
              </a:rPr>
              <a:t> </a:t>
            </a:r>
            <a:r>
              <a:rPr lang="en-US" sz="2400" dirty="0"/>
              <a:t>This scopes a bean definition to a global HTTP session. </a:t>
            </a:r>
            <a:endParaRPr lang="en-IN" sz="2400" dirty="0"/>
          </a:p>
        </p:txBody>
      </p:sp>
    </p:spTree>
    <p:extLst>
      <p:ext uri="{BB962C8B-B14F-4D97-AF65-F5344CB8AC3E}">
        <p14:creationId xmlns:p14="http://schemas.microsoft.com/office/powerpoint/2010/main" val="973285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E475E-AB8E-F631-BB9D-5A3380C30994}"/>
              </a:ext>
            </a:extLst>
          </p:cNvPr>
          <p:cNvSpPr>
            <a:spLocks noGrp="1"/>
          </p:cNvSpPr>
          <p:nvPr>
            <p:ph type="title"/>
          </p:nvPr>
        </p:nvSpPr>
        <p:spPr>
          <a:xfrm>
            <a:off x="4134482" y="713005"/>
            <a:ext cx="3923036" cy="631702"/>
          </a:xfrm>
        </p:spPr>
        <p:txBody>
          <a:bodyPr>
            <a:normAutofit/>
          </a:bodyPr>
          <a:lstStyle/>
          <a:p>
            <a:pPr algn="l"/>
            <a:r>
              <a:rPr lang="en-IN" sz="3200" b="1" dirty="0"/>
              <a:t>Bean Life Cycle</a:t>
            </a:r>
          </a:p>
        </p:txBody>
      </p:sp>
      <p:sp>
        <p:nvSpPr>
          <p:cNvPr id="4" name="Content Placeholder 3">
            <a:extLst>
              <a:ext uri="{FF2B5EF4-FFF2-40B4-BE49-F238E27FC236}">
                <a16:creationId xmlns:a16="http://schemas.microsoft.com/office/drawing/2014/main" id="{8A80C0AA-E9C4-6DC6-DCF8-6173E06DAA48}"/>
              </a:ext>
            </a:extLst>
          </p:cNvPr>
          <p:cNvSpPr>
            <a:spLocks noGrp="1"/>
          </p:cNvSpPr>
          <p:nvPr>
            <p:ph idx="1"/>
          </p:nvPr>
        </p:nvSpPr>
        <p:spPr>
          <a:xfrm>
            <a:off x="1604306" y="1028856"/>
            <a:ext cx="9158199" cy="2327266"/>
          </a:xfrm>
        </p:spPr>
        <p:txBody>
          <a:bodyPr/>
          <a:lstStyle/>
          <a:p>
            <a:r>
              <a:rPr lang="en-US" dirty="0"/>
              <a:t>When a bean is instantiated, it may be required to perform some </a:t>
            </a:r>
            <a:r>
              <a:rPr lang="en-US" b="1" dirty="0"/>
              <a:t>initialization</a:t>
            </a:r>
            <a:r>
              <a:rPr lang="en-US" dirty="0"/>
              <a:t> to get it into a usable state. </a:t>
            </a:r>
          </a:p>
          <a:p>
            <a:r>
              <a:rPr lang="en-US" dirty="0"/>
              <a:t>Similarly, when the bean is no longer required and is removed from the container, some (cleanup) </a:t>
            </a:r>
            <a:r>
              <a:rPr lang="en-US" b="1" dirty="0"/>
              <a:t>Destruction</a:t>
            </a:r>
            <a:r>
              <a:rPr lang="en-US" dirty="0"/>
              <a:t> may be required.</a:t>
            </a:r>
          </a:p>
        </p:txBody>
      </p:sp>
      <p:sp>
        <p:nvSpPr>
          <p:cNvPr id="3" name="Title 1">
            <a:extLst>
              <a:ext uri="{FF2B5EF4-FFF2-40B4-BE49-F238E27FC236}">
                <a16:creationId xmlns:a16="http://schemas.microsoft.com/office/drawing/2014/main" id="{FC9F3DDB-A556-66C9-B433-FACCCB69274D}"/>
              </a:ext>
            </a:extLst>
          </p:cNvPr>
          <p:cNvSpPr txBox="1">
            <a:spLocks/>
          </p:cNvSpPr>
          <p:nvPr/>
        </p:nvSpPr>
        <p:spPr>
          <a:xfrm>
            <a:off x="3947200" y="3243205"/>
            <a:ext cx="3923036" cy="509141"/>
          </a:xfrm>
          <a:prstGeom prst="rect">
            <a:avLst/>
          </a:prstGeom>
        </p:spPr>
        <p:txBody>
          <a:bodyPr vert="horz" lIns="91440" tIns="45720" rIns="91440" bIns="45720" rtlCol="0" anchor="t">
            <a:normAutofit fontScale="85000" lnSpcReduction="10000"/>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IN" b="1" dirty="0"/>
              <a:t>Bean Post Processor</a:t>
            </a:r>
          </a:p>
        </p:txBody>
      </p:sp>
      <p:sp>
        <p:nvSpPr>
          <p:cNvPr id="5" name="Content Placeholder 3">
            <a:extLst>
              <a:ext uri="{FF2B5EF4-FFF2-40B4-BE49-F238E27FC236}">
                <a16:creationId xmlns:a16="http://schemas.microsoft.com/office/drawing/2014/main" id="{1AE337C3-3A43-E48F-1CA0-C5F2BF6C8B40}"/>
              </a:ext>
            </a:extLst>
          </p:cNvPr>
          <p:cNvSpPr txBox="1">
            <a:spLocks/>
          </p:cNvSpPr>
          <p:nvPr/>
        </p:nvSpPr>
        <p:spPr>
          <a:xfrm>
            <a:off x="1604306" y="3668581"/>
            <a:ext cx="8983387" cy="2662517"/>
          </a:xfrm>
          <a:prstGeom prst="rect">
            <a:avLst/>
          </a:prstGeom>
        </p:spPr>
        <p:txBody>
          <a:bodyPr vert="horz" lIns="91440" tIns="45720" rIns="91440" bIns="45720" rtlCol="0" anchor="ctr">
            <a:normAutofit/>
          </a:bodyPr>
          <a:lst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a:lstStyle>
          <a:p>
            <a:r>
              <a:rPr lang="en-US" dirty="0"/>
              <a:t>The Bean Post Processor interface defines callback methods that you can implement to provide your own instantiation logic, dependency-resolution logic, etc.</a:t>
            </a:r>
          </a:p>
          <a:p>
            <a:r>
              <a:rPr lang="en-US" dirty="0"/>
              <a:t>It operate on </a:t>
            </a:r>
            <a:r>
              <a:rPr lang="en-US" b="1" dirty="0"/>
              <a:t>bean (or object) instances</a:t>
            </a:r>
            <a:r>
              <a:rPr lang="en-US" dirty="0"/>
              <a:t>, which means that the Spring IoC container </a:t>
            </a:r>
            <a:r>
              <a:rPr lang="en-US" b="1" dirty="0"/>
              <a:t>instantiates a bean instance </a:t>
            </a:r>
            <a:r>
              <a:rPr lang="en-US" dirty="0"/>
              <a:t>and then Bean Post Processor interfaces do their work.</a:t>
            </a:r>
          </a:p>
        </p:txBody>
      </p:sp>
    </p:spTree>
    <p:extLst>
      <p:ext uri="{BB962C8B-B14F-4D97-AF65-F5344CB8AC3E}">
        <p14:creationId xmlns:p14="http://schemas.microsoft.com/office/powerpoint/2010/main" val="4200977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F7EE7-5558-9EED-CE08-57B5A4633091}"/>
              </a:ext>
            </a:extLst>
          </p:cNvPr>
          <p:cNvSpPr>
            <a:spLocks noGrp="1"/>
          </p:cNvSpPr>
          <p:nvPr>
            <p:ph type="title"/>
          </p:nvPr>
        </p:nvSpPr>
        <p:spPr>
          <a:xfrm>
            <a:off x="2233750" y="660139"/>
            <a:ext cx="7958331" cy="738356"/>
          </a:xfrm>
        </p:spPr>
        <p:txBody>
          <a:bodyPr/>
          <a:lstStyle/>
          <a:p>
            <a:pPr algn="ctr"/>
            <a:r>
              <a:rPr lang="en-IN" b="1" dirty="0"/>
              <a:t>Bean Definition Inheritance</a:t>
            </a:r>
          </a:p>
        </p:txBody>
      </p:sp>
      <p:sp>
        <p:nvSpPr>
          <p:cNvPr id="3" name="Content Placeholder 2">
            <a:extLst>
              <a:ext uri="{FF2B5EF4-FFF2-40B4-BE49-F238E27FC236}">
                <a16:creationId xmlns:a16="http://schemas.microsoft.com/office/drawing/2014/main" id="{4B306596-3337-4DD9-B7E0-9C01127CB4B3}"/>
              </a:ext>
            </a:extLst>
          </p:cNvPr>
          <p:cNvSpPr>
            <a:spLocks noGrp="1"/>
          </p:cNvSpPr>
          <p:nvPr>
            <p:ph idx="1"/>
          </p:nvPr>
        </p:nvSpPr>
        <p:spPr>
          <a:xfrm>
            <a:off x="1523624" y="1290918"/>
            <a:ext cx="9144751" cy="5351929"/>
          </a:xfrm>
        </p:spPr>
        <p:txBody>
          <a:bodyPr>
            <a:normAutofit/>
          </a:bodyPr>
          <a:lstStyle/>
          <a:p>
            <a:r>
              <a:rPr lang="en-US" dirty="0"/>
              <a:t>Spring Bean definition inheritance has nothing to do with Java class inheritance but the </a:t>
            </a:r>
            <a:r>
              <a:rPr lang="en-US" b="1" dirty="0"/>
              <a:t>inheritance concept is same</a:t>
            </a:r>
            <a:r>
              <a:rPr lang="en-US" dirty="0"/>
              <a:t>. </a:t>
            </a:r>
          </a:p>
          <a:p>
            <a:r>
              <a:rPr lang="en-US" dirty="0"/>
              <a:t>You can define a </a:t>
            </a:r>
            <a:r>
              <a:rPr lang="en-US" b="1" dirty="0"/>
              <a:t>parent bean </a:t>
            </a:r>
            <a:r>
              <a:rPr lang="en-US" dirty="0"/>
              <a:t>definition as a template and other child beans can inherit the required configuration from the parent bean.</a:t>
            </a:r>
          </a:p>
          <a:p>
            <a:r>
              <a:rPr lang="en-US" dirty="0"/>
              <a:t>When you use XML-based configuration metadata, you indicate a child bean definition by using the </a:t>
            </a:r>
            <a:r>
              <a:rPr lang="en-US" b="1" dirty="0"/>
              <a:t>parent attribute</a:t>
            </a:r>
            <a:r>
              <a:rPr lang="en-US" dirty="0"/>
              <a:t>, specifying the parent bean as the value of this attribute.</a:t>
            </a:r>
          </a:p>
          <a:p>
            <a:pPr marL="0" indent="0">
              <a:buNone/>
            </a:pPr>
            <a:r>
              <a:rPr lang="en-US" b="1" dirty="0"/>
              <a:t>Example:</a:t>
            </a:r>
          </a:p>
          <a:p>
            <a:pPr marL="0" indent="0">
              <a:buNone/>
            </a:pPr>
            <a:r>
              <a:rPr lang="en-IN" dirty="0"/>
              <a:t> &lt;bean id ="helloIndia" class = "com.rose.HelloIndia" </a:t>
            </a:r>
            <a:r>
              <a:rPr lang="en-IN" b="1" dirty="0"/>
              <a:t>parent = "helloWorld"</a:t>
            </a:r>
            <a:r>
              <a:rPr lang="en-IN" dirty="0"/>
              <a:t>&gt;</a:t>
            </a:r>
          </a:p>
          <a:p>
            <a:pPr marL="0" indent="0">
              <a:buNone/>
            </a:pPr>
            <a:r>
              <a:rPr lang="en-IN" dirty="0"/>
              <a:t>      &lt;property name = "message1" value = "Hello India!"/&gt;   </a:t>
            </a:r>
          </a:p>
          <a:p>
            <a:pPr marL="0" indent="0">
              <a:buNone/>
            </a:pPr>
            <a:r>
              <a:rPr lang="en-IN" dirty="0"/>
              <a:t>&lt;/bean&gt;</a:t>
            </a:r>
          </a:p>
        </p:txBody>
      </p:sp>
    </p:spTree>
    <p:extLst>
      <p:ext uri="{BB962C8B-B14F-4D97-AF65-F5344CB8AC3E}">
        <p14:creationId xmlns:p14="http://schemas.microsoft.com/office/powerpoint/2010/main" val="320551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DF81-67BA-6D09-038F-D503890C5C97}"/>
              </a:ext>
            </a:extLst>
          </p:cNvPr>
          <p:cNvSpPr>
            <a:spLocks noGrp="1"/>
          </p:cNvSpPr>
          <p:nvPr>
            <p:ph type="title"/>
          </p:nvPr>
        </p:nvSpPr>
        <p:spPr>
          <a:xfrm>
            <a:off x="2233751" y="1211467"/>
            <a:ext cx="7958331" cy="711462"/>
          </a:xfrm>
        </p:spPr>
        <p:txBody>
          <a:bodyPr/>
          <a:lstStyle/>
          <a:p>
            <a:pPr algn="ctr"/>
            <a:r>
              <a:rPr lang="en-IN" b="1" dirty="0"/>
              <a:t>Dependency Injection</a:t>
            </a:r>
          </a:p>
        </p:txBody>
      </p:sp>
      <p:sp>
        <p:nvSpPr>
          <p:cNvPr id="3" name="Content Placeholder 2">
            <a:extLst>
              <a:ext uri="{FF2B5EF4-FFF2-40B4-BE49-F238E27FC236}">
                <a16:creationId xmlns:a16="http://schemas.microsoft.com/office/drawing/2014/main" id="{6534C785-6D64-F86B-6796-D27CD969B444}"/>
              </a:ext>
            </a:extLst>
          </p:cNvPr>
          <p:cNvSpPr>
            <a:spLocks noGrp="1"/>
          </p:cNvSpPr>
          <p:nvPr>
            <p:ph idx="1"/>
          </p:nvPr>
        </p:nvSpPr>
        <p:spPr>
          <a:xfrm>
            <a:off x="1586753" y="1733438"/>
            <a:ext cx="8837147" cy="4235824"/>
          </a:xfrm>
        </p:spPr>
        <p:txBody>
          <a:bodyPr>
            <a:normAutofit/>
          </a:bodyPr>
          <a:lstStyle/>
          <a:p>
            <a:r>
              <a:rPr lang="en-US" sz="2400" dirty="0"/>
              <a:t> Dependency Injection (or sometime called wiring) helps in gluing the classes together and at the same time keeping them independent.</a:t>
            </a:r>
          </a:p>
          <a:p>
            <a:r>
              <a:rPr lang="en-US" sz="2400" dirty="0"/>
              <a:t>When writing a complex Java application, application classes should be as independent as possible of other Java classes to increase the possibility to reuse these classes and to test them independently of other classes while unit testing.</a:t>
            </a:r>
            <a:endParaRPr lang="en-IN" sz="2400" dirty="0"/>
          </a:p>
        </p:txBody>
      </p:sp>
    </p:spTree>
    <p:extLst>
      <p:ext uri="{BB962C8B-B14F-4D97-AF65-F5344CB8AC3E}">
        <p14:creationId xmlns:p14="http://schemas.microsoft.com/office/powerpoint/2010/main" val="2108964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273A93-E137-34DF-421A-ED34B1AD251E}"/>
              </a:ext>
            </a:extLst>
          </p:cNvPr>
          <p:cNvSpPr>
            <a:spLocks noGrp="1"/>
          </p:cNvSpPr>
          <p:nvPr>
            <p:ph idx="1"/>
          </p:nvPr>
        </p:nvSpPr>
        <p:spPr>
          <a:xfrm>
            <a:off x="1789949" y="800100"/>
            <a:ext cx="8612101" cy="5257799"/>
          </a:xfrm>
        </p:spPr>
        <p:txBody>
          <a:bodyPr/>
          <a:lstStyle/>
          <a:p>
            <a:pPr marL="0" indent="0">
              <a:buNone/>
            </a:pPr>
            <a:r>
              <a:rPr lang="en-US" sz="2800" b="1" dirty="0"/>
              <a:t>Constructor-based dependency injection</a:t>
            </a:r>
          </a:p>
          <a:p>
            <a:r>
              <a:rPr lang="en-US" dirty="0"/>
              <a:t>Constructor-based DI is accomplished when the container invokes a class constructor with a number of arguments, each representing a dependency on the other class.</a:t>
            </a:r>
          </a:p>
          <a:p>
            <a:pPr marL="0" indent="0">
              <a:buNone/>
            </a:pPr>
            <a:r>
              <a:rPr lang="en-US" sz="2800" b="1" dirty="0"/>
              <a:t>Setter-based dependency injection</a:t>
            </a:r>
          </a:p>
          <a:p>
            <a:r>
              <a:rPr lang="en-US" dirty="0"/>
              <a:t>Setter-based DI is accomplished by the container calling setter methods on your beans after invoking a no-argument constructor or no-argument static factory method to instantiate your bean.</a:t>
            </a:r>
            <a:endParaRPr lang="en-IN" dirty="0"/>
          </a:p>
        </p:txBody>
      </p:sp>
    </p:spTree>
    <p:extLst>
      <p:ext uri="{BB962C8B-B14F-4D97-AF65-F5344CB8AC3E}">
        <p14:creationId xmlns:p14="http://schemas.microsoft.com/office/powerpoint/2010/main" val="3417380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4496-BF83-E27D-85C4-5AC21C5251BA}"/>
              </a:ext>
            </a:extLst>
          </p:cNvPr>
          <p:cNvSpPr>
            <a:spLocks noGrp="1"/>
          </p:cNvSpPr>
          <p:nvPr>
            <p:ph type="title"/>
          </p:nvPr>
        </p:nvSpPr>
        <p:spPr>
          <a:xfrm>
            <a:off x="2406321" y="660138"/>
            <a:ext cx="7379357" cy="724909"/>
          </a:xfrm>
        </p:spPr>
        <p:txBody>
          <a:bodyPr/>
          <a:lstStyle/>
          <a:p>
            <a:pPr algn="ctr"/>
            <a:r>
              <a:rPr lang="en-IN" b="1" dirty="0"/>
              <a:t>Injecting Inner Bean</a:t>
            </a:r>
          </a:p>
        </p:txBody>
      </p:sp>
      <p:sp>
        <p:nvSpPr>
          <p:cNvPr id="3" name="Content Placeholder 2">
            <a:extLst>
              <a:ext uri="{FF2B5EF4-FFF2-40B4-BE49-F238E27FC236}">
                <a16:creationId xmlns:a16="http://schemas.microsoft.com/office/drawing/2014/main" id="{A118BC04-9E54-0531-172E-09F2B32ACA5F}"/>
              </a:ext>
            </a:extLst>
          </p:cNvPr>
          <p:cNvSpPr>
            <a:spLocks noGrp="1"/>
          </p:cNvSpPr>
          <p:nvPr>
            <p:ph idx="1"/>
          </p:nvPr>
        </p:nvSpPr>
        <p:spPr>
          <a:xfrm>
            <a:off x="1926433" y="1532964"/>
            <a:ext cx="8871555" cy="4894729"/>
          </a:xfrm>
        </p:spPr>
        <p:txBody>
          <a:bodyPr>
            <a:noAutofit/>
          </a:bodyPr>
          <a:lstStyle/>
          <a:p>
            <a:r>
              <a:rPr lang="en-US" b="1" dirty="0"/>
              <a:t>Inner beans </a:t>
            </a:r>
            <a:r>
              <a:rPr lang="en-US" dirty="0"/>
              <a:t>are beans that are defined within the scope of another bean. </a:t>
            </a:r>
          </a:p>
          <a:p>
            <a:r>
              <a:rPr lang="en-US" dirty="0"/>
              <a:t>Thus, a &lt;bean/&gt; element inside the &lt;property/&gt; or &lt;constructor-arg/&gt; elements is called inner bean </a:t>
            </a:r>
          </a:p>
          <a:p>
            <a:pPr marL="0" indent="0">
              <a:buNone/>
            </a:pPr>
            <a:r>
              <a:rPr lang="en-US" sz="2400" b="1" dirty="0"/>
              <a:t>Example:</a:t>
            </a:r>
          </a:p>
          <a:p>
            <a:pPr marL="0" indent="0">
              <a:buNone/>
            </a:pPr>
            <a:r>
              <a:rPr lang="en-US" dirty="0"/>
              <a:t>	&lt;bean id = "outerBean" class = "..."&gt;</a:t>
            </a:r>
          </a:p>
          <a:p>
            <a:pPr marL="0" indent="0">
              <a:buNone/>
            </a:pPr>
            <a:r>
              <a:rPr lang="en-US" dirty="0"/>
              <a:t> 	     &lt;property name = "target"&gt;</a:t>
            </a:r>
          </a:p>
          <a:p>
            <a:pPr marL="0" indent="0">
              <a:buNone/>
            </a:pPr>
            <a:r>
              <a:rPr lang="en-US" dirty="0"/>
              <a:t>         		&lt;bean id = "innerBean" class = "..."/&gt;</a:t>
            </a:r>
          </a:p>
          <a:p>
            <a:pPr marL="0" indent="0">
              <a:buNone/>
            </a:pPr>
            <a:r>
              <a:rPr lang="en-US" dirty="0"/>
              <a:t>      	     &lt;/property&gt;</a:t>
            </a:r>
          </a:p>
          <a:p>
            <a:pPr marL="0" indent="0">
              <a:buNone/>
            </a:pPr>
            <a:r>
              <a:rPr lang="en-US" dirty="0"/>
              <a:t>   	&lt;/bean&gt;</a:t>
            </a:r>
            <a:endParaRPr lang="en-IN" dirty="0"/>
          </a:p>
        </p:txBody>
      </p:sp>
    </p:spTree>
    <p:extLst>
      <p:ext uri="{BB962C8B-B14F-4D97-AF65-F5344CB8AC3E}">
        <p14:creationId xmlns:p14="http://schemas.microsoft.com/office/powerpoint/2010/main" val="766010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F01D-9CC7-04A0-EBFC-6C1A0CED71BC}"/>
              </a:ext>
            </a:extLst>
          </p:cNvPr>
          <p:cNvSpPr>
            <a:spLocks noGrp="1"/>
          </p:cNvSpPr>
          <p:nvPr>
            <p:ph type="title"/>
          </p:nvPr>
        </p:nvSpPr>
        <p:spPr>
          <a:xfrm>
            <a:off x="2413045" y="633245"/>
            <a:ext cx="7365910" cy="778697"/>
          </a:xfrm>
        </p:spPr>
        <p:txBody>
          <a:bodyPr/>
          <a:lstStyle/>
          <a:p>
            <a:pPr algn="ctr"/>
            <a:r>
              <a:rPr lang="en-IN" b="1" dirty="0"/>
              <a:t>Injecting Collection</a:t>
            </a:r>
          </a:p>
        </p:txBody>
      </p:sp>
      <p:sp>
        <p:nvSpPr>
          <p:cNvPr id="3" name="Content Placeholder 2">
            <a:extLst>
              <a:ext uri="{FF2B5EF4-FFF2-40B4-BE49-F238E27FC236}">
                <a16:creationId xmlns:a16="http://schemas.microsoft.com/office/drawing/2014/main" id="{806E44EA-64DF-BE3C-DAE2-4CCD471D02D9}"/>
              </a:ext>
            </a:extLst>
          </p:cNvPr>
          <p:cNvSpPr>
            <a:spLocks noGrp="1"/>
          </p:cNvSpPr>
          <p:nvPr>
            <p:ph idx="1"/>
          </p:nvPr>
        </p:nvSpPr>
        <p:spPr>
          <a:xfrm>
            <a:off x="1523624" y="1167198"/>
            <a:ext cx="9144751" cy="5111346"/>
          </a:xfrm>
        </p:spPr>
        <p:txBody>
          <a:bodyPr>
            <a:normAutofit/>
          </a:bodyPr>
          <a:lstStyle/>
          <a:p>
            <a:r>
              <a:rPr lang="en-US" dirty="0"/>
              <a:t>what if you want to pass plural values like Java Collection types such as List, Set, Map, and Properties. </a:t>
            </a:r>
          </a:p>
          <a:p>
            <a:r>
              <a:rPr lang="en-US" dirty="0"/>
              <a:t>To handle the situation, Spring offers four types of collection configuration elements which are as follows...</a:t>
            </a:r>
          </a:p>
          <a:p>
            <a:r>
              <a:rPr lang="en-US" b="1" dirty="0"/>
              <a:t>&lt;list&gt; </a:t>
            </a:r>
            <a:r>
              <a:rPr lang="en-US" dirty="0">
                <a:sym typeface="Wingdings" panose="05000000000000000000" pitchFamily="2" charset="2"/>
              </a:rPr>
              <a:t></a:t>
            </a:r>
            <a:r>
              <a:rPr lang="en-US" dirty="0"/>
              <a:t>This helps in wiring (injecting) a </a:t>
            </a:r>
            <a:r>
              <a:rPr lang="en-US" b="1" dirty="0"/>
              <a:t>list of values</a:t>
            </a:r>
            <a:r>
              <a:rPr lang="en-US" dirty="0"/>
              <a:t>, allowing duplicates.</a:t>
            </a:r>
          </a:p>
          <a:p>
            <a:r>
              <a:rPr lang="en-US" b="1" dirty="0"/>
              <a:t>&lt;set&gt; </a:t>
            </a:r>
            <a:r>
              <a:rPr lang="en-US" dirty="0">
                <a:sym typeface="Wingdings" panose="05000000000000000000" pitchFamily="2" charset="2"/>
              </a:rPr>
              <a:t> </a:t>
            </a:r>
            <a:r>
              <a:rPr lang="en-US" dirty="0"/>
              <a:t>This helps in </a:t>
            </a:r>
            <a:r>
              <a:rPr lang="en-US" b="1" dirty="0"/>
              <a:t>wiring</a:t>
            </a:r>
            <a:r>
              <a:rPr lang="en-US" dirty="0"/>
              <a:t> </a:t>
            </a:r>
            <a:r>
              <a:rPr lang="en-US" b="1" dirty="0"/>
              <a:t>a set of values </a:t>
            </a:r>
            <a:r>
              <a:rPr lang="en-US" dirty="0"/>
              <a:t>but without any duplicates.</a:t>
            </a:r>
          </a:p>
          <a:p>
            <a:r>
              <a:rPr lang="en-US" b="1" dirty="0"/>
              <a:t>&lt;map&gt; </a:t>
            </a:r>
            <a:r>
              <a:rPr lang="en-US" dirty="0">
                <a:sym typeface="Wingdings" panose="05000000000000000000" pitchFamily="2" charset="2"/>
              </a:rPr>
              <a:t> </a:t>
            </a:r>
            <a:r>
              <a:rPr lang="en-US" dirty="0"/>
              <a:t>This can be used to inject a collection of </a:t>
            </a:r>
            <a:r>
              <a:rPr lang="en-US" b="1" dirty="0"/>
              <a:t>name-value pairs </a:t>
            </a:r>
            <a:r>
              <a:rPr lang="en-US" dirty="0"/>
              <a:t>where name and </a:t>
            </a:r>
            <a:r>
              <a:rPr lang="en-US" b="1" dirty="0"/>
              <a:t>value can be of any type</a:t>
            </a:r>
            <a:r>
              <a:rPr lang="en-US" dirty="0"/>
              <a:t>.</a:t>
            </a:r>
          </a:p>
          <a:p>
            <a:r>
              <a:rPr lang="en-US" b="1" dirty="0"/>
              <a:t>&lt;props&gt; </a:t>
            </a:r>
            <a:r>
              <a:rPr lang="en-US" dirty="0">
                <a:sym typeface="Wingdings" panose="05000000000000000000" pitchFamily="2" charset="2"/>
              </a:rPr>
              <a:t> </a:t>
            </a:r>
            <a:r>
              <a:rPr lang="en-US" dirty="0"/>
              <a:t>This can be used to inject a collection of </a:t>
            </a:r>
            <a:r>
              <a:rPr lang="en-US" b="1" dirty="0"/>
              <a:t>name-value pairs </a:t>
            </a:r>
            <a:r>
              <a:rPr lang="en-US" dirty="0"/>
              <a:t>where the name and value </a:t>
            </a:r>
            <a:r>
              <a:rPr lang="en-US" b="1" dirty="0"/>
              <a:t>are both Strings</a:t>
            </a:r>
            <a:r>
              <a:rPr lang="en-US" dirty="0"/>
              <a:t>.</a:t>
            </a:r>
            <a:endParaRPr lang="en-IN" dirty="0"/>
          </a:p>
        </p:txBody>
      </p:sp>
    </p:spTree>
    <p:extLst>
      <p:ext uri="{BB962C8B-B14F-4D97-AF65-F5344CB8AC3E}">
        <p14:creationId xmlns:p14="http://schemas.microsoft.com/office/powerpoint/2010/main" val="26097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58741-C288-EE24-65AB-B35F65B490BD}"/>
              </a:ext>
            </a:extLst>
          </p:cNvPr>
          <p:cNvSpPr>
            <a:spLocks noGrp="1"/>
          </p:cNvSpPr>
          <p:nvPr>
            <p:ph type="title"/>
          </p:nvPr>
        </p:nvSpPr>
        <p:spPr>
          <a:xfrm>
            <a:off x="3886200" y="834335"/>
            <a:ext cx="5311588" cy="563544"/>
          </a:xfrm>
        </p:spPr>
        <p:txBody>
          <a:bodyPr>
            <a:normAutofit/>
          </a:bodyPr>
          <a:lstStyle/>
          <a:p>
            <a:pPr algn="l"/>
            <a:r>
              <a:rPr lang="en-IN" b="1" dirty="0"/>
              <a:t>Beans AutoWiring</a:t>
            </a:r>
          </a:p>
        </p:txBody>
      </p:sp>
      <p:sp>
        <p:nvSpPr>
          <p:cNvPr id="3" name="Content Placeholder 2">
            <a:extLst>
              <a:ext uri="{FF2B5EF4-FFF2-40B4-BE49-F238E27FC236}">
                <a16:creationId xmlns:a16="http://schemas.microsoft.com/office/drawing/2014/main" id="{30648E26-EAFA-ABED-7425-AB7A35842C23}"/>
              </a:ext>
            </a:extLst>
          </p:cNvPr>
          <p:cNvSpPr>
            <a:spLocks noGrp="1"/>
          </p:cNvSpPr>
          <p:nvPr>
            <p:ph idx="1"/>
          </p:nvPr>
        </p:nvSpPr>
        <p:spPr>
          <a:xfrm>
            <a:off x="1613647" y="1116107"/>
            <a:ext cx="8956492" cy="5298140"/>
          </a:xfrm>
        </p:spPr>
        <p:txBody>
          <a:bodyPr>
            <a:normAutofit/>
          </a:bodyPr>
          <a:lstStyle/>
          <a:p>
            <a:r>
              <a:rPr lang="en-US" dirty="0"/>
              <a:t>The Spring container can autowire relationships between </a:t>
            </a:r>
            <a:r>
              <a:rPr lang="en-US" b="1" dirty="0"/>
              <a:t>collaborating beans without using &lt;constructor-arg&gt; and &lt;property&gt; </a:t>
            </a:r>
            <a:r>
              <a:rPr lang="en-US" dirty="0"/>
              <a:t>elements, which helps cut down on the amount of XML configuration you write for a big Spring-based application.</a:t>
            </a:r>
          </a:p>
          <a:p>
            <a:pPr marL="0" indent="0">
              <a:buNone/>
            </a:pPr>
            <a:r>
              <a:rPr lang="en-US" sz="2800" b="1" dirty="0"/>
              <a:t>Autowiring Modes</a:t>
            </a:r>
          </a:p>
          <a:p>
            <a:pPr marL="0" indent="0">
              <a:buNone/>
            </a:pPr>
            <a:r>
              <a:rPr lang="en-US" sz="2800" b="1" dirty="0"/>
              <a:t>3. constructor</a:t>
            </a:r>
          </a:p>
          <a:p>
            <a:r>
              <a:rPr lang="en-US" b="1" dirty="0"/>
              <a:t>Similar to byType</a:t>
            </a:r>
            <a:r>
              <a:rPr lang="en-US" dirty="0"/>
              <a:t>, but type applies to constructor arguments. </a:t>
            </a:r>
          </a:p>
          <a:p>
            <a:r>
              <a:rPr lang="en-US" dirty="0"/>
              <a:t>If there is not exactly one bean of the constructor argument type in the container, a fatal error is raised.</a:t>
            </a:r>
          </a:p>
        </p:txBody>
      </p:sp>
    </p:spTree>
    <p:extLst>
      <p:ext uri="{BB962C8B-B14F-4D97-AF65-F5344CB8AC3E}">
        <p14:creationId xmlns:p14="http://schemas.microsoft.com/office/powerpoint/2010/main" val="953290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42210B-D20B-3965-A013-AEF1C7AF5796}"/>
              </a:ext>
            </a:extLst>
          </p:cNvPr>
          <p:cNvSpPr>
            <a:spLocks noGrp="1"/>
          </p:cNvSpPr>
          <p:nvPr>
            <p:ph idx="1"/>
          </p:nvPr>
        </p:nvSpPr>
        <p:spPr>
          <a:xfrm>
            <a:off x="1526053" y="699247"/>
            <a:ext cx="9139894" cy="5661212"/>
          </a:xfrm>
        </p:spPr>
        <p:txBody>
          <a:bodyPr>
            <a:normAutofit/>
          </a:bodyPr>
          <a:lstStyle/>
          <a:p>
            <a:pPr marL="0" indent="0">
              <a:buNone/>
            </a:pPr>
            <a:r>
              <a:rPr lang="en-US" sz="2400" b="1" dirty="0"/>
              <a:t>byName:</a:t>
            </a:r>
          </a:p>
          <a:p>
            <a:r>
              <a:rPr lang="en-US" dirty="0"/>
              <a:t>Autowiring by </a:t>
            </a:r>
            <a:r>
              <a:rPr lang="en-US" b="1" dirty="0"/>
              <a:t>property name</a:t>
            </a:r>
            <a:r>
              <a:rPr lang="en-US" dirty="0"/>
              <a:t>. Spring container looks at the properties of the beans on which autowire attribute is set to byName in the XML configuration file.</a:t>
            </a:r>
          </a:p>
          <a:p>
            <a:r>
              <a:rPr lang="en-US" dirty="0"/>
              <a:t> It then tries to match and wire its properties with </a:t>
            </a:r>
            <a:r>
              <a:rPr lang="en-US" b="1" dirty="0"/>
              <a:t>the beans defined by the same names </a:t>
            </a:r>
            <a:r>
              <a:rPr lang="en-US" dirty="0"/>
              <a:t>in the configuration file.</a:t>
            </a:r>
          </a:p>
          <a:p>
            <a:pPr marL="0" indent="0">
              <a:buNone/>
            </a:pPr>
            <a:r>
              <a:rPr lang="en-US" sz="2400" b="1" dirty="0"/>
              <a:t>byType:</a:t>
            </a:r>
          </a:p>
          <a:p>
            <a:r>
              <a:rPr lang="en-US" dirty="0"/>
              <a:t>Autowiring by </a:t>
            </a:r>
            <a:r>
              <a:rPr lang="en-US" b="1" dirty="0"/>
              <a:t>property datatype</a:t>
            </a:r>
            <a:r>
              <a:rPr lang="en-US" dirty="0"/>
              <a:t>. </a:t>
            </a:r>
          </a:p>
          <a:p>
            <a:r>
              <a:rPr lang="en-US" dirty="0"/>
              <a:t>It then tries to match and wire a property if its type matches with exactly one of the beans name in configuration file. </a:t>
            </a:r>
          </a:p>
          <a:p>
            <a:r>
              <a:rPr lang="en-US" dirty="0"/>
              <a:t>If more than one such beans exists, a fatal exception is thrown.</a:t>
            </a:r>
          </a:p>
        </p:txBody>
      </p:sp>
    </p:spTree>
    <p:extLst>
      <p:ext uri="{BB962C8B-B14F-4D97-AF65-F5344CB8AC3E}">
        <p14:creationId xmlns:p14="http://schemas.microsoft.com/office/powerpoint/2010/main" val="4226073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297C-6D41-F257-6413-717592D6DA4D}"/>
              </a:ext>
            </a:extLst>
          </p:cNvPr>
          <p:cNvSpPr>
            <a:spLocks noGrp="1"/>
          </p:cNvSpPr>
          <p:nvPr>
            <p:ph type="title"/>
          </p:nvPr>
        </p:nvSpPr>
        <p:spPr>
          <a:xfrm>
            <a:off x="2315974" y="929081"/>
            <a:ext cx="7217992" cy="590438"/>
          </a:xfrm>
        </p:spPr>
        <p:txBody>
          <a:bodyPr/>
          <a:lstStyle/>
          <a:p>
            <a:pPr algn="ctr"/>
            <a:r>
              <a:rPr lang="en-IN" b="1" dirty="0"/>
              <a:t>Example:</a:t>
            </a:r>
          </a:p>
        </p:txBody>
      </p:sp>
      <p:sp>
        <p:nvSpPr>
          <p:cNvPr id="3" name="Content Placeholder 2">
            <a:extLst>
              <a:ext uri="{FF2B5EF4-FFF2-40B4-BE49-F238E27FC236}">
                <a16:creationId xmlns:a16="http://schemas.microsoft.com/office/drawing/2014/main" id="{989B2231-7E2C-6247-3611-A0B57782717D}"/>
              </a:ext>
            </a:extLst>
          </p:cNvPr>
          <p:cNvSpPr>
            <a:spLocks noGrp="1"/>
          </p:cNvSpPr>
          <p:nvPr>
            <p:ph idx="1"/>
          </p:nvPr>
        </p:nvSpPr>
        <p:spPr>
          <a:xfrm>
            <a:off x="1960654" y="1519519"/>
            <a:ext cx="8969939" cy="4424081"/>
          </a:xfrm>
        </p:spPr>
        <p:txBody>
          <a:bodyPr>
            <a:normAutofit fontScale="92500"/>
          </a:bodyPr>
          <a:lstStyle/>
          <a:p>
            <a:r>
              <a:rPr lang="en-IN" sz="2400" dirty="0"/>
              <a:t>Instead of using </a:t>
            </a:r>
            <a:r>
              <a:rPr lang="en-IN" sz="2400" b="1" dirty="0"/>
              <a:t>ref = "</a:t>
            </a:r>
            <a:r>
              <a:rPr lang="en-IN" sz="2400" b="1" dirty="0" err="1"/>
              <a:t>spellChecker</a:t>
            </a:r>
            <a:r>
              <a:rPr lang="en-IN" sz="2400" b="1" dirty="0"/>
              <a:t>" </a:t>
            </a:r>
            <a:r>
              <a:rPr lang="en-IN" sz="2400" dirty="0"/>
              <a:t>we can use </a:t>
            </a:r>
            <a:r>
              <a:rPr lang="en-IN" sz="2400" b="1" dirty="0" err="1"/>
              <a:t>autowire</a:t>
            </a:r>
            <a:r>
              <a:rPr lang="en-IN" sz="2400" b="1" dirty="0"/>
              <a:t>=“</a:t>
            </a:r>
            <a:r>
              <a:rPr lang="en-IN" sz="2400" b="1" dirty="0" err="1"/>
              <a:t>byName</a:t>
            </a:r>
            <a:r>
              <a:rPr lang="en-IN" sz="2400" b="1" dirty="0"/>
              <a:t>” or </a:t>
            </a:r>
            <a:r>
              <a:rPr lang="en-IN" sz="2400" b="1" dirty="0" err="1"/>
              <a:t>autowire</a:t>
            </a:r>
            <a:r>
              <a:rPr lang="en-IN" sz="2400" b="1" dirty="0"/>
              <a:t> = "constructor"</a:t>
            </a:r>
          </a:p>
          <a:p>
            <a:pPr marL="0" indent="0">
              <a:buNone/>
            </a:pPr>
            <a:r>
              <a:rPr lang="en-IN" sz="2400" dirty="0"/>
              <a:t>&lt;bean id = "</a:t>
            </a:r>
            <a:r>
              <a:rPr lang="en-IN" sz="2400" dirty="0" err="1"/>
              <a:t>textEditor</a:t>
            </a:r>
            <a:r>
              <a:rPr lang="en-IN" sz="2400" dirty="0"/>
              <a:t>" class = "</a:t>
            </a:r>
            <a:r>
              <a:rPr lang="en-IN" sz="2400" dirty="0" err="1"/>
              <a:t>com.dependencyInject.TextEditor</a:t>
            </a:r>
            <a:r>
              <a:rPr lang="en-IN" sz="2400" dirty="0"/>
              <a:t>"&gt;</a:t>
            </a:r>
          </a:p>
          <a:p>
            <a:pPr marL="0" indent="0">
              <a:buNone/>
            </a:pPr>
            <a:r>
              <a:rPr lang="en-IN" sz="2400" dirty="0"/>
              <a:t>    &lt;property name = "</a:t>
            </a:r>
            <a:r>
              <a:rPr lang="en-IN" sz="2400" dirty="0" err="1"/>
              <a:t>spellChecker</a:t>
            </a:r>
            <a:r>
              <a:rPr lang="en-IN" sz="2400" dirty="0"/>
              <a:t>" </a:t>
            </a:r>
            <a:r>
              <a:rPr lang="en-IN" sz="2400" b="1" dirty="0"/>
              <a:t>ref = "</a:t>
            </a:r>
            <a:r>
              <a:rPr lang="en-IN" sz="2400" b="1" dirty="0" err="1"/>
              <a:t>spellChecker</a:t>
            </a:r>
            <a:r>
              <a:rPr lang="en-IN" sz="2400" b="1" dirty="0"/>
              <a:t>"</a:t>
            </a:r>
            <a:r>
              <a:rPr lang="en-IN" sz="2400" dirty="0"/>
              <a:t>/&gt; </a:t>
            </a:r>
          </a:p>
          <a:p>
            <a:pPr marL="0" indent="0">
              <a:buNone/>
            </a:pPr>
            <a:r>
              <a:rPr lang="en-IN" sz="2400" dirty="0"/>
              <a:t>&lt;/bean&gt;	(OR)</a:t>
            </a:r>
          </a:p>
          <a:p>
            <a:pPr marL="0" indent="0">
              <a:buNone/>
            </a:pPr>
            <a:r>
              <a:rPr lang="en-IN" sz="2400" dirty="0"/>
              <a:t>&lt;bean id = "</a:t>
            </a:r>
            <a:r>
              <a:rPr lang="en-IN" sz="2400" dirty="0" err="1"/>
              <a:t>textEditor</a:t>
            </a:r>
            <a:r>
              <a:rPr lang="en-IN" sz="2400" dirty="0"/>
              <a:t>" class = "</a:t>
            </a:r>
            <a:r>
              <a:rPr lang="en-IN" sz="2400" dirty="0" err="1"/>
              <a:t>com.dependencyInject.TextEditor</a:t>
            </a:r>
            <a:r>
              <a:rPr lang="en-IN" sz="2400" dirty="0"/>
              <a:t>" </a:t>
            </a:r>
          </a:p>
          <a:p>
            <a:pPr marL="0" indent="0">
              <a:buNone/>
            </a:pPr>
            <a:r>
              <a:rPr lang="en-IN" sz="2400" b="1" dirty="0" err="1"/>
              <a:t>autowire</a:t>
            </a:r>
            <a:r>
              <a:rPr lang="en-IN" sz="2400" b="1" dirty="0"/>
              <a:t> = "</a:t>
            </a:r>
            <a:r>
              <a:rPr lang="en-IN" sz="2400" b="1" dirty="0" err="1"/>
              <a:t>byType</a:t>
            </a:r>
            <a:r>
              <a:rPr lang="en-IN" sz="2400" b="1" dirty="0"/>
              <a:t>”</a:t>
            </a:r>
            <a:r>
              <a:rPr lang="en-IN" sz="2400" dirty="0"/>
              <a:t>&gt; &lt;/bean&gt;</a:t>
            </a:r>
          </a:p>
        </p:txBody>
      </p:sp>
    </p:spTree>
    <p:extLst>
      <p:ext uri="{BB962C8B-B14F-4D97-AF65-F5344CB8AC3E}">
        <p14:creationId xmlns:p14="http://schemas.microsoft.com/office/powerpoint/2010/main" val="60926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F78F-9BA7-21D5-4E83-3022F09C05EF}"/>
              </a:ext>
            </a:extLst>
          </p:cNvPr>
          <p:cNvSpPr>
            <a:spLocks noGrp="1"/>
          </p:cNvSpPr>
          <p:nvPr>
            <p:ph type="title"/>
          </p:nvPr>
        </p:nvSpPr>
        <p:spPr>
          <a:xfrm>
            <a:off x="2423549" y="861846"/>
            <a:ext cx="7958331" cy="792144"/>
          </a:xfrm>
        </p:spPr>
        <p:txBody>
          <a:bodyPr/>
          <a:lstStyle/>
          <a:p>
            <a:pPr algn="ctr"/>
            <a:r>
              <a:rPr lang="en-IN" b="1" dirty="0"/>
              <a:t>Limitation of Autowiring</a:t>
            </a:r>
          </a:p>
        </p:txBody>
      </p:sp>
      <p:sp>
        <p:nvSpPr>
          <p:cNvPr id="3" name="Content Placeholder 2">
            <a:extLst>
              <a:ext uri="{FF2B5EF4-FFF2-40B4-BE49-F238E27FC236}">
                <a16:creationId xmlns:a16="http://schemas.microsoft.com/office/drawing/2014/main" id="{AF9B4B42-4B9A-F297-7BC9-A648C99A93B2}"/>
              </a:ext>
            </a:extLst>
          </p:cNvPr>
          <p:cNvSpPr>
            <a:spLocks noGrp="1"/>
          </p:cNvSpPr>
          <p:nvPr>
            <p:ph idx="1"/>
          </p:nvPr>
        </p:nvSpPr>
        <p:spPr>
          <a:xfrm>
            <a:off x="1936376" y="1411941"/>
            <a:ext cx="8633763" cy="4961965"/>
          </a:xfrm>
        </p:spPr>
        <p:txBody>
          <a:bodyPr/>
          <a:lstStyle/>
          <a:p>
            <a:pPr marL="0" indent="0">
              <a:buNone/>
            </a:pPr>
            <a:r>
              <a:rPr lang="en-US" b="1" dirty="0"/>
              <a:t>Overriding possibility</a:t>
            </a:r>
          </a:p>
          <a:p>
            <a:r>
              <a:rPr lang="en-US" dirty="0"/>
              <a:t>You can still specify dependencies using &lt;constructor-arg&gt; and &lt;property&gt; settings which will always override autowiring.	</a:t>
            </a:r>
          </a:p>
          <a:p>
            <a:pPr marL="0" indent="0">
              <a:buNone/>
            </a:pPr>
            <a:r>
              <a:rPr lang="en-US" b="1" dirty="0"/>
              <a:t>Primitive data types</a:t>
            </a:r>
          </a:p>
          <a:p>
            <a:r>
              <a:rPr lang="en-US" dirty="0"/>
              <a:t>You </a:t>
            </a:r>
            <a:r>
              <a:rPr lang="en-US" b="1" dirty="0"/>
              <a:t>cannot autowire </a:t>
            </a:r>
            <a:r>
              <a:rPr lang="en-US" dirty="0"/>
              <a:t>so-called simple properties such as primitives, </a:t>
            </a:r>
            <a:r>
              <a:rPr lang="en-US" b="1" dirty="0"/>
              <a:t>Strings, and Classes</a:t>
            </a:r>
            <a:r>
              <a:rPr lang="en-US" dirty="0"/>
              <a:t>.</a:t>
            </a:r>
          </a:p>
          <a:p>
            <a:pPr marL="0" indent="0">
              <a:buNone/>
            </a:pPr>
            <a:r>
              <a:rPr lang="en-US" b="1" dirty="0"/>
              <a:t>Confusing nature</a:t>
            </a:r>
          </a:p>
          <a:p>
            <a:r>
              <a:rPr lang="en-US" dirty="0"/>
              <a:t>Autowiring is less exact than explicit wiring, so if possible prefer using explict wiring.</a:t>
            </a:r>
            <a:endParaRPr lang="en-IN" dirty="0"/>
          </a:p>
        </p:txBody>
      </p:sp>
    </p:spTree>
    <p:extLst>
      <p:ext uri="{BB962C8B-B14F-4D97-AF65-F5344CB8AC3E}">
        <p14:creationId xmlns:p14="http://schemas.microsoft.com/office/powerpoint/2010/main" val="1251500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BB6B-09F9-B6A9-2965-22FC3A0E870C}"/>
              </a:ext>
            </a:extLst>
          </p:cNvPr>
          <p:cNvSpPr>
            <a:spLocks noGrp="1"/>
          </p:cNvSpPr>
          <p:nvPr>
            <p:ph type="title"/>
          </p:nvPr>
        </p:nvSpPr>
        <p:spPr>
          <a:xfrm>
            <a:off x="2531127" y="1050105"/>
            <a:ext cx="7527274" cy="684568"/>
          </a:xfrm>
        </p:spPr>
        <p:txBody>
          <a:bodyPr/>
          <a:lstStyle/>
          <a:p>
            <a:pPr algn="ctr"/>
            <a:r>
              <a:rPr lang="en-IN" b="1" dirty="0"/>
              <a:t>Anotation Based Configure</a:t>
            </a:r>
          </a:p>
        </p:txBody>
      </p:sp>
      <p:sp>
        <p:nvSpPr>
          <p:cNvPr id="3" name="Content Placeholder 2">
            <a:extLst>
              <a:ext uri="{FF2B5EF4-FFF2-40B4-BE49-F238E27FC236}">
                <a16:creationId xmlns:a16="http://schemas.microsoft.com/office/drawing/2014/main" id="{9FF840E9-8AAF-E0D4-6F48-9B382EC488A6}"/>
              </a:ext>
            </a:extLst>
          </p:cNvPr>
          <p:cNvSpPr>
            <a:spLocks noGrp="1"/>
          </p:cNvSpPr>
          <p:nvPr>
            <p:ph idx="1"/>
          </p:nvPr>
        </p:nvSpPr>
        <p:spPr>
          <a:xfrm>
            <a:off x="1734671" y="1492625"/>
            <a:ext cx="8835468" cy="4557319"/>
          </a:xfrm>
        </p:spPr>
        <p:txBody>
          <a:bodyPr/>
          <a:lstStyle/>
          <a:p>
            <a:r>
              <a:rPr lang="en-US" dirty="0"/>
              <a:t>Starting from </a:t>
            </a:r>
            <a:r>
              <a:rPr lang="en-US" b="1" dirty="0"/>
              <a:t>Spring 2.5 </a:t>
            </a:r>
            <a:r>
              <a:rPr lang="en-US" dirty="0"/>
              <a:t>it became possible to configure the dependency injection using annotations. </a:t>
            </a:r>
          </a:p>
          <a:p>
            <a:r>
              <a:rPr lang="en-US" dirty="0"/>
              <a:t>So instead of using XML to describe a bean wiring, you can move the </a:t>
            </a:r>
            <a:r>
              <a:rPr lang="en-US" b="1" dirty="0"/>
              <a:t>bean configuration into the component class</a:t>
            </a:r>
            <a:r>
              <a:rPr lang="en-US" dirty="0"/>
              <a:t> itself by using annotations on the relevant class, method, or field declaration.</a:t>
            </a:r>
          </a:p>
          <a:p>
            <a:r>
              <a:rPr lang="en-US" dirty="0"/>
              <a:t>Annotation wiring is not turned on in the Spring container by default. </a:t>
            </a:r>
          </a:p>
          <a:p>
            <a:r>
              <a:rPr lang="en-US" dirty="0"/>
              <a:t>So, before we can use annotation-based wiring, we will need to enable it in our Spring configuration file using </a:t>
            </a:r>
            <a:r>
              <a:rPr lang="en-US" b="1" dirty="0"/>
              <a:t>&lt;context:annotation-config/&gt;</a:t>
            </a:r>
            <a:endParaRPr lang="en-IN" b="1" dirty="0"/>
          </a:p>
        </p:txBody>
      </p:sp>
    </p:spTree>
    <p:extLst>
      <p:ext uri="{BB962C8B-B14F-4D97-AF65-F5344CB8AC3E}">
        <p14:creationId xmlns:p14="http://schemas.microsoft.com/office/powerpoint/2010/main" val="3359811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0790B-212D-8E13-494A-4C7C65AE8620}"/>
              </a:ext>
            </a:extLst>
          </p:cNvPr>
          <p:cNvSpPr>
            <a:spLocks noGrp="1"/>
          </p:cNvSpPr>
          <p:nvPr>
            <p:ph type="title"/>
          </p:nvPr>
        </p:nvSpPr>
        <p:spPr>
          <a:xfrm>
            <a:off x="2017058" y="660138"/>
            <a:ext cx="6854921" cy="751803"/>
          </a:xfrm>
        </p:spPr>
        <p:txBody>
          <a:bodyPr/>
          <a:lstStyle/>
          <a:p>
            <a:r>
              <a:rPr lang="en-IN" b="1" dirty="0"/>
              <a:t>Few important annotations</a:t>
            </a:r>
          </a:p>
        </p:txBody>
      </p:sp>
      <p:sp>
        <p:nvSpPr>
          <p:cNvPr id="3" name="Content Placeholder 2">
            <a:extLst>
              <a:ext uri="{FF2B5EF4-FFF2-40B4-BE49-F238E27FC236}">
                <a16:creationId xmlns:a16="http://schemas.microsoft.com/office/drawing/2014/main" id="{44952C71-7168-66D6-3D8E-51DD3152C9AF}"/>
              </a:ext>
            </a:extLst>
          </p:cNvPr>
          <p:cNvSpPr>
            <a:spLocks noGrp="1"/>
          </p:cNvSpPr>
          <p:nvPr>
            <p:ph idx="1"/>
          </p:nvPr>
        </p:nvSpPr>
        <p:spPr>
          <a:xfrm>
            <a:off x="1799289" y="1411941"/>
            <a:ext cx="8593421" cy="4988860"/>
          </a:xfrm>
        </p:spPr>
        <p:txBody>
          <a:bodyPr>
            <a:normAutofit fontScale="92500" lnSpcReduction="20000"/>
          </a:bodyPr>
          <a:lstStyle/>
          <a:p>
            <a:pPr marL="0" indent="0">
              <a:buNone/>
            </a:pPr>
            <a:r>
              <a:rPr lang="en-US" b="1" dirty="0"/>
              <a:t>@Required</a:t>
            </a:r>
          </a:p>
          <a:p>
            <a:r>
              <a:rPr lang="en-US" dirty="0"/>
              <a:t>The @Required annotation applies to bean property setter methods.</a:t>
            </a:r>
          </a:p>
          <a:p>
            <a:pPr marL="0" indent="0">
              <a:buNone/>
            </a:pPr>
            <a:r>
              <a:rPr lang="en-US" b="1" dirty="0"/>
              <a:t>@Autowired</a:t>
            </a:r>
          </a:p>
          <a:p>
            <a:r>
              <a:rPr lang="en-US" dirty="0"/>
              <a:t>The @Autowired annotation can apply to bean property setter methods, non-setter methods, constructor and properties.</a:t>
            </a:r>
          </a:p>
          <a:p>
            <a:pPr marL="0" indent="0">
              <a:buNone/>
            </a:pPr>
            <a:r>
              <a:rPr lang="en-US" b="1" dirty="0"/>
              <a:t>@Qualifier</a:t>
            </a:r>
          </a:p>
          <a:p>
            <a:r>
              <a:rPr lang="en-US" dirty="0"/>
              <a:t>The @Qualifier annotation along with @Autowired can be used to remove the confusion by </a:t>
            </a:r>
            <a:r>
              <a:rPr lang="en-US" b="1" dirty="0"/>
              <a:t>specifiying which exact bean will be wired</a:t>
            </a:r>
            <a:r>
              <a:rPr lang="en-US" dirty="0"/>
              <a:t>.</a:t>
            </a:r>
          </a:p>
          <a:p>
            <a:pPr marL="0" indent="0">
              <a:buNone/>
            </a:pPr>
            <a:r>
              <a:rPr lang="en-US" b="1" dirty="0"/>
              <a:t>JSR-250 Annotations</a:t>
            </a:r>
          </a:p>
          <a:p>
            <a:r>
              <a:rPr lang="en-US" dirty="0"/>
              <a:t>Spring supports JSR-250 based annotations which include </a:t>
            </a:r>
            <a:r>
              <a:rPr lang="en-US" b="1" dirty="0"/>
              <a:t>@Resource, @PostConstruct and @PreDestroy</a:t>
            </a:r>
            <a:r>
              <a:rPr lang="en-US" dirty="0"/>
              <a:t> annotations.</a:t>
            </a:r>
            <a:endParaRPr lang="en-IN" dirty="0"/>
          </a:p>
        </p:txBody>
      </p:sp>
    </p:spTree>
    <p:extLst>
      <p:ext uri="{BB962C8B-B14F-4D97-AF65-F5344CB8AC3E}">
        <p14:creationId xmlns:p14="http://schemas.microsoft.com/office/powerpoint/2010/main" val="143355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C05FF-A13D-1261-8C5E-42696CE8121D}"/>
              </a:ext>
            </a:extLst>
          </p:cNvPr>
          <p:cNvSpPr>
            <a:spLocks noGrp="1"/>
          </p:cNvSpPr>
          <p:nvPr>
            <p:ph type="title"/>
          </p:nvPr>
        </p:nvSpPr>
        <p:spPr>
          <a:xfrm>
            <a:off x="2544572" y="861845"/>
            <a:ext cx="7607957" cy="738356"/>
          </a:xfrm>
        </p:spPr>
        <p:txBody>
          <a:bodyPr/>
          <a:lstStyle/>
          <a:p>
            <a:pPr algn="ctr"/>
            <a:r>
              <a:rPr lang="en-IN" b="1" dirty="0"/>
              <a:t>Java-Based Configuration</a:t>
            </a:r>
          </a:p>
        </p:txBody>
      </p:sp>
      <p:sp>
        <p:nvSpPr>
          <p:cNvPr id="3" name="Content Placeholder 2">
            <a:extLst>
              <a:ext uri="{FF2B5EF4-FFF2-40B4-BE49-F238E27FC236}">
                <a16:creationId xmlns:a16="http://schemas.microsoft.com/office/drawing/2014/main" id="{741165CC-6FA4-F8E9-7663-71F3370ED228}"/>
              </a:ext>
            </a:extLst>
          </p:cNvPr>
          <p:cNvSpPr>
            <a:spLocks noGrp="1"/>
          </p:cNvSpPr>
          <p:nvPr>
            <p:ph idx="1"/>
          </p:nvPr>
        </p:nvSpPr>
        <p:spPr>
          <a:xfrm>
            <a:off x="1698436" y="1506071"/>
            <a:ext cx="8795127" cy="4881282"/>
          </a:xfrm>
        </p:spPr>
        <p:txBody>
          <a:bodyPr>
            <a:normAutofit/>
          </a:bodyPr>
          <a:lstStyle/>
          <a:p>
            <a:r>
              <a:rPr lang="en-US" dirty="0"/>
              <a:t>Java-based configuration option enables you to write most of your Spring configuration without XML but with the help of few Java-based annotations.</a:t>
            </a:r>
          </a:p>
          <a:p>
            <a:pPr marL="0" indent="0">
              <a:buNone/>
            </a:pPr>
            <a:r>
              <a:rPr lang="en-US" sz="2400" b="1" dirty="0"/>
              <a:t>@Configuration &amp; @Bean Annotations</a:t>
            </a:r>
          </a:p>
          <a:p>
            <a:r>
              <a:rPr lang="en-US" dirty="0"/>
              <a:t>Annotating a class with the @Configuration indicates that the class can be used by the Spring IoC container as a source of bean definitions. </a:t>
            </a:r>
          </a:p>
          <a:p>
            <a:r>
              <a:rPr lang="en-US" dirty="0"/>
              <a:t>The @Bean annotation tells Spring that a method annotated with @Bean will return an object that should be registered as a bean in the Spring application context.</a:t>
            </a:r>
          </a:p>
          <a:p>
            <a:pPr marL="0" indent="0">
              <a:buNone/>
            </a:pPr>
            <a:r>
              <a:rPr lang="en-US" dirty="0"/>
              <a:t>	</a:t>
            </a:r>
            <a:r>
              <a:rPr lang="en-US" sz="2800" b="1" dirty="0"/>
              <a:t>&lt;bean&gt; --&gt;  @Component  --&gt; @Bean </a:t>
            </a:r>
            <a:endParaRPr lang="en-IN" b="1" dirty="0"/>
          </a:p>
        </p:txBody>
      </p:sp>
    </p:spTree>
    <p:extLst>
      <p:ext uri="{BB962C8B-B14F-4D97-AF65-F5344CB8AC3E}">
        <p14:creationId xmlns:p14="http://schemas.microsoft.com/office/powerpoint/2010/main" val="388955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2A393A-D16B-A1DC-42FD-FD0DF15610E9}"/>
              </a:ext>
            </a:extLst>
          </p:cNvPr>
          <p:cNvSpPr>
            <a:spLocks noGrp="1"/>
          </p:cNvSpPr>
          <p:nvPr>
            <p:ph idx="1"/>
          </p:nvPr>
        </p:nvSpPr>
        <p:spPr>
          <a:xfrm>
            <a:off x="1586753" y="968188"/>
            <a:ext cx="8781680" cy="5525509"/>
          </a:xfrm>
        </p:spPr>
        <p:txBody>
          <a:bodyPr>
            <a:normAutofit fontScale="92500" lnSpcReduction="20000"/>
          </a:bodyPr>
          <a:lstStyle/>
          <a:p>
            <a:pPr marL="0" indent="0">
              <a:buNone/>
            </a:pPr>
            <a:r>
              <a:rPr lang="en-US" sz="2800" b="1" dirty="0"/>
              <a:t>Injecting Bean Dependencies</a:t>
            </a:r>
          </a:p>
          <a:p>
            <a:r>
              <a:rPr lang="en-US" dirty="0"/>
              <a:t>When @Beans have dependencies on one another, expressing that the dependency is as simple as having one bean method calling another</a:t>
            </a:r>
          </a:p>
          <a:p>
            <a:pPr marL="0" indent="0">
              <a:buNone/>
            </a:pPr>
            <a:r>
              <a:rPr lang="en-US" sz="2800" b="1" dirty="0"/>
              <a:t>The @Import Annotation</a:t>
            </a:r>
          </a:p>
          <a:p>
            <a:r>
              <a:rPr lang="en-US" dirty="0"/>
              <a:t>The @Import annotation allows for loading @Bean definitions from another configuration class.</a:t>
            </a:r>
          </a:p>
          <a:p>
            <a:r>
              <a:rPr lang="en-US" b="1" dirty="0"/>
              <a:t>@Import(JavaConfig.class)</a:t>
            </a:r>
          </a:p>
          <a:p>
            <a:pPr marL="0" indent="0">
              <a:buNone/>
            </a:pPr>
            <a:r>
              <a:rPr lang="en-US" sz="2800" b="1" dirty="0"/>
              <a:t>Lifecycle Callbacks</a:t>
            </a:r>
          </a:p>
          <a:p>
            <a:r>
              <a:rPr lang="en-US" dirty="0"/>
              <a:t>The @Bean annotation supports specifying arbitrary initialization and destruction callback methods, much like </a:t>
            </a:r>
            <a:r>
              <a:rPr lang="en-US" b="1" dirty="0"/>
              <a:t>Spring XML's init-method</a:t>
            </a:r>
            <a:r>
              <a:rPr lang="en-US" dirty="0"/>
              <a:t> and </a:t>
            </a:r>
            <a:r>
              <a:rPr lang="en-US" b="1" dirty="0"/>
              <a:t>destroy-method</a:t>
            </a:r>
            <a:r>
              <a:rPr lang="en-US" dirty="0"/>
              <a:t> attributes on the bean element</a:t>
            </a:r>
          </a:p>
          <a:p>
            <a:r>
              <a:rPr lang="en-US" b="1" dirty="0"/>
              <a:t>@Bean(initMethod = "</a:t>
            </a:r>
            <a:r>
              <a:rPr lang="en-US" b="1" dirty="0" err="1"/>
              <a:t>init</a:t>
            </a:r>
            <a:r>
              <a:rPr lang="en-US" b="1" dirty="0"/>
              <a:t>", </a:t>
            </a:r>
            <a:r>
              <a:rPr lang="en-US" b="1" dirty="0" err="1"/>
              <a:t>destroyMethod</a:t>
            </a:r>
            <a:r>
              <a:rPr lang="en-US" b="1" dirty="0"/>
              <a:t> = "cleanup" )</a:t>
            </a:r>
          </a:p>
          <a:p>
            <a:endParaRPr lang="en-IN" dirty="0"/>
          </a:p>
        </p:txBody>
      </p:sp>
    </p:spTree>
    <p:extLst>
      <p:ext uri="{BB962C8B-B14F-4D97-AF65-F5344CB8AC3E}">
        <p14:creationId xmlns:p14="http://schemas.microsoft.com/office/powerpoint/2010/main" val="3483167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C6D0A-3206-2644-7710-DB98E2D0859F}"/>
              </a:ext>
            </a:extLst>
          </p:cNvPr>
          <p:cNvSpPr>
            <a:spLocks noGrp="1"/>
          </p:cNvSpPr>
          <p:nvPr>
            <p:ph type="title"/>
          </p:nvPr>
        </p:nvSpPr>
        <p:spPr>
          <a:xfrm>
            <a:off x="2406321" y="687033"/>
            <a:ext cx="7087303" cy="765250"/>
          </a:xfrm>
        </p:spPr>
        <p:txBody>
          <a:bodyPr/>
          <a:lstStyle/>
          <a:p>
            <a:pPr algn="ctr"/>
            <a:r>
              <a:rPr lang="en-US" b="1" dirty="0"/>
              <a:t>Event Handling</a:t>
            </a:r>
            <a:endParaRPr lang="en-IN" b="1" dirty="0"/>
          </a:p>
        </p:txBody>
      </p:sp>
      <p:sp>
        <p:nvSpPr>
          <p:cNvPr id="3" name="Content Placeholder 2">
            <a:extLst>
              <a:ext uri="{FF2B5EF4-FFF2-40B4-BE49-F238E27FC236}">
                <a16:creationId xmlns:a16="http://schemas.microsoft.com/office/drawing/2014/main" id="{D8315662-B89A-B72A-4817-1FFA65CBEB91}"/>
              </a:ext>
            </a:extLst>
          </p:cNvPr>
          <p:cNvSpPr>
            <a:spLocks noGrp="1"/>
          </p:cNvSpPr>
          <p:nvPr>
            <p:ph idx="1"/>
          </p:nvPr>
        </p:nvSpPr>
        <p:spPr>
          <a:xfrm>
            <a:off x="1855694" y="1250576"/>
            <a:ext cx="8795127" cy="5163671"/>
          </a:xfrm>
        </p:spPr>
        <p:txBody>
          <a:bodyPr>
            <a:normAutofit fontScale="92500" lnSpcReduction="20000"/>
          </a:bodyPr>
          <a:lstStyle/>
          <a:p>
            <a:r>
              <a:rPr lang="en-US" dirty="0"/>
              <a:t>We have seen in all the chapters that the core of Spring is the ApplicationContext, which manages the complete life cycle of the beans.</a:t>
            </a:r>
          </a:p>
          <a:p>
            <a:r>
              <a:rPr lang="en-US" dirty="0"/>
              <a:t>The ApplicationContext publishes certain types of events when loading the beans.</a:t>
            </a:r>
          </a:p>
          <a:p>
            <a:r>
              <a:rPr lang="en-US" dirty="0"/>
              <a:t>Event handling in the ApplicationContext is provided through the </a:t>
            </a:r>
            <a:r>
              <a:rPr lang="en-US" b="1" dirty="0"/>
              <a:t>ApplicationEvent class</a:t>
            </a:r>
            <a:r>
              <a:rPr lang="en-US" dirty="0"/>
              <a:t> and </a:t>
            </a:r>
            <a:r>
              <a:rPr lang="en-US" b="1" dirty="0"/>
              <a:t>ApplicationListener</a:t>
            </a:r>
            <a:r>
              <a:rPr lang="en-US" dirty="0"/>
              <a:t> </a:t>
            </a:r>
            <a:r>
              <a:rPr lang="en-US" b="1" dirty="0"/>
              <a:t>interface</a:t>
            </a:r>
            <a:r>
              <a:rPr lang="en-US" dirty="0"/>
              <a:t>. </a:t>
            </a:r>
          </a:p>
          <a:p>
            <a:r>
              <a:rPr lang="en-US" dirty="0"/>
              <a:t>Hence, if a bean implements the ApplicationListener, then every time an ApplicationEvent gets published to the ApplicationContext, that bean is notified.</a:t>
            </a:r>
          </a:p>
          <a:p>
            <a:pPr marL="0" indent="0">
              <a:buNone/>
            </a:pPr>
            <a:r>
              <a:rPr lang="en-US" sz="2400" b="1" dirty="0"/>
              <a:t>Listening to Context Events</a:t>
            </a:r>
          </a:p>
          <a:p>
            <a:r>
              <a:rPr lang="en-US" dirty="0"/>
              <a:t>To listen to a context event, a bean should implement the </a:t>
            </a:r>
            <a:r>
              <a:rPr lang="en-US" b="1" dirty="0"/>
              <a:t>ApplicationListener interface</a:t>
            </a:r>
            <a:r>
              <a:rPr lang="en-US" dirty="0"/>
              <a:t> which has just one method </a:t>
            </a:r>
            <a:r>
              <a:rPr lang="en-US" b="1" dirty="0"/>
              <a:t>onApplicationEvent(). </a:t>
            </a:r>
            <a:endParaRPr lang="en-IN" b="1" dirty="0"/>
          </a:p>
        </p:txBody>
      </p:sp>
    </p:spTree>
    <p:extLst>
      <p:ext uri="{BB962C8B-B14F-4D97-AF65-F5344CB8AC3E}">
        <p14:creationId xmlns:p14="http://schemas.microsoft.com/office/powerpoint/2010/main" val="2919832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DCE70-D7F8-0589-AC85-E51D374103E3}"/>
              </a:ext>
            </a:extLst>
          </p:cNvPr>
          <p:cNvSpPr>
            <a:spLocks noGrp="1"/>
          </p:cNvSpPr>
          <p:nvPr>
            <p:ph type="title"/>
          </p:nvPr>
        </p:nvSpPr>
        <p:spPr>
          <a:xfrm>
            <a:off x="2119825" y="1083105"/>
            <a:ext cx="7688639" cy="657673"/>
          </a:xfrm>
        </p:spPr>
        <p:txBody>
          <a:bodyPr/>
          <a:lstStyle/>
          <a:p>
            <a:pPr algn="ctr"/>
            <a:r>
              <a:rPr lang="en-IN" b="1" dirty="0"/>
              <a:t>JDBC Framework</a:t>
            </a:r>
          </a:p>
        </p:txBody>
      </p:sp>
      <p:sp>
        <p:nvSpPr>
          <p:cNvPr id="3" name="Content Placeholder 2">
            <a:extLst>
              <a:ext uri="{FF2B5EF4-FFF2-40B4-BE49-F238E27FC236}">
                <a16:creationId xmlns:a16="http://schemas.microsoft.com/office/drawing/2014/main" id="{AAF33BC9-193A-E5B8-AE25-E03AE099D140}"/>
              </a:ext>
            </a:extLst>
          </p:cNvPr>
          <p:cNvSpPr>
            <a:spLocks noGrp="1"/>
          </p:cNvSpPr>
          <p:nvPr>
            <p:ph idx="1"/>
          </p:nvPr>
        </p:nvSpPr>
        <p:spPr>
          <a:xfrm>
            <a:off x="1465729" y="1559859"/>
            <a:ext cx="8996833" cy="4691791"/>
          </a:xfrm>
        </p:spPr>
        <p:txBody>
          <a:bodyPr/>
          <a:lstStyle/>
          <a:p>
            <a:r>
              <a:rPr lang="en-US" dirty="0"/>
              <a:t>Spring JDBC Framework takes care of all the </a:t>
            </a:r>
            <a:r>
              <a:rPr lang="en-US" b="1" dirty="0"/>
              <a:t>low-level details </a:t>
            </a:r>
            <a:r>
              <a:rPr lang="en-US" dirty="0"/>
              <a:t>starting from </a:t>
            </a:r>
            <a:r>
              <a:rPr lang="en-US" b="1" dirty="0"/>
              <a:t>opening the connection, prepare and execute </a:t>
            </a:r>
            <a:r>
              <a:rPr lang="en-US" dirty="0"/>
              <a:t>the SQL statement, process exceptions, handle transactions and finally close the connection.</a:t>
            </a:r>
          </a:p>
          <a:p>
            <a:r>
              <a:rPr lang="en-US" dirty="0"/>
              <a:t>Spring JDBC provides several approaches and correspondingly different </a:t>
            </a:r>
            <a:r>
              <a:rPr lang="en-US" b="1" dirty="0"/>
              <a:t>classes to interface </a:t>
            </a:r>
            <a:r>
              <a:rPr lang="en-US" dirty="0"/>
              <a:t>with the database.</a:t>
            </a:r>
          </a:p>
          <a:p>
            <a:r>
              <a:rPr lang="en-US" dirty="0"/>
              <a:t>The most popular approach which makes use of </a:t>
            </a:r>
            <a:r>
              <a:rPr lang="en-US" b="1" dirty="0"/>
              <a:t>JdbcTemplate class </a:t>
            </a:r>
            <a:r>
              <a:rPr lang="en-US" dirty="0"/>
              <a:t>of the framework. </a:t>
            </a:r>
          </a:p>
          <a:p>
            <a:r>
              <a:rPr lang="en-US" dirty="0"/>
              <a:t>This is the </a:t>
            </a:r>
            <a:r>
              <a:rPr lang="en-US" b="1" dirty="0"/>
              <a:t>central framework class </a:t>
            </a:r>
            <a:r>
              <a:rPr lang="en-US" dirty="0"/>
              <a:t>that manages all the database communication and exception handling.</a:t>
            </a:r>
            <a:endParaRPr lang="en-IN" dirty="0"/>
          </a:p>
        </p:txBody>
      </p:sp>
    </p:spTree>
    <p:extLst>
      <p:ext uri="{BB962C8B-B14F-4D97-AF65-F5344CB8AC3E}">
        <p14:creationId xmlns:p14="http://schemas.microsoft.com/office/powerpoint/2010/main" val="2944689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1065-4621-1E33-8BE2-D2C77944485F}"/>
              </a:ext>
            </a:extLst>
          </p:cNvPr>
          <p:cNvSpPr>
            <a:spLocks noGrp="1"/>
          </p:cNvSpPr>
          <p:nvPr>
            <p:ph type="title"/>
          </p:nvPr>
        </p:nvSpPr>
        <p:spPr>
          <a:xfrm>
            <a:off x="1982364" y="914398"/>
            <a:ext cx="7958331" cy="698015"/>
          </a:xfrm>
        </p:spPr>
        <p:txBody>
          <a:bodyPr/>
          <a:lstStyle/>
          <a:p>
            <a:pPr algn="ctr"/>
            <a:r>
              <a:rPr lang="en-IN" b="1" dirty="0"/>
              <a:t>JDBC Template Class</a:t>
            </a:r>
          </a:p>
        </p:txBody>
      </p:sp>
      <p:sp>
        <p:nvSpPr>
          <p:cNvPr id="3" name="Content Placeholder 2">
            <a:extLst>
              <a:ext uri="{FF2B5EF4-FFF2-40B4-BE49-F238E27FC236}">
                <a16:creationId xmlns:a16="http://schemas.microsoft.com/office/drawing/2014/main" id="{A3C1681A-8A48-10E7-6FBA-CF1F41385715}"/>
              </a:ext>
            </a:extLst>
          </p:cNvPr>
          <p:cNvSpPr>
            <a:spLocks noGrp="1"/>
          </p:cNvSpPr>
          <p:nvPr>
            <p:ph idx="1"/>
          </p:nvPr>
        </p:nvSpPr>
        <p:spPr>
          <a:xfrm>
            <a:off x="1736536" y="1411941"/>
            <a:ext cx="8718928" cy="4827494"/>
          </a:xfrm>
        </p:spPr>
        <p:txBody>
          <a:bodyPr>
            <a:normAutofit fontScale="92500"/>
          </a:bodyPr>
          <a:lstStyle/>
          <a:p>
            <a:r>
              <a:rPr lang="en-US" sz="2400" dirty="0"/>
              <a:t>The </a:t>
            </a:r>
            <a:r>
              <a:rPr lang="en-US" sz="2400" b="1" dirty="0"/>
              <a:t>JDBC Template class executes SQL queries</a:t>
            </a:r>
            <a:r>
              <a:rPr lang="en-US" sz="2400" dirty="0"/>
              <a:t>, updates statements, stores procedure calls, performs iteration over ResultSets, and extracts returned parameter values. </a:t>
            </a:r>
          </a:p>
          <a:p>
            <a:r>
              <a:rPr lang="en-US" sz="2400" dirty="0"/>
              <a:t>So you can configure a single instance of a JdbcTemplate and then safely inject this shared reference into multiple DAOs.</a:t>
            </a:r>
          </a:p>
          <a:p>
            <a:pPr marL="0" indent="0" algn="ctr">
              <a:buNone/>
            </a:pPr>
            <a:r>
              <a:rPr lang="en-IN" sz="3200" b="1" dirty="0"/>
              <a:t>Executing SQL statements</a:t>
            </a:r>
          </a:p>
          <a:p>
            <a:pPr marL="0" indent="0">
              <a:buNone/>
            </a:pPr>
            <a:r>
              <a:rPr lang="en-IN" sz="2400" dirty="0"/>
              <a:t>	   String SQL = "select count(*) from Student";</a:t>
            </a:r>
          </a:p>
          <a:p>
            <a:pPr marL="0" indent="0">
              <a:buNone/>
            </a:pPr>
            <a:r>
              <a:rPr lang="en-IN" sz="2400" dirty="0"/>
              <a:t>	   int </a:t>
            </a:r>
            <a:r>
              <a:rPr lang="en-IN" sz="2400" dirty="0" err="1"/>
              <a:t>rowCount</a:t>
            </a:r>
            <a:r>
              <a:rPr lang="en-IN" sz="2400" dirty="0"/>
              <a:t> = </a:t>
            </a:r>
            <a:r>
              <a:rPr lang="en-IN" sz="2400" dirty="0" err="1"/>
              <a:t>jdbcTemplateObject.queryForInt</a:t>
            </a:r>
            <a:r>
              <a:rPr lang="en-IN" sz="2400" dirty="0"/>
              <a:t>( SQL );</a:t>
            </a:r>
          </a:p>
        </p:txBody>
      </p:sp>
    </p:spTree>
    <p:extLst>
      <p:ext uri="{BB962C8B-B14F-4D97-AF65-F5344CB8AC3E}">
        <p14:creationId xmlns:p14="http://schemas.microsoft.com/office/powerpoint/2010/main" val="1778536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CEBFA-678A-049A-71DB-30B90B7C65B9}"/>
              </a:ext>
            </a:extLst>
          </p:cNvPr>
          <p:cNvSpPr>
            <a:spLocks noGrp="1"/>
          </p:cNvSpPr>
          <p:nvPr>
            <p:ph type="title"/>
          </p:nvPr>
        </p:nvSpPr>
        <p:spPr>
          <a:xfrm>
            <a:off x="2540792" y="1196172"/>
            <a:ext cx="6922157" cy="671121"/>
          </a:xfrm>
        </p:spPr>
        <p:txBody>
          <a:bodyPr>
            <a:normAutofit/>
          </a:bodyPr>
          <a:lstStyle/>
          <a:p>
            <a:pPr algn="ctr"/>
            <a:r>
              <a:rPr lang="en-US" b="1" dirty="0"/>
              <a:t>Data Access Object (DAO)</a:t>
            </a:r>
            <a:endParaRPr lang="en-IN" b="1" dirty="0"/>
          </a:p>
        </p:txBody>
      </p:sp>
      <p:sp>
        <p:nvSpPr>
          <p:cNvPr id="3" name="Content Placeholder 2">
            <a:extLst>
              <a:ext uri="{FF2B5EF4-FFF2-40B4-BE49-F238E27FC236}">
                <a16:creationId xmlns:a16="http://schemas.microsoft.com/office/drawing/2014/main" id="{436ABF5D-25FD-44C3-9872-B0A77664EEFB}"/>
              </a:ext>
            </a:extLst>
          </p:cNvPr>
          <p:cNvSpPr>
            <a:spLocks noGrp="1"/>
          </p:cNvSpPr>
          <p:nvPr>
            <p:ph idx="1"/>
          </p:nvPr>
        </p:nvSpPr>
        <p:spPr>
          <a:xfrm>
            <a:off x="1638299" y="1531733"/>
            <a:ext cx="8915402" cy="4625788"/>
          </a:xfrm>
        </p:spPr>
        <p:txBody>
          <a:bodyPr>
            <a:normAutofit/>
          </a:bodyPr>
          <a:lstStyle/>
          <a:p>
            <a:r>
              <a:rPr lang="en-US" sz="2400" dirty="0"/>
              <a:t>DAO is commonly </a:t>
            </a:r>
            <a:r>
              <a:rPr lang="en-US" sz="2400" b="1" dirty="0"/>
              <a:t>used for database interaction</a:t>
            </a:r>
            <a:r>
              <a:rPr lang="en-US" sz="2400" dirty="0"/>
              <a:t>. </a:t>
            </a:r>
          </a:p>
          <a:p>
            <a:r>
              <a:rPr lang="en-US" sz="2400" dirty="0"/>
              <a:t>DAOs exist to provide a means to </a:t>
            </a:r>
            <a:r>
              <a:rPr lang="en-US" sz="2400" b="1" dirty="0"/>
              <a:t>read and write data </a:t>
            </a:r>
            <a:r>
              <a:rPr lang="en-US" sz="2400" dirty="0"/>
              <a:t>to the database and they should expose this functionality through an interface by which the rest of the application will access them.</a:t>
            </a:r>
          </a:p>
          <a:p>
            <a:r>
              <a:rPr lang="en-US" sz="2400" dirty="0"/>
              <a:t>The DAO support in Spring makes it easy to work with data access technologies like JDBC, Hibernate, JPA, or JDO in a consistent way.</a:t>
            </a:r>
          </a:p>
        </p:txBody>
      </p:sp>
    </p:spTree>
    <p:extLst>
      <p:ext uri="{BB962C8B-B14F-4D97-AF65-F5344CB8AC3E}">
        <p14:creationId xmlns:p14="http://schemas.microsoft.com/office/powerpoint/2010/main" val="2433072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C0BF61-4D28-ACE4-A4EB-33294CB0843D}"/>
              </a:ext>
            </a:extLst>
          </p:cNvPr>
          <p:cNvSpPr>
            <a:spLocks noGrp="1"/>
          </p:cNvSpPr>
          <p:nvPr>
            <p:ph idx="1"/>
          </p:nvPr>
        </p:nvSpPr>
        <p:spPr>
          <a:xfrm>
            <a:off x="1479176" y="1464495"/>
            <a:ext cx="9520518" cy="4706473"/>
          </a:xfrm>
        </p:spPr>
        <p:txBody>
          <a:bodyPr>
            <a:normAutofit fontScale="92500"/>
          </a:bodyPr>
          <a:lstStyle/>
          <a:p>
            <a:r>
              <a:rPr lang="en-IN" sz="2400" dirty="0"/>
              <a:t>You can configure the DataSource in the XML file</a:t>
            </a:r>
          </a:p>
          <a:p>
            <a:pPr marL="0" indent="0">
              <a:buNone/>
            </a:pPr>
            <a:r>
              <a:rPr lang="en-IN" sz="2400" dirty="0"/>
              <a:t>&lt;bean id = "dataSource" </a:t>
            </a:r>
          </a:p>
          <a:p>
            <a:pPr marL="0" indent="0">
              <a:buNone/>
            </a:pPr>
            <a:r>
              <a:rPr lang="en-IN" sz="2400" dirty="0"/>
              <a:t>class = "org.springframework.jdbc.datasource.DriverManagerDataSource"&gt;</a:t>
            </a:r>
          </a:p>
          <a:p>
            <a:pPr marL="0" indent="0">
              <a:buNone/>
            </a:pPr>
            <a:r>
              <a:rPr lang="en-IN" sz="2400" dirty="0"/>
              <a:t>   &lt;property name = "driverClassName" value = "com.mysql.jdbc.Driver"/&gt;</a:t>
            </a:r>
          </a:p>
          <a:p>
            <a:pPr marL="0" indent="0">
              <a:buNone/>
            </a:pPr>
            <a:r>
              <a:rPr lang="en-IN" sz="2400" dirty="0"/>
              <a:t>   &lt;property name = "url" value = "jdbc:mysql://localhost:3306/TEST"/&gt;</a:t>
            </a:r>
          </a:p>
          <a:p>
            <a:pPr marL="0" indent="0">
              <a:buNone/>
            </a:pPr>
            <a:r>
              <a:rPr lang="en-IN" sz="2400" dirty="0"/>
              <a:t>   &lt;property name = "username" value = "root"/&gt;</a:t>
            </a:r>
          </a:p>
          <a:p>
            <a:pPr marL="0" indent="0">
              <a:buNone/>
            </a:pPr>
            <a:r>
              <a:rPr lang="en-IN" sz="2400" dirty="0"/>
              <a:t>   &lt;property name = "password" value = "password"/&gt;</a:t>
            </a:r>
          </a:p>
          <a:p>
            <a:pPr marL="0" indent="0">
              <a:buNone/>
            </a:pPr>
            <a:r>
              <a:rPr lang="en-IN" sz="2400" dirty="0"/>
              <a:t>&lt;/bean&gt;</a:t>
            </a:r>
          </a:p>
        </p:txBody>
      </p:sp>
      <p:sp>
        <p:nvSpPr>
          <p:cNvPr id="2" name="Title 1">
            <a:extLst>
              <a:ext uri="{FF2B5EF4-FFF2-40B4-BE49-F238E27FC236}">
                <a16:creationId xmlns:a16="http://schemas.microsoft.com/office/drawing/2014/main" id="{1FB2A687-519D-F137-1A0E-843A9D81EDE0}"/>
              </a:ext>
            </a:extLst>
          </p:cNvPr>
          <p:cNvSpPr>
            <a:spLocks noGrp="1"/>
          </p:cNvSpPr>
          <p:nvPr>
            <p:ph type="title"/>
          </p:nvPr>
        </p:nvSpPr>
        <p:spPr>
          <a:xfrm>
            <a:off x="2116834" y="713309"/>
            <a:ext cx="7958331" cy="724909"/>
          </a:xfrm>
        </p:spPr>
        <p:txBody>
          <a:bodyPr/>
          <a:lstStyle/>
          <a:p>
            <a:pPr algn="ctr"/>
            <a:r>
              <a:rPr lang="en-US" b="1" dirty="0"/>
              <a:t>Configuring Data Source</a:t>
            </a:r>
            <a:endParaRPr lang="en-IN" b="1" dirty="0"/>
          </a:p>
        </p:txBody>
      </p:sp>
    </p:spTree>
    <p:extLst>
      <p:ext uri="{BB962C8B-B14F-4D97-AF65-F5344CB8AC3E}">
        <p14:creationId xmlns:p14="http://schemas.microsoft.com/office/powerpoint/2010/main" val="579095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CFD90-894E-D88B-CF39-CE0F7D0DEC53}"/>
              </a:ext>
            </a:extLst>
          </p:cNvPr>
          <p:cNvSpPr>
            <a:spLocks noGrp="1"/>
          </p:cNvSpPr>
          <p:nvPr>
            <p:ph type="title"/>
          </p:nvPr>
        </p:nvSpPr>
        <p:spPr>
          <a:xfrm>
            <a:off x="2289079" y="713926"/>
            <a:ext cx="7958331" cy="644226"/>
          </a:xfrm>
        </p:spPr>
        <p:txBody>
          <a:bodyPr/>
          <a:lstStyle/>
          <a:p>
            <a:pPr algn="ctr"/>
            <a:r>
              <a:rPr lang="en-US" b="1" dirty="0"/>
              <a:t>Spring MVC Framework</a:t>
            </a:r>
            <a:endParaRPr lang="en-IN" b="1" dirty="0"/>
          </a:p>
        </p:txBody>
      </p:sp>
      <p:sp>
        <p:nvSpPr>
          <p:cNvPr id="3" name="Content Placeholder 2">
            <a:extLst>
              <a:ext uri="{FF2B5EF4-FFF2-40B4-BE49-F238E27FC236}">
                <a16:creationId xmlns:a16="http://schemas.microsoft.com/office/drawing/2014/main" id="{CBE8BF32-E180-F042-EF45-330D9080376F}"/>
              </a:ext>
            </a:extLst>
          </p:cNvPr>
          <p:cNvSpPr>
            <a:spLocks noGrp="1"/>
          </p:cNvSpPr>
          <p:nvPr>
            <p:ph idx="1"/>
          </p:nvPr>
        </p:nvSpPr>
        <p:spPr>
          <a:xfrm>
            <a:off x="1621861" y="1358154"/>
            <a:ext cx="8948278" cy="4785920"/>
          </a:xfrm>
        </p:spPr>
        <p:txBody>
          <a:bodyPr/>
          <a:lstStyle/>
          <a:p>
            <a:r>
              <a:rPr lang="en-US" dirty="0"/>
              <a:t>The Spring Web MVC framework provides </a:t>
            </a:r>
            <a:r>
              <a:rPr lang="en-US" b="1" dirty="0"/>
              <a:t>Model-View-Controller (MVC) </a:t>
            </a:r>
            <a:r>
              <a:rPr lang="en-US" dirty="0"/>
              <a:t>architecture and ready components that can be used to </a:t>
            </a:r>
            <a:r>
              <a:rPr lang="en-US" b="1" dirty="0"/>
              <a:t>develop flexible and loosely coupled web applications. </a:t>
            </a:r>
          </a:p>
          <a:p>
            <a:r>
              <a:rPr lang="en-US" dirty="0"/>
              <a:t>It used to create </a:t>
            </a:r>
            <a:r>
              <a:rPr lang="en-US" b="1" dirty="0"/>
              <a:t>web application with client server architecture</a:t>
            </a:r>
            <a:r>
              <a:rPr lang="en-US" dirty="0"/>
              <a:t>.</a:t>
            </a:r>
          </a:p>
          <a:p>
            <a:r>
              <a:rPr lang="en-US" dirty="0"/>
              <a:t>The </a:t>
            </a:r>
            <a:r>
              <a:rPr lang="en-US" b="1" dirty="0"/>
              <a:t>Model</a:t>
            </a:r>
            <a:r>
              <a:rPr lang="en-US" dirty="0"/>
              <a:t> encapsulates the application data and in general they will consist of POJO.</a:t>
            </a:r>
          </a:p>
          <a:p>
            <a:r>
              <a:rPr lang="en-US" dirty="0"/>
              <a:t>The </a:t>
            </a:r>
            <a:r>
              <a:rPr lang="en-US" b="1" dirty="0"/>
              <a:t>View</a:t>
            </a:r>
            <a:r>
              <a:rPr lang="en-US" dirty="0"/>
              <a:t> is responsible for rendering the model data and in general it generates HTML output that the client's browser can interpret.</a:t>
            </a:r>
          </a:p>
          <a:p>
            <a:r>
              <a:rPr lang="en-US" dirty="0"/>
              <a:t>The</a:t>
            </a:r>
            <a:r>
              <a:rPr lang="en-US" b="1" dirty="0"/>
              <a:t> Controller </a:t>
            </a:r>
            <a:r>
              <a:rPr lang="en-US" dirty="0"/>
              <a:t>is responsible for processing user requests and building an appropriate model and passes it to the view for rendering.</a:t>
            </a:r>
            <a:endParaRPr lang="en-IN" dirty="0"/>
          </a:p>
        </p:txBody>
      </p:sp>
    </p:spTree>
    <p:extLst>
      <p:ext uri="{BB962C8B-B14F-4D97-AF65-F5344CB8AC3E}">
        <p14:creationId xmlns:p14="http://schemas.microsoft.com/office/powerpoint/2010/main" val="3630396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3000-007F-7632-D6CC-A29583416664}"/>
              </a:ext>
            </a:extLst>
          </p:cNvPr>
          <p:cNvSpPr>
            <a:spLocks noGrp="1"/>
          </p:cNvSpPr>
          <p:nvPr>
            <p:ph type="title"/>
          </p:nvPr>
        </p:nvSpPr>
        <p:spPr>
          <a:xfrm>
            <a:off x="2329420" y="690141"/>
            <a:ext cx="7958331" cy="619348"/>
          </a:xfrm>
        </p:spPr>
        <p:txBody>
          <a:bodyPr/>
          <a:lstStyle/>
          <a:p>
            <a:pPr algn="ctr"/>
            <a:r>
              <a:rPr lang="en-US" b="1" dirty="0"/>
              <a:t>MVC Architecture</a:t>
            </a:r>
            <a:endParaRPr lang="en-IN" b="1" dirty="0"/>
          </a:p>
        </p:txBody>
      </p:sp>
      <p:sp>
        <p:nvSpPr>
          <p:cNvPr id="3" name="Content Placeholder 2">
            <a:extLst>
              <a:ext uri="{FF2B5EF4-FFF2-40B4-BE49-F238E27FC236}">
                <a16:creationId xmlns:a16="http://schemas.microsoft.com/office/drawing/2014/main" id="{4C8FE8A6-CBA6-0895-6F23-7F89F50D644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26A9B26-71D6-B539-84F5-14F0F4BCD0E3}"/>
              </a:ext>
            </a:extLst>
          </p:cNvPr>
          <p:cNvPicPr>
            <a:picLocks noChangeAspect="1"/>
          </p:cNvPicPr>
          <p:nvPr/>
        </p:nvPicPr>
        <p:blipFill>
          <a:blip r:embed="rId2"/>
          <a:stretch>
            <a:fillRect/>
          </a:stretch>
        </p:blipFill>
        <p:spPr>
          <a:xfrm>
            <a:off x="1526626" y="1385048"/>
            <a:ext cx="9138748" cy="5050129"/>
          </a:xfrm>
          <a:prstGeom prst="rect">
            <a:avLst/>
          </a:prstGeom>
        </p:spPr>
      </p:pic>
    </p:spTree>
    <p:extLst>
      <p:ext uri="{BB962C8B-B14F-4D97-AF65-F5344CB8AC3E}">
        <p14:creationId xmlns:p14="http://schemas.microsoft.com/office/powerpoint/2010/main" val="3367550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8E8E7C-E21C-242F-273B-3A4496109D78}"/>
              </a:ext>
            </a:extLst>
          </p:cNvPr>
          <p:cNvSpPr>
            <a:spLocks noGrp="1"/>
          </p:cNvSpPr>
          <p:nvPr>
            <p:ph idx="1"/>
          </p:nvPr>
        </p:nvSpPr>
        <p:spPr>
          <a:xfrm>
            <a:off x="1519518" y="766481"/>
            <a:ext cx="9050621" cy="5472953"/>
          </a:xfrm>
        </p:spPr>
        <p:txBody>
          <a:bodyPr>
            <a:normAutofit/>
          </a:bodyPr>
          <a:lstStyle/>
          <a:p>
            <a:pPr marL="0" indent="0">
              <a:buNone/>
            </a:pPr>
            <a:r>
              <a:rPr lang="en-US" sz="2800" b="1" dirty="0" err="1"/>
              <a:t>DispatcherServlet</a:t>
            </a:r>
            <a:endParaRPr lang="en-US" sz="2800" b="1" dirty="0"/>
          </a:p>
          <a:p>
            <a:r>
              <a:rPr lang="en-US" dirty="0"/>
              <a:t>The Spring Web model-view-controller (MVC) framework is designed around a </a:t>
            </a:r>
            <a:r>
              <a:rPr lang="en-US" dirty="0" err="1"/>
              <a:t>DispatcherServlet</a:t>
            </a:r>
            <a:r>
              <a:rPr lang="en-US" dirty="0"/>
              <a:t> that handles all the HTTP requests and responses.</a:t>
            </a:r>
          </a:p>
          <a:p>
            <a:pPr marL="0" indent="0">
              <a:buNone/>
            </a:pPr>
            <a:r>
              <a:rPr lang="en-US" sz="2800" b="1" dirty="0"/>
              <a:t>Controller</a:t>
            </a:r>
          </a:p>
          <a:p>
            <a:r>
              <a:rPr lang="en-US" dirty="0"/>
              <a:t>The </a:t>
            </a:r>
            <a:r>
              <a:rPr lang="en-US" dirty="0" err="1"/>
              <a:t>DispatcherServlet</a:t>
            </a:r>
            <a:r>
              <a:rPr lang="en-US" dirty="0"/>
              <a:t> delegates the request to the controllers to execute the functionality specific to it. </a:t>
            </a:r>
          </a:p>
          <a:p>
            <a:r>
              <a:rPr lang="en-US" dirty="0"/>
              <a:t>The @Controller annotation indicates that a particular class serves the role of a controller. </a:t>
            </a:r>
          </a:p>
          <a:p>
            <a:r>
              <a:rPr lang="en-US" dirty="0"/>
              <a:t>The </a:t>
            </a:r>
            <a:r>
              <a:rPr lang="en-US" b="1" dirty="0"/>
              <a:t>@RequestMapping annotation </a:t>
            </a:r>
            <a:r>
              <a:rPr lang="en-US" dirty="0"/>
              <a:t>is used to map a URL to either an entire class or a particular handler method.</a:t>
            </a:r>
            <a:endParaRPr lang="en-IN" dirty="0"/>
          </a:p>
        </p:txBody>
      </p:sp>
    </p:spTree>
    <p:extLst>
      <p:ext uri="{BB962C8B-B14F-4D97-AF65-F5344CB8AC3E}">
        <p14:creationId xmlns:p14="http://schemas.microsoft.com/office/powerpoint/2010/main" val="2516629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2FE20-38BE-EB81-1251-7B19E2DD5EF6}"/>
              </a:ext>
            </a:extLst>
          </p:cNvPr>
          <p:cNvSpPr>
            <a:spLocks noGrp="1"/>
          </p:cNvSpPr>
          <p:nvPr>
            <p:ph type="title"/>
          </p:nvPr>
        </p:nvSpPr>
        <p:spPr>
          <a:xfrm>
            <a:off x="2547516" y="700480"/>
            <a:ext cx="7096968" cy="671120"/>
          </a:xfrm>
        </p:spPr>
        <p:txBody>
          <a:bodyPr/>
          <a:lstStyle/>
          <a:p>
            <a:pPr algn="ctr"/>
            <a:r>
              <a:rPr lang="en-IN" b="1" dirty="0"/>
              <a:t>Creating JSP Views</a:t>
            </a:r>
          </a:p>
        </p:txBody>
      </p:sp>
      <p:sp>
        <p:nvSpPr>
          <p:cNvPr id="3" name="Content Placeholder 2">
            <a:extLst>
              <a:ext uri="{FF2B5EF4-FFF2-40B4-BE49-F238E27FC236}">
                <a16:creationId xmlns:a16="http://schemas.microsoft.com/office/drawing/2014/main" id="{A7281F27-7858-9B12-4F2F-860A1386DDE5}"/>
              </a:ext>
            </a:extLst>
          </p:cNvPr>
          <p:cNvSpPr>
            <a:spLocks noGrp="1"/>
          </p:cNvSpPr>
          <p:nvPr>
            <p:ph idx="1"/>
          </p:nvPr>
        </p:nvSpPr>
        <p:spPr>
          <a:xfrm>
            <a:off x="1586753" y="1371600"/>
            <a:ext cx="8983386" cy="5204012"/>
          </a:xfrm>
        </p:spPr>
        <p:txBody>
          <a:bodyPr>
            <a:normAutofit lnSpcReduction="10000"/>
          </a:bodyPr>
          <a:lstStyle/>
          <a:p>
            <a:r>
              <a:rPr lang="en-IN" dirty="0"/>
              <a:t>Spring MVC supports many types of views for different presentation technologies. </a:t>
            </a:r>
          </a:p>
          <a:p>
            <a:r>
              <a:rPr lang="en-IN" dirty="0"/>
              <a:t>These include - JSPs, HTML, PDF, Excel worksheets, XML, Velocity templates, XSLT, JSON, Atom and RSS feeds, </a:t>
            </a:r>
            <a:r>
              <a:rPr lang="en-IN" dirty="0" err="1"/>
              <a:t>JasperReports</a:t>
            </a:r>
            <a:r>
              <a:rPr lang="en-IN" dirty="0"/>
              <a:t>, etc. </a:t>
            </a:r>
          </a:p>
          <a:p>
            <a:r>
              <a:rPr lang="en-IN" dirty="0"/>
              <a:t>But most commonly we use JSP templates written with JSTL.</a:t>
            </a:r>
          </a:p>
          <a:p>
            <a:pPr marL="0" indent="0">
              <a:buNone/>
            </a:pPr>
            <a:r>
              <a:rPr lang="en-IN" sz="2400" b="1" dirty="0"/>
              <a:t>Example :</a:t>
            </a:r>
          </a:p>
          <a:p>
            <a:pPr marL="0" indent="0">
              <a:buNone/>
            </a:pPr>
            <a:r>
              <a:rPr lang="en-IN" sz="2400" b="1" dirty="0"/>
              <a:t>	</a:t>
            </a:r>
            <a:r>
              <a:rPr lang="en-US" sz="2200" dirty="0"/>
              <a:t>&lt;html&gt;</a:t>
            </a:r>
          </a:p>
          <a:p>
            <a:pPr marL="0" indent="0">
              <a:buNone/>
            </a:pPr>
            <a:r>
              <a:rPr lang="en-US" sz="2200" dirty="0"/>
              <a:t>   		&lt;head&gt; &lt;title&gt;Hello Spring MVC&lt;/title&gt; &lt;/head&gt;</a:t>
            </a:r>
          </a:p>
          <a:p>
            <a:pPr marL="0" indent="0">
              <a:buNone/>
            </a:pPr>
            <a:r>
              <a:rPr lang="en-US" sz="2200" dirty="0"/>
              <a:t>   		&lt;body&gt;  &lt;h2&gt;${message}&lt;/h2&gt;  &lt;/body&gt;</a:t>
            </a:r>
          </a:p>
          <a:p>
            <a:pPr marL="0" indent="0">
              <a:buNone/>
            </a:pPr>
            <a:r>
              <a:rPr lang="en-US" sz="2200" dirty="0"/>
              <a:t>	&lt;/html&gt;</a:t>
            </a:r>
            <a:endParaRPr lang="en-IN" sz="2200" dirty="0"/>
          </a:p>
        </p:txBody>
      </p:sp>
    </p:spTree>
    <p:extLst>
      <p:ext uri="{BB962C8B-B14F-4D97-AF65-F5344CB8AC3E}">
        <p14:creationId xmlns:p14="http://schemas.microsoft.com/office/powerpoint/2010/main" val="4242137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1A3D-45E3-2096-7591-0EC8CBDED9A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1FFC59B-3AA8-D22A-9F64-FC8659A6DCE0}"/>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952833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449F-F544-D82A-B093-9DAB05B9D19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27E4897-58B9-8499-C075-E43CAF8E335C}"/>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2175811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11E42-322B-34D4-1A4A-C372203620C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B389F0B-611B-2AB7-7949-A4B7FE8B7FBB}"/>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977761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88398-86D5-F271-9FC3-95226C45A67E}"/>
              </a:ext>
            </a:extLst>
          </p:cNvPr>
          <p:cNvSpPr>
            <a:spLocks noGrp="1"/>
          </p:cNvSpPr>
          <p:nvPr>
            <p:ph type="title"/>
          </p:nvPr>
        </p:nvSpPr>
        <p:spPr>
          <a:xfrm>
            <a:off x="2622927" y="613284"/>
            <a:ext cx="7947212" cy="1081046"/>
          </a:xfrm>
        </p:spPr>
        <p:txBody>
          <a:bodyPr>
            <a:noAutofit/>
          </a:bodyPr>
          <a:lstStyle/>
          <a:p>
            <a:pPr algn="l"/>
            <a:r>
              <a:rPr lang="en-US" sz="2000" dirty="0"/>
              <a:t>The Spring Framework consists of features organized into about 20 modules. These modules are grouped as shown in the following diagram.</a:t>
            </a:r>
            <a:endParaRPr lang="en-IN" sz="2000" dirty="0"/>
          </a:p>
        </p:txBody>
      </p:sp>
      <p:sp>
        <p:nvSpPr>
          <p:cNvPr id="3" name="Content Placeholder 2">
            <a:extLst>
              <a:ext uri="{FF2B5EF4-FFF2-40B4-BE49-F238E27FC236}">
                <a16:creationId xmlns:a16="http://schemas.microsoft.com/office/drawing/2014/main" id="{A717B574-EAC6-822B-1D8D-D14F6831C451}"/>
              </a:ext>
            </a:extLst>
          </p:cNvPr>
          <p:cNvSpPr>
            <a:spLocks noGrp="1"/>
          </p:cNvSpPr>
          <p:nvPr>
            <p:ph idx="1"/>
          </p:nvPr>
        </p:nvSpPr>
        <p:spPr/>
        <p:txBody>
          <a:bodyPr/>
          <a:lstStyle/>
          <a:p>
            <a:endParaRPr lang="en-IN" dirty="0"/>
          </a:p>
        </p:txBody>
      </p:sp>
      <p:pic>
        <p:nvPicPr>
          <p:cNvPr id="1026" name="Picture 2">
            <a:extLst>
              <a:ext uri="{FF2B5EF4-FFF2-40B4-BE49-F238E27FC236}">
                <a16:creationId xmlns:a16="http://schemas.microsoft.com/office/drawing/2014/main" id="{C4E284E5-090C-4ADE-2FCC-7868EEDDB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847" y="1694330"/>
            <a:ext cx="8517221" cy="4881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432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BF80-E352-68C2-BAA6-99E93CCA8107}"/>
              </a:ext>
            </a:extLst>
          </p:cNvPr>
          <p:cNvSpPr>
            <a:spLocks noGrp="1"/>
          </p:cNvSpPr>
          <p:nvPr>
            <p:ph type="title"/>
          </p:nvPr>
        </p:nvSpPr>
        <p:spPr>
          <a:xfrm>
            <a:off x="2356315" y="794609"/>
            <a:ext cx="7702086" cy="698015"/>
          </a:xfrm>
        </p:spPr>
        <p:txBody>
          <a:bodyPr/>
          <a:lstStyle/>
          <a:p>
            <a:pPr algn="ctr"/>
            <a:r>
              <a:rPr lang="en-US" b="1" dirty="0"/>
              <a:t>Spring AOP- Framework</a:t>
            </a:r>
            <a:endParaRPr lang="en-IN" b="1" dirty="0"/>
          </a:p>
        </p:txBody>
      </p:sp>
      <p:sp>
        <p:nvSpPr>
          <p:cNvPr id="3" name="Content Placeholder 2">
            <a:extLst>
              <a:ext uri="{FF2B5EF4-FFF2-40B4-BE49-F238E27FC236}">
                <a16:creationId xmlns:a16="http://schemas.microsoft.com/office/drawing/2014/main" id="{A50AC821-89D4-E606-6668-589A99B60E5A}"/>
              </a:ext>
            </a:extLst>
          </p:cNvPr>
          <p:cNvSpPr>
            <a:spLocks noGrp="1"/>
          </p:cNvSpPr>
          <p:nvPr>
            <p:ph idx="1"/>
          </p:nvPr>
        </p:nvSpPr>
        <p:spPr>
          <a:xfrm>
            <a:off x="1492624" y="1398494"/>
            <a:ext cx="9077515" cy="4935070"/>
          </a:xfrm>
        </p:spPr>
        <p:txBody>
          <a:bodyPr/>
          <a:lstStyle/>
          <a:p>
            <a:r>
              <a:rPr lang="en-US" dirty="0"/>
              <a:t>One of the key components of Spring Framework is the </a:t>
            </a:r>
            <a:r>
              <a:rPr lang="en-US" b="1" dirty="0"/>
              <a:t>Aspect oriented programming</a:t>
            </a:r>
            <a:r>
              <a:rPr lang="en-US" dirty="0"/>
              <a:t> (AOP) framework. </a:t>
            </a:r>
          </a:p>
          <a:p>
            <a:r>
              <a:rPr lang="en-US" dirty="0"/>
              <a:t>Aspect-Oriented Programming entails breaking down program logic into distinct parts called </a:t>
            </a:r>
            <a:r>
              <a:rPr lang="en-US" b="1" dirty="0"/>
              <a:t>so-called concerns</a:t>
            </a:r>
            <a:r>
              <a:rPr lang="en-US" dirty="0"/>
              <a:t>.</a:t>
            </a:r>
          </a:p>
          <a:p>
            <a:r>
              <a:rPr lang="en-US" dirty="0"/>
              <a:t>There are various common </a:t>
            </a:r>
            <a:r>
              <a:rPr lang="en-US" b="1" dirty="0"/>
              <a:t>good examples of aspects </a:t>
            </a:r>
            <a:r>
              <a:rPr lang="en-US" dirty="0"/>
              <a:t>like logging, auditing, declarative transactions, security, caching, etc.</a:t>
            </a:r>
          </a:p>
          <a:p>
            <a:r>
              <a:rPr lang="en-US" dirty="0"/>
              <a:t>The key unit of modularity in </a:t>
            </a:r>
            <a:r>
              <a:rPr lang="en-US" b="1" dirty="0"/>
              <a:t>OOP is the class</a:t>
            </a:r>
            <a:r>
              <a:rPr lang="en-US" dirty="0"/>
              <a:t>, whereas in </a:t>
            </a:r>
            <a:r>
              <a:rPr lang="en-US" b="1" dirty="0"/>
              <a:t>AOP</a:t>
            </a:r>
            <a:r>
              <a:rPr lang="en-US" dirty="0"/>
              <a:t> the unit of modularity is the </a:t>
            </a:r>
            <a:r>
              <a:rPr lang="en-US" b="1" dirty="0"/>
              <a:t>aspect</a:t>
            </a:r>
            <a:r>
              <a:rPr lang="en-US" dirty="0"/>
              <a:t>. </a:t>
            </a:r>
          </a:p>
          <a:p>
            <a:r>
              <a:rPr lang="en-US" dirty="0"/>
              <a:t>Spring AOP module provides </a:t>
            </a:r>
            <a:r>
              <a:rPr lang="en-US" b="1" dirty="0"/>
              <a:t>interceptors to intercept </a:t>
            </a:r>
            <a:r>
              <a:rPr lang="en-US" dirty="0"/>
              <a:t>an application(adding extra functionality while executing).</a:t>
            </a:r>
            <a:endParaRPr lang="en-IN" dirty="0"/>
          </a:p>
        </p:txBody>
      </p:sp>
    </p:spTree>
    <p:extLst>
      <p:ext uri="{BB962C8B-B14F-4D97-AF65-F5344CB8AC3E}">
        <p14:creationId xmlns:p14="http://schemas.microsoft.com/office/powerpoint/2010/main" val="11469900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376C7-6776-FAE5-4AC2-8DEEBBFE809A}"/>
              </a:ext>
            </a:extLst>
          </p:cNvPr>
          <p:cNvSpPr>
            <a:spLocks noGrp="1"/>
          </p:cNvSpPr>
          <p:nvPr>
            <p:ph type="title"/>
          </p:nvPr>
        </p:nvSpPr>
        <p:spPr>
          <a:xfrm>
            <a:off x="2611808" y="808056"/>
            <a:ext cx="7958331" cy="630779"/>
          </a:xfrm>
        </p:spPr>
        <p:txBody>
          <a:bodyPr/>
          <a:lstStyle/>
          <a:p>
            <a:pPr algn="ctr"/>
            <a:r>
              <a:rPr lang="en-US" b="1" dirty="0"/>
              <a:t>AOP Terminology</a:t>
            </a:r>
            <a:endParaRPr lang="en-IN" b="1" dirty="0"/>
          </a:p>
        </p:txBody>
      </p:sp>
      <p:sp>
        <p:nvSpPr>
          <p:cNvPr id="3" name="Content Placeholder 2">
            <a:extLst>
              <a:ext uri="{FF2B5EF4-FFF2-40B4-BE49-F238E27FC236}">
                <a16:creationId xmlns:a16="http://schemas.microsoft.com/office/drawing/2014/main" id="{00FAA4D8-0A2B-1CB5-AAAB-53F9BD86BD48}"/>
              </a:ext>
            </a:extLst>
          </p:cNvPr>
          <p:cNvSpPr>
            <a:spLocks noGrp="1"/>
          </p:cNvSpPr>
          <p:nvPr>
            <p:ph idx="1"/>
          </p:nvPr>
        </p:nvSpPr>
        <p:spPr>
          <a:xfrm>
            <a:off x="1834773" y="1290918"/>
            <a:ext cx="8522454" cy="5109883"/>
          </a:xfrm>
        </p:spPr>
        <p:txBody>
          <a:bodyPr>
            <a:normAutofit fontScale="92500" lnSpcReduction="20000"/>
          </a:bodyPr>
          <a:lstStyle/>
          <a:p>
            <a:pPr marL="0" indent="0">
              <a:buNone/>
            </a:pPr>
            <a:r>
              <a:rPr lang="en-US" sz="2600" b="1" dirty="0"/>
              <a:t>Aspect</a:t>
            </a:r>
          </a:p>
          <a:p>
            <a:r>
              <a:rPr lang="en-US" sz="2100" dirty="0"/>
              <a:t>This is a module which has a set of APIs providing cross-cutting requirements.</a:t>
            </a:r>
          </a:p>
          <a:p>
            <a:pPr marL="0" indent="0">
              <a:buNone/>
            </a:pPr>
            <a:r>
              <a:rPr lang="en-US" sz="2600" b="1" dirty="0"/>
              <a:t>Join point</a:t>
            </a:r>
          </a:p>
          <a:p>
            <a:r>
              <a:rPr lang="en-US" sz="2100" dirty="0"/>
              <a:t>This represents a point in your application where you can plug-in the AOP aspect</a:t>
            </a:r>
            <a:r>
              <a:rPr lang="en-US" dirty="0"/>
              <a:t>.</a:t>
            </a:r>
          </a:p>
          <a:p>
            <a:pPr marL="0" indent="0">
              <a:buNone/>
            </a:pPr>
            <a:r>
              <a:rPr lang="en-US" sz="2600" b="1" dirty="0"/>
              <a:t>Advice</a:t>
            </a:r>
          </a:p>
          <a:p>
            <a:r>
              <a:rPr lang="en-US" sz="2100" dirty="0"/>
              <a:t>This is the actual action to be taken either before or after the method execution</a:t>
            </a:r>
            <a:r>
              <a:rPr lang="en-US" dirty="0"/>
              <a:t>.</a:t>
            </a:r>
          </a:p>
          <a:p>
            <a:pPr marL="0" indent="0">
              <a:buNone/>
            </a:pPr>
            <a:r>
              <a:rPr lang="en-US" sz="2400" b="1" dirty="0"/>
              <a:t>Target object</a:t>
            </a:r>
          </a:p>
          <a:p>
            <a:r>
              <a:rPr lang="en-US" dirty="0"/>
              <a:t>The object being advised by one or more aspects.</a:t>
            </a:r>
          </a:p>
        </p:txBody>
      </p:sp>
    </p:spTree>
    <p:extLst>
      <p:ext uri="{BB962C8B-B14F-4D97-AF65-F5344CB8AC3E}">
        <p14:creationId xmlns:p14="http://schemas.microsoft.com/office/powerpoint/2010/main" val="20892057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0C8083-1E8B-8482-852B-6ED1ECF0559D}"/>
              </a:ext>
            </a:extLst>
          </p:cNvPr>
          <p:cNvSpPr>
            <a:spLocks noGrp="1"/>
          </p:cNvSpPr>
          <p:nvPr>
            <p:ph idx="1"/>
          </p:nvPr>
        </p:nvSpPr>
        <p:spPr>
          <a:xfrm>
            <a:off x="1624853" y="474009"/>
            <a:ext cx="8742830" cy="5909982"/>
          </a:xfrm>
        </p:spPr>
        <p:txBody>
          <a:bodyPr>
            <a:noAutofit/>
          </a:bodyPr>
          <a:lstStyle/>
          <a:p>
            <a:pPr marL="0" indent="0">
              <a:buNone/>
            </a:pPr>
            <a:r>
              <a:rPr lang="en-US" sz="2400" b="1" dirty="0"/>
              <a:t>Pointcut</a:t>
            </a:r>
          </a:p>
          <a:p>
            <a:r>
              <a:rPr lang="en-US" dirty="0"/>
              <a:t>This is a set of one or more join points where an advice should be executed.</a:t>
            </a:r>
            <a:endParaRPr lang="en-US" b="1" dirty="0"/>
          </a:p>
          <a:p>
            <a:pPr marL="0" indent="0">
              <a:buNone/>
            </a:pPr>
            <a:r>
              <a:rPr lang="en-US" sz="2400" b="1" dirty="0"/>
              <a:t>Introduction</a:t>
            </a:r>
          </a:p>
          <a:p>
            <a:r>
              <a:rPr lang="en-US" dirty="0"/>
              <a:t>An introduction allows you to add new methods or attributes to the existing classes.</a:t>
            </a:r>
          </a:p>
          <a:p>
            <a:pPr marL="0" indent="0">
              <a:buNone/>
            </a:pPr>
            <a:r>
              <a:rPr lang="en-US" sz="2400" b="1" dirty="0"/>
              <a:t>Weaving</a:t>
            </a:r>
          </a:p>
          <a:p>
            <a:r>
              <a:rPr lang="en-US" dirty="0"/>
              <a:t>Weaving is the process of linking aspects with other application types or objects to create an advised object.</a:t>
            </a:r>
          </a:p>
          <a:p>
            <a:r>
              <a:rPr lang="en-US" b="1" dirty="0"/>
              <a:t>Note:</a:t>
            </a:r>
            <a:r>
              <a:rPr lang="en-US" dirty="0"/>
              <a:t> aspectjrt.jar, aspectjweaver.jar, aspectj.jar, aopalliance.jar</a:t>
            </a:r>
          </a:p>
        </p:txBody>
      </p:sp>
    </p:spTree>
    <p:extLst>
      <p:ext uri="{BB962C8B-B14F-4D97-AF65-F5344CB8AC3E}">
        <p14:creationId xmlns:p14="http://schemas.microsoft.com/office/powerpoint/2010/main" val="1928565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1A577-A2C5-12AA-E210-239E1FD0E134}"/>
              </a:ext>
            </a:extLst>
          </p:cNvPr>
          <p:cNvSpPr>
            <a:spLocks noGrp="1"/>
          </p:cNvSpPr>
          <p:nvPr>
            <p:ph type="title"/>
          </p:nvPr>
        </p:nvSpPr>
        <p:spPr>
          <a:xfrm>
            <a:off x="2247197" y="579455"/>
            <a:ext cx="7958331" cy="724909"/>
          </a:xfrm>
        </p:spPr>
        <p:txBody>
          <a:bodyPr/>
          <a:lstStyle/>
          <a:p>
            <a:pPr algn="ctr"/>
            <a:r>
              <a:rPr lang="en-US" b="1" dirty="0"/>
              <a:t>Types of Advice</a:t>
            </a:r>
            <a:endParaRPr lang="en-IN" b="1" dirty="0"/>
          </a:p>
        </p:txBody>
      </p:sp>
      <p:sp>
        <p:nvSpPr>
          <p:cNvPr id="3" name="Content Placeholder 2">
            <a:extLst>
              <a:ext uri="{FF2B5EF4-FFF2-40B4-BE49-F238E27FC236}">
                <a16:creationId xmlns:a16="http://schemas.microsoft.com/office/drawing/2014/main" id="{92E3E9F7-D5FF-22B3-DB0E-8A8790B1D831}"/>
              </a:ext>
            </a:extLst>
          </p:cNvPr>
          <p:cNvSpPr>
            <a:spLocks noGrp="1"/>
          </p:cNvSpPr>
          <p:nvPr>
            <p:ph idx="1"/>
          </p:nvPr>
        </p:nvSpPr>
        <p:spPr>
          <a:xfrm>
            <a:off x="1680882" y="1156447"/>
            <a:ext cx="9090963" cy="5446059"/>
          </a:xfrm>
        </p:spPr>
        <p:txBody>
          <a:bodyPr>
            <a:normAutofit/>
          </a:bodyPr>
          <a:lstStyle/>
          <a:p>
            <a:r>
              <a:rPr lang="en-US" sz="2400" b="1" dirty="0"/>
              <a:t>Before</a:t>
            </a:r>
            <a:r>
              <a:rPr lang="en-US" dirty="0"/>
              <a:t> </a:t>
            </a:r>
            <a:r>
              <a:rPr lang="en-US" dirty="0">
                <a:sym typeface="Wingdings" panose="05000000000000000000" pitchFamily="2" charset="2"/>
              </a:rPr>
              <a:t>  </a:t>
            </a:r>
            <a:r>
              <a:rPr lang="en-US" dirty="0"/>
              <a:t>Run advice before the a method execution.</a:t>
            </a:r>
          </a:p>
          <a:p>
            <a:r>
              <a:rPr lang="en-US" sz="2400" b="1" dirty="0"/>
              <a:t>After </a:t>
            </a:r>
            <a:r>
              <a:rPr lang="en-US" dirty="0">
                <a:sym typeface="Wingdings" panose="05000000000000000000" pitchFamily="2" charset="2"/>
              </a:rPr>
              <a:t>  </a:t>
            </a:r>
            <a:r>
              <a:rPr lang="en-US" dirty="0"/>
              <a:t>Run advice after the method execution, regardless of its outcome.</a:t>
            </a:r>
          </a:p>
          <a:p>
            <a:r>
              <a:rPr lang="en-US" sz="2400" b="1" dirty="0"/>
              <a:t>Around </a:t>
            </a:r>
            <a:r>
              <a:rPr lang="en-US" sz="2400" b="1" dirty="0">
                <a:sym typeface="Wingdings" panose="05000000000000000000" pitchFamily="2" charset="2"/>
              </a:rPr>
              <a:t>  </a:t>
            </a:r>
            <a:r>
              <a:rPr lang="en-US" dirty="0"/>
              <a:t>Run advice before and after the advised method is invoked.</a:t>
            </a:r>
          </a:p>
          <a:p>
            <a:pPr marL="0" indent="0">
              <a:buNone/>
            </a:pPr>
            <a:r>
              <a:rPr lang="en-US" sz="2400" b="1" dirty="0"/>
              <a:t>After-returning</a:t>
            </a:r>
          </a:p>
          <a:p>
            <a:r>
              <a:rPr lang="en-US" dirty="0"/>
              <a:t>Run advice after the a method execution only if method completes successfully.</a:t>
            </a:r>
          </a:p>
          <a:p>
            <a:pPr marL="0" indent="0">
              <a:buNone/>
            </a:pPr>
            <a:r>
              <a:rPr lang="en-US" sz="2400" b="1" dirty="0"/>
              <a:t>After-throwing</a:t>
            </a:r>
          </a:p>
          <a:p>
            <a:r>
              <a:rPr lang="en-US" dirty="0"/>
              <a:t>Run advice after the a method execution only if method exits by throwing an exception.</a:t>
            </a:r>
          </a:p>
        </p:txBody>
      </p:sp>
    </p:spTree>
    <p:extLst>
      <p:ext uri="{BB962C8B-B14F-4D97-AF65-F5344CB8AC3E}">
        <p14:creationId xmlns:p14="http://schemas.microsoft.com/office/powerpoint/2010/main" val="25750874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77BE2-DE22-53BC-944F-8F9BD4CB0332}"/>
              </a:ext>
            </a:extLst>
          </p:cNvPr>
          <p:cNvSpPr>
            <a:spLocks noGrp="1"/>
          </p:cNvSpPr>
          <p:nvPr>
            <p:ph type="title"/>
          </p:nvPr>
        </p:nvSpPr>
        <p:spPr>
          <a:xfrm>
            <a:off x="2302099" y="1023209"/>
            <a:ext cx="7958331" cy="657673"/>
          </a:xfrm>
        </p:spPr>
        <p:txBody>
          <a:bodyPr/>
          <a:lstStyle/>
          <a:p>
            <a:pPr algn="ctr"/>
            <a:r>
              <a:rPr lang="en-US" b="1" dirty="0"/>
              <a:t>Custom Aspects Implementation</a:t>
            </a:r>
            <a:endParaRPr lang="en-IN" b="1" dirty="0"/>
          </a:p>
        </p:txBody>
      </p:sp>
      <p:sp>
        <p:nvSpPr>
          <p:cNvPr id="3" name="Content Placeholder 2">
            <a:extLst>
              <a:ext uri="{FF2B5EF4-FFF2-40B4-BE49-F238E27FC236}">
                <a16:creationId xmlns:a16="http://schemas.microsoft.com/office/drawing/2014/main" id="{D8AB79BB-FDA4-F5F1-C57F-236ACABD3616}"/>
              </a:ext>
            </a:extLst>
          </p:cNvPr>
          <p:cNvSpPr>
            <a:spLocks noGrp="1"/>
          </p:cNvSpPr>
          <p:nvPr>
            <p:ph idx="1"/>
          </p:nvPr>
        </p:nvSpPr>
        <p:spPr>
          <a:xfrm>
            <a:off x="1783652" y="1680882"/>
            <a:ext cx="8786487" cy="4584215"/>
          </a:xfrm>
        </p:spPr>
        <p:txBody>
          <a:bodyPr>
            <a:normAutofit/>
          </a:bodyPr>
          <a:lstStyle/>
          <a:p>
            <a:r>
              <a:rPr lang="en-US" dirty="0"/>
              <a:t>Spring supports the </a:t>
            </a:r>
            <a:r>
              <a:rPr lang="en-US" b="1" dirty="0"/>
              <a:t>@AspectJ annotation style </a:t>
            </a:r>
            <a:r>
              <a:rPr lang="en-US" dirty="0"/>
              <a:t>approach and the schema-based approach to implement custom aspects.</a:t>
            </a:r>
          </a:p>
          <a:p>
            <a:pPr marL="0" indent="0">
              <a:buNone/>
            </a:pPr>
            <a:r>
              <a:rPr lang="en-US" sz="2400" b="1" dirty="0"/>
              <a:t>XML Schema based</a:t>
            </a:r>
          </a:p>
          <a:p>
            <a:r>
              <a:rPr lang="en-US" dirty="0"/>
              <a:t>Aspects are implemented using the regular classes along with XML based configuration.</a:t>
            </a:r>
          </a:p>
          <a:p>
            <a:pPr marL="0" indent="0">
              <a:buNone/>
            </a:pPr>
            <a:r>
              <a:rPr lang="en-US" sz="2400" b="1" dirty="0"/>
              <a:t>@AspectJ based</a:t>
            </a:r>
          </a:p>
          <a:p>
            <a:r>
              <a:rPr lang="en-US" dirty="0"/>
              <a:t>@AspectJ refers to a style of declaring aspects as regular Java classes annotated with Java 5 annotations.</a:t>
            </a:r>
            <a:endParaRPr lang="en-IN" dirty="0"/>
          </a:p>
        </p:txBody>
      </p:sp>
    </p:spTree>
    <p:extLst>
      <p:ext uri="{BB962C8B-B14F-4D97-AF65-F5344CB8AC3E}">
        <p14:creationId xmlns:p14="http://schemas.microsoft.com/office/powerpoint/2010/main" val="16893847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Custom 2">
      <a:dk1>
        <a:srgbClr val="202610"/>
      </a:dk1>
      <a:lt1>
        <a:srgbClr val="202610"/>
      </a:lt1>
      <a:dk2>
        <a:srgbClr val="B6C882"/>
      </a:dk2>
      <a:lt2>
        <a:srgbClr val="92AA4C"/>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3179</TotalTime>
  <Words>2827</Words>
  <Application>Microsoft Office PowerPoint</Application>
  <PresentationFormat>Widescreen</PresentationFormat>
  <Paragraphs>242</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MS Shell Dlg 2</vt:lpstr>
      <vt:lpstr>Wingdings</vt:lpstr>
      <vt:lpstr>Wingdings 3</vt:lpstr>
      <vt:lpstr>Madison</vt:lpstr>
      <vt:lpstr>Spring</vt:lpstr>
      <vt:lpstr>Introduction :</vt:lpstr>
      <vt:lpstr>Advantages of Spring Framework </vt:lpstr>
      <vt:lpstr>Features Of Spring Framework </vt:lpstr>
      <vt:lpstr>IoC Containers </vt:lpstr>
      <vt:lpstr>PowerPoint Presentation</vt:lpstr>
      <vt:lpstr>PowerPoint Presentation</vt:lpstr>
      <vt:lpstr>BEAN Definition </vt:lpstr>
      <vt:lpstr>Spring Configuration Metadata</vt:lpstr>
      <vt:lpstr>BEAN Scopes</vt:lpstr>
      <vt:lpstr>Types of Scope</vt:lpstr>
      <vt:lpstr>Bean Life Cycle</vt:lpstr>
      <vt:lpstr>Bean Definition Inheritance</vt:lpstr>
      <vt:lpstr>Dependency Injection</vt:lpstr>
      <vt:lpstr>PowerPoint Presentation</vt:lpstr>
      <vt:lpstr>Injecting Inner Bean</vt:lpstr>
      <vt:lpstr>Injecting Collection</vt:lpstr>
      <vt:lpstr>Beans AutoWiring</vt:lpstr>
      <vt:lpstr>PowerPoint Presentation</vt:lpstr>
      <vt:lpstr>Example:</vt:lpstr>
      <vt:lpstr>Limitation of Autowiring</vt:lpstr>
      <vt:lpstr>Anotation Based Configure</vt:lpstr>
      <vt:lpstr>Few important annotations</vt:lpstr>
      <vt:lpstr>Java-Based Configuration</vt:lpstr>
      <vt:lpstr>PowerPoint Presentation</vt:lpstr>
      <vt:lpstr>Event Handling</vt:lpstr>
      <vt:lpstr>JDBC Framework</vt:lpstr>
      <vt:lpstr>JDBC Template Class</vt:lpstr>
      <vt:lpstr>Data Access Object (DAO)</vt:lpstr>
      <vt:lpstr>Configuring Data Source</vt:lpstr>
      <vt:lpstr>Spring MVC Framework</vt:lpstr>
      <vt:lpstr>MVC Architecture</vt:lpstr>
      <vt:lpstr>PowerPoint Presentation</vt:lpstr>
      <vt:lpstr>Creating JSP Views</vt:lpstr>
      <vt:lpstr>PowerPoint Presentation</vt:lpstr>
      <vt:lpstr>PowerPoint Presentation</vt:lpstr>
      <vt:lpstr>PowerPoint Presentation</vt:lpstr>
      <vt:lpstr>The Spring Framework consists of features organized into about 20 modules. These modules are grouped as shown in the following diagram.</vt:lpstr>
      <vt:lpstr>Spring AOP- Framework</vt:lpstr>
      <vt:lpstr>AOP Terminology</vt:lpstr>
      <vt:lpstr>PowerPoint Presentation</vt:lpstr>
      <vt:lpstr>Types of Advice</vt:lpstr>
      <vt:lpstr>Custom Aspects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dc:title>
  <dc:creator>Roshni S</dc:creator>
  <cp:lastModifiedBy>HP-PC</cp:lastModifiedBy>
  <cp:revision>162</cp:revision>
  <dcterms:created xsi:type="dcterms:W3CDTF">2024-02-06T08:36:40Z</dcterms:created>
  <dcterms:modified xsi:type="dcterms:W3CDTF">2024-03-19T04:48:56Z</dcterms:modified>
</cp:coreProperties>
</file>